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2000"/>
  <p:notesSz cx="6858000" cy="9144000"/>
  <p:embeddedFontLst>
    <p:embeddedFont>
      <p:font typeface="Quattrocento Sans"/>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QuattrocentoSans-regular.fntdata"/><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QuattrocentoSans-italic.fntdata"/><Relationship Id="rId25" Type="http://schemas.openxmlformats.org/officeDocument/2006/relationships/font" Target="fonts/QuattrocentoSans-bold.fntdata"/><Relationship Id="rId27" Type="http://schemas.openxmlformats.org/officeDocument/2006/relationships/font" Target="fonts/QuattrocentoSans-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"Hello and welcome. My name is Sadiq Salman, student ID 12284952, presenting Assignment 2 for COIT20270: App Development for Mobile Platforms at Central Queensland University. Today, I am proud to showcase the working prototype of ElegantLink, a client governance mobile platform custom-designed for Australian software development consultancy Elegant Media. Over the next ten minutes, I will demonstrate our fully responsive Material 3 Flutter prototype running live on DartPad, explain how our persona Founder Fred influenced every design choice, evaluate our adherence to canonical UI guidelines and mobile heuristics, and walk you through our privacy and ethical safeguards."</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COIT20270 Assignment 2 Rubric: Integration of Persona, UCD, ADs 1-3, Usability Goals, APPs/CASFUD Privacy, M3 Guidelines, Responsive Layouts, and DartPad Execution.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2: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2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"In Assignment 1, we identified the fundamental industry problem confronting Elegant Media: once a commercial client remits their deposit, they enter an operational black box. Status updates arrive as disjointed emails saturated with Git logs and sprint velocities that business owners cannot interpret. In Assignment 2, we have brought our technology-agnostic design to life as an interactive Flutter prototype. As Zhao et al. (2024, p. 2084) stated, software project measurement must provide structured, transparent indicators so non-technical stakeholders can monitor quality through objective measurement. ElegantLink fulfills this by curating engineering progress into glanceable traffic lights, contextual deliverable threads, and binding milestone approvals."</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Zhao, Z., Deng, S., Ma, Y., Gao, Q., &amp; Zhao, N. (2024). Software project measurement based on the 5P model. Soft Computing, 28(3), p. 2084. Quote: 'assess, monitor, and improve software development processes and product quality through objective measurement rather than subjective reassurance.'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h4b47801887bbba32_3_125: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 name="Google Shape;37;h4b47801887bbba32_3_125: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3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"Every screen in our prototype was shaped by our empirical persona, Founder Fred—standardized across our app as Fred R. Fred is a 42-year-old retail business founder who commissioned custom software. He checks his phone in 10-to-60 second micro-breaks while managing logistics and store operations. Wang and Yu (2024, p. 3) observed that 'technostress has a direct negative impact on user satisfaction and continuance intention to use mobile applications.' Exposing Fred to raw developer tools induces technostress. Furthermore, Punsongserm and Suvakunta (2025, p. 21) showed that mobile legibility collapses under outdoor illumination unless minimum contrast standards are met. We enforced WCAG 2.1 AA contrast and large touch targets throughout."</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Wang, X., &amp; Yu, X. (2024). Art students' technostress. SAGE Open, 14(3), p. 3. Quote: 'technostress has a direct negative impact on user satisfaction and continuance intention to use mobile applications.' | Punsongserm, R., &amp; Suvakunta, P. (2025). Legibility of Thai typefaces. Journal of Graphic Engineering and Design, 16(1), p. 21.</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4: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4: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4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"Slide 4 presents our UML Use Case Diagram, which establishes the architectural system boundary. Following rubric instructions, this diagram is technology-agnostic and organized around actor goals rather than UI clicks. The system clearly delineates Client Fred R. from Project Manager James R. Fred interacts with four primary capabilities: viewing curated project status, reviewing uploaded artefacts and giving feedback, approving milestones or requesting revisions, and managing data privacy consent. On the agency side, James curates sanitized updates and records binding decisions. Notice that privacy management is elevated to a primary use case, upholding user data sovereignty."</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COIT20270 Assessment Rubric: Goal-oriented UML Use Case Diagram with appropriate abstraction and distinct external actor boundaries.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5: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5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"Activity Diagram 1 models how Fred inspects project status, implemented in Screens 2 and 3 of our Flutter app. The diagram utilizes distinct swimlanes for Client and ElegantLink Service. When Fred authenticates into the app or uses demo quick access, the system validates client credentials and renders the ambient dashboard. Fred is greeted with an ambient traffic-light badge—currently green for 'On Track'—the active SDLC stage at 65% completion, and a prominent 'Next Required Action' card. An alternative decision branch allows Fred to exit immediately after a ten-second glance, or tap into the 5-stage SDLC detail screen to view timestamped developer milestones."</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Gatsou, C., Politis, A., &amp; Zevgolis, D. (2011). Text vs visual metaphor. Information Services &amp; Use, 31(4), p. 275. Quote: 'visual metaphors facilitate novice users' comprehension and engagement.'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6: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6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"Activity Diagram 2 models deliverable review and feedback submission, implemented in Screens 5 and 6. Fred receives a notification that a new UI mockup is ready, navigates to the Deliverables Gallery, and taps into the Mockup Viewer. Directly beneath the deliverable is an anchored discussion thread featuring previous messages from PM James R. Fred enters his notes into the contextual text field. Crucially, AD2 features verified discard logic: tapping Cancel discards the draft safely without false confirmations, while tapping Submit appends the comment to the live thread with an audit timestamp and triggers a non-intrusive confirmation SnackBar."</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Jakob, R., et al. (2022). Factors influencing adherence to mHealth apps. Journal of Medical Internet Research, 24(5), p. 8. Quote: 'user-tailored content and predictable technical behavior.'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7: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 name="Google Shape;220;p7: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7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"Activity Diagram 3 governs commercial milestone acceptance, implemented across Screens 7, 8, and 9. Milestone approvals carry legally binding financial obligations, such as releasing progress invoices. To eliminate accidental commitments, our flow implements a strict two-step confirmation process. Fred reviews the acceptance checklist and billing liability of 12,500 dollars AUD. If unsatisfied, he selects 'Request Changes' and submits revision notes. If satisfied, selecting 'Approve' triggers a neutral confirmation dialog that explicitly summarizes invoice consequences. Once confirmed, the system writes an immutable audit record and renders a cryptographically signed Digital Certificate."</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Li, W., Flatla, D. R., &amp; Arndt, F. (2025). Divergent deceptions. Behaviour &amp; Information Technology, 44(2), p. 8. Quote: 'asymmetric button styling, hidden consequence disclosures, and false urgency.'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8: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p8: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8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"In compliance with Criterion 1, our prototype implements canonical Material 3 responsive layouts using Flutter's LayoutBuilder. We provide concrete proof of responsiveness across two target devices: the Samsung Galaxy A54 mobile phone and the Apple iPad 10th Gen tablet. On compact viewports under 640dp, the app renders a bottom NavigationBar with filled pill active indicators, placing navigation within Fred's natural thumb zone for one-handed operation. When the screen width expands to 640dp or wider on Fred's iPad or desktop browser, the navigation dynamically transforms into an adaptive left NavigationRail. The content surface reflows from a single column into width-bounded cards, preventing awkward horizontal stretching. This responsiveness is verified live on DartPad by dragging the preview splitter bar across 640dp, adapting seamlessly with zero layout overflow exceptions."</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Material 3 Design Guidelines: Canonical Layouts (Compact &lt;640dp vs Medium 640-839dp &amp; Expanded &gt;=840dp); Flutter LayoutBuilder &amp; NavigationRail APIs.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9: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9: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9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"Slide 9 provides our detailed Material 3 component mapping matrix, demonstrating exhaustive adherence to every mandated widget in the unit rubric. Our AppBars feature centered titles with scroll surface elevation tints; our NavigationBar and NavigationRail employ filled active indicator pills with unbolded unselected states; our TabBars utilize primary pill tab styling; and our deliverable showcase uses a PageView Carousel with animated dot indicators. We strictly respect the Material 3 card specification by using outlined cards with 16dp rounded corners for discrete actions while avoiding antipatterns like nesting ListViews inside cards. Furthermore, our authentication and feedback flows implement Material 3 Forms and TextFormFields with RFC regex email validation, our AlertDialogs enforce neutral two-step confirmations without deceptive button asymmetry, and our FABs and SnackBars provide instantaneous, accessible feedback with minimum 48 by 48dp touch targets."</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Material 3 Design Guidelines: Component Specifications for AppBar, NavigationBar, NavigationRail, Tab, Card, Carousel, Form/TextField, Dialog, FAB, and SnackBar.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0: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p10: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10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"Evaluating our static screens against mobile heuristics reveals strong alignment with Fred's working constraints. First, Quick Interaction and Micro-Usage: Fred operates in 10-to-60-second bursts. Our dashboard surfaces active stage progress, overall health, and the next required action immediately upon launch, allowing Fred to glance and exit in under ten seconds. Second, Readability and Cognitive Load: Ilany-Tzur and Fink (2023, p. 2446) established that dense data structures degrade mobile user performance. By translating internal Jira backlogs into commercial milestone summaries and visual traffic-light indicators, ElegantLink minimizes extraneous cognitive load."</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Ilany-Tzur, N., &amp; Fink, L. (2023). How is mobile task performance different? Behaviour &amp; Information Technology, 42(14), p. 2446. | Gatsou, C., Politis, A., &amp; Zevgolis, D. (2011). Text vs visual metaphor. Information Services &amp; Use, 31(4), p. 273.</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1: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1" name="Google Shape;331;p11: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11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"Continuing our heuristic evaluation: Error Prevention is paramount. On mobile touchscreens, slips and accidental taps occur frequently. Milestone approvals trigger binding commercial invoices; accidental confirmation would destroy client trust. Our prototype enforces an explicit two-step confirmation dialog that clearly details the financial invoice amount before committing. Furthermore, Consistency and Accessibility are strictly upheld. All stakeholders follow a uniform First Name plus Last Initial format: Fred R. and James R. All typography meets WCAG 2.1 AA standards exceeding 4.5:1 contrast, ensuring complete legibility under bright Australian sunlight."</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Jakob, R., et al. (2022). Factors influencing adherence to mHealth apps. JMIR, 24(5), p. 8. | Punsongserm, R., &amp; Suvakunta, P. (2025). Legibility of Thai typefaces. JGED, 16(1), p. 21. | WCAG 2.1 Level AA Accessibility Standards.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2: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9" name="Google Shape;419;p12: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12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"Slide 12 maps our five usability goals from Assignment 1 to our working prototype and outlines the empirical testing protocols for Assessment 3. Goal 1, Learnability: cold app launch to verbal stage recognition in ten seconds or less. Goal 2, Efficiency: submitting contextual deliverable feedback in 60 seconds or less—representing an observable 40% speed improvement over email. Goal 3, Error Prevention: exactly zero accidental milestone approvals across 20 trials. Goal 4, Satisfaction: achieving an above-average SUS score of 68 or higher. And Goal 5, Accessibility: full layout stability at 200% text scaling and WCAG AA contrast."</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Usability Goals Framework: Learnability (&lt;=10s), Efficiency (&lt;=60s), Error Prevention (0% accidental approvals), Satisfaction (SUS &gt;=68), and Accessibility (WCAG AA &gt;=4.5:1).</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h4b47801887bbba32_3_969: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8" name="Google Shape;428;h4b47801887bbba32_3_969: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13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"Slide 13 illustrates our formal Data Flow Diagram, establishing our privacy architecture and data storage boundaries. External entities Client Fred R. and PM James R. interact through authenticated processes. Process 1.0 captures user consent preferences into Data Store 1. Process 3.0 sanitizes engineering backlogs into client-ready summaries stored in Data Store 2. All milestone approvals flow through Process 4.0, which generates immutable cryptographic timestamps saved to the Governance Log in Data Store 3. Crucially, Process 5.0 strips all Personally Identifiable Information from usage telemetry before it reaches analytical storage, preventing commercial surveillance."</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Australian Privacy Principles (APPs 1, 2, 3, 5, 6, 11, 12, 13) | CASFUD Framework: Consent, Anonymity, Security, Freedom &amp; User Data.</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h4b47801887bbba32_3_1062: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8" name="Google Shape;468;h4b47801887bbba32_3_1062: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14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"Our privacy model strictly operationalizes the Australian Privacy Principles and the CASFUD ethical framework. Regarding Consent, LaMonica et al. (2021, p. 5) proved that 'dense, legalistic policies undermine the user's capacity to provide genuinely informed consent.' We replaced opaque legal terms with layered, plain-English in-app consent sheets with unbundled toggles. On the Security front, Dahiya et al. (2024, p. 3) emphasized that 'mobile applications require defense-in-depth architectural safeguards against data interception.' We enforce TLS 1.3 encryption in transit, AES-256 at rest in Australian cloud facilities, and biometric authentication."</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LaMonica, H. M., et al. (2021). Privacy practices of health IT. JMIR, 23(9), p. 5. Quote: 'dense, legalistic policies undermine the user's capacity to provide genuinely informed consent.' | Dahiya, R., et al. (2024). Security in mobile network. EAI Endorsed Trans. IoT, p. 3.</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h4b47801887bbba32_3_1154: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6" name="Google Shape;506;h4b47801887bbba32_3_1154: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15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"Slide 15 addresses ethical interaction design and our active rejection of mobile dark patterns. Li et al. (2025, p. 8) documented that deceptive patterns such as 'asymmetric button styling, hidden consequence disclosures, and false urgency' routinely manipulate mobile users. ElegantLink prevents this: our 'Approve Milestone' and 'Request Changes' buttons feature identical visual weight, preventing asymmetric nudging. We prohibit artificial urgency countdowns, explicitly display commercial fee liabilities upfront, and optimize performance for mid-range Android devices over patchy cellular connections to uphold digital equity."</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Li, W., Flatla, D. R., &amp; Arndt, F. (2025). Divergent deceptions: Comparative analysis of deceptive patterns in iOS and Android apps. Behaviour &amp; Information Technology, 44(2), p. 8. Quote: 'asymmetric button styling, hidden consequence disclosures, and false urgency.'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16: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8" name="Google Shape;558;p16: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16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"Slide 16 details our code-level software architecture. In accordance with unit specifications, our prototype is packaged into a single, self-contained Dart file of 2,801 lines that compiles cleanly on dartpad.dev without external packages. We implemented a clean reactive architecture using AppStateModel—extending ChangeNotifier—and AppStateScope—extending InheritedNotifier. This provides O(1) state lookups and reactive widget rebuilds across all 11 screens, including our simulated authentication gate, without third-party dependencies. Our codebase is structured across six clear architectural tiers, from domain models up to dedicated screen widgets. Most importantly, complying with Criterion 3, our code contains rich design-level comments explaining architectural decisions, persona heuristics, and accessibility compliance, rather than trivial syntax descriptions."</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COIT20270 Code Quality Guidelines: Clean coding conventions, self-documenting variables, zero deprecated code, and insightful design-level comments.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h4b47801887bbba32_3_1278: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h4b47801887bbba32_3_1278: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17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"In accordance with CQUniversity assessment policy, Slide 17 outlines our transparent use of Generative AI. AI tools were utilized to assist with initial widget scaffolding, OpenXML generation scripts, and benchmarking code against the assessment rubric. However, in compliance with academic integrity standards, I critically evaluated, refactored, and tested every line of code myself. All architectural flows, design-level comments, and literature citations were verified against full-text peer-reviewed articles from the Central Queensland University Library. AI was an assistive peer-review tool, not an authoritative source."</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CQUniversity Assessment Policy on Generative AI Collaboration: Critical Evaluation, Verification, and Transparent Disclosure.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h4b47801887bbba32_3_1473: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9" name="Google Shape;609;h4b47801887bbba32_3_1473: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18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"Slide 18 provides our complete reference list of nine peer-reviewed journal articles, all retrieved full-text online from the Central Queensland University Library. In accordance with the 2027 unit requirements, every citation across the slide notes includes verified page numbers and verbatim quotations. These sources ground our persona, cognitive load management, mobile heuristics, privacy architecture, and anti-dark-pattern ethics in empirical academic research."</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Strictly 9 CQU Library Peer-Reviewed Research Papers supporting ULO 1, ULO 3, and ULO 5.</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19: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6" name="Google Shape;666;p19: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19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"In conclusion, ElegantLink demonstrates a complete, robust Material 3 Flutter prototype that directly resolves the post-deposit communication void for Elegant Media and Founder Fred. Our prototype runs flawlessly on DartPad, adapts dynamically across mobile and tablet form factors, adheres strictly to canonical Material 3 guidelines, and upholds ethical privacy standards. All submission links—including the DartPad code, private GitHub repository, and shared video link—are provided here. Thank you for your time, and I welcome any feedback."</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COIT20270 Assignment 2 Final Submission Package | Central Queensland University Australia.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 name="Shape 10"/>
        <p:cNvGrpSpPr/>
        <p:nvPr/>
      </p:nvGrpSpPr>
      <p:grpSpPr>
        <a:xfrm>
          <a:off x="0" y="0"/>
          <a:ext cx="0" cy="0"/>
          <a:chOff x="0" y="0"/>
          <a:chExt cx="0" cy="0"/>
        </a:xfrm>
      </p:grpSpPr>
      <p:sp>
        <p:nvSpPr>
          <p:cNvPr id="11" name="Google Shape;11;p3"/>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3"/>
          <p:cNvSpPr txBox="1"/>
          <p:nvPr/>
        </p:nvSpPr>
        <p:spPr>
          <a:xfrm>
            <a:off x="609600" y="457200"/>
            <a:ext cx="109728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2563EB"/>
                </a:solidFill>
                <a:latin typeface="Quattrocento Sans"/>
                <a:ea typeface="Quattrocento Sans"/>
                <a:cs typeface="Quattrocento Sans"/>
                <a:sym typeface="Quattrocento Sans"/>
              </a:rPr>
              <a:t>CQUNIVERSITY AUSTRALIA — COIT20270 APP DEVELOPMENT FOR MOBILE PLATFORMS</a:t>
            </a:r>
            <a:endParaRPr>
              <a:latin typeface="Quattrocento Sans"/>
              <a:ea typeface="Quattrocento Sans"/>
              <a:cs typeface="Quattrocento Sans"/>
              <a:sym typeface="Quattrocento Sans"/>
            </a:endParaRPr>
          </a:p>
          <a:p>
            <a:pPr indent="0" lvl="0" marL="0" rtl="0" algn="l">
              <a:spcBef>
                <a:spcPts val="600"/>
              </a:spcBef>
              <a:spcAft>
                <a:spcPts val="0"/>
              </a:spcAft>
              <a:buNone/>
            </a:pPr>
            <a:r>
              <a:rPr b="0" lang="en-US" sz="3000">
                <a:solidFill>
                  <a:srgbClr val="0F172A"/>
                </a:solidFill>
                <a:latin typeface="Quattrocento Sans"/>
                <a:ea typeface="Quattrocento Sans"/>
                <a:cs typeface="Quattrocento Sans"/>
                <a:sym typeface="Quattrocento Sans"/>
              </a:rPr>
              <a:t>ElegantLink: Client Governance Mobile Platform</a:t>
            </a:r>
            <a:endParaRPr b="0" sz="3000">
              <a:solidFill>
                <a:srgbClr val="0F172A"/>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400">
                <a:solidFill>
                  <a:srgbClr val="475569"/>
                </a:solidFill>
                <a:latin typeface="Quattrocento Sans"/>
                <a:ea typeface="Quattrocento Sans"/>
                <a:cs typeface="Quattrocento Sans"/>
                <a:sym typeface="Quattrocento Sans"/>
              </a:rPr>
              <a:t>Assignment 2: Material 3 Prototype &amp; Architectural Evaluation</a:t>
            </a:r>
            <a:endParaRPr b="0" sz="1400">
              <a:solidFill>
                <a:srgbClr val="475569"/>
              </a:solidFill>
              <a:latin typeface="Quattrocento Sans"/>
              <a:ea typeface="Quattrocento Sans"/>
              <a:cs typeface="Quattrocento Sans"/>
              <a:sym typeface="Quattrocento Sans"/>
            </a:endParaRPr>
          </a:p>
        </p:txBody>
      </p:sp>
      <p:grpSp>
        <p:nvGrpSpPr>
          <p:cNvPr id="13" name="Google Shape;13;p3"/>
          <p:cNvGrpSpPr/>
          <p:nvPr/>
        </p:nvGrpSpPr>
        <p:grpSpPr>
          <a:xfrm>
            <a:off x="609600" y="1952625"/>
            <a:ext cx="5334000" cy="4429200"/>
            <a:chOff x="0" y="0"/>
            <a:chExt cx="5334000" cy="4429200"/>
          </a:xfrm>
        </p:grpSpPr>
        <p:sp>
          <p:nvSpPr>
            <p:cNvPr id="14" name="Google Shape;14;p3"/>
            <p:cNvSpPr/>
            <p:nvPr/>
          </p:nvSpPr>
          <p:spPr>
            <a:xfrm>
              <a:off x="0" y="0"/>
              <a:ext cx="5334000" cy="4429200"/>
            </a:xfrm>
            <a:prstGeom prst="roundRect">
              <a:avLst>
                <a:gd fmla="val 344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 name="Google Shape;15;p3"/>
            <p:cNvSpPr/>
            <p:nvPr/>
          </p:nvSpPr>
          <p:spPr>
            <a:xfrm>
              <a:off x="0" y="0"/>
              <a:ext cx="5334000" cy="609600"/>
            </a:xfrm>
            <a:prstGeom prst="roundRect">
              <a:avLst>
                <a:gd fmla="val 25000"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 name="Google Shape;16;p3"/>
            <p:cNvSpPr/>
            <p:nvPr/>
          </p:nvSpPr>
          <p:spPr>
            <a:xfrm>
              <a:off x="0" y="476250"/>
              <a:ext cx="5334000" cy="13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7" name="Google Shape;17;p3"/>
            <p:cNvCxnSpPr/>
            <p:nvPr/>
          </p:nvCxnSpPr>
          <p:spPr>
            <a:xfrm>
              <a:off x="0" y="609600"/>
              <a:ext cx="53340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18" name="Google Shape;18;p3"/>
            <p:cNvSpPr txBox="1"/>
            <p:nvPr/>
          </p:nvSpPr>
          <p:spPr>
            <a:xfrm>
              <a:off x="228600" y="171450"/>
              <a:ext cx="4876800" cy="342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600">
                  <a:solidFill>
                    <a:srgbClr val="0F172A"/>
                  </a:solidFill>
                  <a:latin typeface="Quattrocento Sans"/>
                  <a:ea typeface="Quattrocento Sans"/>
                  <a:cs typeface="Quattrocento Sans"/>
                  <a:sym typeface="Quattrocento Sans"/>
                </a:rPr>
                <a:t>Candidate &amp; Project Metadata</a:t>
              </a:r>
              <a:endParaRPr b="1" sz="1600">
                <a:solidFill>
                  <a:srgbClr val="0F172A"/>
                </a:solidFill>
                <a:latin typeface="Quattrocento Sans"/>
                <a:ea typeface="Quattrocento Sans"/>
                <a:cs typeface="Quattrocento Sans"/>
                <a:sym typeface="Quattrocento Sans"/>
              </a:endParaRPr>
            </a:p>
          </p:txBody>
        </p:sp>
        <p:sp>
          <p:nvSpPr>
            <p:cNvPr id="19" name="Google Shape;19;p3"/>
            <p:cNvSpPr txBox="1"/>
            <p:nvPr/>
          </p:nvSpPr>
          <p:spPr>
            <a:xfrm>
              <a:off x="228600" y="762000"/>
              <a:ext cx="4876800" cy="3476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Student Author</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300">
                  <a:solidFill>
                    <a:srgbClr val="1E293B"/>
                  </a:solidFill>
                  <a:latin typeface="Quattrocento Sans"/>
                  <a:ea typeface="Quattrocento Sans"/>
                  <a:cs typeface="Quattrocento Sans"/>
                  <a:sym typeface="Quattrocento Sans"/>
                </a:rPr>
                <a:t>Sadiq Salman </a:t>
              </a:r>
              <a:r>
                <a:rPr b="0" lang="en-US" sz="1300">
                  <a:solidFill>
                    <a:srgbClr val="64748B"/>
                  </a:solidFill>
                  <a:latin typeface="Quattrocento Sans"/>
                  <a:ea typeface="Quattrocento Sans"/>
                  <a:cs typeface="Quattrocento Sans"/>
                  <a:sym typeface="Quattrocento Sans"/>
                </a:rPr>
                <a:t>(Student ID: 12284952)</a:t>
              </a:r>
              <a:endParaRPr b="0" sz="1300">
                <a:solidFill>
                  <a:srgbClr val="1E293B"/>
                </a:solidFill>
                <a:latin typeface="Quattrocento Sans"/>
                <a:ea typeface="Quattrocento Sans"/>
                <a:cs typeface="Quattrocento Sans"/>
                <a:sym typeface="Quattrocento Sans"/>
              </a:endParaRPr>
            </a:p>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Target Organisation</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300">
                  <a:solidFill>
                    <a:srgbClr val="1E293B"/>
                  </a:solidFill>
                  <a:latin typeface="Quattrocento Sans"/>
                  <a:ea typeface="Quattrocento Sans"/>
                  <a:cs typeface="Quattrocento Sans"/>
                  <a:sym typeface="Quattrocento Sans"/>
                </a:rPr>
                <a:t>Elegant Media Australia </a:t>
              </a:r>
              <a:r>
                <a:rPr b="0" lang="en-US" sz="1300">
                  <a:solidFill>
                    <a:srgbClr val="64748B"/>
                  </a:solidFill>
                  <a:latin typeface="Quattrocento Sans"/>
                  <a:ea typeface="Quattrocento Sans"/>
                  <a:cs typeface="Quattrocento Sans"/>
                  <a:sym typeface="Quattrocento Sans"/>
                </a:rPr>
                <a:t>(Melbourne Head Office)</a:t>
              </a:r>
              <a:endParaRPr b="0" sz="1300">
                <a:solidFill>
                  <a:srgbClr val="1E293B"/>
                </a:solidFill>
                <a:latin typeface="Quattrocento Sans"/>
                <a:ea typeface="Quattrocento Sans"/>
                <a:cs typeface="Quattrocento Sans"/>
                <a:sym typeface="Quattrocento Sans"/>
              </a:endParaRPr>
            </a:p>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Unit Learning Outcomes</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300">
                  <a:solidFill>
                    <a:srgbClr val="1E293B"/>
                  </a:solidFill>
                  <a:latin typeface="Quattrocento Sans"/>
                  <a:ea typeface="Quattrocento Sans"/>
                  <a:cs typeface="Quattrocento Sans"/>
                  <a:sym typeface="Quattrocento Sans"/>
                </a:rPr>
                <a:t>ULO 1 </a:t>
              </a:r>
              <a:r>
                <a:rPr b="0" lang="en-US" sz="1300">
                  <a:solidFill>
                    <a:srgbClr val="64748B"/>
                  </a:solidFill>
                  <a:latin typeface="Quattrocento Sans"/>
                  <a:ea typeface="Quattrocento Sans"/>
                  <a:cs typeface="Quattrocento Sans"/>
                  <a:sym typeface="Quattrocento Sans"/>
                </a:rPr>
                <a:t>(Native Apps)</a:t>
              </a:r>
              <a:r>
                <a:rPr b="0" lang="en-US" sz="1300">
                  <a:solidFill>
                    <a:srgbClr val="1E293B"/>
                  </a:solidFill>
                  <a:latin typeface="Quattrocento Sans"/>
                  <a:ea typeface="Quattrocento Sans"/>
                  <a:cs typeface="Quattrocento Sans"/>
                  <a:sym typeface="Quattrocento Sans"/>
                </a:rPr>
                <a:t> &amp; ULO 3 </a:t>
              </a:r>
              <a:r>
                <a:rPr b="0" lang="en-US" sz="1300">
                  <a:solidFill>
                    <a:srgbClr val="64748B"/>
                  </a:solidFill>
                  <a:latin typeface="Quattrocento Sans"/>
                  <a:ea typeface="Quattrocento Sans"/>
                  <a:cs typeface="Quattrocento Sans"/>
                  <a:sym typeface="Quattrocento Sans"/>
                </a:rPr>
                <a:t>(IDE &amp; Debugging)</a:t>
              </a:r>
              <a:endParaRPr b="0" sz="1300">
                <a:solidFill>
                  <a:srgbClr val="1E293B"/>
                </a:solidFill>
                <a:latin typeface="Quattrocento Sans"/>
                <a:ea typeface="Quattrocento Sans"/>
                <a:cs typeface="Quattrocento Sans"/>
                <a:sym typeface="Quattrocento Sans"/>
              </a:endParaRPr>
            </a:p>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Assessment Weight</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300">
                  <a:solidFill>
                    <a:srgbClr val="1E293B"/>
                  </a:solidFill>
                  <a:latin typeface="Quattrocento Sans"/>
                  <a:ea typeface="Quattrocento Sans"/>
                  <a:cs typeface="Quattrocento Sans"/>
                  <a:sym typeface="Quattrocento Sans"/>
                </a:rPr>
                <a:t>30% </a:t>
              </a:r>
              <a:r>
                <a:rPr b="0" lang="en-US" sz="1300">
                  <a:solidFill>
                    <a:srgbClr val="64748B"/>
                  </a:solidFill>
                  <a:latin typeface="Quattrocento Sans"/>
                  <a:ea typeface="Quattrocento Sans"/>
                  <a:cs typeface="Quattrocento Sans"/>
                  <a:sym typeface="Quattrocento Sans"/>
                </a:rPr>
                <a:t>(Term 1, Week 6 Submission)</a:t>
              </a:r>
              <a:endParaRPr b="0" sz="1300">
                <a:solidFill>
                  <a:srgbClr val="1E293B"/>
                </a:solidFill>
                <a:latin typeface="Quattrocento Sans"/>
                <a:ea typeface="Quattrocento Sans"/>
                <a:cs typeface="Quattrocento Sans"/>
                <a:sym typeface="Quattrocento Sans"/>
              </a:endParaRPr>
            </a:p>
          </p:txBody>
        </p:sp>
      </p:grpSp>
      <p:grpSp>
        <p:nvGrpSpPr>
          <p:cNvPr id="20" name="Google Shape;20;p3"/>
          <p:cNvGrpSpPr/>
          <p:nvPr/>
        </p:nvGrpSpPr>
        <p:grpSpPr>
          <a:xfrm>
            <a:off x="6248400" y="1952625"/>
            <a:ext cx="5334000" cy="4429200"/>
            <a:chOff x="0" y="0"/>
            <a:chExt cx="5334000" cy="4429200"/>
          </a:xfrm>
        </p:grpSpPr>
        <p:sp>
          <p:nvSpPr>
            <p:cNvPr id="21" name="Google Shape;21;p3"/>
            <p:cNvSpPr/>
            <p:nvPr/>
          </p:nvSpPr>
          <p:spPr>
            <a:xfrm>
              <a:off x="0" y="0"/>
              <a:ext cx="5334000" cy="4429200"/>
            </a:xfrm>
            <a:prstGeom prst="roundRect">
              <a:avLst>
                <a:gd fmla="val 344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 name="Google Shape;22;p3"/>
            <p:cNvSpPr/>
            <p:nvPr/>
          </p:nvSpPr>
          <p:spPr>
            <a:xfrm>
              <a:off x="0" y="0"/>
              <a:ext cx="5334000" cy="609600"/>
            </a:xfrm>
            <a:prstGeom prst="roundRect">
              <a:avLst>
                <a:gd fmla="val 25000"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 name="Google Shape;23;p3"/>
            <p:cNvSpPr/>
            <p:nvPr/>
          </p:nvSpPr>
          <p:spPr>
            <a:xfrm>
              <a:off x="0" y="476250"/>
              <a:ext cx="5334000" cy="13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4" name="Google Shape;24;p3"/>
            <p:cNvCxnSpPr/>
            <p:nvPr/>
          </p:nvCxnSpPr>
          <p:spPr>
            <a:xfrm>
              <a:off x="0" y="609600"/>
              <a:ext cx="53340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25" name="Google Shape;25;p3"/>
            <p:cNvSpPr txBox="1"/>
            <p:nvPr/>
          </p:nvSpPr>
          <p:spPr>
            <a:xfrm>
              <a:off x="228600" y="171450"/>
              <a:ext cx="4876800" cy="342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600">
                  <a:solidFill>
                    <a:srgbClr val="0F172A"/>
                  </a:solidFill>
                  <a:latin typeface="Quattrocento Sans"/>
                  <a:ea typeface="Quattrocento Sans"/>
                  <a:cs typeface="Quattrocento Sans"/>
                  <a:sym typeface="Quattrocento Sans"/>
                </a:rPr>
                <a:t>Submission Deliverables &amp; Access Links</a:t>
              </a:r>
              <a:endParaRPr b="1" sz="1600">
                <a:solidFill>
                  <a:srgbClr val="0F172A"/>
                </a:solidFill>
                <a:latin typeface="Quattrocento Sans"/>
                <a:ea typeface="Quattrocento Sans"/>
                <a:cs typeface="Quattrocento Sans"/>
                <a:sym typeface="Quattrocento Sans"/>
              </a:endParaRPr>
            </a:p>
          </p:txBody>
        </p:sp>
        <p:sp>
          <p:nvSpPr>
            <p:cNvPr id="26" name="Google Shape;26;p3"/>
            <p:cNvSpPr txBox="1"/>
            <p:nvPr/>
          </p:nvSpPr>
          <p:spPr>
            <a:xfrm>
              <a:off x="228600" y="762000"/>
              <a:ext cx="4876800" cy="3476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Interactive Prototype</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300">
                  <a:solidFill>
                    <a:srgbClr val="334155"/>
                  </a:solidFill>
                  <a:latin typeface="Quattrocento Sans"/>
                  <a:ea typeface="Quattrocento Sans"/>
                  <a:cs typeface="Quattrocento Sans"/>
                  <a:sym typeface="Quattrocento Sans"/>
                </a:rPr>
                <a:t>Single-file executable directly on </a:t>
              </a:r>
              <a:r>
                <a:rPr b="0" lang="en-US" sz="1300">
                  <a:solidFill>
                    <a:srgbClr val="1E293B"/>
                  </a:solidFill>
                  <a:latin typeface="Quattrocento Sans"/>
                  <a:ea typeface="Quattrocento Sans"/>
                  <a:cs typeface="Quattrocento Sans"/>
                  <a:sym typeface="Quattrocento Sans"/>
                </a:rPr>
                <a:t>dartpad.dev</a:t>
              </a:r>
              <a:endParaRPr b="0" sz="1300">
                <a:solidFill>
                  <a:srgbClr val="334155"/>
                </a:solidFill>
                <a:latin typeface="Quattrocento Sans"/>
                <a:ea typeface="Quattrocento Sans"/>
                <a:cs typeface="Quattrocento Sans"/>
                <a:sym typeface="Quattrocento Sans"/>
              </a:endParaRPr>
            </a:p>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Private Code Repository</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300">
                  <a:solidFill>
                    <a:srgbClr val="334155"/>
                  </a:solidFill>
                  <a:latin typeface="Quattrocento Sans"/>
                  <a:ea typeface="Quattrocento Sans"/>
                  <a:cs typeface="Quattrocento Sans"/>
                  <a:sym typeface="Quattrocento Sans"/>
                </a:rPr>
                <a:t>GitHub repository shared with tutor &amp; unit coordinator</a:t>
              </a:r>
              <a:endParaRPr b="0" sz="1300">
                <a:solidFill>
                  <a:srgbClr val="334155"/>
                </a:solidFill>
                <a:latin typeface="Quattrocento Sans"/>
                <a:ea typeface="Quattrocento Sans"/>
                <a:cs typeface="Quattrocento Sans"/>
                <a:sym typeface="Quattrocento Sans"/>
              </a:endParaRPr>
            </a:p>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Presentation Slides</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300">
                  <a:solidFill>
                    <a:srgbClr val="334155"/>
                  </a:solidFill>
                  <a:latin typeface="Quattrocento Sans"/>
                  <a:ea typeface="Quattrocento Sans"/>
                  <a:cs typeface="Quattrocento Sans"/>
                  <a:sym typeface="Quattrocento Sans"/>
                </a:rPr>
                <a:t>19-Slide PowerPoint Deck with full notes &amp; citations</a:t>
              </a:r>
              <a:endParaRPr b="0" sz="1300">
                <a:solidFill>
                  <a:srgbClr val="334155"/>
                </a:solidFill>
                <a:latin typeface="Quattrocento Sans"/>
                <a:ea typeface="Quattrocento Sans"/>
                <a:cs typeface="Quattrocento Sans"/>
                <a:sym typeface="Quattrocento Sans"/>
              </a:endParaRPr>
            </a:p>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Video Presentation</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300">
                  <a:solidFill>
                    <a:srgbClr val="334155"/>
                  </a:solidFill>
                  <a:latin typeface="Quattrocento Sans"/>
                  <a:ea typeface="Quattrocento Sans"/>
                  <a:cs typeface="Quattrocento Sans"/>
                  <a:sym typeface="Quattrocento Sans"/>
                </a:rPr>
                <a:t>10-Minute Walkthrough shared via CQU OneDrive</a:t>
              </a:r>
              <a:endParaRPr b="0" sz="1300">
                <a:solidFill>
                  <a:srgbClr val="334155"/>
                </a:solidFill>
                <a:latin typeface="Quattrocento Sans"/>
                <a:ea typeface="Quattrocento Sans"/>
                <a:cs typeface="Quattrocento Sans"/>
                <a:sym typeface="Quattrocento San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4"/>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600075" y="400050"/>
            <a:ext cx="10992000" cy="1143000"/>
          </a:xfrm>
          <a:prstGeom prst="roundRect">
            <a:avLst>
              <a:gd fmla="val 2000" name="adj"/>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SYSTEM EVOLUTION &amp; PROBLEM STATEMENT</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2600">
                <a:solidFill>
                  <a:srgbClr val="0F172A"/>
                </a:solidFill>
                <a:latin typeface="Quattrocento Sans"/>
                <a:ea typeface="Quattrocento Sans"/>
                <a:cs typeface="Quattrocento Sans"/>
                <a:sym typeface="Quattrocento Sans"/>
              </a:rPr>
              <a:t>Transitioning from System Design to Interactive Prototype</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300">
                <a:solidFill>
                  <a:srgbClr val="475569"/>
                </a:solidFill>
                <a:latin typeface="Quattrocento Sans"/>
                <a:ea typeface="Quattrocento Sans"/>
                <a:cs typeface="Quattrocento Sans"/>
                <a:sym typeface="Quattrocento Sans"/>
              </a:rPr>
              <a:t>Bridging the Post-Deposit Communication Gap with Interactive Material 3 Governance</a:t>
            </a:r>
            <a:endParaRPr b="1" sz="1100">
              <a:solidFill>
                <a:srgbClr val="2563EB"/>
              </a:solidFill>
              <a:latin typeface="Quattrocento Sans"/>
              <a:ea typeface="Quattrocento Sans"/>
              <a:cs typeface="Quattrocento Sans"/>
              <a:sym typeface="Quattrocento Sans"/>
            </a:endParaRPr>
          </a:p>
        </p:txBody>
      </p:sp>
      <p:sp>
        <p:nvSpPr>
          <p:cNvPr id="33" name="Google Shape;33;p4"/>
          <p:cNvSpPr/>
          <p:nvPr/>
        </p:nvSpPr>
        <p:spPr>
          <a:xfrm>
            <a:off x="600000" y="1799996"/>
            <a:ext cx="5300100" cy="45999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228600" lIns="228600" spcFirstLastPara="1" rIns="228600" wrap="square" tIns="228600">
            <a:noAutofit/>
          </a:bodyPr>
          <a:lstStyle/>
          <a:p>
            <a:pPr indent="0" lvl="0" marL="0" rtl="0" algn="l">
              <a:spcBef>
                <a:spcPts val="0"/>
              </a:spcBef>
              <a:spcAft>
                <a:spcPts val="0"/>
              </a:spcAft>
              <a:buNone/>
            </a:pPr>
            <a:r>
              <a:rPr b="1" i="0" lang="en-US" sz="1600">
                <a:solidFill>
                  <a:srgbClr val="0F172A"/>
                </a:solidFill>
                <a:latin typeface="Quattrocento Sans"/>
                <a:ea typeface="Quattrocento Sans"/>
                <a:cs typeface="Quattrocento Sans"/>
                <a:sym typeface="Quattrocento Sans"/>
              </a:rPr>
              <a:t>The Real-World Industry Problem (Design Foundations)</a:t>
            </a:r>
            <a:endParaRPr b="1" i="0" sz="1600">
              <a:solidFill>
                <a:srgbClr val="0F172A"/>
              </a:solidFill>
              <a:latin typeface="Quattrocento Sans"/>
              <a:ea typeface="Quattrocento Sans"/>
              <a:cs typeface="Quattrocento Sans"/>
              <a:sym typeface="Quattrocento Sans"/>
            </a:endParaRPr>
          </a:p>
          <a:p>
            <a:pPr indent="-330200" lvl="0" marL="457200" rtl="0" algn="l">
              <a:spcBef>
                <a:spcPts val="1200"/>
              </a:spcBef>
              <a:spcAft>
                <a:spcPts val="0"/>
              </a:spcAft>
              <a:buClr>
                <a:srgbClr val="0F172A"/>
              </a:buClr>
              <a:buSzPts val="1600"/>
              <a:buFont typeface="Quattrocento Sans"/>
              <a:buChar char="●"/>
            </a:pPr>
            <a:r>
              <a:rPr b="1" i="0" lang="en-US" sz="1200">
                <a:solidFill>
                  <a:srgbClr val="2563EB"/>
                </a:solidFill>
                <a:latin typeface="Quattrocento Sans"/>
                <a:ea typeface="Quattrocento Sans"/>
                <a:cs typeface="Quattrocento Sans"/>
                <a:sym typeface="Quattrocento Sans"/>
              </a:rPr>
              <a:t>Commercial Opacity: </a:t>
            </a:r>
            <a:r>
              <a:rPr b="0" i="0" lang="en-US" sz="1200">
                <a:solidFill>
                  <a:srgbClr val="334155"/>
                </a:solidFill>
                <a:latin typeface="Quattrocento Sans"/>
                <a:ea typeface="Quattrocento Sans"/>
                <a:cs typeface="Quattrocento Sans"/>
                <a:sym typeface="Quattrocento Sans"/>
              </a:rPr>
              <a:t>Following deposit payment, software clients enter an informational black box with zero operational visibility.</a:t>
            </a:r>
            <a:endParaRPr b="1" i="0" sz="1600">
              <a:solidFill>
                <a:srgbClr val="0F172A"/>
              </a:solidFill>
              <a:latin typeface="Quattrocento Sans"/>
              <a:ea typeface="Quattrocento Sans"/>
              <a:cs typeface="Quattrocento Sans"/>
              <a:sym typeface="Quattrocento Sans"/>
            </a:endParaRPr>
          </a:p>
          <a:p>
            <a:pPr indent="-330200" lvl="0" marL="457200" rtl="0" algn="l">
              <a:spcBef>
                <a:spcPts val="1050"/>
              </a:spcBef>
              <a:spcAft>
                <a:spcPts val="0"/>
              </a:spcAft>
              <a:buClr>
                <a:srgbClr val="0F172A"/>
              </a:buClr>
              <a:buSzPts val="1600"/>
              <a:buFont typeface="Quattrocento Sans"/>
              <a:buChar char="●"/>
            </a:pPr>
            <a:r>
              <a:rPr b="1" i="0" lang="en-US" sz="1200">
                <a:solidFill>
                  <a:srgbClr val="2563EB"/>
                </a:solidFill>
                <a:latin typeface="Quattrocento Sans"/>
                <a:ea typeface="Quattrocento Sans"/>
                <a:cs typeface="Quattrocento Sans"/>
                <a:sym typeface="Quattrocento Sans"/>
              </a:rPr>
              <a:t>Technical Jargon Barrier: </a:t>
            </a:r>
            <a:r>
              <a:rPr b="0" i="0" lang="en-US" sz="1200">
                <a:solidFill>
                  <a:srgbClr val="334155"/>
                </a:solidFill>
                <a:latin typeface="Quattrocento Sans"/>
                <a:ea typeface="Quattrocento Sans"/>
                <a:cs typeface="Quattrocento Sans"/>
                <a:sym typeface="Quattrocento Sans"/>
              </a:rPr>
              <a:t>Status reports are saturated with developer terms (Git commits, pull requests, sprint burndowns) that non-technical founders cannot decipher.</a:t>
            </a:r>
            <a:endParaRPr b="1" i="0" sz="1600">
              <a:solidFill>
                <a:srgbClr val="0F172A"/>
              </a:solidFill>
              <a:latin typeface="Quattrocento Sans"/>
              <a:ea typeface="Quattrocento Sans"/>
              <a:cs typeface="Quattrocento Sans"/>
              <a:sym typeface="Quattrocento Sans"/>
            </a:endParaRPr>
          </a:p>
          <a:p>
            <a:pPr indent="-330200" lvl="0" marL="457200" rtl="0" algn="l">
              <a:spcBef>
                <a:spcPts val="1050"/>
              </a:spcBef>
              <a:spcAft>
                <a:spcPts val="0"/>
              </a:spcAft>
              <a:buClr>
                <a:srgbClr val="0F172A"/>
              </a:buClr>
              <a:buSzPts val="1600"/>
              <a:buFont typeface="Quattrocento Sans"/>
              <a:buChar char="●"/>
            </a:pPr>
            <a:r>
              <a:rPr b="1" i="0" lang="en-US" sz="1200">
                <a:solidFill>
                  <a:srgbClr val="2563EB"/>
                </a:solidFill>
                <a:latin typeface="Quattrocento Sans"/>
                <a:ea typeface="Quattrocento Sans"/>
                <a:cs typeface="Quattrocento Sans"/>
                <a:sym typeface="Quattrocento Sans"/>
              </a:rPr>
              <a:t>Operational Friction: </a:t>
            </a:r>
            <a:r>
              <a:rPr b="0" i="0" lang="en-US" sz="1200">
                <a:solidFill>
                  <a:srgbClr val="334155"/>
                </a:solidFill>
                <a:latin typeface="Quattrocento Sans"/>
                <a:ea typeface="Quattrocento Sans"/>
                <a:cs typeface="Quattrocento Sans"/>
                <a:sym typeface="Quattrocento Sans"/>
              </a:rPr>
              <a:t>Agency project managers spend 30-40% of their working hours fielding anxious phone calls and manually translating Jira backlogs.</a:t>
            </a:r>
            <a:endParaRPr b="1" i="0" sz="1600">
              <a:solidFill>
                <a:srgbClr val="0F172A"/>
              </a:solidFill>
              <a:latin typeface="Quattrocento Sans"/>
              <a:ea typeface="Quattrocento Sans"/>
              <a:cs typeface="Quattrocento Sans"/>
              <a:sym typeface="Quattrocento Sans"/>
            </a:endParaRPr>
          </a:p>
          <a:p>
            <a:pPr indent="-330200" lvl="0" marL="457200" rtl="0" algn="l">
              <a:spcBef>
                <a:spcPts val="1050"/>
              </a:spcBef>
              <a:spcAft>
                <a:spcPts val="0"/>
              </a:spcAft>
              <a:buClr>
                <a:srgbClr val="0F172A"/>
              </a:buClr>
              <a:buSzPts val="1600"/>
              <a:buFont typeface="Quattrocento Sans"/>
              <a:buChar char="●"/>
            </a:pPr>
            <a:r>
              <a:rPr b="1" i="0" lang="en-US" sz="1200">
                <a:solidFill>
                  <a:srgbClr val="2563EB"/>
                </a:solidFill>
                <a:latin typeface="Quattrocento Sans"/>
                <a:ea typeface="Quattrocento Sans"/>
                <a:cs typeface="Quattrocento Sans"/>
                <a:sym typeface="Quattrocento Sans"/>
              </a:rPr>
              <a:t>Scholarly Foundation: </a:t>
            </a:r>
            <a:r>
              <a:rPr b="0" i="0" lang="en-US" sz="1200">
                <a:solidFill>
                  <a:srgbClr val="334155"/>
                </a:solidFill>
                <a:latin typeface="Quattrocento Sans"/>
                <a:ea typeface="Quattrocento Sans"/>
                <a:cs typeface="Quattrocento Sans"/>
                <a:sym typeface="Quattrocento Sans"/>
              </a:rPr>
              <a:t>Zhao et al. (2024, p. 2084) establish that project measurement requires structured, transparent indicators for non-technical stakeholders.</a:t>
            </a:r>
            <a:endParaRPr b="1" i="0" sz="1600">
              <a:solidFill>
                <a:srgbClr val="0F172A"/>
              </a:solidFill>
              <a:latin typeface="Quattrocento Sans"/>
              <a:ea typeface="Quattrocento Sans"/>
              <a:cs typeface="Quattrocento Sans"/>
              <a:sym typeface="Quattrocento Sans"/>
            </a:endParaRPr>
          </a:p>
        </p:txBody>
      </p:sp>
      <p:sp>
        <p:nvSpPr>
          <p:cNvPr id="34" name="Google Shape;34;p4"/>
          <p:cNvSpPr/>
          <p:nvPr/>
        </p:nvSpPr>
        <p:spPr>
          <a:xfrm>
            <a:off x="6100001" y="1799996"/>
            <a:ext cx="5300100" cy="45999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228600" lIns="228600" spcFirstLastPara="1" rIns="228600" wrap="square" tIns="228600">
            <a:noAutofit/>
          </a:bodyPr>
          <a:lstStyle/>
          <a:p>
            <a:pPr indent="0" lvl="0" marL="0" rtl="0" algn="l">
              <a:spcBef>
                <a:spcPts val="0"/>
              </a:spcBef>
              <a:spcAft>
                <a:spcPts val="0"/>
              </a:spcAft>
              <a:buNone/>
            </a:pPr>
            <a:r>
              <a:rPr b="1" i="0" lang="en-US" sz="1600">
                <a:solidFill>
                  <a:srgbClr val="0F172A"/>
                </a:solidFill>
                <a:latin typeface="Quattrocento Sans"/>
                <a:ea typeface="Quattrocento Sans"/>
                <a:cs typeface="Quattrocento Sans"/>
                <a:sym typeface="Quattrocento Sans"/>
              </a:rPr>
              <a:t>The Interactive Prototype Solution (Assignment 2)</a:t>
            </a:r>
            <a:endParaRPr b="1" i="0" sz="1600">
              <a:solidFill>
                <a:srgbClr val="0F172A"/>
              </a:solidFill>
              <a:latin typeface="Quattrocento Sans"/>
              <a:ea typeface="Quattrocento Sans"/>
              <a:cs typeface="Quattrocento Sans"/>
              <a:sym typeface="Quattrocento Sans"/>
            </a:endParaRPr>
          </a:p>
          <a:p>
            <a:pPr indent="-330200" lvl="0" marL="457200" rtl="0" algn="l">
              <a:spcBef>
                <a:spcPts val="1200"/>
              </a:spcBef>
              <a:spcAft>
                <a:spcPts val="0"/>
              </a:spcAft>
              <a:buClr>
                <a:srgbClr val="0F172A"/>
              </a:buClr>
              <a:buSzPts val="1600"/>
              <a:buFont typeface="Quattrocento Sans"/>
              <a:buChar char="●"/>
            </a:pPr>
            <a:r>
              <a:rPr b="1" i="0" lang="en-US" sz="1200">
                <a:solidFill>
                  <a:srgbClr val="2563EB"/>
                </a:solidFill>
                <a:latin typeface="Quattrocento Sans"/>
                <a:ea typeface="Quattrocento Sans"/>
                <a:cs typeface="Quattrocento Sans"/>
                <a:sym typeface="Quattrocento Sans"/>
              </a:rPr>
              <a:t>Ambient Visual Governance: </a:t>
            </a:r>
            <a:r>
              <a:rPr b="0" i="0" lang="en-US" sz="1200">
                <a:solidFill>
                  <a:srgbClr val="334155"/>
                </a:solidFill>
                <a:latin typeface="Quattrocento Sans"/>
                <a:ea typeface="Quattrocento Sans"/>
                <a:cs typeface="Quattrocento Sans"/>
                <a:sym typeface="Quattrocento Sans"/>
              </a:rPr>
              <a:t>Translates opaque engineering backlogs into glanceable traffic-light metrics and high-level SDLC phases.</a:t>
            </a:r>
            <a:endParaRPr b="1" i="0" sz="1600">
              <a:solidFill>
                <a:srgbClr val="0F172A"/>
              </a:solidFill>
              <a:latin typeface="Quattrocento Sans"/>
              <a:ea typeface="Quattrocento Sans"/>
              <a:cs typeface="Quattrocento Sans"/>
              <a:sym typeface="Quattrocento Sans"/>
            </a:endParaRPr>
          </a:p>
          <a:p>
            <a:pPr indent="-330200" lvl="0" marL="457200" rtl="0" algn="l">
              <a:spcBef>
                <a:spcPts val="1050"/>
              </a:spcBef>
              <a:spcAft>
                <a:spcPts val="0"/>
              </a:spcAft>
              <a:buClr>
                <a:srgbClr val="0F172A"/>
              </a:buClr>
              <a:buSzPts val="1600"/>
              <a:buFont typeface="Quattrocento Sans"/>
              <a:buChar char="●"/>
            </a:pPr>
            <a:r>
              <a:rPr b="1" i="0" lang="en-US" sz="1200">
                <a:solidFill>
                  <a:srgbClr val="2563EB"/>
                </a:solidFill>
                <a:latin typeface="Quattrocento Sans"/>
                <a:ea typeface="Quattrocento Sans"/>
                <a:cs typeface="Quattrocento Sans"/>
                <a:sym typeface="Quattrocento Sans"/>
              </a:rPr>
              <a:t>Contextual Deliverable Reviews: </a:t>
            </a:r>
            <a:r>
              <a:rPr b="0" i="0" lang="en-US" sz="1200">
                <a:solidFill>
                  <a:srgbClr val="334155"/>
                </a:solidFill>
                <a:latin typeface="Quattrocento Sans"/>
                <a:ea typeface="Quattrocento Sans"/>
                <a:cs typeface="Quattrocento Sans"/>
                <a:sym typeface="Quattrocento Sans"/>
              </a:rPr>
              <a:t>Replaces disjointed email chains with an inline discussion thread anchored directly beneath review artefacts.</a:t>
            </a:r>
            <a:endParaRPr b="1" i="0" sz="1600">
              <a:solidFill>
                <a:srgbClr val="0F172A"/>
              </a:solidFill>
              <a:latin typeface="Quattrocento Sans"/>
              <a:ea typeface="Quattrocento Sans"/>
              <a:cs typeface="Quattrocento Sans"/>
              <a:sym typeface="Quattrocento Sans"/>
            </a:endParaRPr>
          </a:p>
          <a:p>
            <a:pPr indent="-330200" lvl="0" marL="457200" rtl="0" algn="l">
              <a:spcBef>
                <a:spcPts val="1050"/>
              </a:spcBef>
              <a:spcAft>
                <a:spcPts val="0"/>
              </a:spcAft>
              <a:buClr>
                <a:srgbClr val="0F172A"/>
              </a:buClr>
              <a:buSzPts val="1600"/>
              <a:buFont typeface="Quattrocento Sans"/>
              <a:buChar char="●"/>
            </a:pPr>
            <a:r>
              <a:rPr b="1" i="0" lang="en-US" sz="1200">
                <a:solidFill>
                  <a:srgbClr val="2563EB"/>
                </a:solidFill>
                <a:latin typeface="Quattrocento Sans"/>
                <a:ea typeface="Quattrocento Sans"/>
                <a:cs typeface="Quattrocento Sans"/>
                <a:sym typeface="Quattrocento Sans"/>
              </a:rPr>
              <a:t>Formal Milestone Gates: </a:t>
            </a:r>
            <a:r>
              <a:rPr b="0" i="0" lang="en-US" sz="1200">
                <a:solidFill>
                  <a:srgbClr val="334155"/>
                </a:solidFill>
                <a:latin typeface="Quattrocento Sans"/>
                <a:ea typeface="Quattrocento Sans"/>
                <a:cs typeface="Quattrocento Sans"/>
                <a:sym typeface="Quattrocento Sans"/>
              </a:rPr>
              <a:t>Eliminates surprise invoices through transparent, two-step legally deliberate milestone sign-offs.</a:t>
            </a:r>
            <a:endParaRPr b="1" i="0" sz="1600">
              <a:solidFill>
                <a:srgbClr val="0F172A"/>
              </a:solidFill>
              <a:latin typeface="Quattrocento Sans"/>
              <a:ea typeface="Quattrocento Sans"/>
              <a:cs typeface="Quattrocento Sans"/>
              <a:sym typeface="Quattrocento Sans"/>
            </a:endParaRPr>
          </a:p>
          <a:p>
            <a:pPr indent="-330200" lvl="0" marL="457200" rtl="0" algn="l">
              <a:spcBef>
                <a:spcPts val="1050"/>
              </a:spcBef>
              <a:spcAft>
                <a:spcPts val="0"/>
              </a:spcAft>
              <a:buClr>
                <a:srgbClr val="0F172A"/>
              </a:buClr>
              <a:buSzPts val="1600"/>
              <a:buFont typeface="Quattrocento Sans"/>
              <a:buChar char="●"/>
            </a:pPr>
            <a:r>
              <a:rPr b="1" i="0" lang="en-US" sz="1200">
                <a:solidFill>
                  <a:srgbClr val="2563EB"/>
                </a:solidFill>
                <a:latin typeface="Quattrocento Sans"/>
                <a:ea typeface="Quattrocento Sans"/>
                <a:cs typeface="Quattrocento Sans"/>
                <a:sym typeface="Quattrocento Sans"/>
              </a:rPr>
              <a:t>Canonical Flutter Execution: </a:t>
            </a:r>
            <a:r>
              <a:rPr b="0" i="0" lang="en-US" sz="1200">
                <a:solidFill>
                  <a:srgbClr val="334155"/>
                </a:solidFill>
                <a:latin typeface="Quattrocento Sans"/>
                <a:ea typeface="Quattrocento Sans"/>
                <a:cs typeface="Quattrocento Sans"/>
                <a:sym typeface="Quattrocento Sans"/>
              </a:rPr>
              <a:t>100% executable single-file prototype on dartpad.dev with adaptive responsive layouts (&lt;640dp vs &gt;=640dp).</a:t>
            </a:r>
            <a:endParaRPr b="1" i="0" sz="1600">
              <a:solidFill>
                <a:srgbClr val="0F172A"/>
              </a:solidFill>
              <a:latin typeface="Quattrocento Sans"/>
              <a:ea typeface="Quattrocento Sans"/>
              <a:cs typeface="Quattrocento Sans"/>
              <a:sym typeface="Quattrocen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5"/>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HUMAN-CENTERED DESIGN &amp; EMPIRICAL PERSONA</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Persona: Founder Fred (Fred R.)</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42-Year-Old Managing Director Requiring Glanceability, Error Prevention &amp; High Contrast</a:t>
            </a:r>
            <a:endParaRPr/>
          </a:p>
        </p:txBody>
      </p:sp>
      <p:grpSp>
        <p:nvGrpSpPr>
          <p:cNvPr id="41" name="Google Shape;41;p5"/>
          <p:cNvGrpSpPr/>
          <p:nvPr/>
        </p:nvGrpSpPr>
        <p:grpSpPr>
          <a:xfrm>
            <a:off x="600075" y="1714500"/>
            <a:ext cx="4953000" cy="4667400"/>
            <a:chOff x="0" y="0"/>
            <a:chExt cx="4953000" cy="4667400"/>
          </a:xfrm>
        </p:grpSpPr>
        <p:sp>
          <p:nvSpPr>
            <p:cNvPr id="42" name="Google Shape;42;p5"/>
            <p:cNvSpPr/>
            <p:nvPr/>
          </p:nvSpPr>
          <p:spPr>
            <a:xfrm>
              <a:off x="0" y="0"/>
              <a:ext cx="4953000" cy="4667400"/>
            </a:xfrm>
            <a:prstGeom prst="roundRect">
              <a:avLst>
                <a:gd fmla="val 285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 name="Google Shape;43;p5"/>
            <p:cNvSpPr/>
            <p:nvPr/>
          </p:nvSpPr>
          <p:spPr>
            <a:xfrm>
              <a:off x="0" y="0"/>
              <a:ext cx="4953000" cy="857400"/>
            </a:xfrm>
            <a:prstGeom prst="roundRect">
              <a:avLst>
                <a:gd fmla="val 15555"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 name="Google Shape;44;p5"/>
            <p:cNvSpPr/>
            <p:nvPr/>
          </p:nvSpPr>
          <p:spPr>
            <a:xfrm>
              <a:off x="0" y="723900"/>
              <a:ext cx="4953000" cy="13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45" name="Google Shape;45;p5"/>
            <p:cNvCxnSpPr/>
            <p:nvPr/>
          </p:nvCxnSpPr>
          <p:spPr>
            <a:xfrm>
              <a:off x="0" y="857250"/>
              <a:ext cx="49530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46" name="Google Shape;46;p5"/>
            <p:cNvSpPr/>
            <p:nvPr/>
          </p:nvSpPr>
          <p:spPr>
            <a:xfrm>
              <a:off x="266700" y="180975"/>
              <a:ext cx="495300" cy="495300"/>
            </a:xfrm>
            <a:prstGeom prst="ellipse">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 name="Google Shape;47;p5"/>
            <p:cNvSpPr txBox="1"/>
            <p:nvPr/>
          </p:nvSpPr>
          <p:spPr>
            <a:xfrm>
              <a:off x="361950" y="308356"/>
              <a:ext cx="3048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200">
                  <a:solidFill>
                    <a:srgbClr val="2563EB"/>
                  </a:solidFill>
                  <a:latin typeface="Material Icons"/>
                  <a:ea typeface="Material Icons"/>
                  <a:cs typeface="Material Icons"/>
                  <a:sym typeface="Material Icons"/>
                </a:rPr>
                <a:t>person</a:t>
              </a:r>
              <a:endParaRPr sz="2200">
                <a:solidFill>
                  <a:srgbClr val="2563EB"/>
                </a:solidFill>
                <a:latin typeface="Material Icons"/>
                <a:ea typeface="Material Icons"/>
                <a:cs typeface="Material Icons"/>
                <a:sym typeface="Material Icons"/>
              </a:endParaRPr>
            </a:p>
          </p:txBody>
        </p:sp>
        <p:sp>
          <p:nvSpPr>
            <p:cNvPr id="48" name="Google Shape;48;p5"/>
            <p:cNvSpPr txBox="1"/>
            <p:nvPr/>
          </p:nvSpPr>
          <p:spPr>
            <a:xfrm>
              <a:off x="876300" y="209550"/>
              <a:ext cx="3810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F172A"/>
                  </a:solidFill>
                  <a:latin typeface="Quattrocento Sans"/>
                  <a:ea typeface="Quattrocento Sans"/>
                  <a:cs typeface="Quattrocento Sans"/>
                  <a:sym typeface="Quattrocento Sans"/>
                </a:rPr>
                <a:t>Fred Rahman ('Fred R.')</a:t>
              </a:r>
              <a:endParaRPr b="1" sz="1600">
                <a:solidFill>
                  <a:srgbClr val="0F172A"/>
                </a:solidFill>
                <a:latin typeface="Quattrocento Sans"/>
                <a:ea typeface="Quattrocento Sans"/>
                <a:cs typeface="Quattrocento Sans"/>
                <a:sym typeface="Quattrocento Sans"/>
              </a:endParaRPr>
            </a:p>
            <a:p>
              <a:pPr indent="0" lvl="0" marL="0" rtl="0" algn="l">
                <a:spcBef>
                  <a:spcPts val="150"/>
                </a:spcBef>
                <a:spcAft>
                  <a:spcPts val="0"/>
                </a:spcAft>
                <a:buNone/>
              </a:pPr>
              <a:r>
                <a:rPr lang="en-US" sz="1100">
                  <a:solidFill>
                    <a:srgbClr val="64748B"/>
                  </a:solidFill>
                  <a:latin typeface="Quattrocento Sans"/>
                  <a:ea typeface="Quattrocento Sans"/>
                  <a:cs typeface="Quattrocento Sans"/>
                  <a:sym typeface="Quattrocento Sans"/>
                </a:rPr>
                <a:t>Age 42 • Managing Director of Retail Venture</a:t>
              </a:r>
              <a:endParaRPr sz="1100">
                <a:solidFill>
                  <a:srgbClr val="64748B"/>
                </a:solidFill>
                <a:latin typeface="Quattrocento Sans"/>
                <a:ea typeface="Quattrocento Sans"/>
                <a:cs typeface="Quattrocento Sans"/>
                <a:sym typeface="Quattrocento Sans"/>
              </a:endParaRPr>
            </a:p>
          </p:txBody>
        </p:sp>
        <p:grpSp>
          <p:nvGrpSpPr>
            <p:cNvPr id="49" name="Google Shape;49;p5"/>
            <p:cNvGrpSpPr/>
            <p:nvPr/>
          </p:nvGrpSpPr>
          <p:grpSpPr>
            <a:xfrm>
              <a:off x="266700" y="1028700"/>
              <a:ext cx="4457850" cy="666900"/>
              <a:chOff x="38100" y="19050"/>
              <a:chExt cx="4457850" cy="666900"/>
            </a:xfrm>
          </p:grpSpPr>
          <p:sp>
            <p:nvSpPr>
              <p:cNvPr id="50" name="Google Shape;50;p5"/>
              <p:cNvSpPr/>
              <p:nvPr/>
            </p:nvSpPr>
            <p:spPr>
              <a:xfrm>
                <a:off x="38100" y="38100"/>
                <a:ext cx="266700" cy="2667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 name="Google Shape;51;p5"/>
              <p:cNvSpPr txBox="1"/>
              <p:nvPr/>
            </p:nvSpPr>
            <p:spPr>
              <a:xfrm>
                <a:off x="76200" y="95187"/>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105">
                    <a:solidFill>
                      <a:srgbClr val="2563EB"/>
                    </a:solidFill>
                    <a:latin typeface="Material Icons"/>
                    <a:ea typeface="Material Icons"/>
                    <a:cs typeface="Material Icons"/>
                    <a:sym typeface="Material Icons"/>
                  </a:rPr>
                  <a:t>psychology</a:t>
                </a:r>
                <a:endParaRPr sz="1105">
                  <a:solidFill>
                    <a:srgbClr val="2563EB"/>
                  </a:solidFill>
                  <a:latin typeface="Material Icons"/>
                  <a:ea typeface="Material Icons"/>
                  <a:cs typeface="Material Icons"/>
                  <a:sym typeface="Material Icons"/>
                </a:endParaRPr>
              </a:p>
            </p:txBody>
          </p:sp>
          <p:sp>
            <p:nvSpPr>
              <p:cNvPr id="52" name="Google Shape;52;p5"/>
              <p:cNvSpPr txBox="1"/>
              <p:nvPr/>
            </p:nvSpPr>
            <p:spPr>
              <a:xfrm>
                <a:off x="400050" y="19050"/>
                <a:ext cx="40959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Technical Literacy</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lang="en-US" sz="1050">
                    <a:solidFill>
                      <a:srgbClr val="334155"/>
                    </a:solidFill>
                    <a:latin typeface="Quattrocento Sans"/>
                    <a:ea typeface="Quattrocento Sans"/>
                    <a:cs typeface="Quattrocento Sans"/>
                    <a:sym typeface="Quattrocento Sans"/>
                  </a:rPr>
                  <a:t>Novice to Intermediate (frequent user of CommBank, Xero, WhatsApp).</a:t>
                </a:r>
                <a:endParaRPr sz="1050">
                  <a:solidFill>
                    <a:srgbClr val="334155"/>
                  </a:solidFill>
                  <a:latin typeface="Quattrocento Sans"/>
                  <a:ea typeface="Quattrocento Sans"/>
                  <a:cs typeface="Quattrocento Sans"/>
                  <a:sym typeface="Quattrocento Sans"/>
                </a:endParaRPr>
              </a:p>
            </p:txBody>
          </p:sp>
        </p:grpSp>
        <p:cxnSp>
          <p:nvCxnSpPr>
            <p:cNvPr id="53" name="Google Shape;53;p5"/>
            <p:cNvCxnSpPr/>
            <p:nvPr/>
          </p:nvCxnSpPr>
          <p:spPr>
            <a:xfrm>
              <a:off x="228600" y="1828800"/>
              <a:ext cx="44958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54" name="Google Shape;54;p5"/>
            <p:cNvGrpSpPr/>
            <p:nvPr/>
          </p:nvGrpSpPr>
          <p:grpSpPr>
            <a:xfrm>
              <a:off x="266700" y="1943100"/>
              <a:ext cx="4457850" cy="666900"/>
              <a:chOff x="38100" y="19050"/>
              <a:chExt cx="4457850" cy="666900"/>
            </a:xfrm>
          </p:grpSpPr>
          <p:sp>
            <p:nvSpPr>
              <p:cNvPr id="55" name="Google Shape;55;p5"/>
              <p:cNvSpPr/>
              <p:nvPr/>
            </p:nvSpPr>
            <p:spPr>
              <a:xfrm>
                <a:off x="38100" y="38100"/>
                <a:ext cx="266700" cy="2667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 name="Google Shape;56;p5"/>
              <p:cNvSpPr txBox="1"/>
              <p:nvPr/>
            </p:nvSpPr>
            <p:spPr>
              <a:xfrm>
                <a:off x="76200" y="95187"/>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105">
                    <a:solidFill>
                      <a:srgbClr val="2563EB"/>
                    </a:solidFill>
                    <a:latin typeface="Material Icons"/>
                    <a:ea typeface="Material Icons"/>
                    <a:cs typeface="Material Icons"/>
                    <a:sym typeface="Material Icons"/>
                  </a:rPr>
                  <a:t>devices</a:t>
                </a:r>
                <a:endParaRPr sz="1105">
                  <a:solidFill>
                    <a:srgbClr val="2563EB"/>
                  </a:solidFill>
                  <a:latin typeface="Material Icons"/>
                  <a:ea typeface="Material Icons"/>
                  <a:cs typeface="Material Icons"/>
                  <a:sym typeface="Material Icons"/>
                </a:endParaRPr>
              </a:p>
            </p:txBody>
          </p:sp>
          <p:sp>
            <p:nvSpPr>
              <p:cNvPr id="57" name="Google Shape;57;p5"/>
              <p:cNvSpPr txBox="1"/>
              <p:nvPr/>
            </p:nvSpPr>
            <p:spPr>
              <a:xfrm>
                <a:off x="400050" y="19050"/>
                <a:ext cx="40959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Hardware Ecosystem</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lang="en-US" sz="1050">
                    <a:solidFill>
                      <a:srgbClr val="334155"/>
                    </a:solidFill>
                    <a:latin typeface="Quattrocento Sans"/>
                    <a:ea typeface="Quattrocento Sans"/>
                    <a:cs typeface="Quattrocento Sans"/>
                    <a:sym typeface="Quattrocento Sans"/>
                  </a:rPr>
                  <a:t>Samsung Galaxy A54 (Mid-range Android) &amp; Apple iPad (10th Gen).</a:t>
                </a:r>
                <a:endParaRPr sz="1050">
                  <a:solidFill>
                    <a:srgbClr val="334155"/>
                  </a:solidFill>
                  <a:latin typeface="Quattrocento Sans"/>
                  <a:ea typeface="Quattrocento Sans"/>
                  <a:cs typeface="Quattrocento Sans"/>
                  <a:sym typeface="Quattrocento Sans"/>
                </a:endParaRPr>
              </a:p>
            </p:txBody>
          </p:sp>
        </p:grpSp>
        <p:cxnSp>
          <p:nvCxnSpPr>
            <p:cNvPr id="58" name="Google Shape;58;p5"/>
            <p:cNvCxnSpPr/>
            <p:nvPr/>
          </p:nvCxnSpPr>
          <p:spPr>
            <a:xfrm>
              <a:off x="228600" y="2743200"/>
              <a:ext cx="44958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59" name="Google Shape;59;p5"/>
            <p:cNvGrpSpPr/>
            <p:nvPr/>
          </p:nvGrpSpPr>
          <p:grpSpPr>
            <a:xfrm>
              <a:off x="266700" y="2857500"/>
              <a:ext cx="4457850" cy="666900"/>
              <a:chOff x="38100" y="19050"/>
              <a:chExt cx="4457850" cy="666900"/>
            </a:xfrm>
          </p:grpSpPr>
          <p:sp>
            <p:nvSpPr>
              <p:cNvPr id="60" name="Google Shape;60;p5"/>
              <p:cNvSpPr/>
              <p:nvPr/>
            </p:nvSpPr>
            <p:spPr>
              <a:xfrm>
                <a:off x="38100" y="38100"/>
                <a:ext cx="266700" cy="2667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 name="Google Shape;61;p5"/>
              <p:cNvSpPr txBox="1"/>
              <p:nvPr/>
            </p:nvSpPr>
            <p:spPr>
              <a:xfrm>
                <a:off x="76200" y="95187"/>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105">
                    <a:solidFill>
                      <a:srgbClr val="2563EB"/>
                    </a:solidFill>
                    <a:latin typeface="Material Icons"/>
                    <a:ea typeface="Material Icons"/>
                    <a:cs typeface="Material Icons"/>
                    <a:sym typeface="Material Icons"/>
                  </a:rPr>
                  <a:t>wb_sunny</a:t>
                </a:r>
                <a:endParaRPr sz="1105">
                  <a:solidFill>
                    <a:srgbClr val="2563EB"/>
                  </a:solidFill>
                  <a:latin typeface="Material Icons"/>
                  <a:ea typeface="Material Icons"/>
                  <a:cs typeface="Material Icons"/>
                  <a:sym typeface="Material Icons"/>
                </a:endParaRPr>
              </a:p>
            </p:txBody>
          </p:sp>
          <p:sp>
            <p:nvSpPr>
              <p:cNvPr id="62" name="Google Shape;62;p5"/>
              <p:cNvSpPr txBox="1"/>
              <p:nvPr/>
            </p:nvSpPr>
            <p:spPr>
              <a:xfrm>
                <a:off x="400050" y="19050"/>
                <a:ext cx="40959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Physical Environment</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lang="en-US" sz="1050">
                    <a:solidFill>
                      <a:srgbClr val="334155"/>
                    </a:solidFill>
                    <a:latin typeface="Quattrocento Sans"/>
                    <a:ea typeface="Quattrocento Sans"/>
                    <a:cs typeface="Quattrocento Sans"/>
                    <a:sym typeface="Quattrocento Sans"/>
                  </a:rPr>
                  <a:t>High-mobility, transit, on-site warehouses, and bright outdoor sunlight.</a:t>
                </a:r>
                <a:endParaRPr sz="1050">
                  <a:solidFill>
                    <a:srgbClr val="334155"/>
                  </a:solidFill>
                  <a:latin typeface="Quattrocento Sans"/>
                  <a:ea typeface="Quattrocento Sans"/>
                  <a:cs typeface="Quattrocento Sans"/>
                  <a:sym typeface="Quattrocento Sans"/>
                </a:endParaRPr>
              </a:p>
            </p:txBody>
          </p:sp>
        </p:grpSp>
        <p:cxnSp>
          <p:nvCxnSpPr>
            <p:cNvPr id="63" name="Google Shape;63;p5"/>
            <p:cNvCxnSpPr/>
            <p:nvPr/>
          </p:nvCxnSpPr>
          <p:spPr>
            <a:xfrm>
              <a:off x="228600" y="3657600"/>
              <a:ext cx="44958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64" name="Google Shape;64;p5"/>
            <p:cNvGrpSpPr/>
            <p:nvPr/>
          </p:nvGrpSpPr>
          <p:grpSpPr>
            <a:xfrm>
              <a:off x="266700" y="3771900"/>
              <a:ext cx="4457850" cy="666900"/>
              <a:chOff x="38100" y="19050"/>
              <a:chExt cx="4457850" cy="666900"/>
            </a:xfrm>
          </p:grpSpPr>
          <p:sp>
            <p:nvSpPr>
              <p:cNvPr id="65" name="Google Shape;65;p5"/>
              <p:cNvSpPr/>
              <p:nvPr/>
            </p:nvSpPr>
            <p:spPr>
              <a:xfrm>
                <a:off x="38100" y="38100"/>
                <a:ext cx="266700" cy="2667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 name="Google Shape;66;p5"/>
              <p:cNvSpPr txBox="1"/>
              <p:nvPr/>
            </p:nvSpPr>
            <p:spPr>
              <a:xfrm>
                <a:off x="76200" y="95187"/>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105">
                    <a:solidFill>
                      <a:srgbClr val="2563EB"/>
                    </a:solidFill>
                    <a:latin typeface="Material Icons"/>
                    <a:ea typeface="Material Icons"/>
                    <a:cs typeface="Material Icons"/>
                    <a:sym typeface="Material Icons"/>
                  </a:rPr>
                  <a:t>timer</a:t>
                </a:r>
                <a:endParaRPr sz="1105">
                  <a:solidFill>
                    <a:srgbClr val="2563EB"/>
                  </a:solidFill>
                  <a:latin typeface="Material Icons"/>
                  <a:ea typeface="Material Icons"/>
                  <a:cs typeface="Material Icons"/>
                  <a:sym typeface="Material Icons"/>
                </a:endParaRPr>
              </a:p>
            </p:txBody>
          </p:sp>
          <p:sp>
            <p:nvSpPr>
              <p:cNvPr id="67" name="Google Shape;67;p5"/>
              <p:cNvSpPr txBox="1"/>
              <p:nvPr/>
            </p:nvSpPr>
            <p:spPr>
              <a:xfrm>
                <a:off x="400050" y="19050"/>
                <a:ext cx="40959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Interaction Pattern</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lang="en-US" sz="1050">
                    <a:solidFill>
                      <a:srgbClr val="334155"/>
                    </a:solidFill>
                    <a:latin typeface="Quattrocento Sans"/>
                    <a:ea typeface="Quattrocento Sans"/>
                    <a:cs typeface="Quattrocento Sans"/>
                    <a:sym typeface="Quattrocento Sans"/>
                  </a:rPr>
                  <a:t>Micro-sessions lasting 10 to 60 seconds between managerial tasks.</a:t>
                </a:r>
                <a:endParaRPr sz="1050">
                  <a:solidFill>
                    <a:srgbClr val="334155"/>
                  </a:solidFill>
                  <a:latin typeface="Quattrocento Sans"/>
                  <a:ea typeface="Quattrocento Sans"/>
                  <a:cs typeface="Quattrocento Sans"/>
                  <a:sym typeface="Quattrocento Sans"/>
                </a:endParaRPr>
              </a:p>
            </p:txBody>
          </p:sp>
        </p:grpSp>
      </p:grpSp>
      <p:grpSp>
        <p:nvGrpSpPr>
          <p:cNvPr id="68" name="Google Shape;68;p5"/>
          <p:cNvGrpSpPr/>
          <p:nvPr/>
        </p:nvGrpSpPr>
        <p:grpSpPr>
          <a:xfrm>
            <a:off x="5791200" y="1714500"/>
            <a:ext cx="5800800" cy="4648350"/>
            <a:chOff x="0" y="0"/>
            <a:chExt cx="5800800" cy="4648350"/>
          </a:xfrm>
        </p:grpSpPr>
        <p:grpSp>
          <p:nvGrpSpPr>
            <p:cNvPr id="69" name="Google Shape;69;p5"/>
            <p:cNvGrpSpPr/>
            <p:nvPr/>
          </p:nvGrpSpPr>
          <p:grpSpPr>
            <a:xfrm>
              <a:off x="0" y="0"/>
              <a:ext cx="5800800" cy="1047900"/>
              <a:chOff x="0" y="0"/>
              <a:chExt cx="5800800" cy="1047900"/>
            </a:xfrm>
          </p:grpSpPr>
          <p:sp>
            <p:nvSpPr>
              <p:cNvPr id="70" name="Google Shape;70;p5"/>
              <p:cNvSpPr/>
              <p:nvPr/>
            </p:nvSpPr>
            <p:spPr>
              <a:xfrm>
                <a:off x="0" y="0"/>
                <a:ext cx="5800800" cy="1047900"/>
              </a:xfrm>
              <a:prstGeom prst="roundRect">
                <a:avLst>
                  <a:gd fmla="val 1090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 name="Google Shape;71;p5"/>
              <p:cNvSpPr/>
              <p:nvPr/>
            </p:nvSpPr>
            <p:spPr>
              <a:xfrm>
                <a:off x="0" y="0"/>
                <a:ext cx="57300" cy="10479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 name="Google Shape;72;p5"/>
              <p:cNvSpPr/>
              <p:nvPr/>
            </p:nvSpPr>
            <p:spPr>
              <a:xfrm>
                <a:off x="190500" y="152400"/>
                <a:ext cx="304800" cy="3048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 name="Google Shape;73;p5"/>
              <p:cNvSpPr txBox="1"/>
              <p:nvPr/>
            </p:nvSpPr>
            <p:spPr>
              <a:xfrm>
                <a:off x="228600" y="210947"/>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400">
                    <a:solidFill>
                      <a:srgbClr val="2563EB"/>
                    </a:solidFill>
                    <a:latin typeface="Material Icons"/>
                    <a:ea typeface="Material Icons"/>
                    <a:cs typeface="Material Icons"/>
                    <a:sym typeface="Material Icons"/>
                  </a:rPr>
                  <a:t>sentiment_satisfied</a:t>
                </a:r>
                <a:endParaRPr sz="1400">
                  <a:solidFill>
                    <a:srgbClr val="2563EB"/>
                  </a:solidFill>
                  <a:latin typeface="Material Icons"/>
                  <a:ea typeface="Material Icons"/>
                  <a:cs typeface="Material Icons"/>
                  <a:sym typeface="Material Icons"/>
                </a:endParaRPr>
              </a:p>
            </p:txBody>
          </p:sp>
          <p:sp>
            <p:nvSpPr>
              <p:cNvPr id="74" name="Google Shape;74;p5"/>
              <p:cNvSpPr txBox="1"/>
              <p:nvPr/>
            </p:nvSpPr>
            <p:spPr>
              <a:xfrm>
                <a:off x="609600" y="133350"/>
                <a:ext cx="5000700" cy="8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Technostress Mitigation</a:t>
                </a:r>
                <a:endParaRPr b="1" sz="1200">
                  <a:solidFill>
                    <a:srgbClr val="0F172A"/>
                  </a:solidFill>
                  <a:latin typeface="Quattrocento Sans"/>
                  <a:ea typeface="Quattrocento Sans"/>
                  <a:cs typeface="Quattrocento Sans"/>
                  <a:sym typeface="Quattrocento Sans"/>
                </a:endParaRPr>
              </a:p>
              <a:p>
                <a:pPr indent="0" lvl="0" marL="0" rtl="0" algn="l">
                  <a:spcBef>
                    <a:spcPts val="300"/>
                  </a:spcBef>
                  <a:spcAft>
                    <a:spcPts val="0"/>
                  </a:spcAft>
                  <a:buNone/>
                </a:pPr>
                <a:r>
                  <a:rPr lang="en-US" sz="1050">
                    <a:solidFill>
                      <a:srgbClr val="334155"/>
                    </a:solidFill>
                    <a:latin typeface="Quattrocento Sans"/>
                    <a:ea typeface="Quattrocento Sans"/>
                    <a:cs typeface="Quattrocento Sans"/>
                    <a:sym typeface="Quattrocento Sans"/>
                  </a:rPr>
                  <a:t>Wang &amp; Yu (2024, p. 3) show technostress causes user disengagement; ElegantLink eliminates all engineering jargon from client screens.</a:t>
                </a:r>
                <a:endParaRPr sz="1050">
                  <a:solidFill>
                    <a:srgbClr val="334155"/>
                  </a:solidFill>
                  <a:latin typeface="Quattrocento Sans"/>
                  <a:ea typeface="Quattrocento Sans"/>
                  <a:cs typeface="Quattrocento Sans"/>
                  <a:sym typeface="Quattrocento Sans"/>
                </a:endParaRPr>
              </a:p>
            </p:txBody>
          </p:sp>
        </p:grpSp>
        <p:grpSp>
          <p:nvGrpSpPr>
            <p:cNvPr id="75" name="Google Shape;75;p5"/>
            <p:cNvGrpSpPr/>
            <p:nvPr/>
          </p:nvGrpSpPr>
          <p:grpSpPr>
            <a:xfrm>
              <a:off x="0" y="1200150"/>
              <a:ext cx="5800800" cy="1047900"/>
              <a:chOff x="0" y="0"/>
              <a:chExt cx="5800800" cy="1047900"/>
            </a:xfrm>
          </p:grpSpPr>
          <p:sp>
            <p:nvSpPr>
              <p:cNvPr id="76" name="Google Shape;76;p5"/>
              <p:cNvSpPr/>
              <p:nvPr/>
            </p:nvSpPr>
            <p:spPr>
              <a:xfrm>
                <a:off x="0" y="0"/>
                <a:ext cx="5800800" cy="1047900"/>
              </a:xfrm>
              <a:prstGeom prst="roundRect">
                <a:avLst>
                  <a:gd fmla="val 1090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5"/>
              <p:cNvSpPr/>
              <p:nvPr/>
            </p:nvSpPr>
            <p:spPr>
              <a:xfrm>
                <a:off x="0" y="0"/>
                <a:ext cx="57300" cy="10479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 name="Google Shape;78;p5"/>
              <p:cNvSpPr/>
              <p:nvPr/>
            </p:nvSpPr>
            <p:spPr>
              <a:xfrm>
                <a:off x="190500" y="152400"/>
                <a:ext cx="304800" cy="3048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 name="Google Shape;79;p5"/>
              <p:cNvSpPr txBox="1"/>
              <p:nvPr/>
            </p:nvSpPr>
            <p:spPr>
              <a:xfrm>
                <a:off x="228600" y="210947"/>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400">
                    <a:solidFill>
                      <a:srgbClr val="2563EB"/>
                    </a:solidFill>
                    <a:latin typeface="Material Icons"/>
                    <a:ea typeface="Material Icons"/>
                    <a:cs typeface="Material Icons"/>
                    <a:sym typeface="Material Icons"/>
                  </a:rPr>
                  <a:t>contrast</a:t>
                </a:r>
                <a:endParaRPr sz="1400">
                  <a:solidFill>
                    <a:srgbClr val="2563EB"/>
                  </a:solidFill>
                  <a:latin typeface="Material Icons"/>
                  <a:ea typeface="Material Icons"/>
                  <a:cs typeface="Material Icons"/>
                  <a:sym typeface="Material Icons"/>
                </a:endParaRPr>
              </a:p>
            </p:txBody>
          </p:sp>
          <p:sp>
            <p:nvSpPr>
              <p:cNvPr id="80" name="Google Shape;80;p5"/>
              <p:cNvSpPr txBox="1"/>
              <p:nvPr/>
            </p:nvSpPr>
            <p:spPr>
              <a:xfrm>
                <a:off x="609600" y="133350"/>
                <a:ext cx="5000700" cy="8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Outdoor Contrast Compliance</a:t>
                </a:r>
                <a:endParaRPr b="1" sz="1200">
                  <a:solidFill>
                    <a:srgbClr val="0F172A"/>
                  </a:solidFill>
                  <a:latin typeface="Quattrocento Sans"/>
                  <a:ea typeface="Quattrocento Sans"/>
                  <a:cs typeface="Quattrocento Sans"/>
                  <a:sym typeface="Quattrocento Sans"/>
                </a:endParaRPr>
              </a:p>
              <a:p>
                <a:pPr indent="0" lvl="0" marL="0" rtl="0" algn="l">
                  <a:spcBef>
                    <a:spcPts val="300"/>
                  </a:spcBef>
                  <a:spcAft>
                    <a:spcPts val="0"/>
                  </a:spcAft>
                  <a:buNone/>
                </a:pPr>
                <a:r>
                  <a:rPr lang="en-US" sz="1050">
                    <a:solidFill>
                      <a:srgbClr val="334155"/>
                    </a:solidFill>
                    <a:latin typeface="Quattrocento Sans"/>
                    <a:ea typeface="Quattrocento Sans"/>
                    <a:cs typeface="Quattrocento Sans"/>
                    <a:sym typeface="Quattrocento Sans"/>
                  </a:rPr>
                  <a:t>Punsongserm &amp; Suvakunta (2025, p. 21) show mobile legibility collapses under field sunlight; our UI enforces strict WCAG AA &gt;=4.5:1 contrast.</a:t>
                </a:r>
                <a:endParaRPr sz="1050">
                  <a:solidFill>
                    <a:srgbClr val="334155"/>
                  </a:solidFill>
                  <a:latin typeface="Quattrocento Sans"/>
                  <a:ea typeface="Quattrocento Sans"/>
                  <a:cs typeface="Quattrocento Sans"/>
                  <a:sym typeface="Quattrocento Sans"/>
                </a:endParaRPr>
              </a:p>
            </p:txBody>
          </p:sp>
        </p:grpSp>
        <p:grpSp>
          <p:nvGrpSpPr>
            <p:cNvPr id="81" name="Google Shape;81;p5"/>
            <p:cNvGrpSpPr/>
            <p:nvPr/>
          </p:nvGrpSpPr>
          <p:grpSpPr>
            <a:xfrm>
              <a:off x="0" y="2400300"/>
              <a:ext cx="5800800" cy="1047900"/>
              <a:chOff x="0" y="0"/>
              <a:chExt cx="5800800" cy="1047900"/>
            </a:xfrm>
          </p:grpSpPr>
          <p:sp>
            <p:nvSpPr>
              <p:cNvPr id="82" name="Google Shape;82;p5"/>
              <p:cNvSpPr/>
              <p:nvPr/>
            </p:nvSpPr>
            <p:spPr>
              <a:xfrm>
                <a:off x="0" y="0"/>
                <a:ext cx="5800800" cy="1047900"/>
              </a:xfrm>
              <a:prstGeom prst="roundRect">
                <a:avLst>
                  <a:gd fmla="val 1090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 name="Google Shape;83;p5"/>
              <p:cNvSpPr/>
              <p:nvPr/>
            </p:nvSpPr>
            <p:spPr>
              <a:xfrm>
                <a:off x="0" y="0"/>
                <a:ext cx="57300" cy="10479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 name="Google Shape;84;p5"/>
              <p:cNvSpPr/>
              <p:nvPr/>
            </p:nvSpPr>
            <p:spPr>
              <a:xfrm>
                <a:off x="190500" y="152400"/>
                <a:ext cx="304800" cy="3048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 name="Google Shape;85;p5"/>
              <p:cNvSpPr txBox="1"/>
              <p:nvPr/>
            </p:nvSpPr>
            <p:spPr>
              <a:xfrm>
                <a:off x="228600" y="210947"/>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400">
                    <a:solidFill>
                      <a:srgbClr val="2563EB"/>
                    </a:solidFill>
                    <a:latin typeface="Material Icons"/>
                    <a:ea typeface="Material Icons"/>
                    <a:cs typeface="Material Icons"/>
                    <a:sym typeface="Material Icons"/>
                  </a:rPr>
                  <a:t>touch_app</a:t>
                </a:r>
                <a:endParaRPr sz="1400">
                  <a:solidFill>
                    <a:srgbClr val="2563EB"/>
                  </a:solidFill>
                  <a:latin typeface="Material Icons"/>
                  <a:ea typeface="Material Icons"/>
                  <a:cs typeface="Material Icons"/>
                  <a:sym typeface="Material Icons"/>
                </a:endParaRPr>
              </a:p>
            </p:txBody>
          </p:sp>
          <p:sp>
            <p:nvSpPr>
              <p:cNvPr id="86" name="Google Shape;86;p5"/>
              <p:cNvSpPr txBox="1"/>
              <p:nvPr/>
            </p:nvSpPr>
            <p:spPr>
              <a:xfrm>
                <a:off x="609600" y="133350"/>
                <a:ext cx="5000700" cy="8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Accidental Tap Prevention</a:t>
                </a:r>
                <a:endParaRPr b="1" sz="1200">
                  <a:solidFill>
                    <a:srgbClr val="0F172A"/>
                  </a:solidFill>
                  <a:latin typeface="Quattrocento Sans"/>
                  <a:ea typeface="Quattrocento Sans"/>
                  <a:cs typeface="Quattrocento Sans"/>
                  <a:sym typeface="Quattrocento Sans"/>
                </a:endParaRPr>
              </a:p>
              <a:p>
                <a:pPr indent="0" lvl="0" marL="0" rtl="0" algn="l">
                  <a:spcBef>
                    <a:spcPts val="300"/>
                  </a:spcBef>
                  <a:spcAft>
                    <a:spcPts val="0"/>
                  </a:spcAft>
                  <a:buNone/>
                </a:pPr>
                <a:r>
                  <a:rPr lang="en-US" sz="1050">
                    <a:solidFill>
                      <a:srgbClr val="334155"/>
                    </a:solidFill>
                    <a:latin typeface="Quattrocento Sans"/>
                    <a:ea typeface="Quattrocento Sans"/>
                    <a:cs typeface="Quattrocento Sans"/>
                    <a:sym typeface="Quattrocento Sans"/>
                  </a:rPr>
                  <a:t>Fred fears committing binding funds unintentionally; milestone approval features a two-step neutral modal detailing exact billing amounts.</a:t>
                </a:r>
                <a:endParaRPr sz="1050">
                  <a:solidFill>
                    <a:srgbClr val="334155"/>
                  </a:solidFill>
                  <a:latin typeface="Quattrocento Sans"/>
                  <a:ea typeface="Quattrocento Sans"/>
                  <a:cs typeface="Quattrocento Sans"/>
                  <a:sym typeface="Quattrocento Sans"/>
                </a:endParaRPr>
              </a:p>
            </p:txBody>
          </p:sp>
        </p:grpSp>
        <p:grpSp>
          <p:nvGrpSpPr>
            <p:cNvPr id="87" name="Google Shape;87;p5"/>
            <p:cNvGrpSpPr/>
            <p:nvPr/>
          </p:nvGrpSpPr>
          <p:grpSpPr>
            <a:xfrm>
              <a:off x="0" y="3600450"/>
              <a:ext cx="5800800" cy="1047900"/>
              <a:chOff x="0" y="0"/>
              <a:chExt cx="5800800" cy="1047900"/>
            </a:xfrm>
          </p:grpSpPr>
          <p:sp>
            <p:nvSpPr>
              <p:cNvPr id="88" name="Google Shape;88;p5"/>
              <p:cNvSpPr/>
              <p:nvPr/>
            </p:nvSpPr>
            <p:spPr>
              <a:xfrm>
                <a:off x="0" y="0"/>
                <a:ext cx="5800800" cy="1047900"/>
              </a:xfrm>
              <a:prstGeom prst="roundRect">
                <a:avLst>
                  <a:gd fmla="val 1090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 name="Google Shape;89;p5"/>
              <p:cNvSpPr/>
              <p:nvPr/>
            </p:nvSpPr>
            <p:spPr>
              <a:xfrm>
                <a:off x="0" y="0"/>
                <a:ext cx="57300" cy="10479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 name="Google Shape;90;p5"/>
              <p:cNvSpPr/>
              <p:nvPr/>
            </p:nvSpPr>
            <p:spPr>
              <a:xfrm>
                <a:off x="190500" y="152400"/>
                <a:ext cx="304800" cy="3048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 name="Google Shape;91;p5"/>
              <p:cNvSpPr txBox="1"/>
              <p:nvPr/>
            </p:nvSpPr>
            <p:spPr>
              <a:xfrm>
                <a:off x="228600" y="210947"/>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400">
                    <a:solidFill>
                      <a:srgbClr val="2563EB"/>
                    </a:solidFill>
                    <a:latin typeface="Material Icons"/>
                    <a:ea typeface="Material Icons"/>
                    <a:cs typeface="Material Icons"/>
                    <a:sym typeface="Material Icons"/>
                  </a:rPr>
                  <a:t>speed</a:t>
                </a:r>
                <a:endParaRPr sz="1400">
                  <a:solidFill>
                    <a:srgbClr val="2563EB"/>
                  </a:solidFill>
                  <a:latin typeface="Material Icons"/>
                  <a:ea typeface="Material Icons"/>
                  <a:cs typeface="Material Icons"/>
                  <a:sym typeface="Material Icons"/>
                </a:endParaRPr>
              </a:p>
            </p:txBody>
          </p:sp>
          <p:sp>
            <p:nvSpPr>
              <p:cNvPr id="92" name="Google Shape;92;p5"/>
              <p:cNvSpPr txBox="1"/>
              <p:nvPr/>
            </p:nvSpPr>
            <p:spPr>
              <a:xfrm>
                <a:off x="609600" y="133350"/>
                <a:ext cx="5000700" cy="8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Glanceable Micro-Usage</a:t>
                </a:r>
                <a:endParaRPr b="1" sz="1200">
                  <a:solidFill>
                    <a:srgbClr val="0F172A"/>
                  </a:solidFill>
                  <a:latin typeface="Quattrocento Sans"/>
                  <a:ea typeface="Quattrocento Sans"/>
                  <a:cs typeface="Quattrocento Sans"/>
                  <a:sym typeface="Quattrocento Sans"/>
                </a:endParaRPr>
              </a:p>
              <a:p>
                <a:pPr indent="0" lvl="0" marL="0" rtl="0" algn="l">
                  <a:spcBef>
                    <a:spcPts val="300"/>
                  </a:spcBef>
                  <a:spcAft>
                    <a:spcPts val="0"/>
                  </a:spcAft>
                  <a:buNone/>
                </a:pPr>
                <a:r>
                  <a:rPr lang="en-US" sz="1050">
                    <a:solidFill>
                      <a:srgbClr val="334155"/>
                    </a:solidFill>
                    <a:latin typeface="Quattrocento Sans"/>
                    <a:ea typeface="Quattrocento Sans"/>
                    <a:cs typeface="Quattrocento Sans"/>
                    <a:sym typeface="Quattrocento Sans"/>
                  </a:rPr>
                  <a:t>Dashboard conveys overall project health in &lt;=10 seconds via ambient traffic-light badges (Green, Amber, Red).</a:t>
                </a:r>
                <a:endParaRPr sz="1050">
                  <a:solidFill>
                    <a:srgbClr val="334155"/>
                  </a:solidFill>
                  <a:latin typeface="Quattrocento Sans"/>
                  <a:ea typeface="Quattrocento Sans"/>
                  <a:cs typeface="Quattrocento Sans"/>
                  <a:sym typeface="Quattrocento Sans"/>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6"/>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UML SYSTEM ARCHITECTURE &amp; GOVERNANCE BOUNDARY</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Use Case Diagram (UCD) Specification</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Technology-Agnostic Goal Abstraction Dividing Client Governance from Agency Project Management</a:t>
            </a:r>
            <a:endParaRPr/>
          </a:p>
        </p:txBody>
      </p:sp>
      <p:grpSp>
        <p:nvGrpSpPr>
          <p:cNvPr id="99" name="Google Shape;99;p6"/>
          <p:cNvGrpSpPr/>
          <p:nvPr/>
        </p:nvGrpSpPr>
        <p:grpSpPr>
          <a:xfrm>
            <a:off x="600075" y="1666875"/>
            <a:ext cx="5191200" cy="4762500"/>
            <a:chOff x="0" y="0"/>
            <a:chExt cx="5191200" cy="4762500"/>
          </a:xfrm>
        </p:grpSpPr>
        <p:sp>
          <p:nvSpPr>
            <p:cNvPr id="100" name="Google Shape;100;p6"/>
            <p:cNvSpPr/>
            <p:nvPr/>
          </p:nvSpPr>
          <p:spPr>
            <a:xfrm>
              <a:off x="0" y="0"/>
              <a:ext cx="5191200" cy="4762500"/>
            </a:xfrm>
            <a:prstGeom prst="roundRect">
              <a:avLst>
                <a:gd fmla="val 24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6"/>
            <p:cNvSpPr txBox="1"/>
            <p:nvPr/>
          </p:nvSpPr>
          <p:spPr>
            <a:xfrm>
              <a:off x="228600" y="190500"/>
              <a:ext cx="47340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500">
                  <a:solidFill>
                    <a:srgbClr val="0F172A"/>
                  </a:solidFill>
                  <a:latin typeface="Quattrocento Sans"/>
                  <a:ea typeface="Quattrocento Sans"/>
                  <a:cs typeface="Quattrocento Sans"/>
                  <a:sym typeface="Quattrocento Sans"/>
                </a:rPr>
                <a:t>Architectural Design Principles</a:t>
              </a:r>
              <a:endParaRPr b="1" sz="1500">
                <a:solidFill>
                  <a:srgbClr val="0F172A"/>
                </a:solidFill>
                <a:latin typeface="Quattrocento Sans"/>
                <a:ea typeface="Quattrocento Sans"/>
                <a:cs typeface="Quattrocento Sans"/>
                <a:sym typeface="Quattrocento Sans"/>
              </a:endParaRPr>
            </a:p>
          </p:txBody>
        </p:sp>
        <p:cxnSp>
          <p:nvCxnSpPr>
            <p:cNvPr id="102" name="Google Shape;102;p6"/>
            <p:cNvCxnSpPr/>
            <p:nvPr/>
          </p:nvCxnSpPr>
          <p:spPr>
            <a:xfrm>
              <a:off x="228600" y="5715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03" name="Google Shape;103;p6"/>
            <p:cNvGrpSpPr/>
            <p:nvPr/>
          </p:nvGrpSpPr>
          <p:grpSpPr>
            <a:xfrm>
              <a:off x="228600" y="685800"/>
              <a:ext cx="4734000" cy="666900"/>
              <a:chOff x="0" y="0"/>
              <a:chExt cx="4734000" cy="666900"/>
            </a:xfrm>
          </p:grpSpPr>
          <p:sp>
            <p:nvSpPr>
              <p:cNvPr id="104" name="Google Shape;104;p6"/>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6"/>
              <p:cNvSpPr txBox="1"/>
              <p:nvPr/>
            </p:nvSpPr>
            <p:spPr>
              <a:xfrm>
                <a:off x="47625" y="6515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20">
                    <a:solidFill>
                      <a:srgbClr val="2563EB"/>
                    </a:solidFill>
                    <a:latin typeface="Material Icons"/>
                    <a:ea typeface="Material Icons"/>
                    <a:cs typeface="Material Icons"/>
                    <a:sym typeface="Material Icons"/>
                  </a:rPr>
                  <a:t>adjust</a:t>
                </a:r>
                <a:endParaRPr sz="1020">
                  <a:solidFill>
                    <a:srgbClr val="2563EB"/>
                  </a:solidFill>
                  <a:latin typeface="Material Icons"/>
                  <a:ea typeface="Material Icons"/>
                  <a:cs typeface="Material Icons"/>
                  <a:sym typeface="Material Icons"/>
                </a:endParaRPr>
              </a:p>
            </p:txBody>
          </p:sp>
          <p:sp>
            <p:nvSpPr>
              <p:cNvPr id="106" name="Google Shape;106;p6"/>
              <p:cNvSpPr txBox="1"/>
              <p:nvPr/>
            </p:nvSpPr>
            <p:spPr>
              <a:xfrm>
                <a:off x="381000" y="0"/>
                <a:ext cx="4353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Goal-Oriented Abstraction</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Models business capabilities rather than procedural screen clicks.</a:t>
                </a:r>
                <a:endParaRPr b="0" sz="1000">
                  <a:solidFill>
                    <a:srgbClr val="334155"/>
                  </a:solidFill>
                  <a:latin typeface="Quattrocento Sans"/>
                  <a:ea typeface="Quattrocento Sans"/>
                  <a:cs typeface="Quattrocento Sans"/>
                  <a:sym typeface="Quattrocento Sans"/>
                </a:endParaRPr>
              </a:p>
            </p:txBody>
          </p:sp>
        </p:grpSp>
        <p:cxnSp>
          <p:nvCxnSpPr>
            <p:cNvPr id="107" name="Google Shape;107;p6"/>
            <p:cNvCxnSpPr/>
            <p:nvPr/>
          </p:nvCxnSpPr>
          <p:spPr>
            <a:xfrm>
              <a:off x="228600" y="14478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08" name="Google Shape;108;p6"/>
            <p:cNvGrpSpPr/>
            <p:nvPr/>
          </p:nvGrpSpPr>
          <p:grpSpPr>
            <a:xfrm>
              <a:off x="228600" y="1543050"/>
              <a:ext cx="4734000" cy="666900"/>
              <a:chOff x="0" y="0"/>
              <a:chExt cx="4734000" cy="666900"/>
            </a:xfrm>
          </p:grpSpPr>
          <p:sp>
            <p:nvSpPr>
              <p:cNvPr id="109" name="Google Shape;109;p6"/>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6"/>
              <p:cNvSpPr txBox="1"/>
              <p:nvPr/>
            </p:nvSpPr>
            <p:spPr>
              <a:xfrm>
                <a:off x="47625" y="6515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20">
                    <a:solidFill>
                      <a:srgbClr val="2563EB"/>
                    </a:solidFill>
                    <a:latin typeface="Material Icons"/>
                    <a:ea typeface="Material Icons"/>
                    <a:cs typeface="Material Icons"/>
                    <a:sym typeface="Material Icons"/>
                  </a:rPr>
                  <a:t>crop_free</a:t>
                </a:r>
                <a:endParaRPr sz="1020">
                  <a:solidFill>
                    <a:srgbClr val="2563EB"/>
                  </a:solidFill>
                  <a:latin typeface="Material Icons"/>
                  <a:ea typeface="Material Icons"/>
                  <a:cs typeface="Material Icons"/>
                  <a:sym typeface="Material Icons"/>
                </a:endParaRPr>
              </a:p>
            </p:txBody>
          </p:sp>
          <p:sp>
            <p:nvSpPr>
              <p:cNvPr id="111" name="Google Shape;111;p6"/>
              <p:cNvSpPr txBox="1"/>
              <p:nvPr/>
            </p:nvSpPr>
            <p:spPr>
              <a:xfrm>
                <a:off x="381000" y="0"/>
                <a:ext cx="4353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Strict System Boundary</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Separates external actors (Client Fred R. vs Project Manager James R.).</a:t>
                </a:r>
                <a:endParaRPr b="0" sz="1000">
                  <a:solidFill>
                    <a:srgbClr val="334155"/>
                  </a:solidFill>
                  <a:latin typeface="Quattrocento Sans"/>
                  <a:ea typeface="Quattrocento Sans"/>
                  <a:cs typeface="Quattrocento Sans"/>
                  <a:sym typeface="Quattrocento Sans"/>
                </a:endParaRPr>
              </a:p>
            </p:txBody>
          </p:sp>
        </p:grpSp>
        <p:cxnSp>
          <p:nvCxnSpPr>
            <p:cNvPr id="112" name="Google Shape;112;p6"/>
            <p:cNvCxnSpPr/>
            <p:nvPr/>
          </p:nvCxnSpPr>
          <p:spPr>
            <a:xfrm>
              <a:off x="228600" y="230505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13" name="Google Shape;113;p6"/>
            <p:cNvGrpSpPr/>
            <p:nvPr/>
          </p:nvGrpSpPr>
          <p:grpSpPr>
            <a:xfrm>
              <a:off x="228600" y="2400300"/>
              <a:ext cx="4734000" cy="666900"/>
              <a:chOff x="0" y="0"/>
              <a:chExt cx="4734000" cy="666900"/>
            </a:xfrm>
          </p:grpSpPr>
          <p:sp>
            <p:nvSpPr>
              <p:cNvPr id="114" name="Google Shape;114;p6"/>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6"/>
              <p:cNvSpPr txBox="1"/>
              <p:nvPr/>
            </p:nvSpPr>
            <p:spPr>
              <a:xfrm>
                <a:off x="47625" y="6515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20">
                    <a:solidFill>
                      <a:srgbClr val="2563EB"/>
                    </a:solidFill>
                    <a:latin typeface="Material Icons"/>
                    <a:ea typeface="Material Icons"/>
                    <a:cs typeface="Material Icons"/>
                    <a:sym typeface="Material Icons"/>
                  </a:rPr>
                  <a:t>person_outline</a:t>
                </a:r>
                <a:endParaRPr sz="1020">
                  <a:solidFill>
                    <a:srgbClr val="2563EB"/>
                  </a:solidFill>
                  <a:latin typeface="Material Icons"/>
                  <a:ea typeface="Material Icons"/>
                  <a:cs typeface="Material Icons"/>
                  <a:sym typeface="Material Icons"/>
                </a:endParaRPr>
              </a:p>
            </p:txBody>
          </p:sp>
          <p:sp>
            <p:nvSpPr>
              <p:cNvPr id="116" name="Google Shape;116;p6"/>
              <p:cNvSpPr txBox="1"/>
              <p:nvPr/>
            </p:nvSpPr>
            <p:spPr>
              <a:xfrm>
                <a:off x="381000" y="0"/>
                <a:ext cx="4353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Client Goal Cases</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UC1 (View Status), UC2 (Review Artefact), UC3 (Approve Milestone), UC4 (Manage Privacy &amp; Data).</a:t>
                </a:r>
                <a:endParaRPr b="0" sz="1000">
                  <a:solidFill>
                    <a:srgbClr val="334155"/>
                  </a:solidFill>
                  <a:latin typeface="Quattrocento Sans"/>
                  <a:ea typeface="Quattrocento Sans"/>
                  <a:cs typeface="Quattrocento Sans"/>
                  <a:sym typeface="Quattrocento Sans"/>
                </a:endParaRPr>
              </a:p>
            </p:txBody>
          </p:sp>
        </p:grpSp>
        <p:cxnSp>
          <p:nvCxnSpPr>
            <p:cNvPr id="117" name="Google Shape;117;p6"/>
            <p:cNvCxnSpPr/>
            <p:nvPr/>
          </p:nvCxnSpPr>
          <p:spPr>
            <a:xfrm>
              <a:off x="228600" y="31623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18" name="Google Shape;118;p6"/>
            <p:cNvGrpSpPr/>
            <p:nvPr/>
          </p:nvGrpSpPr>
          <p:grpSpPr>
            <a:xfrm>
              <a:off x="228600" y="3257550"/>
              <a:ext cx="4734000" cy="666900"/>
              <a:chOff x="0" y="0"/>
              <a:chExt cx="4734000" cy="666900"/>
            </a:xfrm>
          </p:grpSpPr>
          <p:sp>
            <p:nvSpPr>
              <p:cNvPr id="119" name="Google Shape;119;p6"/>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6"/>
              <p:cNvSpPr txBox="1"/>
              <p:nvPr/>
            </p:nvSpPr>
            <p:spPr>
              <a:xfrm>
                <a:off x="47625" y="6515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20">
                    <a:solidFill>
                      <a:srgbClr val="2563EB"/>
                    </a:solidFill>
                    <a:latin typeface="Material Icons"/>
                    <a:ea typeface="Material Icons"/>
                    <a:cs typeface="Material Icons"/>
                    <a:sym typeface="Material Icons"/>
                  </a:rPr>
                  <a:t>admin_panel_settings</a:t>
                </a:r>
                <a:endParaRPr sz="1020">
                  <a:solidFill>
                    <a:srgbClr val="2563EB"/>
                  </a:solidFill>
                  <a:latin typeface="Material Icons"/>
                  <a:ea typeface="Material Icons"/>
                  <a:cs typeface="Material Icons"/>
                  <a:sym typeface="Material Icons"/>
                </a:endParaRPr>
              </a:p>
            </p:txBody>
          </p:sp>
          <p:sp>
            <p:nvSpPr>
              <p:cNvPr id="121" name="Google Shape;121;p6"/>
              <p:cNvSpPr txBox="1"/>
              <p:nvPr/>
            </p:nvSpPr>
            <p:spPr>
              <a:xfrm>
                <a:off x="381000" y="0"/>
                <a:ext cx="4353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Agency Management Cases</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UC5 (Publish Updates), UC6 (Upload Artefacts), UC7 (Respond to Feedback), UC8 (Record Governance Decision).</a:t>
                </a:r>
                <a:endParaRPr b="0" sz="1000">
                  <a:solidFill>
                    <a:srgbClr val="334155"/>
                  </a:solidFill>
                  <a:latin typeface="Quattrocento Sans"/>
                  <a:ea typeface="Quattrocento Sans"/>
                  <a:cs typeface="Quattrocento Sans"/>
                  <a:sym typeface="Quattrocento Sans"/>
                </a:endParaRPr>
              </a:p>
            </p:txBody>
          </p:sp>
        </p:grpSp>
        <p:cxnSp>
          <p:nvCxnSpPr>
            <p:cNvPr id="122" name="Google Shape;122;p6"/>
            <p:cNvCxnSpPr/>
            <p:nvPr/>
          </p:nvCxnSpPr>
          <p:spPr>
            <a:xfrm>
              <a:off x="228600" y="401955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23" name="Google Shape;123;p6"/>
            <p:cNvGrpSpPr/>
            <p:nvPr/>
          </p:nvGrpSpPr>
          <p:grpSpPr>
            <a:xfrm>
              <a:off x="228600" y="4114800"/>
              <a:ext cx="4734000" cy="571500"/>
              <a:chOff x="0" y="0"/>
              <a:chExt cx="4734000" cy="571500"/>
            </a:xfrm>
          </p:grpSpPr>
          <p:sp>
            <p:nvSpPr>
              <p:cNvPr id="124" name="Google Shape;124;p6"/>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 name="Google Shape;125;p6"/>
              <p:cNvSpPr txBox="1"/>
              <p:nvPr/>
            </p:nvSpPr>
            <p:spPr>
              <a:xfrm>
                <a:off x="47625" y="6515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20">
                    <a:solidFill>
                      <a:srgbClr val="2563EB"/>
                    </a:solidFill>
                    <a:latin typeface="Material Icons"/>
                    <a:ea typeface="Material Icons"/>
                    <a:cs typeface="Material Icons"/>
                    <a:sym typeface="Material Icons"/>
                  </a:rPr>
                  <a:t>security</a:t>
                </a:r>
                <a:endParaRPr sz="1020">
                  <a:solidFill>
                    <a:srgbClr val="2563EB"/>
                  </a:solidFill>
                  <a:latin typeface="Material Icons"/>
                  <a:ea typeface="Material Icons"/>
                  <a:cs typeface="Material Icons"/>
                  <a:sym typeface="Material Icons"/>
                </a:endParaRPr>
              </a:p>
            </p:txBody>
          </p:sp>
          <p:sp>
            <p:nvSpPr>
              <p:cNvPr id="126" name="Google Shape;126;p6"/>
              <p:cNvSpPr txBox="1"/>
              <p:nvPr/>
            </p:nvSpPr>
            <p:spPr>
              <a:xfrm>
                <a:off x="381000" y="0"/>
                <a:ext cx="4353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Privacy Sovereignty</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Privacy management is elevated as a primary first-class use case (UC4).</a:t>
                </a:r>
                <a:endParaRPr b="0" sz="1000">
                  <a:solidFill>
                    <a:srgbClr val="334155"/>
                  </a:solidFill>
                  <a:latin typeface="Quattrocento Sans"/>
                  <a:ea typeface="Quattrocento Sans"/>
                  <a:cs typeface="Quattrocento Sans"/>
                  <a:sym typeface="Quattrocento Sans"/>
                </a:endParaRPr>
              </a:p>
            </p:txBody>
          </p:sp>
        </p:grpSp>
      </p:grpSp>
      <p:grpSp>
        <p:nvGrpSpPr>
          <p:cNvPr id="127" name="Google Shape;127;p6"/>
          <p:cNvGrpSpPr/>
          <p:nvPr/>
        </p:nvGrpSpPr>
        <p:grpSpPr>
          <a:xfrm>
            <a:off x="6019800" y="1666875"/>
            <a:ext cx="5572200" cy="4762500"/>
            <a:chOff x="0" y="0"/>
            <a:chExt cx="5572200" cy="4762500"/>
          </a:xfrm>
        </p:grpSpPr>
        <p:sp>
          <p:nvSpPr>
            <p:cNvPr id="128" name="Google Shape;128;p6"/>
            <p:cNvSpPr/>
            <p:nvPr/>
          </p:nvSpPr>
          <p:spPr>
            <a:xfrm>
              <a:off x="0" y="0"/>
              <a:ext cx="5572200" cy="4762500"/>
            </a:xfrm>
            <a:prstGeom prst="roundRect">
              <a:avLst>
                <a:gd fmla="val 24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6"/>
            <p:cNvSpPr/>
            <p:nvPr/>
          </p:nvSpPr>
          <p:spPr>
            <a:xfrm>
              <a:off x="0" y="0"/>
              <a:ext cx="5572200" cy="400200"/>
            </a:xfrm>
            <a:prstGeom prst="roundRect">
              <a:avLst>
                <a:gd fmla="val 28571"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6"/>
            <p:cNvSpPr/>
            <p:nvPr/>
          </p:nvSpPr>
          <p:spPr>
            <a:xfrm>
              <a:off x="0" y="285750"/>
              <a:ext cx="5572200" cy="1143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31" name="Google Shape;131;p6"/>
            <p:cNvCxnSpPr/>
            <p:nvPr/>
          </p:nvCxnSpPr>
          <p:spPr>
            <a:xfrm>
              <a:off x="0" y="400050"/>
              <a:ext cx="55722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132" name="Google Shape;132;p6"/>
            <p:cNvSpPr txBox="1"/>
            <p:nvPr/>
          </p:nvSpPr>
          <p:spPr>
            <a:xfrm>
              <a:off x="190500" y="95250"/>
              <a:ext cx="51912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64748B"/>
                  </a:solidFill>
                  <a:latin typeface="Quattrocento Sans"/>
                  <a:ea typeface="Quattrocento Sans"/>
                  <a:cs typeface="Quattrocento Sans"/>
                  <a:sym typeface="Quattrocento Sans"/>
                </a:rPr>
                <a:t>Architecture Diagram &amp; Boundary Model</a:t>
              </a:r>
              <a:endParaRPr b="1" sz="1000">
                <a:solidFill>
                  <a:srgbClr val="64748B"/>
                </a:solidFill>
                <a:latin typeface="Quattrocento Sans"/>
                <a:ea typeface="Quattrocento Sans"/>
                <a:cs typeface="Quattrocento Sans"/>
                <a:sym typeface="Quattrocento Sans"/>
              </a:endParaRPr>
            </a:p>
          </p:txBody>
        </p:sp>
        <p:pic>
          <p:nvPicPr>
            <p:cNvPr id="133" name="Google Shape;133;p6"/>
            <p:cNvPicPr preferRelativeResize="0"/>
            <p:nvPr/>
          </p:nvPicPr>
          <p:blipFill rotWithShape="1">
            <a:blip r:embed="rId3">
              <a:alphaModFix/>
            </a:blip>
            <a:srcRect b="21718" l="0" r="0" t="744"/>
            <a:stretch/>
          </p:blipFill>
          <p:spPr>
            <a:xfrm>
              <a:off x="114300" y="504825"/>
              <a:ext cx="5343600" cy="4143300"/>
            </a:xfrm>
            <a:prstGeom prst="roundRect">
              <a:avLst>
                <a:gd fmla="val 4886" name="adj"/>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7"/>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USE CASE 1 WALKTHROUGH &amp; ACTIVITY DIAGRAM 1</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View Project Status (AD1 &amp; Dashboard)</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Ambient Traffic-Light Health, Curated SDLC Stage Progress &amp; Quick Detail Branching</a:t>
            </a:r>
            <a:endParaRPr/>
          </a:p>
        </p:txBody>
      </p:sp>
      <p:grpSp>
        <p:nvGrpSpPr>
          <p:cNvPr id="140" name="Google Shape;140;p7"/>
          <p:cNvGrpSpPr/>
          <p:nvPr/>
        </p:nvGrpSpPr>
        <p:grpSpPr>
          <a:xfrm>
            <a:off x="600075" y="1666875"/>
            <a:ext cx="5191200" cy="4762500"/>
            <a:chOff x="0" y="0"/>
            <a:chExt cx="5191200" cy="4762500"/>
          </a:xfrm>
        </p:grpSpPr>
        <p:sp>
          <p:nvSpPr>
            <p:cNvPr id="141" name="Google Shape;141;p7"/>
            <p:cNvSpPr/>
            <p:nvPr/>
          </p:nvSpPr>
          <p:spPr>
            <a:xfrm>
              <a:off x="0" y="0"/>
              <a:ext cx="5191200" cy="4762500"/>
            </a:xfrm>
            <a:prstGeom prst="roundRect">
              <a:avLst>
                <a:gd fmla="val 24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42" name="Google Shape;142;p7"/>
            <p:cNvGrpSpPr/>
            <p:nvPr/>
          </p:nvGrpSpPr>
          <p:grpSpPr>
            <a:xfrm>
              <a:off x="228600" y="171450"/>
              <a:ext cx="4734000" cy="304800"/>
              <a:chOff x="0" y="0"/>
              <a:chExt cx="4734000" cy="304800"/>
            </a:xfrm>
          </p:grpSpPr>
          <p:sp>
            <p:nvSpPr>
              <p:cNvPr id="143" name="Google Shape;143;p7"/>
              <p:cNvSpPr/>
              <p:nvPr/>
            </p:nvSpPr>
            <p:spPr>
              <a:xfrm>
                <a:off x="0" y="0"/>
                <a:ext cx="47340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7"/>
              <p:cNvSpPr txBox="1"/>
              <p:nvPr/>
            </p:nvSpPr>
            <p:spPr>
              <a:xfrm>
                <a:off x="0" y="0"/>
                <a:ext cx="47340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500">
                    <a:solidFill>
                      <a:srgbClr val="0F172A"/>
                    </a:solidFill>
                    <a:latin typeface="Quattrocento Sans"/>
                    <a:ea typeface="Quattrocento Sans"/>
                    <a:cs typeface="Quattrocento Sans"/>
                    <a:sym typeface="Quattrocento Sans"/>
                  </a:rPr>
                  <a:t>Prototype Implementation (Screens 2 &amp; 3)</a:t>
                </a:r>
                <a:endParaRPr b="1" sz="1500">
                  <a:solidFill>
                    <a:srgbClr val="0F172A"/>
                  </a:solidFill>
                  <a:latin typeface="Quattrocento Sans"/>
                  <a:ea typeface="Quattrocento Sans"/>
                  <a:cs typeface="Quattrocento Sans"/>
                  <a:sym typeface="Quattrocento Sans"/>
                </a:endParaRPr>
              </a:p>
            </p:txBody>
          </p:sp>
        </p:grpSp>
        <p:cxnSp>
          <p:nvCxnSpPr>
            <p:cNvPr id="145" name="Google Shape;145;p7"/>
            <p:cNvCxnSpPr/>
            <p:nvPr/>
          </p:nvCxnSpPr>
          <p:spPr>
            <a:xfrm>
              <a:off x="228600" y="5334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46" name="Google Shape;146;p7"/>
            <p:cNvGrpSpPr/>
            <p:nvPr/>
          </p:nvGrpSpPr>
          <p:grpSpPr>
            <a:xfrm>
              <a:off x="228600" y="647700"/>
              <a:ext cx="4733850" cy="647700"/>
              <a:chOff x="0" y="0"/>
              <a:chExt cx="4733850" cy="647700"/>
            </a:xfrm>
          </p:grpSpPr>
          <p:sp>
            <p:nvSpPr>
              <p:cNvPr id="147" name="Google Shape;147;p7"/>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7"/>
              <p:cNvSpPr txBox="1"/>
              <p:nvPr/>
            </p:nvSpPr>
            <p:spPr>
              <a:xfrm>
                <a:off x="47625" y="6515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20">
                    <a:solidFill>
                      <a:srgbClr val="2563EB"/>
                    </a:solidFill>
                    <a:latin typeface="Material Icons"/>
                    <a:ea typeface="Material Icons"/>
                    <a:cs typeface="Material Icons"/>
                    <a:sym typeface="Material Icons"/>
                  </a:rPr>
                  <a:t>monitor_heart</a:t>
                </a:r>
                <a:endParaRPr sz="1020">
                  <a:solidFill>
                    <a:srgbClr val="2563EB"/>
                  </a:solidFill>
                  <a:latin typeface="Material Icons"/>
                  <a:ea typeface="Material Icons"/>
                  <a:cs typeface="Material Icons"/>
                  <a:sym typeface="Material Icons"/>
                </a:endParaRPr>
              </a:p>
            </p:txBody>
          </p:sp>
          <p:sp>
            <p:nvSpPr>
              <p:cNvPr id="149" name="Google Shape;149;p7"/>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Ambient Health Card</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Displays active health status ('On Track' - Green, Amber, Red) with plain-English summary.</a:t>
                </a:r>
                <a:endParaRPr b="0" sz="1000">
                  <a:solidFill>
                    <a:srgbClr val="334155"/>
                  </a:solidFill>
                  <a:latin typeface="Quattrocento Sans"/>
                  <a:ea typeface="Quattrocento Sans"/>
                  <a:cs typeface="Quattrocento Sans"/>
                  <a:sym typeface="Quattrocento Sans"/>
                </a:endParaRPr>
              </a:p>
            </p:txBody>
          </p:sp>
        </p:grpSp>
        <p:cxnSp>
          <p:nvCxnSpPr>
            <p:cNvPr id="150" name="Google Shape;150;p7"/>
            <p:cNvCxnSpPr/>
            <p:nvPr/>
          </p:nvCxnSpPr>
          <p:spPr>
            <a:xfrm>
              <a:off x="228600" y="14478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51" name="Google Shape;151;p7"/>
            <p:cNvGrpSpPr/>
            <p:nvPr/>
          </p:nvGrpSpPr>
          <p:grpSpPr>
            <a:xfrm>
              <a:off x="228600" y="1562100"/>
              <a:ext cx="4733850" cy="647700"/>
              <a:chOff x="0" y="0"/>
              <a:chExt cx="4733850" cy="647700"/>
            </a:xfrm>
          </p:grpSpPr>
          <p:sp>
            <p:nvSpPr>
              <p:cNvPr id="152" name="Google Shape;152;p7"/>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7"/>
              <p:cNvSpPr txBox="1"/>
              <p:nvPr/>
            </p:nvSpPr>
            <p:spPr>
              <a:xfrm>
                <a:off x="47625" y="6515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20">
                    <a:solidFill>
                      <a:srgbClr val="2563EB"/>
                    </a:solidFill>
                    <a:latin typeface="Material Icons"/>
                    <a:ea typeface="Material Icons"/>
                    <a:cs typeface="Material Icons"/>
                    <a:sym typeface="Material Icons"/>
                  </a:rPr>
                  <a:t>layers</a:t>
                </a:r>
                <a:endParaRPr sz="1020">
                  <a:solidFill>
                    <a:srgbClr val="2563EB"/>
                  </a:solidFill>
                  <a:latin typeface="Material Icons"/>
                  <a:ea typeface="Material Icons"/>
                  <a:cs typeface="Material Icons"/>
                  <a:sym typeface="Material Icons"/>
                </a:endParaRPr>
              </a:p>
            </p:txBody>
          </p:sp>
          <p:sp>
            <p:nvSpPr>
              <p:cNvPr id="154" name="Google Shape;154;p7"/>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Active SDLC Stage</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Highlights Stage 3 (Core UI Screens) at 65% completion with target delivery date.</a:t>
                </a:r>
                <a:endParaRPr b="0" sz="1000">
                  <a:solidFill>
                    <a:srgbClr val="334155"/>
                  </a:solidFill>
                  <a:latin typeface="Quattrocento Sans"/>
                  <a:ea typeface="Quattrocento Sans"/>
                  <a:cs typeface="Quattrocento Sans"/>
                  <a:sym typeface="Quattrocento Sans"/>
                </a:endParaRPr>
              </a:p>
            </p:txBody>
          </p:sp>
        </p:grpSp>
        <p:cxnSp>
          <p:nvCxnSpPr>
            <p:cNvPr id="155" name="Google Shape;155;p7"/>
            <p:cNvCxnSpPr/>
            <p:nvPr/>
          </p:nvCxnSpPr>
          <p:spPr>
            <a:xfrm>
              <a:off x="228600" y="23622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56" name="Google Shape;156;p7"/>
            <p:cNvGrpSpPr/>
            <p:nvPr/>
          </p:nvGrpSpPr>
          <p:grpSpPr>
            <a:xfrm>
              <a:off x="228600" y="2476500"/>
              <a:ext cx="4733850" cy="647700"/>
              <a:chOff x="0" y="0"/>
              <a:chExt cx="4733850" cy="647700"/>
            </a:xfrm>
          </p:grpSpPr>
          <p:sp>
            <p:nvSpPr>
              <p:cNvPr id="157" name="Google Shape;157;p7"/>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7"/>
              <p:cNvSpPr txBox="1"/>
              <p:nvPr/>
            </p:nvSpPr>
            <p:spPr>
              <a:xfrm>
                <a:off x="47625" y="6515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20">
                    <a:solidFill>
                      <a:srgbClr val="2563EB"/>
                    </a:solidFill>
                    <a:latin typeface="Material Icons"/>
                    <a:ea typeface="Material Icons"/>
                    <a:cs typeface="Material Icons"/>
                    <a:sym typeface="Material Icons"/>
                  </a:rPr>
                  <a:t>notifications_active</a:t>
                </a:r>
                <a:endParaRPr sz="1020">
                  <a:solidFill>
                    <a:srgbClr val="2563EB"/>
                  </a:solidFill>
                  <a:latin typeface="Material Icons"/>
                  <a:ea typeface="Material Icons"/>
                  <a:cs typeface="Material Icons"/>
                  <a:sym typeface="Material Icons"/>
                </a:endParaRPr>
              </a:p>
            </p:txBody>
          </p:sp>
          <p:sp>
            <p:nvSpPr>
              <p:cNvPr id="159" name="Google Shape;159;p7"/>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Next Action Callout</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Prominent banner alerting Fred to pending deliverable review, eliminating guessing.</a:t>
                </a:r>
                <a:endParaRPr b="0" sz="1000">
                  <a:solidFill>
                    <a:srgbClr val="334155"/>
                  </a:solidFill>
                  <a:latin typeface="Quattrocento Sans"/>
                  <a:ea typeface="Quattrocento Sans"/>
                  <a:cs typeface="Quattrocento Sans"/>
                  <a:sym typeface="Quattrocento Sans"/>
                </a:endParaRPr>
              </a:p>
            </p:txBody>
          </p:sp>
        </p:grpSp>
        <p:cxnSp>
          <p:nvCxnSpPr>
            <p:cNvPr id="160" name="Google Shape;160;p7"/>
            <p:cNvCxnSpPr/>
            <p:nvPr/>
          </p:nvCxnSpPr>
          <p:spPr>
            <a:xfrm>
              <a:off x="228600" y="32766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61" name="Google Shape;161;p7"/>
            <p:cNvGrpSpPr/>
            <p:nvPr/>
          </p:nvGrpSpPr>
          <p:grpSpPr>
            <a:xfrm>
              <a:off x="228600" y="3390900"/>
              <a:ext cx="4733850" cy="647700"/>
              <a:chOff x="0" y="0"/>
              <a:chExt cx="4733850" cy="647700"/>
            </a:xfrm>
          </p:grpSpPr>
          <p:sp>
            <p:nvSpPr>
              <p:cNvPr id="162" name="Google Shape;162;p7"/>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7"/>
              <p:cNvSpPr txBox="1"/>
              <p:nvPr/>
            </p:nvSpPr>
            <p:spPr>
              <a:xfrm>
                <a:off x="47625" y="6515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20">
                    <a:solidFill>
                      <a:srgbClr val="2563EB"/>
                    </a:solidFill>
                    <a:latin typeface="Material Icons"/>
                    <a:ea typeface="Material Icons"/>
                    <a:cs typeface="Material Icons"/>
                    <a:sym typeface="Material Icons"/>
                  </a:rPr>
                  <a:t>schema</a:t>
                </a:r>
                <a:endParaRPr sz="1020">
                  <a:solidFill>
                    <a:srgbClr val="2563EB"/>
                  </a:solidFill>
                  <a:latin typeface="Material Icons"/>
                  <a:ea typeface="Material Icons"/>
                  <a:cs typeface="Material Icons"/>
                  <a:sym typeface="Material Icons"/>
                </a:endParaRPr>
              </a:p>
            </p:txBody>
          </p:sp>
          <p:sp>
            <p:nvSpPr>
              <p:cNvPr id="164" name="Google Shape;164;p7"/>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Multi-Entity Swimlanes</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AD1 separates Client actions from ElegantLink Service validation in the background.</a:t>
                </a:r>
                <a:endParaRPr b="0" sz="1000">
                  <a:solidFill>
                    <a:srgbClr val="334155"/>
                  </a:solidFill>
                  <a:latin typeface="Quattrocento Sans"/>
                  <a:ea typeface="Quattrocento Sans"/>
                  <a:cs typeface="Quattrocento Sans"/>
                  <a:sym typeface="Quattrocento Sans"/>
                </a:endParaRPr>
              </a:p>
            </p:txBody>
          </p:sp>
        </p:grpSp>
        <p:cxnSp>
          <p:nvCxnSpPr>
            <p:cNvPr id="165" name="Google Shape;165;p7"/>
            <p:cNvCxnSpPr/>
            <p:nvPr/>
          </p:nvCxnSpPr>
          <p:spPr>
            <a:xfrm>
              <a:off x="228600" y="40767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66" name="Google Shape;166;p7"/>
            <p:cNvGrpSpPr/>
            <p:nvPr/>
          </p:nvGrpSpPr>
          <p:grpSpPr>
            <a:xfrm>
              <a:off x="228600" y="4152900"/>
              <a:ext cx="4733850" cy="571500"/>
              <a:chOff x="0" y="0"/>
              <a:chExt cx="4733850" cy="571500"/>
            </a:xfrm>
          </p:grpSpPr>
          <p:sp>
            <p:nvSpPr>
              <p:cNvPr id="167" name="Google Shape;167;p7"/>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7"/>
              <p:cNvSpPr txBox="1"/>
              <p:nvPr/>
            </p:nvSpPr>
            <p:spPr>
              <a:xfrm>
                <a:off x="47625" y="6515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20">
                    <a:solidFill>
                      <a:srgbClr val="2563EB"/>
                    </a:solidFill>
                    <a:latin typeface="Material Icons"/>
                    <a:ea typeface="Material Icons"/>
                    <a:cs typeface="Material Icons"/>
                    <a:sym typeface="Material Icons"/>
                  </a:rPr>
                  <a:t>call_split</a:t>
                </a:r>
                <a:endParaRPr sz="1020">
                  <a:solidFill>
                    <a:srgbClr val="2563EB"/>
                  </a:solidFill>
                  <a:latin typeface="Material Icons"/>
                  <a:ea typeface="Material Icons"/>
                  <a:cs typeface="Material Icons"/>
                  <a:sym typeface="Material Icons"/>
                </a:endParaRPr>
              </a:p>
            </p:txBody>
          </p:sp>
          <p:sp>
            <p:nvSpPr>
              <p:cNvPr id="169" name="Google Shape;169;p7"/>
              <p:cNvSpPr txBox="1"/>
              <p:nvPr/>
            </p:nvSpPr>
            <p:spPr>
              <a:xfrm>
                <a:off x="400050" y="0"/>
                <a:ext cx="43338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Alternative Decision Branch</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Fred can glance and immediately exit in 10s, or tap to inspect the 5-stage SDLC breakdown.</a:t>
                </a:r>
                <a:endParaRPr b="0" sz="1000">
                  <a:solidFill>
                    <a:srgbClr val="334155"/>
                  </a:solidFill>
                  <a:latin typeface="Quattrocento Sans"/>
                  <a:ea typeface="Quattrocento Sans"/>
                  <a:cs typeface="Quattrocento Sans"/>
                  <a:sym typeface="Quattrocento Sans"/>
                </a:endParaRPr>
              </a:p>
            </p:txBody>
          </p:sp>
        </p:grpSp>
      </p:grpSp>
      <p:grpSp>
        <p:nvGrpSpPr>
          <p:cNvPr id="170" name="Google Shape;170;p7"/>
          <p:cNvGrpSpPr/>
          <p:nvPr/>
        </p:nvGrpSpPr>
        <p:grpSpPr>
          <a:xfrm>
            <a:off x="6019800" y="1666875"/>
            <a:ext cx="5572200" cy="4762500"/>
            <a:chOff x="0" y="0"/>
            <a:chExt cx="5572200" cy="4762500"/>
          </a:xfrm>
        </p:grpSpPr>
        <p:sp>
          <p:nvSpPr>
            <p:cNvPr id="171" name="Google Shape;171;p7"/>
            <p:cNvSpPr/>
            <p:nvPr/>
          </p:nvSpPr>
          <p:spPr>
            <a:xfrm>
              <a:off x="0" y="0"/>
              <a:ext cx="5572200" cy="4762500"/>
            </a:xfrm>
            <a:prstGeom prst="roundRect">
              <a:avLst>
                <a:gd fmla="val 24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7"/>
            <p:cNvSpPr/>
            <p:nvPr/>
          </p:nvSpPr>
          <p:spPr>
            <a:xfrm>
              <a:off x="0" y="0"/>
              <a:ext cx="5572200" cy="400200"/>
            </a:xfrm>
            <a:prstGeom prst="roundRect">
              <a:avLst>
                <a:gd fmla="val 28571"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7"/>
            <p:cNvSpPr/>
            <p:nvPr/>
          </p:nvSpPr>
          <p:spPr>
            <a:xfrm>
              <a:off x="0" y="285750"/>
              <a:ext cx="5572200" cy="1143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74" name="Google Shape;174;p7"/>
            <p:cNvCxnSpPr/>
            <p:nvPr/>
          </p:nvCxnSpPr>
          <p:spPr>
            <a:xfrm>
              <a:off x="0" y="400050"/>
              <a:ext cx="55722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175" name="Google Shape;175;p7"/>
            <p:cNvSpPr txBox="1"/>
            <p:nvPr/>
          </p:nvSpPr>
          <p:spPr>
            <a:xfrm>
              <a:off x="190500" y="95250"/>
              <a:ext cx="51912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64748B"/>
                  </a:solidFill>
                  <a:latin typeface="Quattrocento Sans"/>
                  <a:ea typeface="Quattrocento Sans"/>
                  <a:cs typeface="Quattrocento Sans"/>
                  <a:sym typeface="Quattrocento Sans"/>
                </a:rPr>
                <a:t>Activity Diagram (AD1) &amp; Swimlane Workflow</a:t>
              </a:r>
              <a:endParaRPr b="1" sz="1000">
                <a:solidFill>
                  <a:srgbClr val="64748B"/>
                </a:solidFill>
                <a:latin typeface="Quattrocento Sans"/>
                <a:ea typeface="Quattrocento Sans"/>
                <a:cs typeface="Quattrocento Sans"/>
                <a:sym typeface="Quattrocento Sans"/>
              </a:endParaRPr>
            </a:p>
          </p:txBody>
        </p:sp>
        <p:pic>
          <p:nvPicPr>
            <p:cNvPr id="176" name="Google Shape;176;p7"/>
            <p:cNvPicPr preferRelativeResize="0"/>
            <p:nvPr/>
          </p:nvPicPr>
          <p:blipFill rotWithShape="1">
            <a:blip r:embed="rId3">
              <a:alphaModFix/>
            </a:blip>
            <a:srcRect b="26898" l="0" r="0" t="-4435"/>
            <a:stretch/>
          </p:blipFill>
          <p:spPr>
            <a:xfrm>
              <a:off x="114300" y="504825"/>
              <a:ext cx="5343600" cy="4143300"/>
            </a:xfrm>
            <a:prstGeom prst="roundRect">
              <a:avLst>
                <a:gd fmla="val 1839" name="adj"/>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8"/>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8"/>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USE CASE 2 WALKTHROUGH &amp; ACTIVITY DIAGRAM 2</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Review Artefact &amp; Feedback Loop (AD2)</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Contextual Deliverable Gallery, High-Fidelity Mockup Viewer &amp; Verified Discard Logic</a:t>
            </a:r>
            <a:endParaRPr/>
          </a:p>
        </p:txBody>
      </p:sp>
      <p:grpSp>
        <p:nvGrpSpPr>
          <p:cNvPr id="183" name="Google Shape;183;p8"/>
          <p:cNvGrpSpPr/>
          <p:nvPr/>
        </p:nvGrpSpPr>
        <p:grpSpPr>
          <a:xfrm>
            <a:off x="600075" y="1666875"/>
            <a:ext cx="5191200" cy="4762500"/>
            <a:chOff x="0" y="0"/>
            <a:chExt cx="5191200" cy="4762500"/>
          </a:xfrm>
        </p:grpSpPr>
        <p:sp>
          <p:nvSpPr>
            <p:cNvPr id="184" name="Google Shape;184;p8"/>
            <p:cNvSpPr/>
            <p:nvPr/>
          </p:nvSpPr>
          <p:spPr>
            <a:xfrm>
              <a:off x="0" y="0"/>
              <a:ext cx="5191200" cy="4762500"/>
            </a:xfrm>
            <a:prstGeom prst="roundRect">
              <a:avLst>
                <a:gd fmla="val 24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8"/>
            <p:cNvSpPr txBox="1"/>
            <p:nvPr/>
          </p:nvSpPr>
          <p:spPr>
            <a:xfrm>
              <a:off x="228600" y="171450"/>
              <a:ext cx="47340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500">
                  <a:solidFill>
                    <a:srgbClr val="0F172A"/>
                  </a:solidFill>
                  <a:latin typeface="Quattrocento Sans"/>
                  <a:ea typeface="Quattrocento Sans"/>
                  <a:cs typeface="Quattrocento Sans"/>
                  <a:sym typeface="Quattrocento Sans"/>
                </a:rPr>
                <a:t>Prototype Implementation (Screens 5 &amp; 6)</a:t>
              </a:r>
              <a:endParaRPr b="1" sz="1500">
                <a:solidFill>
                  <a:srgbClr val="0F172A"/>
                </a:solidFill>
                <a:latin typeface="Quattrocento Sans"/>
                <a:ea typeface="Quattrocento Sans"/>
                <a:cs typeface="Quattrocento Sans"/>
                <a:sym typeface="Quattrocento Sans"/>
              </a:endParaRPr>
            </a:p>
          </p:txBody>
        </p:sp>
        <p:cxnSp>
          <p:nvCxnSpPr>
            <p:cNvPr id="186" name="Google Shape;186;p8"/>
            <p:cNvCxnSpPr/>
            <p:nvPr/>
          </p:nvCxnSpPr>
          <p:spPr>
            <a:xfrm>
              <a:off x="228600" y="5334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87" name="Google Shape;187;p8"/>
            <p:cNvGrpSpPr/>
            <p:nvPr/>
          </p:nvGrpSpPr>
          <p:grpSpPr>
            <a:xfrm>
              <a:off x="228600" y="647700"/>
              <a:ext cx="4733850" cy="647700"/>
              <a:chOff x="0" y="0"/>
              <a:chExt cx="4733850" cy="647700"/>
            </a:xfrm>
          </p:grpSpPr>
          <p:sp>
            <p:nvSpPr>
              <p:cNvPr id="188" name="Google Shape;188;p8"/>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8"/>
              <p:cNvSpPr txBox="1"/>
              <p:nvPr/>
            </p:nvSpPr>
            <p:spPr>
              <a:xfrm>
                <a:off x="47625" y="80048"/>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67">
                    <a:solidFill>
                      <a:srgbClr val="2563EB"/>
                    </a:solidFill>
                    <a:latin typeface="Material Icons"/>
                    <a:ea typeface="Material Icons"/>
                    <a:cs typeface="Material Icons"/>
                    <a:sym typeface="Material Icons"/>
                  </a:rPr>
                  <a:t>grid_view</a:t>
                </a:r>
                <a:endParaRPr sz="867">
                  <a:solidFill>
                    <a:srgbClr val="2563EB"/>
                  </a:solidFill>
                  <a:latin typeface="Material Icons"/>
                  <a:ea typeface="Material Icons"/>
                  <a:cs typeface="Material Icons"/>
                  <a:sym typeface="Material Icons"/>
                </a:endParaRPr>
              </a:p>
            </p:txBody>
          </p:sp>
          <p:sp>
            <p:nvSpPr>
              <p:cNvPr id="190" name="Google Shape;190;p8"/>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Deliverables Gallery</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Filterable grid of review items categorized by UI Screens, Specifications, and APIs.</a:t>
                </a:r>
                <a:endParaRPr b="0" sz="1000">
                  <a:solidFill>
                    <a:srgbClr val="334155"/>
                  </a:solidFill>
                  <a:latin typeface="Quattrocento Sans"/>
                  <a:ea typeface="Quattrocento Sans"/>
                  <a:cs typeface="Quattrocento Sans"/>
                  <a:sym typeface="Quattrocento Sans"/>
                </a:endParaRPr>
              </a:p>
            </p:txBody>
          </p:sp>
        </p:grpSp>
        <p:cxnSp>
          <p:nvCxnSpPr>
            <p:cNvPr id="191" name="Google Shape;191;p8"/>
            <p:cNvCxnSpPr/>
            <p:nvPr/>
          </p:nvCxnSpPr>
          <p:spPr>
            <a:xfrm>
              <a:off x="228600" y="14478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92" name="Google Shape;192;p8"/>
            <p:cNvGrpSpPr/>
            <p:nvPr/>
          </p:nvGrpSpPr>
          <p:grpSpPr>
            <a:xfrm>
              <a:off x="228600" y="1562100"/>
              <a:ext cx="4733850" cy="647700"/>
              <a:chOff x="0" y="0"/>
              <a:chExt cx="4733850" cy="647700"/>
            </a:xfrm>
          </p:grpSpPr>
          <p:sp>
            <p:nvSpPr>
              <p:cNvPr id="193" name="Google Shape;193;p8"/>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8"/>
              <p:cNvSpPr txBox="1"/>
              <p:nvPr/>
            </p:nvSpPr>
            <p:spPr>
              <a:xfrm>
                <a:off x="47625" y="80048"/>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67">
                    <a:solidFill>
                      <a:srgbClr val="2563EB"/>
                    </a:solidFill>
                    <a:latin typeface="Material Icons"/>
                    <a:ea typeface="Material Icons"/>
                    <a:cs typeface="Material Icons"/>
                    <a:sym typeface="Material Icons"/>
                  </a:rPr>
                  <a:t>preview</a:t>
                </a:r>
                <a:endParaRPr sz="867">
                  <a:solidFill>
                    <a:srgbClr val="2563EB"/>
                  </a:solidFill>
                  <a:latin typeface="Material Icons"/>
                  <a:ea typeface="Material Icons"/>
                  <a:cs typeface="Material Icons"/>
                  <a:sym typeface="Material Icons"/>
                </a:endParaRPr>
              </a:p>
            </p:txBody>
          </p:sp>
          <p:sp>
            <p:nvSpPr>
              <p:cNvPr id="195" name="Google Shape;195;p8"/>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Contextual Mockup Viewer</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Full-screen deliverable inspection with version tag (v2.1) and approval status pill.</a:t>
                </a:r>
                <a:endParaRPr b="0" sz="1000">
                  <a:solidFill>
                    <a:srgbClr val="334155"/>
                  </a:solidFill>
                  <a:latin typeface="Quattrocento Sans"/>
                  <a:ea typeface="Quattrocento Sans"/>
                  <a:cs typeface="Quattrocento Sans"/>
                  <a:sym typeface="Quattrocento Sans"/>
                </a:endParaRPr>
              </a:p>
            </p:txBody>
          </p:sp>
        </p:grpSp>
        <p:cxnSp>
          <p:nvCxnSpPr>
            <p:cNvPr id="196" name="Google Shape;196;p8"/>
            <p:cNvCxnSpPr/>
            <p:nvPr/>
          </p:nvCxnSpPr>
          <p:spPr>
            <a:xfrm>
              <a:off x="228600" y="23622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97" name="Google Shape;197;p8"/>
            <p:cNvGrpSpPr/>
            <p:nvPr/>
          </p:nvGrpSpPr>
          <p:grpSpPr>
            <a:xfrm>
              <a:off x="228600" y="2476500"/>
              <a:ext cx="4733850" cy="647700"/>
              <a:chOff x="0" y="0"/>
              <a:chExt cx="4733850" cy="647700"/>
            </a:xfrm>
          </p:grpSpPr>
          <p:sp>
            <p:nvSpPr>
              <p:cNvPr id="198" name="Google Shape;198;p8"/>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8"/>
              <p:cNvSpPr txBox="1"/>
              <p:nvPr/>
            </p:nvSpPr>
            <p:spPr>
              <a:xfrm>
                <a:off x="47625" y="80048"/>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67">
                    <a:solidFill>
                      <a:srgbClr val="2563EB"/>
                    </a:solidFill>
                    <a:latin typeface="Material Icons"/>
                    <a:ea typeface="Material Icons"/>
                    <a:cs typeface="Material Icons"/>
                    <a:sym typeface="Material Icons"/>
                  </a:rPr>
                  <a:t>forum</a:t>
                </a:r>
                <a:endParaRPr sz="867">
                  <a:solidFill>
                    <a:srgbClr val="2563EB"/>
                  </a:solidFill>
                  <a:latin typeface="Material Icons"/>
                  <a:ea typeface="Material Icons"/>
                  <a:cs typeface="Material Icons"/>
                  <a:sym typeface="Material Icons"/>
                </a:endParaRPr>
              </a:p>
            </p:txBody>
          </p:sp>
          <p:sp>
            <p:nvSpPr>
              <p:cNvPr id="200" name="Google Shape;200;p8"/>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Anchored Discussion Thread</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Chronological chat history displaying messages from James R. (PM) and Fred R. (Client).</a:t>
                </a:r>
                <a:endParaRPr b="0" sz="1000">
                  <a:solidFill>
                    <a:srgbClr val="334155"/>
                  </a:solidFill>
                  <a:latin typeface="Quattrocento Sans"/>
                  <a:ea typeface="Quattrocento Sans"/>
                  <a:cs typeface="Quattrocento Sans"/>
                  <a:sym typeface="Quattrocento Sans"/>
                </a:endParaRPr>
              </a:p>
            </p:txBody>
          </p:sp>
        </p:grpSp>
        <p:cxnSp>
          <p:nvCxnSpPr>
            <p:cNvPr id="201" name="Google Shape;201;p8"/>
            <p:cNvCxnSpPr/>
            <p:nvPr/>
          </p:nvCxnSpPr>
          <p:spPr>
            <a:xfrm>
              <a:off x="228600" y="32766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202" name="Google Shape;202;p8"/>
            <p:cNvGrpSpPr/>
            <p:nvPr/>
          </p:nvGrpSpPr>
          <p:grpSpPr>
            <a:xfrm>
              <a:off x="228600" y="3390900"/>
              <a:ext cx="4733850" cy="647700"/>
              <a:chOff x="0" y="0"/>
              <a:chExt cx="4733850" cy="647700"/>
            </a:xfrm>
          </p:grpSpPr>
          <p:sp>
            <p:nvSpPr>
              <p:cNvPr id="203" name="Google Shape;203;p8"/>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8"/>
              <p:cNvSpPr txBox="1"/>
              <p:nvPr/>
            </p:nvSpPr>
            <p:spPr>
              <a:xfrm>
                <a:off x="47625" y="80048"/>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67">
                    <a:solidFill>
                      <a:srgbClr val="2563EB"/>
                    </a:solidFill>
                    <a:latin typeface="Material Icons"/>
                    <a:ea typeface="Material Icons"/>
                    <a:cs typeface="Material Icons"/>
                    <a:sym typeface="Material Icons"/>
                  </a:rPr>
                  <a:t>fact_check</a:t>
                </a:r>
                <a:endParaRPr sz="867">
                  <a:solidFill>
                    <a:srgbClr val="2563EB"/>
                  </a:solidFill>
                  <a:latin typeface="Material Icons"/>
                  <a:ea typeface="Material Icons"/>
                  <a:cs typeface="Material Icons"/>
                  <a:sym typeface="Material Icons"/>
                </a:endParaRPr>
              </a:p>
            </p:txBody>
          </p:sp>
          <p:sp>
            <p:nvSpPr>
              <p:cNvPr id="205" name="Google Shape;205;p8"/>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Verified Discard Logic</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AD2 decision gate ('Submit Feedback?'): Cancel clears draft safely with SnackBar; Submit logs audit timestamp and updates thread.</a:t>
                </a:r>
                <a:endParaRPr b="0" sz="1000">
                  <a:solidFill>
                    <a:srgbClr val="334155"/>
                  </a:solidFill>
                  <a:latin typeface="Quattrocento Sans"/>
                  <a:ea typeface="Quattrocento Sans"/>
                  <a:cs typeface="Quattrocento Sans"/>
                  <a:sym typeface="Quattrocento Sans"/>
                </a:endParaRPr>
              </a:p>
            </p:txBody>
          </p:sp>
        </p:grpSp>
        <p:cxnSp>
          <p:nvCxnSpPr>
            <p:cNvPr id="206" name="Google Shape;206;p8"/>
            <p:cNvCxnSpPr/>
            <p:nvPr/>
          </p:nvCxnSpPr>
          <p:spPr>
            <a:xfrm>
              <a:off x="228600" y="40767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207" name="Google Shape;207;p8"/>
            <p:cNvGrpSpPr/>
            <p:nvPr/>
          </p:nvGrpSpPr>
          <p:grpSpPr>
            <a:xfrm>
              <a:off x="228600" y="4152900"/>
              <a:ext cx="4733850" cy="571500"/>
              <a:chOff x="0" y="0"/>
              <a:chExt cx="4733850" cy="571500"/>
            </a:xfrm>
          </p:grpSpPr>
          <p:sp>
            <p:nvSpPr>
              <p:cNvPr id="208" name="Google Shape;208;p8"/>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8"/>
              <p:cNvSpPr txBox="1"/>
              <p:nvPr/>
            </p:nvSpPr>
            <p:spPr>
              <a:xfrm>
                <a:off x="47625" y="80048"/>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67">
                    <a:solidFill>
                      <a:srgbClr val="2563EB"/>
                    </a:solidFill>
                    <a:latin typeface="Material Icons"/>
                    <a:ea typeface="Material Icons"/>
                    <a:cs typeface="Material Icons"/>
                    <a:sym typeface="Material Icons"/>
                  </a:rPr>
                  <a:t>bolt</a:t>
                </a:r>
                <a:endParaRPr sz="867">
                  <a:solidFill>
                    <a:srgbClr val="2563EB"/>
                  </a:solidFill>
                  <a:latin typeface="Material Icons"/>
                  <a:ea typeface="Material Icons"/>
                  <a:cs typeface="Material Icons"/>
                  <a:sym typeface="Material Icons"/>
                </a:endParaRPr>
              </a:p>
            </p:txBody>
          </p:sp>
          <p:sp>
            <p:nvSpPr>
              <p:cNvPr id="210" name="Google Shape;210;p8"/>
              <p:cNvSpPr txBox="1"/>
              <p:nvPr/>
            </p:nvSpPr>
            <p:spPr>
              <a:xfrm>
                <a:off x="400050" y="0"/>
                <a:ext cx="43338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Frictionless Submission</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Task completed in under 60 seconds directly below the image, eliminating fragmented emails.</a:t>
                </a:r>
                <a:endParaRPr b="0" sz="1000">
                  <a:solidFill>
                    <a:srgbClr val="334155"/>
                  </a:solidFill>
                  <a:latin typeface="Quattrocento Sans"/>
                  <a:ea typeface="Quattrocento Sans"/>
                  <a:cs typeface="Quattrocento Sans"/>
                  <a:sym typeface="Quattrocento Sans"/>
                </a:endParaRPr>
              </a:p>
            </p:txBody>
          </p:sp>
        </p:grpSp>
      </p:grpSp>
      <p:grpSp>
        <p:nvGrpSpPr>
          <p:cNvPr id="211" name="Google Shape;211;p8"/>
          <p:cNvGrpSpPr/>
          <p:nvPr/>
        </p:nvGrpSpPr>
        <p:grpSpPr>
          <a:xfrm>
            <a:off x="6019800" y="1666875"/>
            <a:ext cx="5572200" cy="4762500"/>
            <a:chOff x="0" y="0"/>
            <a:chExt cx="5572200" cy="4762500"/>
          </a:xfrm>
        </p:grpSpPr>
        <p:sp>
          <p:nvSpPr>
            <p:cNvPr id="212" name="Google Shape;212;p8"/>
            <p:cNvSpPr/>
            <p:nvPr/>
          </p:nvSpPr>
          <p:spPr>
            <a:xfrm>
              <a:off x="0" y="0"/>
              <a:ext cx="5572200" cy="4762500"/>
            </a:xfrm>
            <a:prstGeom prst="roundRect">
              <a:avLst>
                <a:gd fmla="val 24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8"/>
            <p:cNvSpPr/>
            <p:nvPr/>
          </p:nvSpPr>
          <p:spPr>
            <a:xfrm>
              <a:off x="0" y="0"/>
              <a:ext cx="5572200" cy="400200"/>
            </a:xfrm>
            <a:prstGeom prst="roundRect">
              <a:avLst>
                <a:gd fmla="val 28560"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p8"/>
            <p:cNvSpPr/>
            <p:nvPr/>
          </p:nvSpPr>
          <p:spPr>
            <a:xfrm>
              <a:off x="0" y="285750"/>
              <a:ext cx="5572200" cy="1143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15" name="Google Shape;215;p8"/>
            <p:cNvCxnSpPr/>
            <p:nvPr/>
          </p:nvCxnSpPr>
          <p:spPr>
            <a:xfrm>
              <a:off x="0" y="400050"/>
              <a:ext cx="55722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216" name="Google Shape;216;p8"/>
            <p:cNvSpPr txBox="1"/>
            <p:nvPr/>
          </p:nvSpPr>
          <p:spPr>
            <a:xfrm>
              <a:off x="190500" y="95250"/>
              <a:ext cx="51912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64748B"/>
                  </a:solidFill>
                  <a:latin typeface="Quattrocento Sans"/>
                  <a:ea typeface="Quattrocento Sans"/>
                  <a:cs typeface="Quattrocento Sans"/>
                  <a:sym typeface="Quattrocento Sans"/>
                </a:rPr>
                <a:t>Activity Diagram (AD2) &amp; Swimlane Workflow</a:t>
              </a:r>
              <a:endParaRPr b="1" sz="1000">
                <a:solidFill>
                  <a:srgbClr val="64748B"/>
                </a:solidFill>
                <a:latin typeface="Quattrocento Sans"/>
                <a:ea typeface="Quattrocento Sans"/>
                <a:cs typeface="Quattrocento Sans"/>
                <a:sym typeface="Quattrocento Sans"/>
              </a:endParaRPr>
            </a:p>
          </p:txBody>
        </p:sp>
        <p:pic>
          <p:nvPicPr>
            <p:cNvPr id="217" name="Google Shape;217;p8"/>
            <p:cNvPicPr preferRelativeResize="0"/>
            <p:nvPr/>
          </p:nvPicPr>
          <p:blipFill rotWithShape="1">
            <a:blip r:embed="rId3">
              <a:alphaModFix/>
            </a:blip>
            <a:srcRect b="21210" l="1428" r="1428" t="0"/>
            <a:stretch/>
          </p:blipFill>
          <p:spPr>
            <a:xfrm>
              <a:off x="190500" y="435975"/>
              <a:ext cx="5191200" cy="4210500"/>
            </a:xfrm>
            <a:prstGeom prst="roundRect">
              <a:avLst>
                <a:gd fmla="val 1839" name="adj"/>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9"/>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USE CASE 3 WALKTHROUGH &amp; ACTIVITY DIAGRAM 3</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Milestone Governance &amp; Sign-Off (AD3)</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Two-Step Neutral Confirmation, Scope Checklist, Revision Form &amp; Digital Certificate</a:t>
            </a:r>
            <a:endParaRPr/>
          </a:p>
        </p:txBody>
      </p:sp>
      <p:grpSp>
        <p:nvGrpSpPr>
          <p:cNvPr id="224" name="Google Shape;224;p9"/>
          <p:cNvGrpSpPr/>
          <p:nvPr/>
        </p:nvGrpSpPr>
        <p:grpSpPr>
          <a:xfrm>
            <a:off x="600075" y="1666875"/>
            <a:ext cx="5191200" cy="4762500"/>
            <a:chOff x="0" y="0"/>
            <a:chExt cx="5191200" cy="4762500"/>
          </a:xfrm>
        </p:grpSpPr>
        <p:sp>
          <p:nvSpPr>
            <p:cNvPr id="225" name="Google Shape;225;p9"/>
            <p:cNvSpPr/>
            <p:nvPr/>
          </p:nvSpPr>
          <p:spPr>
            <a:xfrm>
              <a:off x="0" y="0"/>
              <a:ext cx="5191200" cy="4762500"/>
            </a:xfrm>
            <a:prstGeom prst="roundRect">
              <a:avLst>
                <a:gd fmla="val 24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9"/>
            <p:cNvSpPr txBox="1"/>
            <p:nvPr/>
          </p:nvSpPr>
          <p:spPr>
            <a:xfrm>
              <a:off x="228600" y="171450"/>
              <a:ext cx="47340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500">
                  <a:solidFill>
                    <a:srgbClr val="0F172A"/>
                  </a:solidFill>
                  <a:latin typeface="Quattrocento Sans"/>
                  <a:ea typeface="Quattrocento Sans"/>
                  <a:cs typeface="Quattrocento Sans"/>
                  <a:sym typeface="Quattrocento Sans"/>
                </a:rPr>
                <a:t>Prototype Implementation (Screens 7, 8 &amp; 9)</a:t>
              </a:r>
              <a:endParaRPr b="1" sz="1500">
                <a:solidFill>
                  <a:srgbClr val="0F172A"/>
                </a:solidFill>
                <a:latin typeface="Quattrocento Sans"/>
                <a:ea typeface="Quattrocento Sans"/>
                <a:cs typeface="Quattrocento Sans"/>
                <a:sym typeface="Quattrocento Sans"/>
              </a:endParaRPr>
            </a:p>
          </p:txBody>
        </p:sp>
        <p:cxnSp>
          <p:nvCxnSpPr>
            <p:cNvPr id="227" name="Google Shape;227;p9"/>
            <p:cNvCxnSpPr/>
            <p:nvPr/>
          </p:nvCxnSpPr>
          <p:spPr>
            <a:xfrm>
              <a:off x="228600" y="5334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228" name="Google Shape;228;p9"/>
            <p:cNvGrpSpPr/>
            <p:nvPr/>
          </p:nvGrpSpPr>
          <p:grpSpPr>
            <a:xfrm>
              <a:off x="228600" y="647700"/>
              <a:ext cx="4733850" cy="647700"/>
              <a:chOff x="0" y="0"/>
              <a:chExt cx="4733850" cy="647700"/>
            </a:xfrm>
          </p:grpSpPr>
          <p:sp>
            <p:nvSpPr>
              <p:cNvPr id="229" name="Google Shape;229;p9"/>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9"/>
              <p:cNvSpPr txBox="1"/>
              <p:nvPr/>
            </p:nvSpPr>
            <p:spPr>
              <a:xfrm>
                <a:off x="47625" y="80048"/>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67">
                    <a:solidFill>
                      <a:srgbClr val="2563EB"/>
                    </a:solidFill>
                    <a:latin typeface="Material Icons"/>
                    <a:ea typeface="Material Icons"/>
                    <a:cs typeface="Material Icons"/>
                    <a:sym typeface="Material Icons"/>
                  </a:rPr>
                  <a:t>fact_check</a:t>
                </a:r>
                <a:endParaRPr sz="867">
                  <a:solidFill>
                    <a:srgbClr val="2563EB"/>
                  </a:solidFill>
                  <a:latin typeface="Material Icons"/>
                  <a:ea typeface="Material Icons"/>
                  <a:cs typeface="Material Icons"/>
                  <a:sym typeface="Material Icons"/>
                </a:endParaRPr>
              </a:p>
            </p:txBody>
          </p:sp>
          <p:sp>
            <p:nvSpPr>
              <p:cNvPr id="231" name="Google Shape;231;p9"/>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Commercial Scope Review</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Acceptance criteria checklist detailing exact deliverable completion and financial fee ($12,500 AUD).</a:t>
                </a:r>
                <a:endParaRPr b="0" sz="1000">
                  <a:solidFill>
                    <a:srgbClr val="334155"/>
                  </a:solidFill>
                  <a:latin typeface="Quattrocento Sans"/>
                  <a:ea typeface="Quattrocento Sans"/>
                  <a:cs typeface="Quattrocento Sans"/>
                  <a:sym typeface="Quattrocento Sans"/>
                </a:endParaRPr>
              </a:p>
            </p:txBody>
          </p:sp>
        </p:grpSp>
        <p:cxnSp>
          <p:nvCxnSpPr>
            <p:cNvPr id="232" name="Google Shape;232;p9"/>
            <p:cNvCxnSpPr/>
            <p:nvPr/>
          </p:nvCxnSpPr>
          <p:spPr>
            <a:xfrm>
              <a:off x="228600" y="14478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233" name="Google Shape;233;p9"/>
            <p:cNvGrpSpPr/>
            <p:nvPr/>
          </p:nvGrpSpPr>
          <p:grpSpPr>
            <a:xfrm>
              <a:off x="228600" y="1562100"/>
              <a:ext cx="4733850" cy="647700"/>
              <a:chOff x="0" y="0"/>
              <a:chExt cx="4733850" cy="647700"/>
            </a:xfrm>
          </p:grpSpPr>
          <p:sp>
            <p:nvSpPr>
              <p:cNvPr id="234" name="Google Shape;234;p9"/>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9"/>
              <p:cNvSpPr txBox="1"/>
              <p:nvPr/>
            </p:nvSpPr>
            <p:spPr>
              <a:xfrm>
                <a:off x="47625" y="80048"/>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67">
                    <a:solidFill>
                      <a:srgbClr val="2563EB"/>
                    </a:solidFill>
                    <a:latin typeface="Material Icons"/>
                    <a:ea typeface="Material Icons"/>
                    <a:cs typeface="Material Icons"/>
                    <a:sym typeface="Material Icons"/>
                  </a:rPr>
                  <a:t>balance</a:t>
                </a:r>
                <a:endParaRPr sz="867">
                  <a:solidFill>
                    <a:srgbClr val="2563EB"/>
                  </a:solidFill>
                  <a:latin typeface="Material Icons"/>
                  <a:ea typeface="Material Icons"/>
                  <a:cs typeface="Material Icons"/>
                  <a:sym typeface="Material Icons"/>
                </a:endParaRPr>
              </a:p>
            </p:txBody>
          </p:sp>
          <p:sp>
            <p:nvSpPr>
              <p:cNvPr id="236" name="Google Shape;236;p9"/>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Equal-Weight Action Gates</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'Approve Milestone' and 'Request Changes' buttons feature identical visual prominence.</a:t>
                </a:r>
                <a:endParaRPr b="0" sz="1000">
                  <a:solidFill>
                    <a:srgbClr val="334155"/>
                  </a:solidFill>
                  <a:latin typeface="Quattrocento Sans"/>
                  <a:ea typeface="Quattrocento Sans"/>
                  <a:cs typeface="Quattrocento Sans"/>
                  <a:sym typeface="Quattrocento Sans"/>
                </a:endParaRPr>
              </a:p>
            </p:txBody>
          </p:sp>
        </p:grpSp>
        <p:cxnSp>
          <p:nvCxnSpPr>
            <p:cNvPr id="237" name="Google Shape;237;p9"/>
            <p:cNvCxnSpPr/>
            <p:nvPr/>
          </p:nvCxnSpPr>
          <p:spPr>
            <a:xfrm>
              <a:off x="228600" y="23622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238" name="Google Shape;238;p9"/>
            <p:cNvGrpSpPr/>
            <p:nvPr/>
          </p:nvGrpSpPr>
          <p:grpSpPr>
            <a:xfrm>
              <a:off x="228600" y="2476500"/>
              <a:ext cx="4733850" cy="647700"/>
              <a:chOff x="0" y="0"/>
              <a:chExt cx="4733850" cy="647700"/>
            </a:xfrm>
          </p:grpSpPr>
          <p:sp>
            <p:nvSpPr>
              <p:cNvPr id="239" name="Google Shape;239;p9"/>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9"/>
              <p:cNvSpPr txBox="1"/>
              <p:nvPr/>
            </p:nvSpPr>
            <p:spPr>
              <a:xfrm>
                <a:off x="47625" y="80048"/>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67">
                    <a:solidFill>
                      <a:srgbClr val="2563EB"/>
                    </a:solidFill>
                    <a:latin typeface="Material Icons"/>
                    <a:ea typeface="Material Icons"/>
                    <a:cs typeface="Material Icons"/>
                    <a:sym typeface="Material Icons"/>
                  </a:rPr>
                  <a:t>gavel</a:t>
                </a:r>
                <a:endParaRPr sz="867">
                  <a:solidFill>
                    <a:srgbClr val="2563EB"/>
                  </a:solidFill>
                  <a:latin typeface="Material Icons"/>
                  <a:ea typeface="Material Icons"/>
                  <a:cs typeface="Material Icons"/>
                  <a:sym typeface="Material Icons"/>
                </a:endParaRPr>
              </a:p>
            </p:txBody>
          </p:sp>
          <p:sp>
            <p:nvSpPr>
              <p:cNvPr id="241" name="Google Shape;241;p9"/>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Two-Step Error Prevention Modal</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Tapping Approve triggers a neutral dialog explicitly detailing legally binding invoice liabilities.</a:t>
                </a:r>
                <a:endParaRPr b="0" sz="1000">
                  <a:solidFill>
                    <a:srgbClr val="334155"/>
                  </a:solidFill>
                  <a:latin typeface="Quattrocento Sans"/>
                  <a:ea typeface="Quattrocento Sans"/>
                  <a:cs typeface="Quattrocento Sans"/>
                  <a:sym typeface="Quattrocento Sans"/>
                </a:endParaRPr>
              </a:p>
            </p:txBody>
          </p:sp>
        </p:grpSp>
        <p:cxnSp>
          <p:nvCxnSpPr>
            <p:cNvPr id="242" name="Google Shape;242;p9"/>
            <p:cNvCxnSpPr/>
            <p:nvPr/>
          </p:nvCxnSpPr>
          <p:spPr>
            <a:xfrm>
              <a:off x="228600" y="32766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243" name="Google Shape;243;p9"/>
            <p:cNvGrpSpPr/>
            <p:nvPr/>
          </p:nvGrpSpPr>
          <p:grpSpPr>
            <a:xfrm>
              <a:off x="228600" y="3390900"/>
              <a:ext cx="4733850" cy="647700"/>
              <a:chOff x="0" y="0"/>
              <a:chExt cx="4733850" cy="647700"/>
            </a:xfrm>
          </p:grpSpPr>
          <p:sp>
            <p:nvSpPr>
              <p:cNvPr id="244" name="Google Shape;244;p9"/>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9"/>
              <p:cNvSpPr txBox="1"/>
              <p:nvPr/>
            </p:nvSpPr>
            <p:spPr>
              <a:xfrm>
                <a:off x="47625" y="80048"/>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67">
                    <a:solidFill>
                      <a:srgbClr val="2563EB"/>
                    </a:solidFill>
                    <a:latin typeface="Material Icons"/>
                    <a:ea typeface="Material Icons"/>
                    <a:cs typeface="Material Icons"/>
                    <a:sym typeface="Material Icons"/>
                  </a:rPr>
                  <a:t>alt_route</a:t>
                </a:r>
                <a:endParaRPr sz="867">
                  <a:solidFill>
                    <a:srgbClr val="2563EB"/>
                  </a:solidFill>
                  <a:latin typeface="Material Icons"/>
                  <a:ea typeface="Material Icons"/>
                  <a:cs typeface="Material Icons"/>
                  <a:sym typeface="Material Icons"/>
                </a:endParaRPr>
              </a:p>
            </p:txBody>
          </p:sp>
          <p:sp>
            <p:nvSpPr>
              <p:cNvPr id="246" name="Google Shape;246;p9"/>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Revision Branch (Screen 8)</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Tapping Request Changes routes to a structured revision form with specific change categories.</a:t>
                </a:r>
                <a:endParaRPr b="0" sz="1000">
                  <a:solidFill>
                    <a:srgbClr val="334155"/>
                  </a:solidFill>
                  <a:latin typeface="Quattrocento Sans"/>
                  <a:ea typeface="Quattrocento Sans"/>
                  <a:cs typeface="Quattrocento Sans"/>
                  <a:sym typeface="Quattrocento Sans"/>
                </a:endParaRPr>
              </a:p>
            </p:txBody>
          </p:sp>
        </p:grpSp>
        <p:cxnSp>
          <p:nvCxnSpPr>
            <p:cNvPr id="247" name="Google Shape;247;p9"/>
            <p:cNvCxnSpPr/>
            <p:nvPr/>
          </p:nvCxnSpPr>
          <p:spPr>
            <a:xfrm>
              <a:off x="228600" y="40767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248" name="Google Shape;248;p9"/>
            <p:cNvGrpSpPr/>
            <p:nvPr/>
          </p:nvGrpSpPr>
          <p:grpSpPr>
            <a:xfrm>
              <a:off x="228600" y="4152900"/>
              <a:ext cx="4733850" cy="571500"/>
              <a:chOff x="0" y="0"/>
              <a:chExt cx="4733850" cy="571500"/>
            </a:xfrm>
          </p:grpSpPr>
          <p:sp>
            <p:nvSpPr>
              <p:cNvPr id="249" name="Google Shape;249;p9"/>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9"/>
              <p:cNvSpPr txBox="1"/>
              <p:nvPr/>
            </p:nvSpPr>
            <p:spPr>
              <a:xfrm>
                <a:off x="47625" y="80048"/>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67">
                    <a:solidFill>
                      <a:srgbClr val="2563EB"/>
                    </a:solidFill>
                    <a:latin typeface="Material Icons"/>
                    <a:ea typeface="Material Icons"/>
                    <a:cs typeface="Material Icons"/>
                    <a:sym typeface="Material Icons"/>
                  </a:rPr>
                  <a:t>verified</a:t>
                </a:r>
                <a:endParaRPr sz="867">
                  <a:solidFill>
                    <a:srgbClr val="2563EB"/>
                  </a:solidFill>
                  <a:latin typeface="Material Icons"/>
                  <a:ea typeface="Material Icons"/>
                  <a:cs typeface="Material Icons"/>
                  <a:sym typeface="Material Icons"/>
                </a:endParaRPr>
              </a:p>
            </p:txBody>
          </p:sp>
          <p:sp>
            <p:nvSpPr>
              <p:cNvPr id="251" name="Google Shape;251;p9"/>
              <p:cNvSpPr txBox="1"/>
              <p:nvPr/>
            </p:nvSpPr>
            <p:spPr>
              <a:xfrm>
                <a:off x="400050" y="0"/>
                <a:ext cx="43338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Digital Certificate (Screen 9)</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Confirmed sign-off generates an immutable receipt with SHA-256 hash, User ID, and timestamp.</a:t>
                </a:r>
                <a:endParaRPr b="0" sz="1000">
                  <a:solidFill>
                    <a:srgbClr val="334155"/>
                  </a:solidFill>
                  <a:latin typeface="Quattrocento Sans"/>
                  <a:ea typeface="Quattrocento Sans"/>
                  <a:cs typeface="Quattrocento Sans"/>
                  <a:sym typeface="Quattrocento Sans"/>
                </a:endParaRPr>
              </a:p>
            </p:txBody>
          </p:sp>
        </p:grpSp>
      </p:grpSp>
      <p:grpSp>
        <p:nvGrpSpPr>
          <p:cNvPr id="252" name="Google Shape;252;p9"/>
          <p:cNvGrpSpPr/>
          <p:nvPr/>
        </p:nvGrpSpPr>
        <p:grpSpPr>
          <a:xfrm>
            <a:off x="6019800" y="1666875"/>
            <a:ext cx="5572200" cy="4762500"/>
            <a:chOff x="0" y="0"/>
            <a:chExt cx="5572200" cy="4762500"/>
          </a:xfrm>
        </p:grpSpPr>
        <p:sp>
          <p:nvSpPr>
            <p:cNvPr id="253" name="Google Shape;253;p9"/>
            <p:cNvSpPr/>
            <p:nvPr/>
          </p:nvSpPr>
          <p:spPr>
            <a:xfrm>
              <a:off x="0" y="0"/>
              <a:ext cx="5572200" cy="4762500"/>
            </a:xfrm>
            <a:prstGeom prst="roundRect">
              <a:avLst>
                <a:gd fmla="val 24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9"/>
            <p:cNvSpPr/>
            <p:nvPr/>
          </p:nvSpPr>
          <p:spPr>
            <a:xfrm>
              <a:off x="0" y="0"/>
              <a:ext cx="5572200" cy="400200"/>
            </a:xfrm>
            <a:prstGeom prst="roundRect">
              <a:avLst>
                <a:gd fmla="val 28560"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9"/>
            <p:cNvSpPr/>
            <p:nvPr/>
          </p:nvSpPr>
          <p:spPr>
            <a:xfrm>
              <a:off x="0" y="285750"/>
              <a:ext cx="5572200" cy="1143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56" name="Google Shape;256;p9"/>
            <p:cNvCxnSpPr/>
            <p:nvPr/>
          </p:nvCxnSpPr>
          <p:spPr>
            <a:xfrm>
              <a:off x="0" y="400050"/>
              <a:ext cx="55722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257" name="Google Shape;257;p9"/>
            <p:cNvSpPr txBox="1"/>
            <p:nvPr/>
          </p:nvSpPr>
          <p:spPr>
            <a:xfrm>
              <a:off x="190500" y="95250"/>
              <a:ext cx="51912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64748B"/>
                  </a:solidFill>
                  <a:latin typeface="Quattrocento Sans"/>
                  <a:ea typeface="Quattrocento Sans"/>
                  <a:cs typeface="Quattrocento Sans"/>
                  <a:sym typeface="Quattrocento Sans"/>
                </a:rPr>
                <a:t>Activity Diagram (AD3) &amp; Swimlane Workflow</a:t>
              </a:r>
              <a:endParaRPr b="1" sz="1000">
                <a:solidFill>
                  <a:srgbClr val="64748B"/>
                </a:solidFill>
                <a:latin typeface="Quattrocento Sans"/>
                <a:ea typeface="Quattrocento Sans"/>
                <a:cs typeface="Quattrocento Sans"/>
                <a:sym typeface="Quattrocento Sans"/>
              </a:endParaRPr>
            </a:p>
          </p:txBody>
        </p:sp>
        <p:pic>
          <p:nvPicPr>
            <p:cNvPr id="258" name="Google Shape;258;p9"/>
            <p:cNvPicPr preferRelativeResize="0"/>
            <p:nvPr/>
          </p:nvPicPr>
          <p:blipFill rotWithShape="1">
            <a:blip r:embed="rId3">
              <a:alphaModFix/>
            </a:blip>
            <a:srcRect b="9248" l="0" r="0" t="0"/>
            <a:stretch/>
          </p:blipFill>
          <p:spPr>
            <a:xfrm>
              <a:off x="190500" y="435975"/>
              <a:ext cx="5191200" cy="4264800"/>
            </a:xfrm>
            <a:prstGeom prst="roundRect">
              <a:avLst>
                <a:gd fmla="val 1838" name="adj"/>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0"/>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0"/>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RESPONSIVE &amp; ADAPTIVE SCREEN ARCHITECTURE</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Canonical Material 3 Responsiveness Proof</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Dynamic Breakpoint Switching: Bottom NavigationBar (&lt;640dp) to Left NavigationRail (&gt;=640dp)</a:t>
            </a:r>
            <a:endParaRPr/>
          </a:p>
        </p:txBody>
      </p:sp>
      <p:sp>
        <p:nvSpPr>
          <p:cNvPr id="265" name="Google Shape;265;p10"/>
          <p:cNvSpPr/>
          <p:nvPr/>
        </p:nvSpPr>
        <p:spPr>
          <a:xfrm>
            <a:off x="600000" y="1799996"/>
            <a:ext cx="3500100" cy="4599900"/>
          </a:xfrm>
          <a:prstGeom prst="roundRect">
            <a:avLst>
              <a:gd fmla="val 1999" name="adj"/>
            </a:avLst>
          </a:prstGeom>
          <a:solidFill>
            <a:srgbClr val="FFFFFF"/>
          </a:solidFill>
          <a:ln cap="flat" cmpd="sng" w="12700">
            <a:solidFill>
              <a:srgbClr val="E2E8F0"/>
            </a:solidFill>
            <a:prstDash val="solid"/>
            <a:round/>
            <a:headEnd len="sm" w="sm" type="none"/>
            <a:tailEnd len="sm" w="sm" type="none"/>
          </a:ln>
        </p:spPr>
        <p:txBody>
          <a:bodyPr anchorCtr="0" anchor="t" bIns="190500" lIns="190500" spcFirstLastPara="1" rIns="190500" wrap="square" tIns="190500">
            <a:noAutofit/>
          </a:bodyPr>
          <a:lstStyle/>
          <a:p>
            <a:pPr indent="0" lvl="0" marL="0" rtl="0" algn="l">
              <a:spcBef>
                <a:spcPts val="0"/>
              </a:spcBef>
              <a:spcAft>
                <a:spcPts val="0"/>
              </a:spcAft>
              <a:buNone/>
            </a:pPr>
            <a:r>
              <a:rPr b="1" i="0" lang="en-US" sz="1500">
                <a:solidFill>
                  <a:srgbClr val="0F172A"/>
                </a:solidFill>
                <a:latin typeface="Quattrocento Sans"/>
                <a:ea typeface="Quattrocento Sans"/>
                <a:cs typeface="Quattrocento Sans"/>
                <a:sym typeface="Quattrocento Sans"/>
              </a:rPr>
              <a:t>Compact Viewport (&lt;640dp Phone)</a:t>
            </a:r>
            <a:endParaRPr b="1" i="0" sz="1500">
              <a:solidFill>
                <a:srgbClr val="0F172A"/>
              </a:solidFill>
              <a:latin typeface="Quattrocento Sans"/>
              <a:ea typeface="Quattrocento Sans"/>
              <a:cs typeface="Quattrocento Sans"/>
              <a:sym typeface="Quattrocento Sans"/>
            </a:endParaRPr>
          </a:p>
          <a:p>
            <a:pPr indent="-323850" lvl="0" marL="457200" rtl="0" algn="l">
              <a:spcBef>
                <a:spcPts val="10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Hardware Target: </a:t>
            </a:r>
            <a:r>
              <a:rPr b="0" i="0" lang="en-US" sz="1100">
                <a:solidFill>
                  <a:srgbClr val="334155"/>
                </a:solidFill>
                <a:latin typeface="Quattrocento Sans"/>
                <a:ea typeface="Quattrocento Sans"/>
                <a:cs typeface="Quattrocento Sans"/>
                <a:sym typeface="Quattrocento Sans"/>
              </a:rPr>
              <a:t>Smartphones (Samsung Galaxy A54, iPhone 15) in portrait orientation.</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Navigation Paradigm: </a:t>
            </a:r>
            <a:r>
              <a:rPr b="0" i="0" lang="en-US" sz="1100">
                <a:solidFill>
                  <a:srgbClr val="334155"/>
                </a:solidFill>
                <a:latin typeface="Quattrocento Sans"/>
                <a:ea typeface="Quattrocento Sans"/>
                <a:cs typeface="Quattrocento Sans"/>
                <a:sym typeface="Quattrocento Sans"/>
              </a:rPr>
              <a:t>Canonical Material 3 Bottom NavigationBar with 4 primary destinations (Dashboard, Projects, Governance, Alerts).</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Ergonomic Thumb Zone: </a:t>
            </a:r>
            <a:r>
              <a:rPr b="0" i="0" lang="en-US" sz="1100">
                <a:solidFill>
                  <a:srgbClr val="334155"/>
                </a:solidFill>
                <a:latin typeface="Quattrocento Sans"/>
                <a:ea typeface="Quattrocento Sans"/>
                <a:cs typeface="Quattrocento Sans"/>
                <a:sym typeface="Quattrocento Sans"/>
              </a:rPr>
              <a:t>All major navigational touch points reside in bottom 30% of screen for one-handed reach.</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Single-Column Flow: </a:t>
            </a:r>
            <a:r>
              <a:rPr b="0" i="0" lang="en-US" sz="1100">
                <a:solidFill>
                  <a:srgbClr val="334155"/>
                </a:solidFill>
                <a:latin typeface="Quattrocento Sans"/>
                <a:ea typeface="Quattrocento Sans"/>
                <a:cs typeface="Quattrocento Sans"/>
                <a:sym typeface="Quattrocento Sans"/>
              </a:rPr>
              <a:t>Outlined cards stacked vertically with 16dp horizontal edge margins and dynamic vertical scrolling.</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75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Touch Target Standards: </a:t>
            </a:r>
            <a:r>
              <a:rPr b="0" i="0" lang="en-US" sz="1100">
                <a:solidFill>
                  <a:srgbClr val="334155"/>
                </a:solidFill>
                <a:latin typeface="Quattrocento Sans"/>
                <a:ea typeface="Quattrocento Sans"/>
                <a:cs typeface="Quattrocento Sans"/>
                <a:sym typeface="Quattrocento Sans"/>
              </a:rPr>
              <a:t>All buttons and tappable chips meet or exceed 48x48dp minimum touch target.</a:t>
            </a:r>
            <a:endParaRPr b="1" i="0" sz="1500">
              <a:solidFill>
                <a:srgbClr val="0F172A"/>
              </a:solidFill>
              <a:latin typeface="Quattrocento Sans"/>
              <a:ea typeface="Quattrocento Sans"/>
              <a:cs typeface="Quattrocento Sans"/>
              <a:sym typeface="Quattrocento Sans"/>
            </a:endParaRPr>
          </a:p>
        </p:txBody>
      </p:sp>
      <p:sp>
        <p:nvSpPr>
          <p:cNvPr id="266" name="Google Shape;266;p10"/>
          <p:cNvSpPr/>
          <p:nvPr/>
        </p:nvSpPr>
        <p:spPr>
          <a:xfrm>
            <a:off x="4300004" y="1799996"/>
            <a:ext cx="3500100" cy="4599900"/>
          </a:xfrm>
          <a:prstGeom prst="roundRect">
            <a:avLst>
              <a:gd fmla="val 1999" name="adj"/>
            </a:avLst>
          </a:prstGeom>
          <a:solidFill>
            <a:srgbClr val="FFFFFF"/>
          </a:solidFill>
          <a:ln cap="flat" cmpd="sng" w="12700">
            <a:solidFill>
              <a:srgbClr val="E2E8F0"/>
            </a:solidFill>
            <a:prstDash val="solid"/>
            <a:round/>
            <a:headEnd len="sm" w="sm" type="none"/>
            <a:tailEnd len="sm" w="sm" type="none"/>
          </a:ln>
        </p:spPr>
        <p:txBody>
          <a:bodyPr anchorCtr="0" anchor="t" bIns="190500" lIns="190500" spcFirstLastPara="1" rIns="190500" wrap="square" tIns="190500">
            <a:noAutofit/>
          </a:bodyPr>
          <a:lstStyle/>
          <a:p>
            <a:pPr indent="0" lvl="0" marL="0" rtl="0" algn="l">
              <a:spcBef>
                <a:spcPts val="0"/>
              </a:spcBef>
              <a:spcAft>
                <a:spcPts val="0"/>
              </a:spcAft>
              <a:buNone/>
            </a:pPr>
            <a:r>
              <a:rPr b="1" i="0" lang="en-US" sz="1500">
                <a:solidFill>
                  <a:srgbClr val="0F172A"/>
                </a:solidFill>
                <a:latin typeface="Quattrocento Sans"/>
                <a:ea typeface="Quattrocento Sans"/>
                <a:cs typeface="Quattrocento Sans"/>
                <a:sym typeface="Quattrocento Sans"/>
              </a:rPr>
              <a:t>Medium / Expanded (&gt;=640dp Tablet)</a:t>
            </a:r>
            <a:endParaRPr b="1" i="0" sz="1500">
              <a:solidFill>
                <a:srgbClr val="0F172A"/>
              </a:solidFill>
              <a:latin typeface="Quattrocento Sans"/>
              <a:ea typeface="Quattrocento Sans"/>
              <a:cs typeface="Quattrocento Sans"/>
              <a:sym typeface="Quattrocento Sans"/>
            </a:endParaRPr>
          </a:p>
          <a:p>
            <a:pPr indent="-323850" lvl="0" marL="457200" rtl="0" algn="l">
              <a:spcBef>
                <a:spcPts val="10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Hardware Target: </a:t>
            </a:r>
            <a:r>
              <a:rPr b="0" i="0" lang="en-US" sz="1100">
                <a:solidFill>
                  <a:srgbClr val="334155"/>
                </a:solidFill>
                <a:latin typeface="Quattrocento Sans"/>
                <a:ea typeface="Quattrocento Sans"/>
                <a:cs typeface="Quattrocento Sans"/>
                <a:sym typeface="Quattrocento Sans"/>
              </a:rPr>
              <a:t>Tablets (Apple iPad 10th Gen), foldable devices, and desktop web browsers.</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Navigation Paradigm: </a:t>
            </a:r>
            <a:r>
              <a:rPr b="0" i="0" lang="en-US" sz="1100">
                <a:solidFill>
                  <a:srgbClr val="334155"/>
                </a:solidFill>
                <a:latin typeface="Quattrocento Sans"/>
                <a:ea typeface="Quattrocento Sans"/>
                <a:cs typeface="Quattrocento Sans"/>
                <a:sym typeface="Quattrocento Sans"/>
              </a:rPr>
              <a:t>Adaptive Left NavigationRail featuring permanent brand header, extended labels, and zero elevation.</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Screen Real Estate: </a:t>
            </a:r>
            <a:r>
              <a:rPr b="0" i="0" lang="en-US" sz="1100">
                <a:solidFill>
                  <a:srgbClr val="334155"/>
                </a:solidFill>
                <a:latin typeface="Quattrocento Sans"/>
                <a:ea typeface="Quattrocento Sans"/>
                <a:cs typeface="Quattrocento Sans"/>
                <a:sym typeface="Quattrocento Sans"/>
              </a:rPr>
              <a:t>Preserves vertical reading height while utilizing horizontal tablet landscape width.</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Width-Bounded Cards: </a:t>
            </a:r>
            <a:r>
              <a:rPr b="0" i="0" lang="en-US" sz="1100">
                <a:solidFill>
                  <a:srgbClr val="334155"/>
                </a:solidFill>
                <a:latin typeface="Quattrocento Sans"/>
                <a:ea typeface="Quattrocento Sans"/>
                <a:cs typeface="Quattrocento Sans"/>
                <a:sym typeface="Quattrocento Sans"/>
              </a:rPr>
              <a:t>Uses ConstrainedBox(maxWidth: 800) to prevent awkward full-width card stretching.</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75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Reflow Mechanics: </a:t>
            </a:r>
            <a:r>
              <a:rPr b="0" i="0" lang="en-US" sz="1100">
                <a:solidFill>
                  <a:srgbClr val="334155"/>
                </a:solidFill>
                <a:latin typeface="Quattrocento Sans"/>
                <a:ea typeface="Quattrocento Sans"/>
                <a:cs typeface="Quattrocento Sans"/>
                <a:sym typeface="Quattrocento Sans"/>
              </a:rPr>
              <a:t>Multi-column responsive grid layout for metrics and deliverable cards via LayoutBuilder.</a:t>
            </a:r>
            <a:endParaRPr b="1" i="0" sz="1500">
              <a:solidFill>
                <a:srgbClr val="0F172A"/>
              </a:solidFill>
              <a:latin typeface="Quattrocento Sans"/>
              <a:ea typeface="Quattrocento Sans"/>
              <a:cs typeface="Quattrocento Sans"/>
              <a:sym typeface="Quattrocento Sans"/>
            </a:endParaRPr>
          </a:p>
        </p:txBody>
      </p:sp>
      <p:sp>
        <p:nvSpPr>
          <p:cNvPr id="267" name="Google Shape;267;p10"/>
          <p:cNvSpPr/>
          <p:nvPr/>
        </p:nvSpPr>
        <p:spPr>
          <a:xfrm>
            <a:off x="8000000" y="1799996"/>
            <a:ext cx="3500100" cy="4599900"/>
          </a:xfrm>
          <a:prstGeom prst="roundRect">
            <a:avLst>
              <a:gd fmla="val 1999" name="adj"/>
            </a:avLst>
          </a:prstGeom>
          <a:solidFill>
            <a:srgbClr val="FFFFFF"/>
          </a:solidFill>
          <a:ln cap="flat" cmpd="sng" w="12700">
            <a:solidFill>
              <a:srgbClr val="E2E8F0"/>
            </a:solidFill>
            <a:prstDash val="solid"/>
            <a:round/>
            <a:headEnd len="sm" w="sm" type="none"/>
            <a:tailEnd len="sm" w="sm" type="none"/>
          </a:ln>
        </p:spPr>
        <p:txBody>
          <a:bodyPr anchorCtr="0" anchor="t" bIns="190500" lIns="190500" spcFirstLastPara="1" rIns="190500" wrap="square" tIns="190500">
            <a:noAutofit/>
          </a:bodyPr>
          <a:lstStyle/>
          <a:p>
            <a:pPr indent="0" lvl="0" marL="0" rtl="0" algn="l">
              <a:spcBef>
                <a:spcPts val="0"/>
              </a:spcBef>
              <a:spcAft>
                <a:spcPts val="0"/>
              </a:spcAft>
              <a:buNone/>
            </a:pPr>
            <a:r>
              <a:rPr b="1" i="0" lang="en-US" sz="1500">
                <a:solidFill>
                  <a:srgbClr val="0F172A"/>
                </a:solidFill>
                <a:latin typeface="Quattrocento Sans"/>
                <a:ea typeface="Quattrocento Sans"/>
                <a:cs typeface="Quattrocento Sans"/>
                <a:sym typeface="Quattrocento Sans"/>
              </a:rPr>
              <a:t>DartPad Live Split-Pane Proof</a:t>
            </a:r>
            <a:endParaRPr b="1" i="0" sz="1500">
              <a:solidFill>
                <a:srgbClr val="0F172A"/>
              </a:solidFill>
              <a:latin typeface="Quattrocento Sans"/>
              <a:ea typeface="Quattrocento Sans"/>
              <a:cs typeface="Quattrocento Sans"/>
              <a:sym typeface="Quattrocento Sans"/>
            </a:endParaRPr>
          </a:p>
          <a:p>
            <a:pPr indent="-323850" lvl="0" marL="457200" rtl="0" algn="l">
              <a:spcBef>
                <a:spcPts val="10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Live Verification: </a:t>
            </a:r>
            <a:r>
              <a:rPr b="0" i="0" lang="en-US" sz="1100">
                <a:solidFill>
                  <a:srgbClr val="334155"/>
                </a:solidFill>
                <a:latin typeface="Quattrocento Sans"/>
                <a:ea typeface="Quattrocento Sans"/>
                <a:cs typeface="Quattrocento Sans"/>
                <a:sym typeface="Quattrocento Sans"/>
              </a:rPr>
              <a:t>Interactive split-pane divider in dartpad.dev dragged live between &lt;640dp and &gt;=640dp.</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LayoutBuilder Rebuild: </a:t>
            </a:r>
            <a:r>
              <a:rPr b="0" i="0" lang="en-US" sz="1100">
                <a:solidFill>
                  <a:srgbClr val="334155"/>
                </a:solidFill>
                <a:latin typeface="Quattrocento Sans"/>
                <a:ea typeface="Quattrocento Sans"/>
                <a:cs typeface="Quattrocento Sans"/>
                <a:sym typeface="Quattrocento Sans"/>
              </a:rPr>
              <a:t>LayoutBuilder(builder: (context, constraints) =&gt; ...) recalculates constraints in real time.</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Zero Page Reloads: </a:t>
            </a:r>
            <a:r>
              <a:rPr b="0" i="0" lang="en-US" sz="1100">
                <a:solidFill>
                  <a:srgbClr val="334155"/>
                </a:solidFill>
                <a:latin typeface="Quattrocento Sans"/>
                <a:ea typeface="Quattrocento Sans"/>
                <a:cs typeface="Quattrocento Sans"/>
                <a:sym typeface="Quattrocento Sans"/>
              </a:rPr>
              <a:t>Preserves navigation state, tab selection, and form inputs during viewport resizing.</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Zero Layout Overflows: </a:t>
            </a:r>
            <a:r>
              <a:rPr b="0" i="0" lang="en-US" sz="1100">
                <a:solidFill>
                  <a:srgbClr val="334155"/>
                </a:solidFill>
                <a:latin typeface="Quattrocento Sans"/>
                <a:ea typeface="Quattrocento Sans"/>
                <a:cs typeface="Quattrocento Sans"/>
                <a:sym typeface="Quattrocento Sans"/>
              </a:rPr>
              <a:t>100% verified layout stability with zero RenderFlex overflow errors across all 11 screens.</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75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200% Font Scale Stability: </a:t>
            </a:r>
            <a:r>
              <a:rPr b="0" i="0" lang="en-US" sz="1100">
                <a:solidFill>
                  <a:srgbClr val="334155"/>
                </a:solidFill>
                <a:latin typeface="Quattrocento Sans"/>
                <a:ea typeface="Quattrocento Sans"/>
                <a:cs typeface="Quattrocento Sans"/>
                <a:sym typeface="Quattrocento Sans"/>
              </a:rPr>
              <a:t>Layout structures remain stable and legible at up to 200% operating system text scaling.</a:t>
            </a:r>
            <a:endParaRPr b="1" i="0" sz="1500">
              <a:solidFill>
                <a:srgbClr val="0F172A"/>
              </a:solidFill>
              <a:latin typeface="Quattrocento Sans"/>
              <a:ea typeface="Quattrocento Sans"/>
              <a:cs typeface="Quattrocento Sans"/>
              <a:sym typeface="Quattrocen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1"/>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1"/>
          <p:cNvSpPr/>
          <p:nvPr/>
        </p:nvSpPr>
        <p:spPr>
          <a:xfrm>
            <a:off x="571500" y="381000"/>
            <a:ext cx="11049000" cy="1047900"/>
          </a:xfrm>
          <a:prstGeom prst="roundRect">
            <a:avLst>
              <a:gd fmla="val 0" name="adj"/>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2563EB"/>
                </a:solidFill>
                <a:latin typeface="Quattrocento Sans"/>
                <a:ea typeface="Quattrocento Sans"/>
                <a:cs typeface="Quattrocento Sans"/>
                <a:sym typeface="Quattrocento Sans"/>
              </a:rPr>
              <a:t>MATERIAL 3 COMPONENT MAPPING &amp; GUIDELINES ADHERENCE</a:t>
            </a:r>
            <a:endParaRPr b="1" sz="10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2600">
                <a:solidFill>
                  <a:srgbClr val="0F172A"/>
                </a:solidFill>
                <a:latin typeface="Quattrocento Sans"/>
                <a:ea typeface="Quattrocento Sans"/>
                <a:cs typeface="Quattrocento Sans"/>
                <a:sym typeface="Quattrocento Sans"/>
              </a:rPr>
              <a:t>Material 3 Component Mapping Matrix</a:t>
            </a:r>
            <a:endParaRPr b="1" sz="260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200">
                <a:solidFill>
                  <a:srgbClr val="475569"/>
                </a:solidFill>
                <a:latin typeface="Quattrocento Sans"/>
                <a:ea typeface="Quattrocento Sans"/>
                <a:cs typeface="Quattrocento Sans"/>
                <a:sym typeface="Quattrocento Sans"/>
              </a:rPr>
              <a:t>Exhaustive Implementation of Mandated Widgets Aligned with Official Flutter &amp; M3 Guidelines</a:t>
            </a:r>
            <a:endParaRPr b="0" sz="1200">
              <a:solidFill>
                <a:srgbClr val="475569"/>
              </a:solidFill>
              <a:latin typeface="Quattrocento Sans"/>
              <a:ea typeface="Quattrocento Sans"/>
              <a:cs typeface="Quattrocento Sans"/>
              <a:sym typeface="Quattrocento Sans"/>
            </a:endParaRPr>
          </a:p>
        </p:txBody>
      </p:sp>
      <p:sp>
        <p:nvSpPr>
          <p:cNvPr id="274" name="Google Shape;274;p11"/>
          <p:cNvSpPr/>
          <p:nvPr/>
        </p:nvSpPr>
        <p:spPr>
          <a:xfrm>
            <a:off x="600000" y="1799996"/>
            <a:ext cx="3500100" cy="4599900"/>
          </a:xfrm>
          <a:prstGeom prst="roundRect">
            <a:avLst>
              <a:gd fmla="val 1999" name="adj"/>
            </a:avLst>
          </a:prstGeom>
          <a:solidFill>
            <a:srgbClr val="FFFFFF"/>
          </a:solidFill>
          <a:ln cap="flat" cmpd="sng" w="12700">
            <a:solidFill>
              <a:srgbClr val="E2E8F0"/>
            </a:solidFill>
            <a:prstDash val="solid"/>
            <a:round/>
            <a:headEnd len="sm" w="sm" type="none"/>
            <a:tailEnd len="sm" w="sm" type="none"/>
          </a:ln>
        </p:spPr>
        <p:txBody>
          <a:bodyPr anchorCtr="0" anchor="t" bIns="190500" lIns="190500" spcFirstLastPara="1" rIns="190500" wrap="square" tIns="190500">
            <a:noAutofit/>
          </a:bodyPr>
          <a:lstStyle/>
          <a:p>
            <a:pPr indent="0" lvl="0" marL="0" rtl="0" algn="l">
              <a:spcBef>
                <a:spcPts val="0"/>
              </a:spcBef>
              <a:spcAft>
                <a:spcPts val="0"/>
              </a:spcAft>
              <a:buNone/>
            </a:pPr>
            <a:r>
              <a:rPr b="1" i="0" lang="en-US" sz="1500">
                <a:solidFill>
                  <a:srgbClr val="0F172A"/>
                </a:solidFill>
                <a:latin typeface="Quattrocento Sans"/>
                <a:ea typeface="Quattrocento Sans"/>
                <a:cs typeface="Quattrocento Sans"/>
                <a:sym typeface="Quattrocento Sans"/>
              </a:rPr>
              <a:t>Navigation &amp; Structure</a:t>
            </a:r>
            <a:endParaRPr b="1" i="0" sz="1500">
              <a:solidFill>
                <a:srgbClr val="0F172A"/>
              </a:solidFill>
              <a:latin typeface="Quattrocento Sans"/>
              <a:ea typeface="Quattrocento Sans"/>
              <a:cs typeface="Quattrocento Sans"/>
              <a:sym typeface="Quattrocento Sans"/>
            </a:endParaRPr>
          </a:p>
          <a:p>
            <a:pPr indent="-323850" lvl="0" marL="457200" rtl="0" algn="l">
              <a:spcBef>
                <a:spcPts val="10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AppBar: </a:t>
            </a:r>
            <a:r>
              <a:rPr b="0" i="0" lang="en-US" sz="1100">
                <a:solidFill>
                  <a:srgbClr val="334155"/>
                </a:solidFill>
                <a:latin typeface="Quattrocento Sans"/>
                <a:ea typeface="Quattrocento Sans"/>
                <a:cs typeface="Quattrocento Sans"/>
                <a:sym typeface="Quattrocento Sans"/>
              </a:rPr>
              <a:t>Centered title (centerTitle: true), surface elevation tint, profile action, and uniform back navigation (Screens 1–11).</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NavBar (NavigationBar): </a:t>
            </a:r>
            <a:r>
              <a:rPr b="0" i="0" lang="en-US" sz="1100">
                <a:solidFill>
                  <a:srgbClr val="334155"/>
                </a:solidFill>
                <a:latin typeface="Quattrocento Sans"/>
                <a:ea typeface="Quattrocento Sans"/>
                <a:cs typeface="Quattrocento Sans"/>
                <a:sym typeface="Quattrocento Sans"/>
              </a:rPr>
              <a:t>Bottom bar on Compact (&lt;640dp), 4 destinations, filled pill indicators, semantic labels, unbolded inactive state.</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NavigationRail: </a:t>
            </a:r>
            <a:r>
              <a:rPr b="0" i="0" lang="en-US" sz="1100">
                <a:solidFill>
                  <a:srgbClr val="334155"/>
                </a:solidFill>
                <a:latin typeface="Quattrocento Sans"/>
                <a:ea typeface="Quattrocento Sans"/>
                <a:cs typeface="Quattrocento Sans"/>
                <a:sym typeface="Quattrocento Sans"/>
              </a:rPr>
              <a:t>Left rail on Medium/Expanded (&gt;=640dp), brand logo header, extended labels on tablet, vertical divider, elevation 0.</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90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Tab (TabBar / TabBarView): </a:t>
            </a:r>
            <a:r>
              <a:rPr b="0" i="0" lang="en-US" sz="1100">
                <a:solidFill>
                  <a:srgbClr val="334155"/>
                </a:solidFill>
                <a:latin typeface="Quattrocento Sans"/>
                <a:ea typeface="Quattrocento Sans"/>
                <a:cs typeface="Quattrocento Sans"/>
                <a:sym typeface="Quattrocento Sans"/>
              </a:rPr>
              <a:t>Primary pill tabs with smooth animation and nested scroll syncing across project categories (All, Active, Review).</a:t>
            </a:r>
            <a:endParaRPr b="1" i="0" sz="1500">
              <a:solidFill>
                <a:srgbClr val="0F172A"/>
              </a:solidFill>
              <a:latin typeface="Quattrocento Sans"/>
              <a:ea typeface="Quattrocento Sans"/>
              <a:cs typeface="Quattrocento Sans"/>
              <a:sym typeface="Quattrocento Sans"/>
            </a:endParaRPr>
          </a:p>
        </p:txBody>
      </p:sp>
      <p:sp>
        <p:nvSpPr>
          <p:cNvPr id="275" name="Google Shape;275;p11"/>
          <p:cNvSpPr/>
          <p:nvPr/>
        </p:nvSpPr>
        <p:spPr>
          <a:xfrm>
            <a:off x="4300004" y="1799996"/>
            <a:ext cx="3500100" cy="4599900"/>
          </a:xfrm>
          <a:prstGeom prst="roundRect">
            <a:avLst>
              <a:gd fmla="val 1999" name="adj"/>
            </a:avLst>
          </a:prstGeom>
          <a:solidFill>
            <a:srgbClr val="FFFFFF"/>
          </a:solidFill>
          <a:ln cap="flat" cmpd="sng" w="12700">
            <a:solidFill>
              <a:srgbClr val="E2E8F0"/>
            </a:solidFill>
            <a:prstDash val="solid"/>
            <a:round/>
            <a:headEnd len="sm" w="sm" type="none"/>
            <a:tailEnd len="sm" w="sm" type="none"/>
          </a:ln>
        </p:spPr>
        <p:txBody>
          <a:bodyPr anchorCtr="0" anchor="t" bIns="190500" lIns="190500" spcFirstLastPara="1" rIns="190500" wrap="square" tIns="190500">
            <a:noAutofit/>
          </a:bodyPr>
          <a:lstStyle/>
          <a:p>
            <a:pPr indent="0" lvl="0" marL="0" rtl="0" algn="l">
              <a:spcBef>
                <a:spcPts val="0"/>
              </a:spcBef>
              <a:spcAft>
                <a:spcPts val="0"/>
              </a:spcAft>
              <a:buNone/>
            </a:pPr>
            <a:r>
              <a:rPr b="1" i="0" lang="en-US" sz="1500">
                <a:solidFill>
                  <a:srgbClr val="0F172A"/>
                </a:solidFill>
                <a:latin typeface="Quattrocento Sans"/>
                <a:ea typeface="Quattrocento Sans"/>
                <a:cs typeface="Quattrocento Sans"/>
                <a:sym typeface="Quattrocento Sans"/>
              </a:rPr>
              <a:t>Content, Cards &amp; Lists</a:t>
            </a:r>
            <a:endParaRPr b="1" i="0" sz="1500">
              <a:solidFill>
                <a:srgbClr val="0F172A"/>
              </a:solidFill>
              <a:latin typeface="Quattrocento Sans"/>
              <a:ea typeface="Quattrocento Sans"/>
              <a:cs typeface="Quattrocento Sans"/>
              <a:sym typeface="Quattrocento Sans"/>
            </a:endParaRPr>
          </a:p>
          <a:p>
            <a:pPr indent="-323850" lvl="0" marL="457200" rtl="0" algn="l">
              <a:spcBef>
                <a:spcPts val="10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Card: </a:t>
            </a:r>
            <a:r>
              <a:rPr b="0" i="0" lang="en-US" sz="1100">
                <a:solidFill>
                  <a:srgbClr val="334155"/>
                </a:solidFill>
                <a:latin typeface="Quattrocento Sans"/>
                <a:ea typeface="Quattrocento Sans"/>
                <a:cs typeface="Quattrocento Sans"/>
                <a:sym typeface="Quattrocento Sans"/>
              </a:rPr>
              <a:t>Outlined M3 cards with subtle 1dp border, 16dp radius, strictly zero nested ListViews to avoid double-scroll antipatterns.</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List (ListView / ListTile): </a:t>
            </a:r>
            <a:r>
              <a:rPr b="0" i="0" lang="en-US" sz="1100">
                <a:solidFill>
                  <a:srgbClr val="334155"/>
                </a:solidFill>
                <a:latin typeface="Quattrocento Sans"/>
                <a:ea typeface="Quattrocento Sans"/>
                <a:cs typeface="Quattrocento Sans"/>
                <a:sym typeface="Quattrocento Sans"/>
              </a:rPr>
              <a:t>Uniform 48dp leading avatars, two-line subtitles, and trailing status pills across backlog and audit logs.</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Carousel (PageView): </a:t>
            </a:r>
            <a:r>
              <a:rPr b="0" i="0" lang="en-US" sz="1100">
                <a:solidFill>
                  <a:srgbClr val="334155"/>
                </a:solidFill>
                <a:latin typeface="Quattrocento Sans"/>
                <a:ea typeface="Quattrocento Sans"/>
                <a:cs typeface="Quattrocento Sans"/>
                <a:sym typeface="Quattrocento Sans"/>
              </a:rPr>
              <a:t>Swipeable deliverable review cards in Screens 4/5, PageController physics, active dot indicators, page badge.</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90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Chips &amp; Badges: </a:t>
            </a:r>
            <a:r>
              <a:rPr b="0" i="0" lang="en-US" sz="1100">
                <a:solidFill>
                  <a:srgbClr val="334155"/>
                </a:solidFill>
                <a:latin typeface="Quattrocento Sans"/>
                <a:ea typeface="Quattrocento Sans"/>
                <a:cs typeface="Quattrocento Sans"/>
                <a:sym typeface="Quattrocento Sans"/>
              </a:rPr>
              <a:t>M3 ActionChip, ChoiceChip, and notification Badge for fast filtering, stage tagging, and unread alert counts.</a:t>
            </a:r>
            <a:endParaRPr b="1" i="0" sz="1500">
              <a:solidFill>
                <a:srgbClr val="0F172A"/>
              </a:solidFill>
              <a:latin typeface="Quattrocento Sans"/>
              <a:ea typeface="Quattrocento Sans"/>
              <a:cs typeface="Quattrocento Sans"/>
              <a:sym typeface="Quattrocento Sans"/>
            </a:endParaRPr>
          </a:p>
        </p:txBody>
      </p:sp>
      <p:sp>
        <p:nvSpPr>
          <p:cNvPr id="276" name="Google Shape;276;p11"/>
          <p:cNvSpPr/>
          <p:nvPr/>
        </p:nvSpPr>
        <p:spPr>
          <a:xfrm>
            <a:off x="8000000" y="1799996"/>
            <a:ext cx="3500100" cy="4599900"/>
          </a:xfrm>
          <a:prstGeom prst="roundRect">
            <a:avLst>
              <a:gd fmla="val 1999" name="adj"/>
            </a:avLst>
          </a:prstGeom>
          <a:solidFill>
            <a:srgbClr val="FFFFFF"/>
          </a:solidFill>
          <a:ln cap="flat" cmpd="sng" w="12700">
            <a:solidFill>
              <a:srgbClr val="E2E8F0"/>
            </a:solidFill>
            <a:prstDash val="solid"/>
            <a:round/>
            <a:headEnd len="sm" w="sm" type="none"/>
            <a:tailEnd len="sm" w="sm" type="none"/>
          </a:ln>
        </p:spPr>
        <p:txBody>
          <a:bodyPr anchorCtr="0" anchor="t" bIns="190500" lIns="190500" spcFirstLastPara="1" rIns="190500" wrap="square" tIns="190500">
            <a:noAutofit/>
          </a:bodyPr>
          <a:lstStyle/>
          <a:p>
            <a:pPr indent="0" lvl="0" marL="0" rtl="0" algn="l">
              <a:spcBef>
                <a:spcPts val="0"/>
              </a:spcBef>
              <a:spcAft>
                <a:spcPts val="0"/>
              </a:spcAft>
              <a:buNone/>
            </a:pPr>
            <a:r>
              <a:rPr b="1" i="0" lang="en-US" sz="1500">
                <a:solidFill>
                  <a:srgbClr val="0F172A"/>
                </a:solidFill>
                <a:latin typeface="Quattrocento Sans"/>
                <a:ea typeface="Quattrocento Sans"/>
                <a:cs typeface="Quattrocento Sans"/>
                <a:sym typeface="Quattrocento Sans"/>
              </a:rPr>
              <a:t>Input, Dialogs &amp; Actions</a:t>
            </a:r>
            <a:endParaRPr b="1" i="0" sz="1500">
              <a:solidFill>
                <a:srgbClr val="0F172A"/>
              </a:solidFill>
              <a:latin typeface="Quattrocento Sans"/>
              <a:ea typeface="Quattrocento Sans"/>
              <a:cs typeface="Quattrocento Sans"/>
              <a:sym typeface="Quattrocento Sans"/>
            </a:endParaRPr>
          </a:p>
          <a:p>
            <a:pPr indent="-323850" lvl="0" marL="457200" rtl="0" algn="l">
              <a:spcBef>
                <a:spcPts val="10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Form &amp; TextFields: </a:t>
            </a:r>
            <a:r>
              <a:rPr b="0" i="0" lang="en-US" sz="1100">
                <a:solidFill>
                  <a:srgbClr val="334155"/>
                </a:solidFill>
                <a:latin typeface="Quattrocento Sans"/>
                <a:ea typeface="Quattrocento Sans"/>
                <a:cs typeface="Quattrocento Sans"/>
                <a:sym typeface="Quattrocento Sans"/>
              </a:rPr>
              <a:t>M3 Form with GlobalKey validation, RFC regex email validator, password obscure toggle, and 48dp touch targets.</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AlertDialog: </a:t>
            </a:r>
            <a:r>
              <a:rPr b="0" i="0" lang="en-US" sz="1100">
                <a:solidFill>
                  <a:srgbClr val="334155"/>
                </a:solidFill>
                <a:latin typeface="Quattrocento Sans"/>
                <a:ea typeface="Quattrocento Sans"/>
                <a:cs typeface="Quattrocento Sans"/>
                <a:sym typeface="Quattrocento Sans"/>
              </a:rPr>
              <a:t>Neutral title, two-step confirmation for commercial approvals ($12,500 AUD liability), equal-weight action buttons.</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FAB &amp; SnackBar: </a:t>
            </a:r>
            <a:r>
              <a:rPr b="0" i="0" lang="en-US" sz="1100">
                <a:solidFill>
                  <a:srgbClr val="334155"/>
                </a:solidFill>
                <a:latin typeface="Quattrocento Sans"/>
                <a:ea typeface="Quattrocento Sans"/>
                <a:cs typeface="Quattrocento Sans"/>
                <a:sym typeface="Quattrocento Sans"/>
              </a:rPr>
              <a:t>Extended FAB for rapid feedback; non-intrusive floating SnackBars with contextual action triggers ('Undo Discard').</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90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Progress Indicators: </a:t>
            </a:r>
            <a:r>
              <a:rPr b="0" i="0" lang="en-US" sz="1100">
                <a:solidFill>
                  <a:srgbClr val="334155"/>
                </a:solidFill>
                <a:latin typeface="Quattrocento Sans"/>
                <a:ea typeface="Quattrocento Sans"/>
                <a:cs typeface="Quattrocento Sans"/>
                <a:sym typeface="Quattrocento Sans"/>
              </a:rPr>
              <a:t>LinearProgressIndicator for milestone budget tracking and CircularProgressIndicator for SDLC stage rings.</a:t>
            </a:r>
            <a:endParaRPr b="1" i="0" sz="1500">
              <a:solidFill>
                <a:srgbClr val="0F172A"/>
              </a:solidFill>
              <a:latin typeface="Quattrocento Sans"/>
              <a:ea typeface="Quattrocento Sans"/>
              <a:cs typeface="Quattrocento Sans"/>
              <a:sym typeface="Quattrocento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2"/>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2"/>
          <p:cNvSpPr/>
          <p:nvPr/>
        </p:nvSpPr>
        <p:spPr>
          <a:xfrm>
            <a:off x="571500" y="381000"/>
            <a:ext cx="11049000" cy="1047900"/>
          </a:xfrm>
          <a:prstGeom prst="roundRect">
            <a:avLst>
              <a:gd fmla="val 0" name="adj"/>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2563EB"/>
                </a:solidFill>
                <a:latin typeface="Quattrocento Sans"/>
                <a:ea typeface="Quattrocento Sans"/>
                <a:cs typeface="Quattrocento Sans"/>
                <a:sym typeface="Quattrocento Sans"/>
              </a:rPr>
              <a:t>MOBILE USABILITY HEURISTIC EVALUATION — PART 1</a:t>
            </a:r>
            <a:endParaRPr b="1" sz="10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2600">
                <a:solidFill>
                  <a:srgbClr val="0F172A"/>
                </a:solidFill>
                <a:latin typeface="Quattrocento Sans"/>
                <a:ea typeface="Quattrocento Sans"/>
                <a:cs typeface="Quattrocento Sans"/>
                <a:sym typeface="Quattrocento Sans"/>
              </a:rPr>
              <a:t>Heuristics: Micro-Usage &amp; Glanceability</a:t>
            </a:r>
            <a:endParaRPr b="1" sz="100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200">
                <a:solidFill>
                  <a:srgbClr val="475569"/>
                </a:solidFill>
                <a:latin typeface="Quattrocento Sans"/>
                <a:ea typeface="Quattrocento Sans"/>
                <a:cs typeface="Quattrocento Sans"/>
                <a:sym typeface="Quattrocento Sans"/>
              </a:rPr>
              <a:t>Designing for High-Mobility Environments, Low Cognitive Load &amp; Instant Comprehension</a:t>
            </a:r>
            <a:endParaRPr b="1" sz="1000">
              <a:solidFill>
                <a:srgbClr val="2563EB"/>
              </a:solidFill>
              <a:latin typeface="Quattrocento Sans"/>
              <a:ea typeface="Quattrocento Sans"/>
              <a:cs typeface="Quattrocento Sans"/>
              <a:sym typeface="Quattrocento Sans"/>
            </a:endParaRPr>
          </a:p>
        </p:txBody>
      </p:sp>
      <p:grpSp>
        <p:nvGrpSpPr>
          <p:cNvPr id="283" name="Google Shape;283;p12"/>
          <p:cNvGrpSpPr/>
          <p:nvPr/>
        </p:nvGrpSpPr>
        <p:grpSpPr>
          <a:xfrm>
            <a:off x="571500" y="1524000"/>
            <a:ext cx="5334000" cy="342900"/>
            <a:chOff x="0" y="0"/>
            <a:chExt cx="5334000" cy="342900"/>
          </a:xfrm>
        </p:grpSpPr>
        <p:sp>
          <p:nvSpPr>
            <p:cNvPr id="284" name="Google Shape;284;p12"/>
            <p:cNvSpPr/>
            <p:nvPr/>
          </p:nvSpPr>
          <p:spPr>
            <a:xfrm>
              <a:off x="0" y="0"/>
              <a:ext cx="5334000" cy="342900"/>
            </a:xfrm>
            <a:prstGeom prst="roundRect">
              <a:avLst>
                <a:gd fmla="val 16666"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12"/>
            <p:cNvSpPr txBox="1"/>
            <p:nvPr/>
          </p:nvSpPr>
          <p:spPr>
            <a:xfrm>
              <a:off x="114300" y="0"/>
              <a:ext cx="51054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1E40AF"/>
                  </a:solidFill>
                  <a:latin typeface="Quattrocento Sans"/>
                  <a:ea typeface="Quattrocento Sans"/>
                  <a:cs typeface="Quattrocento Sans"/>
                  <a:sym typeface="Quattrocento Sans"/>
                </a:rPr>
                <a:t>01 / QUICK &amp; EASY INTERACTION (MICRO-USAGE)</a:t>
              </a:r>
              <a:endParaRPr b="1" sz="1100">
                <a:solidFill>
                  <a:srgbClr val="1E40AF"/>
                </a:solidFill>
                <a:latin typeface="Quattrocento Sans"/>
                <a:ea typeface="Quattrocento Sans"/>
                <a:cs typeface="Quattrocento Sans"/>
                <a:sym typeface="Quattrocento Sans"/>
              </a:endParaRPr>
            </a:p>
          </p:txBody>
        </p:sp>
      </p:grpSp>
      <p:grpSp>
        <p:nvGrpSpPr>
          <p:cNvPr id="286" name="Google Shape;286;p12"/>
          <p:cNvGrpSpPr/>
          <p:nvPr/>
        </p:nvGrpSpPr>
        <p:grpSpPr>
          <a:xfrm>
            <a:off x="571500" y="2000250"/>
            <a:ext cx="2571900" cy="2047800"/>
            <a:chOff x="0" y="0"/>
            <a:chExt cx="2571900" cy="2047800"/>
          </a:xfrm>
        </p:grpSpPr>
        <p:sp>
          <p:nvSpPr>
            <p:cNvPr id="287" name="Google Shape;287;p12"/>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12"/>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9" name="Google Shape;289;p12"/>
            <p:cNvSpPr txBox="1"/>
            <p:nvPr/>
          </p:nvSpPr>
          <p:spPr>
            <a:xfrm>
              <a:off x="152400" y="1786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timer</a:t>
              </a:r>
              <a:endParaRPr sz="1800">
                <a:solidFill>
                  <a:srgbClr val="2563EB"/>
                </a:solidFill>
                <a:latin typeface="Material Icons"/>
                <a:ea typeface="Material Icons"/>
                <a:cs typeface="Material Icons"/>
                <a:sym typeface="Material Icons"/>
              </a:endParaRPr>
            </a:p>
          </p:txBody>
        </p:sp>
        <p:sp>
          <p:nvSpPr>
            <p:cNvPr id="290" name="Google Shape;290;p12"/>
            <p:cNvSpPr txBox="1"/>
            <p:nvPr/>
          </p:nvSpPr>
          <p:spPr>
            <a:xfrm>
              <a:off x="152400" y="59055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10 to 60s Sessions</a:t>
              </a:r>
              <a:endParaRPr b="1" sz="120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50">
                  <a:solidFill>
                    <a:srgbClr val="475569"/>
                  </a:solidFill>
                  <a:latin typeface="Quattrocento Sans"/>
                  <a:ea typeface="Quattrocento Sans"/>
                  <a:cs typeface="Quattrocento Sans"/>
                  <a:sym typeface="Quattrocento Sans"/>
                </a:rPr>
                <a:t>Architecture engineered for rapid in-and-out tasks during busy warehouse checks.</a:t>
              </a:r>
              <a:endParaRPr b="0" sz="1050">
                <a:solidFill>
                  <a:srgbClr val="475569"/>
                </a:solidFill>
                <a:latin typeface="Quattrocento Sans"/>
                <a:ea typeface="Quattrocento Sans"/>
                <a:cs typeface="Quattrocento Sans"/>
                <a:sym typeface="Quattrocento Sans"/>
              </a:endParaRPr>
            </a:p>
          </p:txBody>
        </p:sp>
      </p:grpSp>
      <p:grpSp>
        <p:nvGrpSpPr>
          <p:cNvPr id="291" name="Google Shape;291;p12"/>
          <p:cNvGrpSpPr/>
          <p:nvPr/>
        </p:nvGrpSpPr>
        <p:grpSpPr>
          <a:xfrm>
            <a:off x="3333750" y="2000250"/>
            <a:ext cx="2571900" cy="2047800"/>
            <a:chOff x="0" y="0"/>
            <a:chExt cx="2571900" cy="2047800"/>
          </a:xfrm>
        </p:grpSpPr>
        <p:sp>
          <p:nvSpPr>
            <p:cNvPr id="292" name="Google Shape;292;p12"/>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3" name="Google Shape;293;p12"/>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4" name="Google Shape;294;p12"/>
            <p:cNvSpPr txBox="1"/>
            <p:nvPr/>
          </p:nvSpPr>
          <p:spPr>
            <a:xfrm>
              <a:off x="152400" y="1786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touch_app</a:t>
              </a:r>
              <a:endParaRPr sz="1800">
                <a:solidFill>
                  <a:srgbClr val="2563EB"/>
                </a:solidFill>
                <a:latin typeface="Material Icons"/>
                <a:ea typeface="Material Icons"/>
                <a:cs typeface="Material Icons"/>
                <a:sym typeface="Material Icons"/>
              </a:endParaRPr>
            </a:p>
          </p:txBody>
        </p:sp>
        <p:sp>
          <p:nvSpPr>
            <p:cNvPr id="295" name="Google Shape;295;p12"/>
            <p:cNvSpPr txBox="1"/>
            <p:nvPr/>
          </p:nvSpPr>
          <p:spPr>
            <a:xfrm>
              <a:off x="152400" y="59055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One-Tap Primary Actions</a:t>
              </a:r>
              <a:endParaRPr b="1" sz="120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50">
                  <a:solidFill>
                    <a:srgbClr val="475569"/>
                  </a:solidFill>
                  <a:latin typeface="Quattrocento Sans"/>
                  <a:ea typeface="Quattrocento Sans"/>
                  <a:cs typeface="Quattrocento Sans"/>
                  <a:sym typeface="Quattrocento Sans"/>
                </a:rPr>
                <a:t>Direct navigation to pending deliverables via high-visibility dashboard callout banners.</a:t>
              </a:r>
              <a:endParaRPr b="0" sz="1050">
                <a:solidFill>
                  <a:srgbClr val="475569"/>
                </a:solidFill>
                <a:latin typeface="Quattrocento Sans"/>
                <a:ea typeface="Quattrocento Sans"/>
                <a:cs typeface="Quattrocento Sans"/>
                <a:sym typeface="Quattrocento Sans"/>
              </a:endParaRPr>
            </a:p>
          </p:txBody>
        </p:sp>
      </p:grpSp>
      <p:grpSp>
        <p:nvGrpSpPr>
          <p:cNvPr id="296" name="Google Shape;296;p12"/>
          <p:cNvGrpSpPr/>
          <p:nvPr/>
        </p:nvGrpSpPr>
        <p:grpSpPr>
          <a:xfrm>
            <a:off x="571500" y="4191000"/>
            <a:ext cx="2571900" cy="2047800"/>
            <a:chOff x="0" y="0"/>
            <a:chExt cx="2571900" cy="2047800"/>
          </a:xfrm>
        </p:grpSpPr>
        <p:sp>
          <p:nvSpPr>
            <p:cNvPr id="297" name="Google Shape;297;p12"/>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8" name="Google Shape;298;p12"/>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12"/>
            <p:cNvSpPr txBox="1"/>
            <p:nvPr/>
          </p:nvSpPr>
          <p:spPr>
            <a:xfrm>
              <a:off x="152400" y="1786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visibility</a:t>
              </a:r>
              <a:endParaRPr sz="1800">
                <a:solidFill>
                  <a:srgbClr val="2563EB"/>
                </a:solidFill>
                <a:latin typeface="Material Icons"/>
                <a:ea typeface="Material Icons"/>
                <a:cs typeface="Material Icons"/>
                <a:sym typeface="Material Icons"/>
              </a:endParaRPr>
            </a:p>
          </p:txBody>
        </p:sp>
        <p:sp>
          <p:nvSpPr>
            <p:cNvPr id="300" name="Google Shape;300;p12"/>
            <p:cNvSpPr txBox="1"/>
            <p:nvPr/>
          </p:nvSpPr>
          <p:spPr>
            <a:xfrm>
              <a:off x="152400" y="59055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Glanceable Project Status</a:t>
              </a:r>
              <a:endParaRPr b="1" sz="120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50">
                  <a:solidFill>
                    <a:srgbClr val="475569"/>
                  </a:solidFill>
                  <a:latin typeface="Quattrocento Sans"/>
                  <a:ea typeface="Quattrocento Sans"/>
                  <a:cs typeface="Quattrocento Sans"/>
                  <a:sym typeface="Quattrocento Sans"/>
                </a:rPr>
                <a:t>High-level health conveyed immediately without scrolling or opening nested submenus.</a:t>
              </a:r>
              <a:endParaRPr b="0" sz="1050">
                <a:solidFill>
                  <a:srgbClr val="475569"/>
                </a:solidFill>
                <a:latin typeface="Quattrocento Sans"/>
                <a:ea typeface="Quattrocento Sans"/>
                <a:cs typeface="Quattrocento Sans"/>
                <a:sym typeface="Quattrocento Sans"/>
              </a:endParaRPr>
            </a:p>
          </p:txBody>
        </p:sp>
      </p:grpSp>
      <p:grpSp>
        <p:nvGrpSpPr>
          <p:cNvPr id="301" name="Google Shape;301;p12"/>
          <p:cNvGrpSpPr/>
          <p:nvPr/>
        </p:nvGrpSpPr>
        <p:grpSpPr>
          <a:xfrm>
            <a:off x="3333750" y="4191000"/>
            <a:ext cx="2571900" cy="2047800"/>
            <a:chOff x="0" y="0"/>
            <a:chExt cx="2571900" cy="2047800"/>
          </a:xfrm>
        </p:grpSpPr>
        <p:sp>
          <p:nvSpPr>
            <p:cNvPr id="302" name="Google Shape;302;p12"/>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3" name="Google Shape;303;p12"/>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4" name="Google Shape;304;p12"/>
            <p:cNvSpPr txBox="1"/>
            <p:nvPr/>
          </p:nvSpPr>
          <p:spPr>
            <a:xfrm>
              <a:off x="152400" y="1786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verified_user</a:t>
              </a:r>
              <a:endParaRPr sz="1800">
                <a:solidFill>
                  <a:srgbClr val="2563EB"/>
                </a:solidFill>
                <a:latin typeface="Material Icons"/>
                <a:ea typeface="Material Icons"/>
                <a:cs typeface="Material Icons"/>
                <a:sym typeface="Material Icons"/>
              </a:endParaRPr>
            </a:p>
          </p:txBody>
        </p:sp>
        <p:sp>
          <p:nvSpPr>
            <p:cNvPr id="305" name="Google Shape;305;p12"/>
            <p:cNvSpPr txBox="1"/>
            <p:nvPr/>
          </p:nvSpPr>
          <p:spPr>
            <a:xfrm>
              <a:off x="152400" y="59055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Zero Intrusive Onboarding</a:t>
              </a:r>
              <a:endParaRPr b="1" sz="120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50">
                  <a:solidFill>
                    <a:srgbClr val="475569"/>
                  </a:solidFill>
                  <a:latin typeface="Quattrocento Sans"/>
                  <a:ea typeface="Quattrocento Sans"/>
                  <a:cs typeface="Quattrocento Sans"/>
                  <a:sym typeface="Quattrocento Sans"/>
                </a:rPr>
                <a:t>Intuitive visual hierarchy eliminates the need for mandatory multi-step tutorials.</a:t>
              </a:r>
              <a:endParaRPr b="0" sz="1050">
                <a:solidFill>
                  <a:srgbClr val="475569"/>
                </a:solidFill>
                <a:latin typeface="Quattrocento Sans"/>
                <a:ea typeface="Quattrocento Sans"/>
                <a:cs typeface="Quattrocento Sans"/>
                <a:sym typeface="Quattrocento Sans"/>
              </a:endParaRPr>
            </a:p>
          </p:txBody>
        </p:sp>
      </p:grpSp>
      <p:grpSp>
        <p:nvGrpSpPr>
          <p:cNvPr id="306" name="Google Shape;306;p12"/>
          <p:cNvGrpSpPr/>
          <p:nvPr/>
        </p:nvGrpSpPr>
        <p:grpSpPr>
          <a:xfrm>
            <a:off x="6286500" y="1524000"/>
            <a:ext cx="5334000" cy="342900"/>
            <a:chOff x="0" y="0"/>
            <a:chExt cx="5334000" cy="342900"/>
          </a:xfrm>
        </p:grpSpPr>
        <p:sp>
          <p:nvSpPr>
            <p:cNvPr id="307" name="Google Shape;307;p12"/>
            <p:cNvSpPr/>
            <p:nvPr/>
          </p:nvSpPr>
          <p:spPr>
            <a:xfrm>
              <a:off x="0" y="0"/>
              <a:ext cx="5334000" cy="342900"/>
            </a:xfrm>
            <a:prstGeom prst="roundRect">
              <a:avLst>
                <a:gd fmla="val 16666"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8" name="Google Shape;308;p12"/>
            <p:cNvSpPr txBox="1"/>
            <p:nvPr/>
          </p:nvSpPr>
          <p:spPr>
            <a:xfrm>
              <a:off x="114300" y="0"/>
              <a:ext cx="51054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1E40AF"/>
                  </a:solidFill>
                  <a:latin typeface="Quattrocento Sans"/>
                  <a:ea typeface="Quattrocento Sans"/>
                  <a:cs typeface="Quattrocento Sans"/>
                  <a:sym typeface="Quattrocento Sans"/>
                </a:rPr>
                <a:t>02 / READABILITY &amp; COGNITIVE LOAD REDUCTION</a:t>
              </a:r>
              <a:endParaRPr b="1" sz="1100">
                <a:solidFill>
                  <a:srgbClr val="1E40AF"/>
                </a:solidFill>
                <a:latin typeface="Quattrocento Sans"/>
                <a:ea typeface="Quattrocento Sans"/>
                <a:cs typeface="Quattrocento Sans"/>
                <a:sym typeface="Quattrocento Sans"/>
              </a:endParaRPr>
            </a:p>
          </p:txBody>
        </p:sp>
      </p:grpSp>
      <p:grpSp>
        <p:nvGrpSpPr>
          <p:cNvPr id="309" name="Google Shape;309;p12"/>
          <p:cNvGrpSpPr/>
          <p:nvPr/>
        </p:nvGrpSpPr>
        <p:grpSpPr>
          <a:xfrm>
            <a:off x="6286500" y="2000250"/>
            <a:ext cx="2571900" cy="2047800"/>
            <a:chOff x="0" y="0"/>
            <a:chExt cx="2571900" cy="2047800"/>
          </a:xfrm>
        </p:grpSpPr>
        <p:sp>
          <p:nvSpPr>
            <p:cNvPr id="310" name="Google Shape;310;p12"/>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12"/>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12"/>
            <p:cNvSpPr txBox="1"/>
            <p:nvPr/>
          </p:nvSpPr>
          <p:spPr>
            <a:xfrm>
              <a:off x="152400" y="1786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translate</a:t>
              </a:r>
              <a:endParaRPr sz="1800">
                <a:solidFill>
                  <a:srgbClr val="2563EB"/>
                </a:solidFill>
                <a:latin typeface="Material Icons"/>
                <a:ea typeface="Material Icons"/>
                <a:cs typeface="Material Icons"/>
                <a:sym typeface="Material Icons"/>
              </a:endParaRPr>
            </a:p>
          </p:txBody>
        </p:sp>
        <p:sp>
          <p:nvSpPr>
            <p:cNvPr id="313" name="Google Shape;313;p12"/>
            <p:cNvSpPr txBox="1"/>
            <p:nvPr/>
          </p:nvSpPr>
          <p:spPr>
            <a:xfrm>
              <a:off x="152400" y="59055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Plain-Language Translation</a:t>
              </a:r>
              <a:endParaRPr b="1" sz="120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50">
                  <a:solidFill>
                    <a:srgbClr val="475569"/>
                  </a:solidFill>
                  <a:latin typeface="Quattrocento Sans"/>
                  <a:ea typeface="Quattrocento Sans"/>
                  <a:cs typeface="Quattrocento Sans"/>
                  <a:sym typeface="Quattrocento Sans"/>
                </a:rPr>
                <a:t>Internal developer jargon (e.g. Git hashes, staging builds) is translated into commercial milestones.</a:t>
              </a:r>
              <a:endParaRPr b="0" sz="1050">
                <a:solidFill>
                  <a:srgbClr val="475569"/>
                </a:solidFill>
                <a:latin typeface="Quattrocento Sans"/>
                <a:ea typeface="Quattrocento Sans"/>
                <a:cs typeface="Quattrocento Sans"/>
                <a:sym typeface="Quattrocento Sans"/>
              </a:endParaRPr>
            </a:p>
          </p:txBody>
        </p:sp>
      </p:grpSp>
      <p:grpSp>
        <p:nvGrpSpPr>
          <p:cNvPr id="314" name="Google Shape;314;p12"/>
          <p:cNvGrpSpPr/>
          <p:nvPr/>
        </p:nvGrpSpPr>
        <p:grpSpPr>
          <a:xfrm>
            <a:off x="9048750" y="2000250"/>
            <a:ext cx="2571900" cy="2047800"/>
            <a:chOff x="0" y="0"/>
            <a:chExt cx="2571900" cy="2047800"/>
          </a:xfrm>
        </p:grpSpPr>
        <p:sp>
          <p:nvSpPr>
            <p:cNvPr id="315" name="Google Shape;315;p12"/>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p12"/>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7" name="Google Shape;317;p12"/>
            <p:cNvSpPr txBox="1"/>
            <p:nvPr/>
          </p:nvSpPr>
          <p:spPr>
            <a:xfrm>
              <a:off x="152400" y="1786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psychology</a:t>
              </a:r>
              <a:endParaRPr sz="1800">
                <a:solidFill>
                  <a:srgbClr val="2563EB"/>
                </a:solidFill>
                <a:latin typeface="Material Icons"/>
                <a:ea typeface="Material Icons"/>
                <a:cs typeface="Material Icons"/>
                <a:sym typeface="Material Icons"/>
              </a:endParaRPr>
            </a:p>
          </p:txBody>
        </p:sp>
        <p:sp>
          <p:nvSpPr>
            <p:cNvPr id="318" name="Google Shape;318;p12"/>
            <p:cNvSpPr txBox="1"/>
            <p:nvPr/>
          </p:nvSpPr>
          <p:spPr>
            <a:xfrm>
              <a:off x="152400" y="59055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Extraneous Load Elimination</a:t>
              </a:r>
              <a:endParaRPr b="1" sz="120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50">
                  <a:solidFill>
                    <a:srgbClr val="475569"/>
                  </a:solidFill>
                  <a:latin typeface="Quattrocento Sans"/>
                  <a:ea typeface="Quattrocento Sans"/>
                  <a:cs typeface="Quattrocento Sans"/>
                  <a:sym typeface="Quattrocento Sans"/>
                </a:rPr>
                <a:t>Shields users from developer churn under high cognitive load (Ilany-Tzur &amp; Fink, 2023).</a:t>
              </a:r>
              <a:endParaRPr b="0" sz="1050">
                <a:solidFill>
                  <a:srgbClr val="475569"/>
                </a:solidFill>
                <a:latin typeface="Quattrocento Sans"/>
                <a:ea typeface="Quattrocento Sans"/>
                <a:cs typeface="Quattrocento Sans"/>
                <a:sym typeface="Quattrocento Sans"/>
              </a:endParaRPr>
            </a:p>
          </p:txBody>
        </p:sp>
      </p:grpSp>
      <p:grpSp>
        <p:nvGrpSpPr>
          <p:cNvPr id="319" name="Google Shape;319;p12"/>
          <p:cNvGrpSpPr/>
          <p:nvPr/>
        </p:nvGrpSpPr>
        <p:grpSpPr>
          <a:xfrm>
            <a:off x="6286500" y="4191000"/>
            <a:ext cx="2571900" cy="2047800"/>
            <a:chOff x="0" y="0"/>
            <a:chExt cx="2571900" cy="2047800"/>
          </a:xfrm>
        </p:grpSpPr>
        <p:sp>
          <p:nvSpPr>
            <p:cNvPr id="320" name="Google Shape;320;p12"/>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12"/>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2" name="Google Shape;322;p12"/>
            <p:cNvSpPr txBox="1"/>
            <p:nvPr/>
          </p:nvSpPr>
          <p:spPr>
            <a:xfrm>
              <a:off x="152400" y="1786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speed</a:t>
              </a:r>
              <a:endParaRPr sz="1800">
                <a:solidFill>
                  <a:srgbClr val="2563EB"/>
                </a:solidFill>
                <a:latin typeface="Material Icons"/>
                <a:ea typeface="Material Icons"/>
                <a:cs typeface="Material Icons"/>
                <a:sym typeface="Material Icons"/>
              </a:endParaRPr>
            </a:p>
          </p:txBody>
        </p:sp>
        <p:sp>
          <p:nvSpPr>
            <p:cNvPr id="323" name="Google Shape;323;p12"/>
            <p:cNvSpPr txBox="1"/>
            <p:nvPr/>
          </p:nvSpPr>
          <p:spPr>
            <a:xfrm>
              <a:off x="152400" y="59055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Visual Metaphor Acceleration</a:t>
              </a:r>
              <a:endParaRPr b="1" sz="120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50">
                  <a:solidFill>
                    <a:srgbClr val="475569"/>
                  </a:solidFill>
                  <a:latin typeface="Quattrocento Sans"/>
                  <a:ea typeface="Quattrocento Sans"/>
                  <a:cs typeface="Quattrocento Sans"/>
                  <a:sym typeface="Quattrocento Sans"/>
                </a:rPr>
                <a:t>Traffic-light icons and progress rings accelerate novice recognition (Gatsou et al., 2011).</a:t>
              </a:r>
              <a:endParaRPr b="0" sz="1050">
                <a:solidFill>
                  <a:srgbClr val="475569"/>
                </a:solidFill>
                <a:latin typeface="Quattrocento Sans"/>
                <a:ea typeface="Quattrocento Sans"/>
                <a:cs typeface="Quattrocento Sans"/>
                <a:sym typeface="Quattrocento Sans"/>
              </a:endParaRPr>
            </a:p>
          </p:txBody>
        </p:sp>
      </p:grpSp>
      <p:grpSp>
        <p:nvGrpSpPr>
          <p:cNvPr id="324" name="Google Shape;324;p12"/>
          <p:cNvGrpSpPr/>
          <p:nvPr/>
        </p:nvGrpSpPr>
        <p:grpSpPr>
          <a:xfrm>
            <a:off x="9048750" y="4191000"/>
            <a:ext cx="2571900" cy="2047800"/>
            <a:chOff x="0" y="0"/>
            <a:chExt cx="2571900" cy="2047800"/>
          </a:xfrm>
        </p:grpSpPr>
        <p:sp>
          <p:nvSpPr>
            <p:cNvPr id="325" name="Google Shape;325;p12"/>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6" name="Google Shape;326;p12"/>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7" name="Google Shape;327;p12"/>
            <p:cNvSpPr txBox="1"/>
            <p:nvPr/>
          </p:nvSpPr>
          <p:spPr>
            <a:xfrm>
              <a:off x="152400" y="1786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layers</a:t>
              </a:r>
              <a:endParaRPr sz="1800">
                <a:solidFill>
                  <a:srgbClr val="2563EB"/>
                </a:solidFill>
                <a:latin typeface="Material Icons"/>
                <a:ea typeface="Material Icons"/>
                <a:cs typeface="Material Icons"/>
                <a:sym typeface="Material Icons"/>
              </a:endParaRPr>
            </a:p>
          </p:txBody>
        </p:sp>
        <p:sp>
          <p:nvSpPr>
            <p:cNvPr id="328" name="Google Shape;328;p12"/>
            <p:cNvSpPr txBox="1"/>
            <p:nvPr/>
          </p:nvSpPr>
          <p:spPr>
            <a:xfrm>
              <a:off x="152400" y="59055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Progressive Disclosure</a:t>
              </a:r>
              <a:endParaRPr b="1" sz="120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50">
                  <a:solidFill>
                    <a:srgbClr val="475569"/>
                  </a:solidFill>
                  <a:latin typeface="Quattrocento Sans"/>
                  <a:ea typeface="Quattrocento Sans"/>
                  <a:cs typeface="Quattrocento Sans"/>
                  <a:sym typeface="Quattrocento Sans"/>
                </a:rPr>
                <a:t>Overview presented first; detailed developer notes accessible on demand.</a:t>
              </a:r>
              <a:endParaRPr b="0" sz="1050">
                <a:solidFill>
                  <a:srgbClr val="475569"/>
                </a:solidFill>
                <a:latin typeface="Quattrocento Sans"/>
                <a:ea typeface="Quattrocento Sans"/>
                <a:cs typeface="Quattrocento Sans"/>
                <a:sym typeface="Quattrocento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3"/>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3"/>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MOBILE USABILITY HEURISTIC EVALUATION — PART 2</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Heuristics: Error Prevention &amp; Consistency</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Two-Step Commercial Confirmations, Uniform Naming &amp; Outdoor WCAG AA Contrast</a:t>
            </a:r>
            <a:endParaRPr/>
          </a:p>
        </p:txBody>
      </p:sp>
      <p:grpSp>
        <p:nvGrpSpPr>
          <p:cNvPr id="335" name="Google Shape;335;p13"/>
          <p:cNvGrpSpPr/>
          <p:nvPr/>
        </p:nvGrpSpPr>
        <p:grpSpPr>
          <a:xfrm>
            <a:off x="571500" y="1524000"/>
            <a:ext cx="5334000" cy="342900"/>
            <a:chOff x="0" y="0"/>
            <a:chExt cx="5334000" cy="342900"/>
          </a:xfrm>
        </p:grpSpPr>
        <p:sp>
          <p:nvSpPr>
            <p:cNvPr id="336" name="Google Shape;336;p13"/>
            <p:cNvSpPr/>
            <p:nvPr/>
          </p:nvSpPr>
          <p:spPr>
            <a:xfrm>
              <a:off x="0" y="0"/>
              <a:ext cx="5334000" cy="342900"/>
            </a:xfrm>
            <a:prstGeom prst="roundRect">
              <a:avLst>
                <a:gd fmla="val 16666"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37" name="Google Shape;337;p13"/>
            <p:cNvGrpSpPr/>
            <p:nvPr/>
          </p:nvGrpSpPr>
          <p:grpSpPr>
            <a:xfrm>
              <a:off x="114300" y="0"/>
              <a:ext cx="5105400" cy="342900"/>
              <a:chOff x="0" y="0"/>
              <a:chExt cx="5105400" cy="342900"/>
            </a:xfrm>
          </p:grpSpPr>
          <p:sp>
            <p:nvSpPr>
              <p:cNvPr id="338" name="Google Shape;338;p13"/>
              <p:cNvSpPr/>
              <p:nvPr/>
            </p:nvSpPr>
            <p:spPr>
              <a:xfrm>
                <a:off x="0" y="0"/>
                <a:ext cx="51054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9" name="Google Shape;339;p13"/>
              <p:cNvSpPr txBox="1"/>
              <p:nvPr/>
            </p:nvSpPr>
            <p:spPr>
              <a:xfrm>
                <a:off x="0" y="0"/>
                <a:ext cx="51054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E40AF"/>
                    </a:solidFill>
                    <a:latin typeface="Quattrocento Sans"/>
                    <a:ea typeface="Quattrocento Sans"/>
                    <a:cs typeface="Quattrocento Sans"/>
                    <a:sym typeface="Quattrocento Sans"/>
                  </a:rPr>
                  <a:t>01 / ERROR PREVENTION &amp; REVERSIBILITY</a:t>
                </a:r>
                <a:endParaRPr b="1" sz="1100">
                  <a:solidFill>
                    <a:srgbClr val="1E40AF"/>
                  </a:solidFill>
                  <a:latin typeface="Quattrocento Sans"/>
                  <a:ea typeface="Quattrocento Sans"/>
                  <a:cs typeface="Quattrocento Sans"/>
                  <a:sym typeface="Quattrocento Sans"/>
                </a:endParaRPr>
              </a:p>
            </p:txBody>
          </p:sp>
        </p:grpSp>
      </p:grpSp>
      <p:grpSp>
        <p:nvGrpSpPr>
          <p:cNvPr id="340" name="Google Shape;340;p13"/>
          <p:cNvGrpSpPr/>
          <p:nvPr/>
        </p:nvGrpSpPr>
        <p:grpSpPr>
          <a:xfrm>
            <a:off x="571500" y="2000250"/>
            <a:ext cx="2571900" cy="2047800"/>
            <a:chOff x="0" y="0"/>
            <a:chExt cx="2571900" cy="2047800"/>
          </a:xfrm>
        </p:grpSpPr>
        <p:sp>
          <p:nvSpPr>
            <p:cNvPr id="341" name="Google Shape;341;p13"/>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2" name="Google Shape;342;p13"/>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43" name="Google Shape;343;p13"/>
            <p:cNvGrpSpPr/>
            <p:nvPr/>
          </p:nvGrpSpPr>
          <p:grpSpPr>
            <a:xfrm>
              <a:off x="152400" y="152400"/>
              <a:ext cx="342900" cy="369189"/>
              <a:chOff x="0" y="0"/>
              <a:chExt cx="342900" cy="369189"/>
            </a:xfrm>
          </p:grpSpPr>
          <p:sp>
            <p:nvSpPr>
              <p:cNvPr id="344" name="Google Shape;344;p13"/>
              <p:cNvSpPr/>
              <p:nvPr/>
            </p:nvSpPr>
            <p:spPr>
              <a:xfrm>
                <a:off x="0" y="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13"/>
              <p:cNvSpPr txBox="1"/>
              <p:nvPr/>
            </p:nvSpPr>
            <p:spPr>
              <a:xfrm>
                <a:off x="0" y="262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verified</a:t>
                </a:r>
                <a:endParaRPr b="0" sz="1800">
                  <a:solidFill>
                    <a:srgbClr val="2563EB"/>
                  </a:solidFill>
                  <a:latin typeface="Material Icons"/>
                  <a:ea typeface="Material Icons"/>
                  <a:cs typeface="Material Icons"/>
                  <a:sym typeface="Material Icons"/>
                </a:endParaRPr>
              </a:p>
            </p:txBody>
          </p:sp>
        </p:grpSp>
        <p:grpSp>
          <p:nvGrpSpPr>
            <p:cNvPr id="346" name="Google Shape;346;p13"/>
            <p:cNvGrpSpPr/>
            <p:nvPr/>
          </p:nvGrpSpPr>
          <p:grpSpPr>
            <a:xfrm>
              <a:off x="152400" y="590550"/>
              <a:ext cx="2267100" cy="1305000"/>
              <a:chOff x="0" y="0"/>
              <a:chExt cx="2267100" cy="1305000"/>
            </a:xfrm>
          </p:grpSpPr>
          <p:sp>
            <p:nvSpPr>
              <p:cNvPr id="347" name="Google Shape;347;p13"/>
              <p:cNvSpPr/>
              <p:nvPr/>
            </p:nvSpPr>
            <p:spPr>
              <a:xfrm>
                <a:off x="0" y="0"/>
                <a:ext cx="2267100" cy="1305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 name="Google Shape;348;p13"/>
              <p:cNvSpPr txBox="1"/>
              <p:nvPr/>
            </p:nvSpPr>
            <p:spPr>
              <a:xfrm>
                <a:off x="0" y="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Quattrocento Sans"/>
                    <a:ea typeface="Quattrocento Sans"/>
                    <a:cs typeface="Quattrocento Sans"/>
                    <a:sym typeface="Quattrocento Sans"/>
                  </a:rPr>
                  <a:t>Deliberate Milestone Confirmation</a:t>
                </a:r>
                <a:endParaRPr b="1" sz="115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00">
                    <a:solidFill>
                      <a:srgbClr val="475569"/>
                    </a:solidFill>
                    <a:latin typeface="Quattrocento Sans"/>
                    <a:ea typeface="Quattrocento Sans"/>
                    <a:cs typeface="Quattrocento Sans"/>
                    <a:sym typeface="Quattrocento Sans"/>
                  </a:rPr>
                  <a:t>Accidental touchscreen taps cannot trigger binding commercial approvals or financial invoicing.</a:t>
                </a:r>
                <a:endParaRPr b="0" sz="1000">
                  <a:solidFill>
                    <a:srgbClr val="475569"/>
                  </a:solidFill>
                  <a:latin typeface="Quattrocento Sans"/>
                  <a:ea typeface="Quattrocento Sans"/>
                  <a:cs typeface="Quattrocento Sans"/>
                  <a:sym typeface="Quattrocento Sans"/>
                </a:endParaRPr>
              </a:p>
            </p:txBody>
          </p:sp>
        </p:grpSp>
      </p:grpSp>
      <p:grpSp>
        <p:nvGrpSpPr>
          <p:cNvPr id="349" name="Google Shape;349;p13"/>
          <p:cNvGrpSpPr/>
          <p:nvPr/>
        </p:nvGrpSpPr>
        <p:grpSpPr>
          <a:xfrm>
            <a:off x="3333750" y="2000250"/>
            <a:ext cx="2571900" cy="2047800"/>
            <a:chOff x="0" y="0"/>
            <a:chExt cx="2571900" cy="2047800"/>
          </a:xfrm>
        </p:grpSpPr>
        <p:sp>
          <p:nvSpPr>
            <p:cNvPr id="350" name="Google Shape;350;p13"/>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 name="Google Shape;351;p13"/>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52" name="Google Shape;352;p13"/>
            <p:cNvGrpSpPr/>
            <p:nvPr/>
          </p:nvGrpSpPr>
          <p:grpSpPr>
            <a:xfrm>
              <a:off x="152400" y="152400"/>
              <a:ext cx="342900" cy="369189"/>
              <a:chOff x="0" y="0"/>
              <a:chExt cx="342900" cy="369189"/>
            </a:xfrm>
          </p:grpSpPr>
          <p:sp>
            <p:nvSpPr>
              <p:cNvPr id="353" name="Google Shape;353;p13"/>
              <p:cNvSpPr/>
              <p:nvPr/>
            </p:nvSpPr>
            <p:spPr>
              <a:xfrm>
                <a:off x="0" y="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13"/>
              <p:cNvSpPr txBox="1"/>
              <p:nvPr/>
            </p:nvSpPr>
            <p:spPr>
              <a:xfrm>
                <a:off x="0" y="262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warning</a:t>
                </a:r>
                <a:endParaRPr b="0" sz="1800">
                  <a:solidFill>
                    <a:srgbClr val="2563EB"/>
                  </a:solidFill>
                  <a:latin typeface="Material Icons"/>
                  <a:ea typeface="Material Icons"/>
                  <a:cs typeface="Material Icons"/>
                  <a:sym typeface="Material Icons"/>
                </a:endParaRPr>
              </a:p>
            </p:txBody>
          </p:sp>
        </p:grpSp>
        <p:grpSp>
          <p:nvGrpSpPr>
            <p:cNvPr id="355" name="Google Shape;355;p13"/>
            <p:cNvGrpSpPr/>
            <p:nvPr/>
          </p:nvGrpSpPr>
          <p:grpSpPr>
            <a:xfrm>
              <a:off x="152400" y="590550"/>
              <a:ext cx="2267100" cy="1305000"/>
              <a:chOff x="0" y="0"/>
              <a:chExt cx="2267100" cy="1305000"/>
            </a:xfrm>
          </p:grpSpPr>
          <p:sp>
            <p:nvSpPr>
              <p:cNvPr id="356" name="Google Shape;356;p13"/>
              <p:cNvSpPr/>
              <p:nvPr/>
            </p:nvSpPr>
            <p:spPr>
              <a:xfrm>
                <a:off x="0" y="0"/>
                <a:ext cx="2267100" cy="1305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 name="Google Shape;357;p13"/>
              <p:cNvSpPr txBox="1"/>
              <p:nvPr/>
            </p:nvSpPr>
            <p:spPr>
              <a:xfrm>
                <a:off x="0" y="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Quattrocento Sans"/>
                    <a:ea typeface="Quattrocento Sans"/>
                    <a:cs typeface="Quattrocento Sans"/>
                    <a:sym typeface="Quattrocento Sans"/>
                  </a:rPr>
                  <a:t>Two-Step Consequence Dialog</a:t>
                </a:r>
                <a:endParaRPr b="1" sz="115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00">
                    <a:solidFill>
                      <a:srgbClr val="475569"/>
                    </a:solidFill>
                    <a:latin typeface="Quattrocento Sans"/>
                    <a:ea typeface="Quattrocento Sans"/>
                    <a:cs typeface="Quattrocento Sans"/>
                    <a:sym typeface="Quattrocento Sans"/>
                  </a:rPr>
                  <a:t>Secondary modal explicitly displays invoice liability ($12,500 AUD) with neutral confirmation choices.</a:t>
                </a:r>
                <a:endParaRPr b="0" sz="1000">
                  <a:solidFill>
                    <a:srgbClr val="475569"/>
                  </a:solidFill>
                  <a:latin typeface="Quattrocento Sans"/>
                  <a:ea typeface="Quattrocento Sans"/>
                  <a:cs typeface="Quattrocento Sans"/>
                  <a:sym typeface="Quattrocento Sans"/>
                </a:endParaRPr>
              </a:p>
            </p:txBody>
          </p:sp>
        </p:grpSp>
      </p:grpSp>
      <p:grpSp>
        <p:nvGrpSpPr>
          <p:cNvPr id="358" name="Google Shape;358;p13"/>
          <p:cNvGrpSpPr/>
          <p:nvPr/>
        </p:nvGrpSpPr>
        <p:grpSpPr>
          <a:xfrm>
            <a:off x="571500" y="4191000"/>
            <a:ext cx="2571900" cy="2047800"/>
            <a:chOff x="0" y="0"/>
            <a:chExt cx="2571900" cy="2047800"/>
          </a:xfrm>
        </p:grpSpPr>
        <p:sp>
          <p:nvSpPr>
            <p:cNvPr id="359" name="Google Shape;359;p13"/>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0" name="Google Shape;360;p13"/>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61" name="Google Shape;361;p13"/>
            <p:cNvGrpSpPr/>
            <p:nvPr/>
          </p:nvGrpSpPr>
          <p:grpSpPr>
            <a:xfrm>
              <a:off x="152400" y="152400"/>
              <a:ext cx="342900" cy="369189"/>
              <a:chOff x="0" y="0"/>
              <a:chExt cx="342900" cy="369189"/>
            </a:xfrm>
          </p:grpSpPr>
          <p:sp>
            <p:nvSpPr>
              <p:cNvPr id="362" name="Google Shape;362;p13"/>
              <p:cNvSpPr/>
              <p:nvPr/>
            </p:nvSpPr>
            <p:spPr>
              <a:xfrm>
                <a:off x="0" y="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3" name="Google Shape;363;p13"/>
              <p:cNvSpPr txBox="1"/>
              <p:nvPr/>
            </p:nvSpPr>
            <p:spPr>
              <a:xfrm>
                <a:off x="0" y="262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restore_from_trash</a:t>
                </a:r>
                <a:endParaRPr b="0" sz="1800">
                  <a:solidFill>
                    <a:srgbClr val="2563EB"/>
                  </a:solidFill>
                  <a:latin typeface="Material Icons"/>
                  <a:ea typeface="Material Icons"/>
                  <a:cs typeface="Material Icons"/>
                  <a:sym typeface="Material Icons"/>
                </a:endParaRPr>
              </a:p>
            </p:txBody>
          </p:sp>
        </p:grpSp>
        <p:grpSp>
          <p:nvGrpSpPr>
            <p:cNvPr id="364" name="Google Shape;364;p13"/>
            <p:cNvGrpSpPr/>
            <p:nvPr/>
          </p:nvGrpSpPr>
          <p:grpSpPr>
            <a:xfrm>
              <a:off x="152400" y="590550"/>
              <a:ext cx="2267100" cy="1305000"/>
              <a:chOff x="0" y="0"/>
              <a:chExt cx="2267100" cy="1305000"/>
            </a:xfrm>
          </p:grpSpPr>
          <p:sp>
            <p:nvSpPr>
              <p:cNvPr id="365" name="Google Shape;365;p13"/>
              <p:cNvSpPr/>
              <p:nvPr/>
            </p:nvSpPr>
            <p:spPr>
              <a:xfrm>
                <a:off x="0" y="0"/>
                <a:ext cx="2267100" cy="1305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6" name="Google Shape;366;p13"/>
              <p:cNvSpPr txBox="1"/>
              <p:nvPr/>
            </p:nvSpPr>
            <p:spPr>
              <a:xfrm>
                <a:off x="0" y="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Quattrocento Sans"/>
                    <a:ea typeface="Quattrocento Sans"/>
                    <a:cs typeface="Quattrocento Sans"/>
                    <a:sym typeface="Quattrocento Sans"/>
                  </a:rPr>
                  <a:t>Discard Draft Protection</a:t>
                </a:r>
                <a:endParaRPr b="1" sz="115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00">
                    <a:solidFill>
                      <a:srgbClr val="475569"/>
                    </a:solidFill>
                    <a:latin typeface="Quattrocento Sans"/>
                    <a:ea typeface="Quattrocento Sans"/>
                    <a:cs typeface="Quattrocento Sans"/>
                    <a:sym typeface="Quattrocento Sans"/>
                  </a:rPr>
                  <a:t>AD2 review thread includes explicit confirmation when cancelling draft feedback to prevent lost input.</a:t>
                </a:r>
                <a:endParaRPr b="0" sz="1000">
                  <a:solidFill>
                    <a:srgbClr val="475569"/>
                  </a:solidFill>
                  <a:latin typeface="Quattrocento Sans"/>
                  <a:ea typeface="Quattrocento Sans"/>
                  <a:cs typeface="Quattrocento Sans"/>
                  <a:sym typeface="Quattrocento Sans"/>
                </a:endParaRPr>
              </a:p>
            </p:txBody>
          </p:sp>
        </p:grpSp>
      </p:grpSp>
      <p:grpSp>
        <p:nvGrpSpPr>
          <p:cNvPr id="367" name="Google Shape;367;p13"/>
          <p:cNvGrpSpPr/>
          <p:nvPr/>
        </p:nvGrpSpPr>
        <p:grpSpPr>
          <a:xfrm>
            <a:off x="3333750" y="4191000"/>
            <a:ext cx="2571900" cy="2047800"/>
            <a:chOff x="0" y="0"/>
            <a:chExt cx="2571900" cy="2047800"/>
          </a:xfrm>
        </p:grpSpPr>
        <p:sp>
          <p:nvSpPr>
            <p:cNvPr id="368" name="Google Shape;368;p13"/>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13"/>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70" name="Google Shape;370;p13"/>
            <p:cNvGrpSpPr/>
            <p:nvPr/>
          </p:nvGrpSpPr>
          <p:grpSpPr>
            <a:xfrm>
              <a:off x="152400" y="152400"/>
              <a:ext cx="342900" cy="369189"/>
              <a:chOff x="0" y="0"/>
              <a:chExt cx="342900" cy="369189"/>
            </a:xfrm>
          </p:grpSpPr>
          <p:sp>
            <p:nvSpPr>
              <p:cNvPr id="371" name="Google Shape;371;p13"/>
              <p:cNvSpPr/>
              <p:nvPr/>
            </p:nvSpPr>
            <p:spPr>
              <a:xfrm>
                <a:off x="0" y="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13"/>
              <p:cNvSpPr txBox="1"/>
              <p:nvPr/>
            </p:nvSpPr>
            <p:spPr>
              <a:xfrm>
                <a:off x="0" y="262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psychology</a:t>
                </a:r>
                <a:endParaRPr b="0" sz="1800">
                  <a:solidFill>
                    <a:srgbClr val="2563EB"/>
                  </a:solidFill>
                  <a:latin typeface="Material Icons"/>
                  <a:ea typeface="Material Icons"/>
                  <a:cs typeface="Material Icons"/>
                  <a:sym typeface="Material Icons"/>
                </a:endParaRPr>
              </a:p>
            </p:txBody>
          </p:sp>
        </p:grpSp>
        <p:grpSp>
          <p:nvGrpSpPr>
            <p:cNvPr id="373" name="Google Shape;373;p13"/>
            <p:cNvGrpSpPr/>
            <p:nvPr/>
          </p:nvGrpSpPr>
          <p:grpSpPr>
            <a:xfrm>
              <a:off x="152400" y="590550"/>
              <a:ext cx="2267100" cy="1305000"/>
              <a:chOff x="0" y="0"/>
              <a:chExt cx="2267100" cy="1305000"/>
            </a:xfrm>
          </p:grpSpPr>
          <p:sp>
            <p:nvSpPr>
              <p:cNvPr id="374" name="Google Shape;374;p13"/>
              <p:cNvSpPr/>
              <p:nvPr/>
            </p:nvSpPr>
            <p:spPr>
              <a:xfrm>
                <a:off x="0" y="0"/>
                <a:ext cx="2267100" cy="1305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13"/>
              <p:cNvSpPr txBox="1"/>
              <p:nvPr/>
            </p:nvSpPr>
            <p:spPr>
              <a:xfrm>
                <a:off x="0" y="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Quattrocento Sans"/>
                    <a:ea typeface="Quattrocento Sans"/>
                    <a:cs typeface="Quattrocento Sans"/>
                    <a:sym typeface="Quattrocento Sans"/>
                  </a:rPr>
                  <a:t>Predictable Technical Behavior</a:t>
                </a:r>
                <a:endParaRPr b="1" sz="115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00">
                    <a:solidFill>
                      <a:srgbClr val="475569"/>
                    </a:solidFill>
                    <a:latin typeface="Quattrocento Sans"/>
                    <a:ea typeface="Quattrocento Sans"/>
                    <a:cs typeface="Quattrocento Sans"/>
                    <a:sym typeface="Quattrocento Sans"/>
                  </a:rPr>
                  <a:t>Jakob et al. (2022, p. 8) found user retention requires predictable behavior; our app enforces clear confirmation boundaries.</a:t>
                </a:r>
                <a:endParaRPr b="0" sz="1000">
                  <a:solidFill>
                    <a:srgbClr val="475569"/>
                  </a:solidFill>
                  <a:latin typeface="Quattrocento Sans"/>
                  <a:ea typeface="Quattrocento Sans"/>
                  <a:cs typeface="Quattrocento Sans"/>
                  <a:sym typeface="Quattrocento Sans"/>
                </a:endParaRPr>
              </a:p>
            </p:txBody>
          </p:sp>
        </p:grpSp>
      </p:grpSp>
      <p:grpSp>
        <p:nvGrpSpPr>
          <p:cNvPr id="376" name="Google Shape;376;p13"/>
          <p:cNvGrpSpPr/>
          <p:nvPr/>
        </p:nvGrpSpPr>
        <p:grpSpPr>
          <a:xfrm>
            <a:off x="6286500" y="1524000"/>
            <a:ext cx="5334000" cy="342900"/>
            <a:chOff x="0" y="0"/>
            <a:chExt cx="5334000" cy="342900"/>
          </a:xfrm>
        </p:grpSpPr>
        <p:sp>
          <p:nvSpPr>
            <p:cNvPr id="377" name="Google Shape;377;p13"/>
            <p:cNvSpPr/>
            <p:nvPr/>
          </p:nvSpPr>
          <p:spPr>
            <a:xfrm>
              <a:off x="0" y="0"/>
              <a:ext cx="5334000" cy="342900"/>
            </a:xfrm>
            <a:prstGeom prst="roundRect">
              <a:avLst>
                <a:gd fmla="val 16666"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78" name="Google Shape;378;p13"/>
            <p:cNvGrpSpPr/>
            <p:nvPr/>
          </p:nvGrpSpPr>
          <p:grpSpPr>
            <a:xfrm>
              <a:off x="114300" y="0"/>
              <a:ext cx="5105400" cy="342900"/>
              <a:chOff x="0" y="0"/>
              <a:chExt cx="5105400" cy="342900"/>
            </a:xfrm>
          </p:grpSpPr>
          <p:sp>
            <p:nvSpPr>
              <p:cNvPr id="379" name="Google Shape;379;p13"/>
              <p:cNvSpPr/>
              <p:nvPr/>
            </p:nvSpPr>
            <p:spPr>
              <a:xfrm>
                <a:off x="0" y="0"/>
                <a:ext cx="51054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0" name="Google Shape;380;p13"/>
              <p:cNvSpPr txBox="1"/>
              <p:nvPr/>
            </p:nvSpPr>
            <p:spPr>
              <a:xfrm>
                <a:off x="0" y="0"/>
                <a:ext cx="51054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E40AF"/>
                    </a:solidFill>
                    <a:latin typeface="Quattrocento Sans"/>
                    <a:ea typeface="Quattrocento Sans"/>
                    <a:cs typeface="Quattrocento Sans"/>
                    <a:sym typeface="Quattrocento Sans"/>
                  </a:rPr>
                  <a:t>02 / CONSISTENCY, STANDARDS &amp; ACCESSIBILITY</a:t>
                </a:r>
                <a:endParaRPr b="1" sz="1100">
                  <a:solidFill>
                    <a:srgbClr val="1E40AF"/>
                  </a:solidFill>
                  <a:latin typeface="Quattrocento Sans"/>
                  <a:ea typeface="Quattrocento Sans"/>
                  <a:cs typeface="Quattrocento Sans"/>
                  <a:sym typeface="Quattrocento Sans"/>
                </a:endParaRPr>
              </a:p>
            </p:txBody>
          </p:sp>
        </p:grpSp>
      </p:grpSp>
      <p:grpSp>
        <p:nvGrpSpPr>
          <p:cNvPr id="381" name="Google Shape;381;p13"/>
          <p:cNvGrpSpPr/>
          <p:nvPr/>
        </p:nvGrpSpPr>
        <p:grpSpPr>
          <a:xfrm>
            <a:off x="6286500" y="2000250"/>
            <a:ext cx="2571900" cy="2047800"/>
            <a:chOff x="0" y="0"/>
            <a:chExt cx="2571900" cy="2047800"/>
          </a:xfrm>
        </p:grpSpPr>
        <p:sp>
          <p:nvSpPr>
            <p:cNvPr id="382" name="Google Shape;382;p13"/>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3" name="Google Shape;383;p13"/>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84" name="Google Shape;384;p13"/>
            <p:cNvGrpSpPr/>
            <p:nvPr/>
          </p:nvGrpSpPr>
          <p:grpSpPr>
            <a:xfrm>
              <a:off x="152400" y="152400"/>
              <a:ext cx="342900" cy="369189"/>
              <a:chOff x="0" y="0"/>
              <a:chExt cx="342900" cy="369189"/>
            </a:xfrm>
          </p:grpSpPr>
          <p:sp>
            <p:nvSpPr>
              <p:cNvPr id="385" name="Google Shape;385;p13"/>
              <p:cNvSpPr/>
              <p:nvPr/>
            </p:nvSpPr>
            <p:spPr>
              <a:xfrm>
                <a:off x="0" y="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6" name="Google Shape;386;p13"/>
              <p:cNvSpPr txBox="1"/>
              <p:nvPr/>
            </p:nvSpPr>
            <p:spPr>
              <a:xfrm>
                <a:off x="0" y="262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badge</a:t>
                </a:r>
                <a:endParaRPr b="0" sz="1800">
                  <a:solidFill>
                    <a:srgbClr val="2563EB"/>
                  </a:solidFill>
                  <a:latin typeface="Material Icons"/>
                  <a:ea typeface="Material Icons"/>
                  <a:cs typeface="Material Icons"/>
                  <a:sym typeface="Material Icons"/>
                </a:endParaRPr>
              </a:p>
            </p:txBody>
          </p:sp>
        </p:grpSp>
        <p:grpSp>
          <p:nvGrpSpPr>
            <p:cNvPr id="387" name="Google Shape;387;p13"/>
            <p:cNvGrpSpPr/>
            <p:nvPr/>
          </p:nvGrpSpPr>
          <p:grpSpPr>
            <a:xfrm>
              <a:off x="152400" y="590550"/>
              <a:ext cx="2267100" cy="1305000"/>
              <a:chOff x="0" y="0"/>
              <a:chExt cx="2267100" cy="1305000"/>
            </a:xfrm>
          </p:grpSpPr>
          <p:sp>
            <p:nvSpPr>
              <p:cNvPr id="388" name="Google Shape;388;p13"/>
              <p:cNvSpPr/>
              <p:nvPr/>
            </p:nvSpPr>
            <p:spPr>
              <a:xfrm>
                <a:off x="0" y="0"/>
                <a:ext cx="2267100" cy="1305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p13"/>
              <p:cNvSpPr txBox="1"/>
              <p:nvPr/>
            </p:nvSpPr>
            <p:spPr>
              <a:xfrm>
                <a:off x="0" y="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Quattrocento Sans"/>
                    <a:ea typeface="Quattrocento Sans"/>
                    <a:cs typeface="Quattrocento Sans"/>
                    <a:sym typeface="Quattrocento Sans"/>
                  </a:rPr>
                  <a:t>Uniform Stakeholder Naming</a:t>
                </a:r>
                <a:endParaRPr b="1" sz="115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00">
                    <a:solidFill>
                      <a:srgbClr val="475569"/>
                    </a:solidFill>
                    <a:latin typeface="Quattrocento Sans"/>
                    <a:ea typeface="Quattrocento Sans"/>
                    <a:cs typeface="Quattrocento Sans"/>
                    <a:sym typeface="Quattrocento Sans"/>
                  </a:rPr>
                  <a:t>Consistent First Name + Last Initial format applied across the app (Client: Fred R. [FR], PM: James R. [JR]).</a:t>
                </a:r>
                <a:endParaRPr b="0" sz="1000">
                  <a:solidFill>
                    <a:srgbClr val="475569"/>
                  </a:solidFill>
                  <a:latin typeface="Quattrocento Sans"/>
                  <a:ea typeface="Quattrocento Sans"/>
                  <a:cs typeface="Quattrocento Sans"/>
                  <a:sym typeface="Quattrocento Sans"/>
                </a:endParaRPr>
              </a:p>
            </p:txBody>
          </p:sp>
        </p:grpSp>
      </p:grpSp>
      <p:grpSp>
        <p:nvGrpSpPr>
          <p:cNvPr id="390" name="Google Shape;390;p13"/>
          <p:cNvGrpSpPr/>
          <p:nvPr/>
        </p:nvGrpSpPr>
        <p:grpSpPr>
          <a:xfrm>
            <a:off x="9048750" y="2000250"/>
            <a:ext cx="2571900" cy="2047800"/>
            <a:chOff x="0" y="0"/>
            <a:chExt cx="2571900" cy="2047800"/>
          </a:xfrm>
        </p:grpSpPr>
        <p:sp>
          <p:nvSpPr>
            <p:cNvPr id="391" name="Google Shape;391;p13"/>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2" name="Google Shape;392;p13"/>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93" name="Google Shape;393;p13"/>
            <p:cNvGrpSpPr/>
            <p:nvPr/>
          </p:nvGrpSpPr>
          <p:grpSpPr>
            <a:xfrm>
              <a:off x="152400" y="152400"/>
              <a:ext cx="342900" cy="369189"/>
              <a:chOff x="0" y="0"/>
              <a:chExt cx="342900" cy="369189"/>
            </a:xfrm>
          </p:grpSpPr>
          <p:sp>
            <p:nvSpPr>
              <p:cNvPr id="394" name="Google Shape;394;p13"/>
              <p:cNvSpPr/>
              <p:nvPr/>
            </p:nvSpPr>
            <p:spPr>
              <a:xfrm>
                <a:off x="0" y="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5" name="Google Shape;395;p13"/>
              <p:cNvSpPr txBox="1"/>
              <p:nvPr/>
            </p:nvSpPr>
            <p:spPr>
              <a:xfrm>
                <a:off x="0" y="262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contrast</a:t>
                </a:r>
                <a:endParaRPr b="0" sz="1800">
                  <a:solidFill>
                    <a:srgbClr val="2563EB"/>
                  </a:solidFill>
                  <a:latin typeface="Material Icons"/>
                  <a:ea typeface="Material Icons"/>
                  <a:cs typeface="Material Icons"/>
                  <a:sym typeface="Material Icons"/>
                </a:endParaRPr>
              </a:p>
            </p:txBody>
          </p:sp>
        </p:grpSp>
        <p:grpSp>
          <p:nvGrpSpPr>
            <p:cNvPr id="396" name="Google Shape;396;p13"/>
            <p:cNvGrpSpPr/>
            <p:nvPr/>
          </p:nvGrpSpPr>
          <p:grpSpPr>
            <a:xfrm>
              <a:off x="152400" y="590550"/>
              <a:ext cx="2267100" cy="1305000"/>
              <a:chOff x="0" y="0"/>
              <a:chExt cx="2267100" cy="1305000"/>
            </a:xfrm>
          </p:grpSpPr>
          <p:sp>
            <p:nvSpPr>
              <p:cNvPr id="397" name="Google Shape;397;p13"/>
              <p:cNvSpPr/>
              <p:nvPr/>
            </p:nvSpPr>
            <p:spPr>
              <a:xfrm>
                <a:off x="0" y="0"/>
                <a:ext cx="2267100" cy="1305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8" name="Google Shape;398;p13"/>
              <p:cNvSpPr txBox="1"/>
              <p:nvPr/>
            </p:nvSpPr>
            <p:spPr>
              <a:xfrm>
                <a:off x="0" y="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Quattrocento Sans"/>
                    <a:ea typeface="Quattrocento Sans"/>
                    <a:cs typeface="Quattrocento Sans"/>
                    <a:sym typeface="Quattrocento Sans"/>
                  </a:rPr>
                  <a:t>WCAG 2.1 AA Contrast (&gt;=4.5:1)</a:t>
                </a:r>
                <a:endParaRPr b="1" sz="115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00">
                    <a:solidFill>
                      <a:srgbClr val="475569"/>
                    </a:solidFill>
                    <a:latin typeface="Quattrocento Sans"/>
                    <a:ea typeface="Quattrocento Sans"/>
                    <a:cs typeface="Quattrocento Sans"/>
                    <a:sym typeface="Quattrocento Sans"/>
                  </a:rPr>
                  <a:t>Punsongserm &amp; Suvakunta (2025, p. 21) proved low contrast causes outdoor legibility failure; all body copy exceeds 4.5:1 contrast.</a:t>
                </a:r>
                <a:endParaRPr b="0" sz="1000">
                  <a:solidFill>
                    <a:srgbClr val="475569"/>
                  </a:solidFill>
                  <a:latin typeface="Quattrocento Sans"/>
                  <a:ea typeface="Quattrocento Sans"/>
                  <a:cs typeface="Quattrocento Sans"/>
                  <a:sym typeface="Quattrocento Sans"/>
                </a:endParaRPr>
              </a:p>
            </p:txBody>
          </p:sp>
        </p:grpSp>
      </p:grpSp>
      <p:grpSp>
        <p:nvGrpSpPr>
          <p:cNvPr id="399" name="Google Shape;399;p13"/>
          <p:cNvGrpSpPr/>
          <p:nvPr/>
        </p:nvGrpSpPr>
        <p:grpSpPr>
          <a:xfrm>
            <a:off x="6286500" y="4191000"/>
            <a:ext cx="2571900" cy="2047800"/>
            <a:chOff x="0" y="0"/>
            <a:chExt cx="2571900" cy="2047800"/>
          </a:xfrm>
        </p:grpSpPr>
        <p:sp>
          <p:nvSpPr>
            <p:cNvPr id="400" name="Google Shape;400;p13"/>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1" name="Google Shape;401;p13"/>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02" name="Google Shape;402;p13"/>
            <p:cNvGrpSpPr/>
            <p:nvPr/>
          </p:nvGrpSpPr>
          <p:grpSpPr>
            <a:xfrm>
              <a:off x="152400" y="152400"/>
              <a:ext cx="342900" cy="369189"/>
              <a:chOff x="0" y="0"/>
              <a:chExt cx="342900" cy="369189"/>
            </a:xfrm>
          </p:grpSpPr>
          <p:sp>
            <p:nvSpPr>
              <p:cNvPr id="403" name="Google Shape;403;p13"/>
              <p:cNvSpPr/>
              <p:nvPr/>
            </p:nvSpPr>
            <p:spPr>
              <a:xfrm>
                <a:off x="0" y="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4" name="Google Shape;404;p13"/>
              <p:cNvSpPr txBox="1"/>
              <p:nvPr/>
            </p:nvSpPr>
            <p:spPr>
              <a:xfrm>
                <a:off x="0" y="262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touch_app</a:t>
                </a:r>
                <a:endParaRPr b="0" sz="1800">
                  <a:solidFill>
                    <a:srgbClr val="2563EB"/>
                  </a:solidFill>
                  <a:latin typeface="Material Icons"/>
                  <a:ea typeface="Material Icons"/>
                  <a:cs typeface="Material Icons"/>
                  <a:sym typeface="Material Icons"/>
                </a:endParaRPr>
              </a:p>
            </p:txBody>
          </p:sp>
        </p:grpSp>
        <p:grpSp>
          <p:nvGrpSpPr>
            <p:cNvPr id="405" name="Google Shape;405;p13"/>
            <p:cNvGrpSpPr/>
            <p:nvPr/>
          </p:nvGrpSpPr>
          <p:grpSpPr>
            <a:xfrm>
              <a:off x="152400" y="590550"/>
              <a:ext cx="2267100" cy="1305000"/>
              <a:chOff x="0" y="0"/>
              <a:chExt cx="2267100" cy="1305000"/>
            </a:xfrm>
          </p:grpSpPr>
          <p:sp>
            <p:nvSpPr>
              <p:cNvPr id="406" name="Google Shape;406;p13"/>
              <p:cNvSpPr/>
              <p:nvPr/>
            </p:nvSpPr>
            <p:spPr>
              <a:xfrm>
                <a:off x="0" y="0"/>
                <a:ext cx="2267100" cy="1305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7" name="Google Shape;407;p13"/>
              <p:cNvSpPr txBox="1"/>
              <p:nvPr/>
            </p:nvSpPr>
            <p:spPr>
              <a:xfrm>
                <a:off x="0" y="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Quattrocento Sans"/>
                    <a:ea typeface="Quattrocento Sans"/>
                    <a:cs typeface="Quattrocento Sans"/>
                    <a:sym typeface="Quattrocento Sans"/>
                  </a:rPr>
                  <a:t>Ergonomic Touch Targets</a:t>
                </a:r>
                <a:endParaRPr b="1" sz="115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00">
                    <a:solidFill>
                      <a:srgbClr val="475569"/>
                    </a:solidFill>
                    <a:latin typeface="Quattrocento Sans"/>
                    <a:ea typeface="Quattrocento Sans"/>
                    <a:cs typeface="Quattrocento Sans"/>
                    <a:sym typeface="Quattrocento Sans"/>
                  </a:rPr>
                  <a:t>Every tappable control meets or exceeds the canonical 48x48dp minimum touch target.</a:t>
                </a:r>
                <a:endParaRPr b="0" sz="1000">
                  <a:solidFill>
                    <a:srgbClr val="475569"/>
                  </a:solidFill>
                  <a:latin typeface="Quattrocento Sans"/>
                  <a:ea typeface="Quattrocento Sans"/>
                  <a:cs typeface="Quattrocento Sans"/>
                  <a:sym typeface="Quattrocento Sans"/>
                </a:endParaRPr>
              </a:p>
            </p:txBody>
          </p:sp>
        </p:grpSp>
      </p:grpSp>
      <p:grpSp>
        <p:nvGrpSpPr>
          <p:cNvPr id="408" name="Google Shape;408;p13"/>
          <p:cNvGrpSpPr/>
          <p:nvPr/>
        </p:nvGrpSpPr>
        <p:grpSpPr>
          <a:xfrm>
            <a:off x="9048750" y="4191000"/>
            <a:ext cx="2571900" cy="2047800"/>
            <a:chOff x="0" y="0"/>
            <a:chExt cx="2571900" cy="2047800"/>
          </a:xfrm>
        </p:grpSpPr>
        <p:sp>
          <p:nvSpPr>
            <p:cNvPr id="409" name="Google Shape;409;p13"/>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0" name="Google Shape;410;p13"/>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11" name="Google Shape;411;p13"/>
            <p:cNvGrpSpPr/>
            <p:nvPr/>
          </p:nvGrpSpPr>
          <p:grpSpPr>
            <a:xfrm>
              <a:off x="152400" y="152400"/>
              <a:ext cx="342900" cy="369189"/>
              <a:chOff x="0" y="0"/>
              <a:chExt cx="342900" cy="369189"/>
            </a:xfrm>
          </p:grpSpPr>
          <p:sp>
            <p:nvSpPr>
              <p:cNvPr id="412" name="Google Shape;412;p13"/>
              <p:cNvSpPr/>
              <p:nvPr/>
            </p:nvSpPr>
            <p:spPr>
              <a:xfrm>
                <a:off x="0" y="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3" name="Google Shape;413;p13"/>
              <p:cNvSpPr txBox="1"/>
              <p:nvPr/>
            </p:nvSpPr>
            <p:spPr>
              <a:xfrm>
                <a:off x="0" y="262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format_size</a:t>
                </a:r>
                <a:endParaRPr b="0" sz="1800">
                  <a:solidFill>
                    <a:srgbClr val="2563EB"/>
                  </a:solidFill>
                  <a:latin typeface="Material Icons"/>
                  <a:ea typeface="Material Icons"/>
                  <a:cs typeface="Material Icons"/>
                  <a:sym typeface="Material Icons"/>
                </a:endParaRPr>
              </a:p>
            </p:txBody>
          </p:sp>
        </p:grpSp>
        <p:grpSp>
          <p:nvGrpSpPr>
            <p:cNvPr id="414" name="Google Shape;414;p13"/>
            <p:cNvGrpSpPr/>
            <p:nvPr/>
          </p:nvGrpSpPr>
          <p:grpSpPr>
            <a:xfrm>
              <a:off x="152400" y="590550"/>
              <a:ext cx="2267100" cy="1305000"/>
              <a:chOff x="0" y="0"/>
              <a:chExt cx="2267100" cy="1305000"/>
            </a:xfrm>
          </p:grpSpPr>
          <p:sp>
            <p:nvSpPr>
              <p:cNvPr id="415" name="Google Shape;415;p13"/>
              <p:cNvSpPr/>
              <p:nvPr/>
            </p:nvSpPr>
            <p:spPr>
              <a:xfrm>
                <a:off x="0" y="0"/>
                <a:ext cx="2267100" cy="1305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6" name="Google Shape;416;p13"/>
              <p:cNvSpPr txBox="1"/>
              <p:nvPr/>
            </p:nvSpPr>
            <p:spPr>
              <a:xfrm>
                <a:off x="0" y="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Quattrocento Sans"/>
                    <a:ea typeface="Quattrocento Sans"/>
                    <a:cs typeface="Quattrocento Sans"/>
                    <a:sym typeface="Quattrocento Sans"/>
                  </a:rPr>
                  <a:t>Dynamic Font Scaling</a:t>
                </a:r>
                <a:endParaRPr b="1" sz="115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00">
                    <a:solidFill>
                      <a:srgbClr val="475569"/>
                    </a:solidFill>
                    <a:latin typeface="Quattrocento Sans"/>
                    <a:ea typeface="Quattrocento Sans"/>
                    <a:cs typeface="Quattrocento Sans"/>
                    <a:sym typeface="Quattrocento Sans"/>
                  </a:rPr>
                  <a:t>Layout structures use flexible wrappers that remain stable up to 200% operating system text scaling.</a:t>
                </a:r>
                <a:endParaRPr b="0" sz="1000">
                  <a:solidFill>
                    <a:srgbClr val="475569"/>
                  </a:solidFill>
                  <a:latin typeface="Quattrocento Sans"/>
                  <a:ea typeface="Quattrocento Sans"/>
                  <a:cs typeface="Quattrocento Sans"/>
                  <a:sym typeface="Quattrocento Sans"/>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14"/>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4"/>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USABILITY GOALS &amp; EMPIRICAL BENCHMARKS</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Usability Goals &amp; Observable Behaviors</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Mapping Usability Goals to Working Prototype Capabilities and Evaluation Protocols</a:t>
            </a:r>
            <a:endParaRPr/>
          </a:p>
        </p:txBody>
      </p:sp>
      <p:sp>
        <p:nvSpPr>
          <p:cNvPr id="423" name="Google Shape;423;p14"/>
          <p:cNvSpPr/>
          <p:nvPr/>
        </p:nvSpPr>
        <p:spPr>
          <a:xfrm>
            <a:off x="600000" y="1799996"/>
            <a:ext cx="3500100" cy="45999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90500" lIns="190500" spcFirstLastPara="1" rIns="190500" wrap="square" tIns="190500">
            <a:noAutofit/>
          </a:bodyPr>
          <a:lstStyle/>
          <a:p>
            <a:pPr indent="0" lvl="0" marL="0" rtl="0" algn="l">
              <a:spcBef>
                <a:spcPts val="0"/>
              </a:spcBef>
              <a:spcAft>
                <a:spcPts val="0"/>
              </a:spcAft>
              <a:buNone/>
            </a:pPr>
            <a:r>
              <a:rPr b="1" i="0" lang="en-US" sz="1500">
                <a:solidFill>
                  <a:srgbClr val="0F172A"/>
                </a:solidFill>
                <a:latin typeface="Quattrocento Sans"/>
                <a:ea typeface="Quattrocento Sans"/>
                <a:cs typeface="Quattrocento Sans"/>
                <a:sym typeface="Quattrocento Sans"/>
              </a:rPr>
              <a:t>Goal 1: Learnability</a:t>
            </a:r>
            <a:endParaRPr b="1" i="0" sz="1500">
              <a:solidFill>
                <a:srgbClr val="0F172A"/>
              </a:solidFill>
              <a:latin typeface="Quattrocento Sans"/>
              <a:ea typeface="Quattrocento Sans"/>
              <a:cs typeface="Quattrocento Sans"/>
              <a:sym typeface="Quattrocento Sans"/>
            </a:endParaRPr>
          </a:p>
          <a:p>
            <a:pPr indent="-323850" lvl="0" marL="457200" rtl="0" algn="l">
              <a:spcBef>
                <a:spcPts val="12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Target Benchmark: </a:t>
            </a:r>
            <a:r>
              <a:rPr b="0" i="0" lang="en-US" sz="1100">
                <a:solidFill>
                  <a:srgbClr val="334155"/>
                </a:solidFill>
                <a:latin typeface="Quattrocento Sans"/>
                <a:ea typeface="Quattrocento Sans"/>
                <a:cs typeface="Quattrocento Sans"/>
                <a:sym typeface="Quattrocento Sans"/>
              </a:rPr>
              <a:t>Active project stage and next required action identified in &lt;= 10 seconds without instructions.</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Persona Rationale: </a:t>
            </a:r>
            <a:r>
              <a:rPr b="0" i="0" lang="en-US" sz="1100">
                <a:solidFill>
                  <a:srgbClr val="334155"/>
                </a:solidFill>
                <a:latin typeface="Quattrocento Sans"/>
                <a:ea typeface="Quattrocento Sans"/>
                <a:cs typeface="Quattrocento Sans"/>
                <a:sym typeface="Quattrocento Sans"/>
              </a:rPr>
              <a:t>Fred operates under time pressure and avoids lengthy help manuals.</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90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Evaluation Protocol: </a:t>
            </a:r>
            <a:r>
              <a:rPr b="0" i="0" lang="en-US" sz="1100">
                <a:solidFill>
                  <a:srgbClr val="334155"/>
                </a:solidFill>
                <a:latin typeface="Quattrocento Sans"/>
                <a:ea typeface="Quattrocento Sans"/>
                <a:cs typeface="Quattrocento Sans"/>
                <a:sym typeface="Quattrocento Sans"/>
              </a:rPr>
              <a:t>Cold app launch to correct verbal description across 5 test participants; pass target &gt;= 90% accuracy.</a:t>
            </a:r>
            <a:endParaRPr b="1" i="0" sz="1500">
              <a:solidFill>
                <a:srgbClr val="0F172A"/>
              </a:solidFill>
              <a:latin typeface="Quattrocento Sans"/>
              <a:ea typeface="Quattrocento Sans"/>
              <a:cs typeface="Quattrocento Sans"/>
              <a:sym typeface="Quattrocento Sans"/>
            </a:endParaRPr>
          </a:p>
        </p:txBody>
      </p:sp>
      <p:sp>
        <p:nvSpPr>
          <p:cNvPr id="424" name="Google Shape;424;p14"/>
          <p:cNvSpPr/>
          <p:nvPr/>
        </p:nvSpPr>
        <p:spPr>
          <a:xfrm>
            <a:off x="4300004" y="1799996"/>
            <a:ext cx="3500100" cy="45999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90500" lIns="190500" spcFirstLastPara="1" rIns="190500" wrap="square" tIns="190500">
            <a:noAutofit/>
          </a:bodyPr>
          <a:lstStyle/>
          <a:p>
            <a:pPr indent="0" lvl="0" marL="0" rtl="0" algn="l">
              <a:spcBef>
                <a:spcPts val="0"/>
              </a:spcBef>
              <a:spcAft>
                <a:spcPts val="0"/>
              </a:spcAft>
              <a:buNone/>
            </a:pPr>
            <a:r>
              <a:rPr b="1" i="0" lang="en-US" sz="1500">
                <a:solidFill>
                  <a:srgbClr val="0F172A"/>
                </a:solidFill>
                <a:latin typeface="Quattrocento Sans"/>
                <a:ea typeface="Quattrocento Sans"/>
                <a:cs typeface="Quattrocento Sans"/>
                <a:sym typeface="Quattrocento Sans"/>
              </a:rPr>
              <a:t>Goals 2 &amp; 3: Efficiency &amp; Error</a:t>
            </a:r>
            <a:endParaRPr b="1" i="0" sz="1500">
              <a:solidFill>
                <a:srgbClr val="0F172A"/>
              </a:solidFill>
              <a:latin typeface="Quattrocento Sans"/>
              <a:ea typeface="Quattrocento Sans"/>
              <a:cs typeface="Quattrocento Sans"/>
              <a:sym typeface="Quattrocento Sans"/>
            </a:endParaRPr>
          </a:p>
          <a:p>
            <a:pPr indent="-323850" lvl="0" marL="457200" rtl="0" algn="l">
              <a:spcBef>
                <a:spcPts val="12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Goal 2 (Efficiency): </a:t>
            </a:r>
            <a:r>
              <a:rPr b="0" i="0" lang="en-US" sz="1100">
                <a:solidFill>
                  <a:srgbClr val="334155"/>
                </a:solidFill>
                <a:latin typeface="Quattrocento Sans"/>
                <a:ea typeface="Quattrocento Sans"/>
                <a:cs typeface="Quattrocento Sans"/>
                <a:sym typeface="Quattrocento Sans"/>
              </a:rPr>
              <a:t>Contextual feedback submitted in &lt;= 60 seconds (&gt;= 40% faster than email chains).</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Evaluation Protocol: </a:t>
            </a:r>
            <a:r>
              <a:rPr b="0" i="0" lang="en-US" sz="1100">
                <a:solidFill>
                  <a:srgbClr val="334155"/>
                </a:solidFill>
                <a:latin typeface="Quattrocento Sans"/>
                <a:ea typeface="Quattrocento Sans"/>
                <a:cs typeface="Quattrocento Sans"/>
                <a:sym typeface="Quattrocento Sans"/>
              </a:rPr>
              <a:t>Timed comparative benchmark (Email vs ElegantLink) logging elapsed seconds and tap count.</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90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Goal 3 (Error Prevention): </a:t>
            </a:r>
            <a:r>
              <a:rPr b="0" i="0" lang="en-US" sz="1100">
                <a:solidFill>
                  <a:srgbClr val="334155"/>
                </a:solidFill>
                <a:latin typeface="Quattrocento Sans"/>
                <a:ea typeface="Quattrocento Sans"/>
                <a:cs typeface="Quattrocento Sans"/>
                <a:sym typeface="Quattrocento Sans"/>
              </a:rPr>
              <a:t>Exactly zero unintended milestone approvals (0% accidental error rate across 20 trials).</a:t>
            </a:r>
            <a:endParaRPr b="1" i="0" sz="1500">
              <a:solidFill>
                <a:srgbClr val="0F172A"/>
              </a:solidFill>
              <a:latin typeface="Quattrocento Sans"/>
              <a:ea typeface="Quattrocento Sans"/>
              <a:cs typeface="Quattrocento Sans"/>
              <a:sym typeface="Quattrocento Sans"/>
            </a:endParaRPr>
          </a:p>
        </p:txBody>
      </p:sp>
      <p:sp>
        <p:nvSpPr>
          <p:cNvPr id="425" name="Google Shape;425;p14"/>
          <p:cNvSpPr/>
          <p:nvPr/>
        </p:nvSpPr>
        <p:spPr>
          <a:xfrm>
            <a:off x="8000000" y="1799996"/>
            <a:ext cx="3500100" cy="45999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90500" lIns="190500" spcFirstLastPara="1" rIns="190500" wrap="square" tIns="190500">
            <a:noAutofit/>
          </a:bodyPr>
          <a:lstStyle/>
          <a:p>
            <a:pPr indent="0" lvl="0" marL="0" rtl="0" algn="l">
              <a:spcBef>
                <a:spcPts val="0"/>
              </a:spcBef>
              <a:spcAft>
                <a:spcPts val="0"/>
              </a:spcAft>
              <a:buNone/>
            </a:pPr>
            <a:r>
              <a:rPr b="1" i="0" lang="en-US" sz="1500">
                <a:solidFill>
                  <a:srgbClr val="0F172A"/>
                </a:solidFill>
                <a:latin typeface="Quattrocento Sans"/>
                <a:ea typeface="Quattrocento Sans"/>
                <a:cs typeface="Quattrocento Sans"/>
                <a:sym typeface="Quattrocento Sans"/>
              </a:rPr>
              <a:t>Goals 4 &amp; 5: SUS &amp; Access</a:t>
            </a:r>
            <a:endParaRPr b="1" i="0" sz="1500">
              <a:solidFill>
                <a:srgbClr val="0F172A"/>
              </a:solidFill>
              <a:latin typeface="Quattrocento Sans"/>
              <a:ea typeface="Quattrocento Sans"/>
              <a:cs typeface="Quattrocento Sans"/>
              <a:sym typeface="Quattrocento Sans"/>
            </a:endParaRPr>
          </a:p>
          <a:p>
            <a:pPr indent="-323850" lvl="0" marL="457200" rtl="0" algn="l">
              <a:spcBef>
                <a:spcPts val="12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Goal 4 (Satisfaction): </a:t>
            </a:r>
            <a:r>
              <a:rPr b="0" i="0" lang="en-US" sz="1100">
                <a:solidFill>
                  <a:srgbClr val="334155"/>
                </a:solidFill>
                <a:latin typeface="Quattrocento Sans"/>
                <a:ea typeface="Quattrocento Sans"/>
                <a:cs typeface="Quattrocento Sans"/>
                <a:sym typeface="Quattrocento Sans"/>
              </a:rPr>
              <a:t>Mean System Usability Scale (SUS) score &gt;= 68 (Above Average); &gt;= 80% transparency rating.</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Goal 5 (Accessibility): </a:t>
            </a:r>
            <a:r>
              <a:rPr b="0" i="0" lang="en-US" sz="1100">
                <a:solidFill>
                  <a:srgbClr val="334155"/>
                </a:solidFill>
                <a:latin typeface="Quattrocento Sans"/>
                <a:ea typeface="Quattrocento Sans"/>
                <a:cs typeface="Quattrocento Sans"/>
                <a:sym typeface="Quattrocento Sans"/>
              </a:rPr>
              <a:t>Strict WCAG 2.1 AA contrast (&gt;=4.5:1) and layout integrity maintained at 200% font scaling.</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90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Evaluation Protocol: </a:t>
            </a:r>
            <a:r>
              <a:rPr b="0" i="0" lang="en-US" sz="1100">
                <a:solidFill>
                  <a:srgbClr val="334155"/>
                </a:solidFill>
                <a:latin typeface="Quattrocento Sans"/>
                <a:ea typeface="Quattrocento Sans"/>
                <a:cs typeface="Quattrocento Sans"/>
                <a:sym typeface="Quattrocento Sans"/>
              </a:rPr>
              <a:t>Automated contrast scanner and think-aloud usability testing under simulated glare.</a:t>
            </a:r>
            <a:endParaRPr b="1" i="0" sz="1500">
              <a:solidFill>
                <a:srgbClr val="0F172A"/>
              </a:solidFill>
              <a:latin typeface="Quattrocento Sans"/>
              <a:ea typeface="Quattrocento Sans"/>
              <a:cs typeface="Quattrocento Sans"/>
              <a:sym typeface="Quattrocen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15"/>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5"/>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DATA GOVERNANCE &amp; PRIVACY ARCHITECTURE</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Data Flow Diagram (DFD) Specification</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Architectural Privacy Boundaries, Role Validation &amp; Australian Sovereign Encrypted Stores</a:t>
            </a:r>
            <a:endParaRPr/>
          </a:p>
        </p:txBody>
      </p:sp>
      <p:grpSp>
        <p:nvGrpSpPr>
          <p:cNvPr id="432" name="Google Shape;432;p15"/>
          <p:cNvGrpSpPr/>
          <p:nvPr/>
        </p:nvGrpSpPr>
        <p:grpSpPr>
          <a:xfrm>
            <a:off x="600075" y="1800225"/>
            <a:ext cx="5600700" cy="324000"/>
            <a:chOff x="0" y="0"/>
            <a:chExt cx="5600700" cy="324000"/>
          </a:xfrm>
        </p:grpSpPr>
        <p:sp>
          <p:nvSpPr>
            <p:cNvPr id="433" name="Google Shape;433;p15"/>
            <p:cNvSpPr/>
            <p:nvPr/>
          </p:nvSpPr>
          <p:spPr>
            <a:xfrm>
              <a:off x="0" y="0"/>
              <a:ext cx="5600700" cy="324000"/>
            </a:xfrm>
            <a:prstGeom prst="roundRect">
              <a:avLst>
                <a:gd fmla="val 17647"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4" name="Google Shape;434;p15"/>
            <p:cNvSpPr txBox="1"/>
            <p:nvPr/>
          </p:nvSpPr>
          <p:spPr>
            <a:xfrm>
              <a:off x="114300" y="0"/>
              <a:ext cx="5372100" cy="3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E40AF"/>
                  </a:solidFill>
                  <a:latin typeface="Quattrocento Sans"/>
                  <a:ea typeface="Quattrocento Sans"/>
                  <a:cs typeface="Quattrocento Sans"/>
                  <a:sym typeface="Quattrocento Sans"/>
                </a:rPr>
                <a:t>01 / ARCHITECTURAL DATA PROCESSES</a:t>
              </a:r>
              <a:endParaRPr b="1" sz="1100">
                <a:solidFill>
                  <a:srgbClr val="1E40AF"/>
                </a:solidFill>
                <a:latin typeface="Quattrocento Sans"/>
                <a:ea typeface="Quattrocento Sans"/>
                <a:cs typeface="Quattrocento Sans"/>
                <a:sym typeface="Quattrocento Sans"/>
              </a:endParaRPr>
            </a:p>
          </p:txBody>
        </p:sp>
      </p:grpSp>
      <p:grpSp>
        <p:nvGrpSpPr>
          <p:cNvPr id="435" name="Google Shape;435;p15"/>
          <p:cNvGrpSpPr/>
          <p:nvPr/>
        </p:nvGrpSpPr>
        <p:grpSpPr>
          <a:xfrm>
            <a:off x="600075" y="2219325"/>
            <a:ext cx="5600700" cy="628800"/>
            <a:chOff x="0" y="0"/>
            <a:chExt cx="5600700" cy="628800"/>
          </a:xfrm>
        </p:grpSpPr>
        <p:sp>
          <p:nvSpPr>
            <p:cNvPr id="436" name="Google Shape;436;p15"/>
            <p:cNvSpPr/>
            <p:nvPr/>
          </p:nvSpPr>
          <p:spPr>
            <a:xfrm>
              <a:off x="0" y="0"/>
              <a:ext cx="5600700" cy="628800"/>
            </a:xfrm>
            <a:prstGeom prst="roundRect">
              <a:avLst>
                <a:gd fmla="val 12121"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7" name="Google Shape;437;p15"/>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8" name="Google Shape;438;p15"/>
            <p:cNvSpPr txBox="1"/>
            <p:nvPr/>
          </p:nvSpPr>
          <p:spPr>
            <a:xfrm>
              <a:off x="114300" y="15963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fact_check</a:t>
              </a:r>
              <a:endParaRPr sz="1800">
                <a:solidFill>
                  <a:srgbClr val="2563EB"/>
                </a:solidFill>
                <a:latin typeface="Material Icons"/>
                <a:ea typeface="Material Icons"/>
                <a:cs typeface="Material Icons"/>
                <a:sym typeface="Material Icons"/>
              </a:endParaRPr>
            </a:p>
          </p:txBody>
        </p:sp>
        <p:sp>
          <p:nvSpPr>
            <p:cNvPr id="439" name="Google Shape;439;p15"/>
            <p:cNvSpPr txBox="1"/>
            <p:nvPr/>
          </p:nvSpPr>
          <p:spPr>
            <a:xfrm>
              <a:off x="590550" y="76200"/>
              <a:ext cx="4896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P1.0 Consent Management</a:t>
              </a:r>
              <a:endParaRPr b="1" sz="110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50">
                  <a:solidFill>
                    <a:srgbClr val="475569"/>
                  </a:solidFill>
                  <a:latin typeface="Quattrocento Sans"/>
                  <a:ea typeface="Quattrocento Sans"/>
                  <a:cs typeface="Quattrocento Sans"/>
                  <a:sym typeface="Quattrocento Sans"/>
                </a:rPr>
                <a:t>Captures granular, unbundled opt-in preferences for telemetry and notifications.</a:t>
              </a:r>
              <a:endParaRPr b="0" sz="950">
                <a:solidFill>
                  <a:srgbClr val="475569"/>
                </a:solidFill>
                <a:latin typeface="Quattrocento Sans"/>
                <a:ea typeface="Quattrocento Sans"/>
                <a:cs typeface="Quattrocento Sans"/>
                <a:sym typeface="Quattrocento Sans"/>
              </a:endParaRPr>
            </a:p>
          </p:txBody>
        </p:sp>
      </p:grpSp>
      <p:grpSp>
        <p:nvGrpSpPr>
          <p:cNvPr id="440" name="Google Shape;440;p15"/>
          <p:cNvGrpSpPr/>
          <p:nvPr/>
        </p:nvGrpSpPr>
        <p:grpSpPr>
          <a:xfrm>
            <a:off x="600075" y="2924175"/>
            <a:ext cx="5600700" cy="628800"/>
            <a:chOff x="0" y="0"/>
            <a:chExt cx="5600700" cy="628800"/>
          </a:xfrm>
        </p:grpSpPr>
        <p:sp>
          <p:nvSpPr>
            <p:cNvPr id="441" name="Google Shape;441;p15"/>
            <p:cNvSpPr/>
            <p:nvPr/>
          </p:nvSpPr>
          <p:spPr>
            <a:xfrm>
              <a:off x="0" y="0"/>
              <a:ext cx="5600700" cy="628800"/>
            </a:xfrm>
            <a:prstGeom prst="roundRect">
              <a:avLst>
                <a:gd fmla="val 12121"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2" name="Google Shape;442;p15"/>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3" name="Google Shape;443;p15"/>
            <p:cNvSpPr txBox="1"/>
            <p:nvPr/>
          </p:nvSpPr>
          <p:spPr>
            <a:xfrm>
              <a:off x="114300" y="15963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admin_panel_settings</a:t>
              </a:r>
              <a:endParaRPr sz="1800">
                <a:solidFill>
                  <a:srgbClr val="2563EB"/>
                </a:solidFill>
                <a:latin typeface="Material Icons"/>
                <a:ea typeface="Material Icons"/>
                <a:cs typeface="Material Icons"/>
                <a:sym typeface="Material Icons"/>
              </a:endParaRPr>
            </a:p>
          </p:txBody>
        </p:sp>
        <p:sp>
          <p:nvSpPr>
            <p:cNvPr id="444" name="Google Shape;444;p15"/>
            <p:cNvSpPr txBox="1"/>
            <p:nvPr/>
          </p:nvSpPr>
          <p:spPr>
            <a:xfrm>
              <a:off x="590550" y="76200"/>
              <a:ext cx="4896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P2.0 Access Control</a:t>
              </a:r>
              <a:endParaRPr b="1" sz="110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50">
                  <a:solidFill>
                    <a:srgbClr val="475569"/>
                  </a:solidFill>
                  <a:latin typeface="Quattrocento Sans"/>
                  <a:ea typeface="Quattrocento Sans"/>
                  <a:cs typeface="Quattrocento Sans"/>
                  <a:sym typeface="Quattrocento Sans"/>
                </a:rPr>
                <a:t>Enforces multi-factor authentication and token-based role verification.</a:t>
              </a:r>
              <a:endParaRPr b="0" sz="950">
                <a:solidFill>
                  <a:srgbClr val="475569"/>
                </a:solidFill>
                <a:latin typeface="Quattrocento Sans"/>
                <a:ea typeface="Quattrocento Sans"/>
                <a:cs typeface="Quattrocento Sans"/>
                <a:sym typeface="Quattrocento Sans"/>
              </a:endParaRPr>
            </a:p>
          </p:txBody>
        </p:sp>
      </p:grpSp>
      <p:grpSp>
        <p:nvGrpSpPr>
          <p:cNvPr id="445" name="Google Shape;445;p15"/>
          <p:cNvGrpSpPr/>
          <p:nvPr/>
        </p:nvGrpSpPr>
        <p:grpSpPr>
          <a:xfrm>
            <a:off x="600075" y="3629025"/>
            <a:ext cx="5600700" cy="628800"/>
            <a:chOff x="0" y="0"/>
            <a:chExt cx="5600700" cy="628800"/>
          </a:xfrm>
        </p:grpSpPr>
        <p:sp>
          <p:nvSpPr>
            <p:cNvPr id="446" name="Google Shape;446;p15"/>
            <p:cNvSpPr/>
            <p:nvPr/>
          </p:nvSpPr>
          <p:spPr>
            <a:xfrm>
              <a:off x="0" y="0"/>
              <a:ext cx="5600700" cy="628800"/>
            </a:xfrm>
            <a:prstGeom prst="roundRect">
              <a:avLst>
                <a:gd fmla="val 12121"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7" name="Google Shape;447;p15"/>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8" name="Google Shape;448;p15"/>
            <p:cNvSpPr txBox="1"/>
            <p:nvPr/>
          </p:nvSpPr>
          <p:spPr>
            <a:xfrm>
              <a:off x="114300" y="15963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sanitizer</a:t>
              </a:r>
              <a:endParaRPr sz="1800">
                <a:solidFill>
                  <a:srgbClr val="2563EB"/>
                </a:solidFill>
                <a:latin typeface="Material Icons"/>
                <a:ea typeface="Material Icons"/>
                <a:cs typeface="Material Icons"/>
                <a:sym typeface="Material Icons"/>
              </a:endParaRPr>
            </a:p>
          </p:txBody>
        </p:sp>
        <p:sp>
          <p:nvSpPr>
            <p:cNvPr id="449" name="Google Shape;449;p15"/>
            <p:cNvSpPr txBox="1"/>
            <p:nvPr/>
          </p:nvSpPr>
          <p:spPr>
            <a:xfrm>
              <a:off x="590550" y="76200"/>
              <a:ext cx="4896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P3.0 Curated Status Processing</a:t>
              </a:r>
              <a:endParaRPr b="1" sz="110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50">
                  <a:solidFill>
                    <a:srgbClr val="475569"/>
                  </a:solidFill>
                  <a:latin typeface="Quattrocento Sans"/>
                  <a:ea typeface="Quattrocento Sans"/>
                  <a:cs typeface="Quattrocento Sans"/>
                  <a:sym typeface="Quattrocento Sans"/>
                </a:rPr>
                <a:t>Sanitizes raw internal developer data before serving to client devices.</a:t>
              </a:r>
              <a:endParaRPr b="0" sz="950">
                <a:solidFill>
                  <a:srgbClr val="475569"/>
                </a:solidFill>
                <a:latin typeface="Quattrocento Sans"/>
                <a:ea typeface="Quattrocento Sans"/>
                <a:cs typeface="Quattrocento Sans"/>
                <a:sym typeface="Quattrocento Sans"/>
              </a:endParaRPr>
            </a:p>
          </p:txBody>
        </p:sp>
      </p:grpSp>
      <p:grpSp>
        <p:nvGrpSpPr>
          <p:cNvPr id="450" name="Google Shape;450;p15"/>
          <p:cNvGrpSpPr/>
          <p:nvPr/>
        </p:nvGrpSpPr>
        <p:grpSpPr>
          <a:xfrm>
            <a:off x="600075" y="4333875"/>
            <a:ext cx="5600700" cy="628800"/>
            <a:chOff x="0" y="0"/>
            <a:chExt cx="5600700" cy="628800"/>
          </a:xfrm>
        </p:grpSpPr>
        <p:sp>
          <p:nvSpPr>
            <p:cNvPr id="451" name="Google Shape;451;p15"/>
            <p:cNvSpPr/>
            <p:nvPr/>
          </p:nvSpPr>
          <p:spPr>
            <a:xfrm>
              <a:off x="0" y="0"/>
              <a:ext cx="5600700" cy="628800"/>
            </a:xfrm>
            <a:prstGeom prst="roundRect">
              <a:avLst>
                <a:gd fmla="val 12121"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2" name="Google Shape;452;p15"/>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3" name="Google Shape;453;p15"/>
            <p:cNvSpPr txBox="1"/>
            <p:nvPr/>
          </p:nvSpPr>
          <p:spPr>
            <a:xfrm>
              <a:off x="114300" y="15963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history_edu</a:t>
              </a:r>
              <a:endParaRPr sz="1800">
                <a:solidFill>
                  <a:srgbClr val="2563EB"/>
                </a:solidFill>
                <a:latin typeface="Material Icons"/>
                <a:ea typeface="Material Icons"/>
                <a:cs typeface="Material Icons"/>
                <a:sym typeface="Material Icons"/>
              </a:endParaRPr>
            </a:p>
          </p:txBody>
        </p:sp>
        <p:sp>
          <p:nvSpPr>
            <p:cNvPr id="454" name="Google Shape;454;p15"/>
            <p:cNvSpPr txBox="1"/>
            <p:nvPr/>
          </p:nvSpPr>
          <p:spPr>
            <a:xfrm>
              <a:off x="590550" y="76200"/>
              <a:ext cx="4896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P4.0 Governance Processing</a:t>
              </a:r>
              <a:endParaRPr b="1" sz="110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50">
                  <a:solidFill>
                    <a:srgbClr val="475569"/>
                  </a:solidFill>
                  <a:latin typeface="Quattrocento Sans"/>
                  <a:ea typeface="Quattrocento Sans"/>
                  <a:cs typeface="Quattrocento Sans"/>
                  <a:sym typeface="Quattrocento Sans"/>
                </a:rPr>
                <a:t>Attaches immutable cryptographic audit timestamps to approvals and feedback.</a:t>
              </a:r>
              <a:endParaRPr b="0" sz="950">
                <a:solidFill>
                  <a:srgbClr val="475569"/>
                </a:solidFill>
                <a:latin typeface="Quattrocento Sans"/>
                <a:ea typeface="Quattrocento Sans"/>
                <a:cs typeface="Quattrocento Sans"/>
                <a:sym typeface="Quattrocento Sans"/>
              </a:endParaRPr>
            </a:p>
          </p:txBody>
        </p:sp>
      </p:grpSp>
      <p:grpSp>
        <p:nvGrpSpPr>
          <p:cNvPr id="455" name="Google Shape;455;p15"/>
          <p:cNvGrpSpPr/>
          <p:nvPr/>
        </p:nvGrpSpPr>
        <p:grpSpPr>
          <a:xfrm>
            <a:off x="600075" y="5038725"/>
            <a:ext cx="5600700" cy="628800"/>
            <a:chOff x="0" y="0"/>
            <a:chExt cx="5600700" cy="628800"/>
          </a:xfrm>
        </p:grpSpPr>
        <p:sp>
          <p:nvSpPr>
            <p:cNvPr id="456" name="Google Shape;456;p15"/>
            <p:cNvSpPr/>
            <p:nvPr/>
          </p:nvSpPr>
          <p:spPr>
            <a:xfrm>
              <a:off x="0" y="0"/>
              <a:ext cx="5600700" cy="628800"/>
            </a:xfrm>
            <a:prstGeom prst="roundRect">
              <a:avLst>
                <a:gd fmla="val 12121"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7" name="Google Shape;457;p15"/>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8" name="Google Shape;458;p15"/>
            <p:cNvSpPr txBox="1"/>
            <p:nvPr/>
          </p:nvSpPr>
          <p:spPr>
            <a:xfrm>
              <a:off x="114300" y="15963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visibility_off</a:t>
              </a:r>
              <a:endParaRPr sz="1800">
                <a:solidFill>
                  <a:srgbClr val="2563EB"/>
                </a:solidFill>
                <a:latin typeface="Material Icons"/>
                <a:ea typeface="Material Icons"/>
                <a:cs typeface="Material Icons"/>
                <a:sym typeface="Material Icons"/>
              </a:endParaRPr>
            </a:p>
          </p:txBody>
        </p:sp>
        <p:sp>
          <p:nvSpPr>
            <p:cNvPr id="459" name="Google Shape;459;p15"/>
            <p:cNvSpPr txBox="1"/>
            <p:nvPr/>
          </p:nvSpPr>
          <p:spPr>
            <a:xfrm>
              <a:off x="590550" y="76200"/>
              <a:ext cx="4896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P5.0 De-identification Pipeline</a:t>
              </a:r>
              <a:endParaRPr b="1" sz="110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50">
                  <a:solidFill>
                    <a:srgbClr val="475569"/>
                  </a:solidFill>
                  <a:latin typeface="Quattrocento Sans"/>
                  <a:ea typeface="Quattrocento Sans"/>
                  <a:cs typeface="Quattrocento Sans"/>
                  <a:sym typeface="Quattrocento Sans"/>
                </a:rPr>
                <a:t>Strips all PII from raw diagnostic events before passing to analytical stores.</a:t>
              </a:r>
              <a:endParaRPr b="0" sz="950">
                <a:solidFill>
                  <a:srgbClr val="475569"/>
                </a:solidFill>
                <a:latin typeface="Quattrocento Sans"/>
                <a:ea typeface="Quattrocento Sans"/>
                <a:cs typeface="Quattrocento Sans"/>
                <a:sym typeface="Quattrocento Sans"/>
              </a:endParaRPr>
            </a:p>
          </p:txBody>
        </p:sp>
      </p:grpSp>
      <p:grpSp>
        <p:nvGrpSpPr>
          <p:cNvPr id="460" name="Google Shape;460;p15"/>
          <p:cNvGrpSpPr/>
          <p:nvPr/>
        </p:nvGrpSpPr>
        <p:grpSpPr>
          <a:xfrm>
            <a:off x="600075" y="5743575"/>
            <a:ext cx="5600700" cy="628800"/>
            <a:chOff x="0" y="0"/>
            <a:chExt cx="5600700" cy="628800"/>
          </a:xfrm>
        </p:grpSpPr>
        <p:sp>
          <p:nvSpPr>
            <p:cNvPr id="461" name="Google Shape;461;p15"/>
            <p:cNvSpPr/>
            <p:nvPr/>
          </p:nvSpPr>
          <p:spPr>
            <a:xfrm>
              <a:off x="0" y="0"/>
              <a:ext cx="5600700" cy="628800"/>
            </a:xfrm>
            <a:prstGeom prst="roundRect">
              <a:avLst>
                <a:gd fmla="val 12121"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2" name="Google Shape;462;p15"/>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3" name="Google Shape;463;p15"/>
            <p:cNvSpPr txBox="1"/>
            <p:nvPr/>
          </p:nvSpPr>
          <p:spPr>
            <a:xfrm>
              <a:off x="114300" y="15963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lock</a:t>
              </a:r>
              <a:endParaRPr sz="1800">
                <a:solidFill>
                  <a:srgbClr val="2563EB"/>
                </a:solidFill>
                <a:latin typeface="Material Icons"/>
                <a:ea typeface="Material Icons"/>
                <a:cs typeface="Material Icons"/>
                <a:sym typeface="Material Icons"/>
              </a:endParaRPr>
            </a:p>
          </p:txBody>
        </p:sp>
        <p:sp>
          <p:nvSpPr>
            <p:cNvPr id="464" name="Google Shape;464;p15"/>
            <p:cNvSpPr txBox="1"/>
            <p:nvPr/>
          </p:nvSpPr>
          <p:spPr>
            <a:xfrm>
              <a:off x="590550" y="76200"/>
              <a:ext cx="4896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Encrypted Stores (AES-256)</a:t>
              </a:r>
              <a:endParaRPr b="1" sz="110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50">
                  <a:solidFill>
                    <a:srgbClr val="475569"/>
                  </a:solidFill>
                  <a:latin typeface="Quattrocento Sans"/>
                  <a:ea typeface="Quattrocento Sans"/>
                  <a:cs typeface="Quattrocento Sans"/>
                  <a:sym typeface="Quattrocento Sans"/>
                </a:rPr>
                <a:t>D1 (Consent), D2 (Milestones), D3 (Audit Log), D4 (De-identified Analytics).</a:t>
              </a:r>
              <a:endParaRPr b="0" sz="950">
                <a:solidFill>
                  <a:srgbClr val="475569"/>
                </a:solidFill>
                <a:latin typeface="Quattrocento Sans"/>
                <a:ea typeface="Quattrocento Sans"/>
                <a:cs typeface="Quattrocento Sans"/>
                <a:sym typeface="Quattrocento Sans"/>
              </a:endParaRPr>
            </a:p>
          </p:txBody>
        </p:sp>
      </p:grpSp>
      <p:pic>
        <p:nvPicPr>
          <p:cNvPr id="465" name="Google Shape;465;p15"/>
          <p:cNvPicPr preferRelativeResize="0"/>
          <p:nvPr/>
        </p:nvPicPr>
        <p:blipFill rotWithShape="1">
          <a:blip r:embed="rId3">
            <a:alphaModFix/>
          </a:blip>
          <a:srcRect b="9893" l="0" r="-2291" t="-1745"/>
          <a:stretch/>
        </p:blipFill>
        <p:spPr>
          <a:xfrm>
            <a:off x="6557153" y="1857146"/>
            <a:ext cx="5091900" cy="4572300"/>
          </a:xfrm>
          <a:prstGeom prst="roundRect">
            <a:avLst>
              <a:gd fmla="val 1999" name="adj"/>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16"/>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6"/>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ETHICAL COMPLIANCE &amp; PRIVACY PRINCIPLES</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Australian Privacy Principles &amp; CASFUD</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Informed Consent, Anonymity, Defense-in-Depth Security &amp; Client Data Sovereignty</a:t>
            </a:r>
            <a:endParaRPr/>
          </a:p>
        </p:txBody>
      </p:sp>
      <p:grpSp>
        <p:nvGrpSpPr>
          <p:cNvPr id="472" name="Google Shape;472;p16"/>
          <p:cNvGrpSpPr/>
          <p:nvPr/>
        </p:nvGrpSpPr>
        <p:grpSpPr>
          <a:xfrm>
            <a:off x="600075" y="1800225"/>
            <a:ext cx="2619300" cy="4619700"/>
            <a:chOff x="0" y="0"/>
            <a:chExt cx="2619300" cy="4619700"/>
          </a:xfrm>
        </p:grpSpPr>
        <p:sp>
          <p:nvSpPr>
            <p:cNvPr id="473" name="Google Shape;473;p16"/>
            <p:cNvSpPr/>
            <p:nvPr/>
          </p:nvSpPr>
          <p:spPr>
            <a:xfrm>
              <a:off x="0" y="0"/>
              <a:ext cx="2619300" cy="4619700"/>
            </a:xfrm>
            <a:prstGeom prst="roundRect">
              <a:avLst>
                <a:gd fmla="val 2909"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4" name="Google Shape;474;p16"/>
            <p:cNvSpPr/>
            <p:nvPr/>
          </p:nvSpPr>
          <p:spPr>
            <a:xfrm>
              <a:off x="152400" y="152400"/>
              <a:ext cx="2314500" cy="304800"/>
            </a:xfrm>
            <a:prstGeom prst="roundRect">
              <a:avLst>
                <a:gd fmla="val 1875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5" name="Google Shape;475;p16"/>
            <p:cNvSpPr txBox="1"/>
            <p:nvPr/>
          </p:nvSpPr>
          <p:spPr>
            <a:xfrm>
              <a:off x="152400" y="152400"/>
              <a:ext cx="2314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1E40AF"/>
                  </a:solidFill>
                  <a:latin typeface="Quattrocento Sans"/>
                  <a:ea typeface="Quattrocento Sans"/>
                  <a:cs typeface="Quattrocento Sans"/>
                  <a:sym typeface="Quattrocento Sans"/>
                </a:rPr>
                <a:t>01 / C — CONSENT</a:t>
              </a:r>
              <a:endParaRPr b="1" sz="1000">
                <a:solidFill>
                  <a:srgbClr val="1E40AF"/>
                </a:solidFill>
                <a:latin typeface="Quattrocento Sans"/>
                <a:ea typeface="Quattrocento Sans"/>
                <a:cs typeface="Quattrocento Sans"/>
                <a:sym typeface="Quattrocento Sans"/>
              </a:endParaRPr>
            </a:p>
          </p:txBody>
        </p:sp>
        <p:sp>
          <p:nvSpPr>
            <p:cNvPr id="476" name="Google Shape;476;p16"/>
            <p:cNvSpPr/>
            <p:nvPr/>
          </p:nvSpPr>
          <p:spPr>
            <a:xfrm>
              <a:off x="152400" y="571500"/>
              <a:ext cx="381000" cy="381000"/>
            </a:xfrm>
            <a:prstGeom prst="roundRect">
              <a:avLst>
                <a:gd fmla="val 20000"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7" name="Google Shape;477;p16"/>
            <p:cNvSpPr txBox="1"/>
            <p:nvPr/>
          </p:nvSpPr>
          <p:spPr>
            <a:xfrm>
              <a:off x="152400" y="60071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fact_check</a:t>
              </a:r>
              <a:endParaRPr sz="2000">
                <a:solidFill>
                  <a:srgbClr val="2563EB"/>
                </a:solidFill>
                <a:latin typeface="Material Icons"/>
                <a:ea typeface="Material Icons"/>
                <a:cs typeface="Material Icons"/>
                <a:sym typeface="Material Icons"/>
              </a:endParaRPr>
            </a:p>
          </p:txBody>
        </p:sp>
        <p:sp>
          <p:nvSpPr>
            <p:cNvPr id="478" name="Google Shape;478;p16"/>
            <p:cNvSpPr txBox="1"/>
            <p:nvPr/>
          </p:nvSpPr>
          <p:spPr>
            <a:xfrm>
              <a:off x="628650" y="571500"/>
              <a:ext cx="1838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F172A"/>
                  </a:solidFill>
                  <a:latin typeface="Quattrocento Sans"/>
                  <a:ea typeface="Quattrocento Sans"/>
                  <a:cs typeface="Quattrocento Sans"/>
                  <a:sym typeface="Quattrocento Sans"/>
                </a:rPr>
                <a:t>Informed Consent</a:t>
              </a:r>
              <a:endParaRPr b="1" sz="1300">
                <a:solidFill>
                  <a:srgbClr val="0F172A"/>
                </a:solidFill>
                <a:latin typeface="Quattrocento Sans"/>
                <a:ea typeface="Quattrocento Sans"/>
                <a:cs typeface="Quattrocento Sans"/>
                <a:sym typeface="Quattrocento Sans"/>
              </a:endParaRPr>
            </a:p>
          </p:txBody>
        </p:sp>
        <p:sp>
          <p:nvSpPr>
            <p:cNvPr id="479" name="Google Shape;479;p16"/>
            <p:cNvSpPr txBox="1"/>
            <p:nvPr/>
          </p:nvSpPr>
          <p:spPr>
            <a:xfrm>
              <a:off x="152400" y="1066800"/>
              <a:ext cx="2314500" cy="33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APP 1 &amp; APP 5 Compliance:</a:t>
              </a:r>
              <a:br>
                <a:rPr lang="en-US">
                  <a:latin typeface="Quattrocento Sans"/>
                  <a:ea typeface="Quattrocento Sans"/>
                  <a:cs typeface="Quattrocento Sans"/>
                  <a:sym typeface="Quattrocento Sans"/>
                </a:rPr>
              </a:br>
              <a:r>
                <a:rPr b="0" lang="en-US" sz="1000">
                  <a:solidFill>
                    <a:srgbClr val="334155"/>
                  </a:solidFill>
                  <a:latin typeface="Quattrocento Sans"/>
                  <a:ea typeface="Quattrocento Sans"/>
                  <a:cs typeface="Quattrocento Sans"/>
                  <a:sym typeface="Quattrocento Sans"/>
                </a:rPr>
                <a:t>Plain-language in-app consent sheets replace dense legalistic policies (LaMonica et al. 2021).</a:t>
              </a:r>
              <a:endParaRPr>
                <a:latin typeface="Quattrocento Sans"/>
                <a:ea typeface="Quattrocento Sans"/>
                <a:cs typeface="Quattrocento Sans"/>
                <a:sym typeface="Quattrocento Sans"/>
              </a:endParaRPr>
            </a:p>
            <a:p>
              <a:pPr indent="0" lvl="0" marL="0" rtl="0" algn="l">
                <a:spcBef>
                  <a:spcPts val="1050"/>
                </a:spcBef>
                <a:spcAft>
                  <a:spcPts val="1050"/>
                </a:spcAft>
                <a:buNone/>
              </a:pPr>
              <a:r>
                <a:rPr b="1" lang="en-US" sz="1050">
                  <a:solidFill>
                    <a:srgbClr val="2563EB"/>
                  </a:solidFill>
                  <a:latin typeface="Quattrocento Sans"/>
                  <a:ea typeface="Quattrocento Sans"/>
                  <a:cs typeface="Quattrocento Sans"/>
                  <a:sym typeface="Quattrocento Sans"/>
                </a:rPr>
                <a:t>Unbundled Opt-In Controls:</a:t>
              </a:r>
              <a:br>
                <a:rPr lang="en-US">
                  <a:latin typeface="Quattrocento Sans"/>
                  <a:ea typeface="Quattrocento Sans"/>
                  <a:cs typeface="Quattrocento Sans"/>
                  <a:sym typeface="Quattrocento Sans"/>
                </a:rPr>
              </a:br>
              <a:r>
                <a:rPr b="0" lang="en-US" sz="1000">
                  <a:solidFill>
                    <a:srgbClr val="334155"/>
                  </a:solidFill>
                  <a:latin typeface="Quattrocento Sans"/>
                  <a:ea typeface="Quattrocento Sans"/>
                  <a:cs typeface="Quattrocento Sans"/>
                  <a:sym typeface="Quattrocento Sans"/>
                </a:rPr>
                <a:t>Granular toggles allow approving critical governance alerts while declining secondary telemetry.</a:t>
              </a:r>
              <a:endParaRPr>
                <a:latin typeface="Quattrocento Sans"/>
                <a:ea typeface="Quattrocento Sans"/>
                <a:cs typeface="Quattrocento Sans"/>
                <a:sym typeface="Quattrocento Sans"/>
              </a:endParaRPr>
            </a:p>
          </p:txBody>
        </p:sp>
      </p:grpSp>
      <p:grpSp>
        <p:nvGrpSpPr>
          <p:cNvPr id="480" name="Google Shape;480;p16"/>
          <p:cNvGrpSpPr/>
          <p:nvPr/>
        </p:nvGrpSpPr>
        <p:grpSpPr>
          <a:xfrm>
            <a:off x="3390900" y="1800225"/>
            <a:ext cx="2619300" cy="4619700"/>
            <a:chOff x="0" y="0"/>
            <a:chExt cx="2619300" cy="4619700"/>
          </a:xfrm>
        </p:grpSpPr>
        <p:sp>
          <p:nvSpPr>
            <p:cNvPr id="481" name="Google Shape;481;p16"/>
            <p:cNvSpPr/>
            <p:nvPr/>
          </p:nvSpPr>
          <p:spPr>
            <a:xfrm>
              <a:off x="0" y="0"/>
              <a:ext cx="2619300" cy="4619700"/>
            </a:xfrm>
            <a:prstGeom prst="roundRect">
              <a:avLst>
                <a:gd fmla="val 2909"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2" name="Google Shape;482;p16"/>
            <p:cNvSpPr/>
            <p:nvPr/>
          </p:nvSpPr>
          <p:spPr>
            <a:xfrm>
              <a:off x="152400" y="152400"/>
              <a:ext cx="2314500" cy="304800"/>
            </a:xfrm>
            <a:prstGeom prst="roundRect">
              <a:avLst>
                <a:gd fmla="val 1875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3" name="Google Shape;483;p16"/>
            <p:cNvSpPr txBox="1"/>
            <p:nvPr/>
          </p:nvSpPr>
          <p:spPr>
            <a:xfrm>
              <a:off x="152400" y="152400"/>
              <a:ext cx="2314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1E40AF"/>
                  </a:solidFill>
                  <a:latin typeface="Quattrocento Sans"/>
                  <a:ea typeface="Quattrocento Sans"/>
                  <a:cs typeface="Quattrocento Sans"/>
                  <a:sym typeface="Quattrocento Sans"/>
                </a:rPr>
                <a:t>02 / A — ANONYMITY</a:t>
              </a:r>
              <a:endParaRPr b="1" sz="1000">
                <a:solidFill>
                  <a:srgbClr val="1E40AF"/>
                </a:solidFill>
                <a:latin typeface="Quattrocento Sans"/>
                <a:ea typeface="Quattrocento Sans"/>
                <a:cs typeface="Quattrocento Sans"/>
                <a:sym typeface="Quattrocento Sans"/>
              </a:endParaRPr>
            </a:p>
          </p:txBody>
        </p:sp>
        <p:sp>
          <p:nvSpPr>
            <p:cNvPr id="484" name="Google Shape;484;p16"/>
            <p:cNvSpPr/>
            <p:nvPr/>
          </p:nvSpPr>
          <p:spPr>
            <a:xfrm>
              <a:off x="152400" y="571500"/>
              <a:ext cx="381000" cy="381000"/>
            </a:xfrm>
            <a:prstGeom prst="roundRect">
              <a:avLst>
                <a:gd fmla="val 20000"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5" name="Google Shape;485;p16"/>
            <p:cNvSpPr txBox="1"/>
            <p:nvPr/>
          </p:nvSpPr>
          <p:spPr>
            <a:xfrm>
              <a:off x="152400" y="60071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visibility_off</a:t>
              </a:r>
              <a:endParaRPr sz="2000">
                <a:solidFill>
                  <a:srgbClr val="2563EB"/>
                </a:solidFill>
                <a:latin typeface="Material Icons"/>
                <a:ea typeface="Material Icons"/>
                <a:cs typeface="Material Icons"/>
                <a:sym typeface="Material Icons"/>
              </a:endParaRPr>
            </a:p>
          </p:txBody>
        </p:sp>
        <p:sp>
          <p:nvSpPr>
            <p:cNvPr id="486" name="Google Shape;486;p16"/>
            <p:cNvSpPr txBox="1"/>
            <p:nvPr/>
          </p:nvSpPr>
          <p:spPr>
            <a:xfrm>
              <a:off x="628650" y="571500"/>
              <a:ext cx="1838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F172A"/>
                  </a:solidFill>
                  <a:latin typeface="Quattrocento Sans"/>
                  <a:ea typeface="Quattrocento Sans"/>
                  <a:cs typeface="Quattrocento Sans"/>
                  <a:sym typeface="Quattrocento Sans"/>
                </a:rPr>
                <a:t>Pseudonymity</a:t>
              </a:r>
              <a:endParaRPr b="1" sz="1300">
                <a:solidFill>
                  <a:srgbClr val="0F172A"/>
                </a:solidFill>
                <a:latin typeface="Quattrocento Sans"/>
                <a:ea typeface="Quattrocento Sans"/>
                <a:cs typeface="Quattrocento Sans"/>
                <a:sym typeface="Quattrocento Sans"/>
              </a:endParaRPr>
            </a:p>
          </p:txBody>
        </p:sp>
        <p:sp>
          <p:nvSpPr>
            <p:cNvPr id="487" name="Google Shape;487;p16"/>
            <p:cNvSpPr txBox="1"/>
            <p:nvPr/>
          </p:nvSpPr>
          <p:spPr>
            <a:xfrm>
              <a:off x="152400" y="1066800"/>
              <a:ext cx="2314500" cy="33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APP 2 Compliance:</a:t>
              </a:r>
              <a:br>
                <a:rPr lang="en-US">
                  <a:latin typeface="Quattrocento Sans"/>
                  <a:ea typeface="Quattrocento Sans"/>
                  <a:cs typeface="Quattrocento Sans"/>
                  <a:sym typeface="Quattrocento Sans"/>
                </a:rPr>
              </a:br>
              <a:r>
                <a:rPr b="0" lang="en-US" sz="1000">
                  <a:solidFill>
                    <a:srgbClr val="334155"/>
                  </a:solidFill>
                  <a:latin typeface="Quattrocento Sans"/>
                  <a:ea typeface="Quattrocento Sans"/>
                  <a:cs typeface="Quattrocento Sans"/>
                  <a:sym typeface="Quattrocento Sans"/>
                </a:rPr>
                <a:t>While formal contracts require verified identity, all diagnostic analytics are irreversibly anonymized.</a:t>
              </a:r>
              <a:endParaRPr>
                <a:latin typeface="Quattrocento Sans"/>
                <a:ea typeface="Quattrocento Sans"/>
                <a:cs typeface="Quattrocento Sans"/>
                <a:sym typeface="Quattrocento Sans"/>
              </a:endParaRPr>
            </a:p>
            <a:p>
              <a:pPr indent="0" lvl="0" marL="0" rtl="0" algn="l">
                <a:spcBef>
                  <a:spcPts val="1050"/>
                </a:spcBef>
                <a:spcAft>
                  <a:spcPts val="1050"/>
                </a:spcAft>
                <a:buNone/>
              </a:pPr>
              <a:r>
                <a:rPr b="1" lang="en-US" sz="1050">
                  <a:solidFill>
                    <a:srgbClr val="2563EB"/>
                  </a:solidFill>
                  <a:latin typeface="Quattrocento Sans"/>
                  <a:ea typeface="Quattrocento Sans"/>
                  <a:cs typeface="Quattrocento Sans"/>
                  <a:sym typeface="Quattrocento Sans"/>
                </a:rPr>
                <a:t>Zero Commercial Tracking:</a:t>
              </a:r>
              <a:br>
                <a:rPr lang="en-US">
                  <a:latin typeface="Quattrocento Sans"/>
                  <a:ea typeface="Quattrocento Sans"/>
                  <a:cs typeface="Quattrocento Sans"/>
                  <a:sym typeface="Quattrocento Sans"/>
                </a:rPr>
              </a:br>
              <a:r>
                <a:rPr b="0" lang="en-US" sz="1000">
                  <a:solidFill>
                    <a:srgbClr val="334155"/>
                  </a:solidFill>
                  <a:latin typeface="Quattrocento Sans"/>
                  <a:ea typeface="Quattrocento Sans"/>
                  <a:cs typeface="Quattrocento Sans"/>
                  <a:sym typeface="Quattrocento Sans"/>
                </a:rPr>
                <a:t>Third-party tracking SDKs and cross-app advertising identifiers are strictly banned.</a:t>
              </a:r>
              <a:endParaRPr>
                <a:latin typeface="Quattrocento Sans"/>
                <a:ea typeface="Quattrocento Sans"/>
                <a:cs typeface="Quattrocento Sans"/>
                <a:sym typeface="Quattrocento Sans"/>
              </a:endParaRPr>
            </a:p>
          </p:txBody>
        </p:sp>
      </p:grpSp>
      <p:grpSp>
        <p:nvGrpSpPr>
          <p:cNvPr id="488" name="Google Shape;488;p16"/>
          <p:cNvGrpSpPr/>
          <p:nvPr/>
        </p:nvGrpSpPr>
        <p:grpSpPr>
          <a:xfrm>
            <a:off x="6181725" y="1800225"/>
            <a:ext cx="2619300" cy="4619700"/>
            <a:chOff x="0" y="0"/>
            <a:chExt cx="2619300" cy="4619700"/>
          </a:xfrm>
        </p:grpSpPr>
        <p:sp>
          <p:nvSpPr>
            <p:cNvPr id="489" name="Google Shape;489;p16"/>
            <p:cNvSpPr/>
            <p:nvPr/>
          </p:nvSpPr>
          <p:spPr>
            <a:xfrm>
              <a:off x="0" y="0"/>
              <a:ext cx="2619300" cy="4619700"/>
            </a:xfrm>
            <a:prstGeom prst="roundRect">
              <a:avLst>
                <a:gd fmla="val 2909"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0" name="Google Shape;490;p16"/>
            <p:cNvSpPr/>
            <p:nvPr/>
          </p:nvSpPr>
          <p:spPr>
            <a:xfrm>
              <a:off x="152400" y="152400"/>
              <a:ext cx="2314500" cy="304800"/>
            </a:xfrm>
            <a:prstGeom prst="roundRect">
              <a:avLst>
                <a:gd fmla="val 1875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1" name="Google Shape;491;p16"/>
            <p:cNvSpPr txBox="1"/>
            <p:nvPr/>
          </p:nvSpPr>
          <p:spPr>
            <a:xfrm>
              <a:off x="152400" y="152400"/>
              <a:ext cx="2314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1E40AF"/>
                  </a:solidFill>
                  <a:latin typeface="Quattrocento Sans"/>
                  <a:ea typeface="Quattrocento Sans"/>
                  <a:cs typeface="Quattrocento Sans"/>
                  <a:sym typeface="Quattrocento Sans"/>
                </a:rPr>
                <a:t>03 / S — SECURITY</a:t>
              </a:r>
              <a:endParaRPr b="1" sz="1000">
                <a:solidFill>
                  <a:srgbClr val="1E40AF"/>
                </a:solidFill>
                <a:latin typeface="Quattrocento Sans"/>
                <a:ea typeface="Quattrocento Sans"/>
                <a:cs typeface="Quattrocento Sans"/>
                <a:sym typeface="Quattrocento Sans"/>
              </a:endParaRPr>
            </a:p>
          </p:txBody>
        </p:sp>
        <p:sp>
          <p:nvSpPr>
            <p:cNvPr id="492" name="Google Shape;492;p16"/>
            <p:cNvSpPr/>
            <p:nvPr/>
          </p:nvSpPr>
          <p:spPr>
            <a:xfrm>
              <a:off x="152400" y="571500"/>
              <a:ext cx="381000" cy="381000"/>
            </a:xfrm>
            <a:prstGeom prst="roundRect">
              <a:avLst>
                <a:gd fmla="val 20000"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3" name="Google Shape;493;p16"/>
            <p:cNvSpPr txBox="1"/>
            <p:nvPr/>
          </p:nvSpPr>
          <p:spPr>
            <a:xfrm>
              <a:off x="152400" y="60071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lock</a:t>
              </a:r>
              <a:endParaRPr sz="2000">
                <a:solidFill>
                  <a:srgbClr val="2563EB"/>
                </a:solidFill>
                <a:latin typeface="Material Icons"/>
                <a:ea typeface="Material Icons"/>
                <a:cs typeface="Material Icons"/>
                <a:sym typeface="Material Icons"/>
              </a:endParaRPr>
            </a:p>
          </p:txBody>
        </p:sp>
        <p:sp>
          <p:nvSpPr>
            <p:cNvPr id="494" name="Google Shape;494;p16"/>
            <p:cNvSpPr txBox="1"/>
            <p:nvPr/>
          </p:nvSpPr>
          <p:spPr>
            <a:xfrm>
              <a:off x="628650" y="571500"/>
              <a:ext cx="1838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F172A"/>
                  </a:solidFill>
                  <a:latin typeface="Quattrocento Sans"/>
                  <a:ea typeface="Quattrocento Sans"/>
                  <a:cs typeface="Quattrocento Sans"/>
                  <a:sym typeface="Quattrocento Sans"/>
                </a:rPr>
                <a:t>Data Security</a:t>
              </a:r>
              <a:endParaRPr b="1" sz="1300">
                <a:solidFill>
                  <a:srgbClr val="0F172A"/>
                </a:solidFill>
                <a:latin typeface="Quattrocento Sans"/>
                <a:ea typeface="Quattrocento Sans"/>
                <a:cs typeface="Quattrocento Sans"/>
                <a:sym typeface="Quattrocento Sans"/>
              </a:endParaRPr>
            </a:p>
          </p:txBody>
        </p:sp>
        <p:sp>
          <p:nvSpPr>
            <p:cNvPr id="495" name="Google Shape;495;p16"/>
            <p:cNvSpPr txBox="1"/>
            <p:nvPr/>
          </p:nvSpPr>
          <p:spPr>
            <a:xfrm>
              <a:off x="152400" y="1066800"/>
              <a:ext cx="2314500" cy="33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APP 11 Compliance:</a:t>
              </a:r>
              <a:br>
                <a:rPr lang="en-US">
                  <a:latin typeface="Quattrocento Sans"/>
                  <a:ea typeface="Quattrocento Sans"/>
                  <a:cs typeface="Quattrocento Sans"/>
                  <a:sym typeface="Quattrocento Sans"/>
                </a:rPr>
              </a:br>
              <a:r>
                <a:rPr b="0" lang="en-US" sz="1000">
                  <a:solidFill>
                    <a:srgbClr val="334155"/>
                  </a:solidFill>
                  <a:latin typeface="Quattrocento Sans"/>
                  <a:ea typeface="Quattrocento Sans"/>
                  <a:cs typeface="Quattrocento Sans"/>
                  <a:sym typeface="Quattrocento Sans"/>
                </a:rPr>
                <a:t>Defense-in-depth (Dahiya et al. 2024); TLS 1.3 in transit and AES-256 at rest in AU sovereign clouds.</a:t>
              </a:r>
              <a:endParaRPr>
                <a:latin typeface="Quattrocento Sans"/>
                <a:ea typeface="Quattrocento Sans"/>
                <a:cs typeface="Quattrocento Sans"/>
                <a:sym typeface="Quattrocento Sans"/>
              </a:endParaRPr>
            </a:p>
            <a:p>
              <a:pPr indent="0" lvl="0" marL="0" rtl="0" algn="l">
                <a:spcBef>
                  <a:spcPts val="1050"/>
                </a:spcBef>
                <a:spcAft>
                  <a:spcPts val="1050"/>
                </a:spcAft>
                <a:buNone/>
              </a:pPr>
              <a:r>
                <a:rPr b="1" lang="en-US" sz="1050">
                  <a:solidFill>
                    <a:srgbClr val="2563EB"/>
                  </a:solidFill>
                  <a:latin typeface="Quattrocento Sans"/>
                  <a:ea typeface="Quattrocento Sans"/>
                  <a:cs typeface="Quattrocento Sans"/>
                  <a:sym typeface="Quattrocento Sans"/>
                </a:rPr>
                <a:t>Biometric Auth:</a:t>
              </a:r>
              <a:br>
                <a:rPr lang="en-US">
                  <a:latin typeface="Quattrocento Sans"/>
                  <a:ea typeface="Quattrocento Sans"/>
                  <a:cs typeface="Quattrocento Sans"/>
                  <a:sym typeface="Quattrocento Sans"/>
                </a:rPr>
              </a:br>
              <a:r>
                <a:rPr b="0" lang="en-US" sz="1000">
                  <a:solidFill>
                    <a:srgbClr val="334155"/>
                  </a:solidFill>
                  <a:latin typeface="Quattrocento Sans"/>
                  <a:ea typeface="Quattrocento Sans"/>
                  <a:cs typeface="Quattrocento Sans"/>
                  <a:sym typeface="Quattrocento Sans"/>
                </a:rPr>
                <a:t>Secure hardware enclave integration (Face ID / Fingerprint) protects unauthorized access.</a:t>
              </a:r>
              <a:endParaRPr>
                <a:latin typeface="Quattrocento Sans"/>
                <a:ea typeface="Quattrocento Sans"/>
                <a:cs typeface="Quattrocento Sans"/>
                <a:sym typeface="Quattrocento Sans"/>
              </a:endParaRPr>
            </a:p>
          </p:txBody>
        </p:sp>
      </p:grpSp>
      <p:grpSp>
        <p:nvGrpSpPr>
          <p:cNvPr id="496" name="Google Shape;496;p16"/>
          <p:cNvGrpSpPr/>
          <p:nvPr/>
        </p:nvGrpSpPr>
        <p:grpSpPr>
          <a:xfrm>
            <a:off x="8972550" y="1800225"/>
            <a:ext cx="2619300" cy="4619700"/>
            <a:chOff x="0" y="0"/>
            <a:chExt cx="2619300" cy="4619700"/>
          </a:xfrm>
        </p:grpSpPr>
        <p:sp>
          <p:nvSpPr>
            <p:cNvPr id="497" name="Google Shape;497;p16"/>
            <p:cNvSpPr/>
            <p:nvPr/>
          </p:nvSpPr>
          <p:spPr>
            <a:xfrm>
              <a:off x="0" y="0"/>
              <a:ext cx="2619300" cy="4619700"/>
            </a:xfrm>
            <a:prstGeom prst="roundRect">
              <a:avLst>
                <a:gd fmla="val 2909"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8" name="Google Shape;498;p16"/>
            <p:cNvSpPr/>
            <p:nvPr/>
          </p:nvSpPr>
          <p:spPr>
            <a:xfrm>
              <a:off x="152400" y="152400"/>
              <a:ext cx="2314500" cy="304800"/>
            </a:xfrm>
            <a:prstGeom prst="roundRect">
              <a:avLst>
                <a:gd fmla="val 1875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9" name="Google Shape;499;p16"/>
            <p:cNvSpPr txBox="1"/>
            <p:nvPr/>
          </p:nvSpPr>
          <p:spPr>
            <a:xfrm>
              <a:off x="152400" y="152400"/>
              <a:ext cx="2314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1E40AF"/>
                  </a:solidFill>
                  <a:latin typeface="Quattrocento Sans"/>
                  <a:ea typeface="Quattrocento Sans"/>
                  <a:cs typeface="Quattrocento Sans"/>
                  <a:sym typeface="Quattrocento Sans"/>
                </a:rPr>
                <a:t>04 / F / UD — CONTROL</a:t>
              </a:r>
              <a:endParaRPr b="1" sz="1000">
                <a:solidFill>
                  <a:srgbClr val="1E40AF"/>
                </a:solidFill>
                <a:latin typeface="Quattrocento Sans"/>
                <a:ea typeface="Quattrocento Sans"/>
                <a:cs typeface="Quattrocento Sans"/>
                <a:sym typeface="Quattrocento Sans"/>
              </a:endParaRPr>
            </a:p>
          </p:txBody>
        </p:sp>
        <p:sp>
          <p:nvSpPr>
            <p:cNvPr id="500" name="Google Shape;500;p16"/>
            <p:cNvSpPr/>
            <p:nvPr/>
          </p:nvSpPr>
          <p:spPr>
            <a:xfrm>
              <a:off x="152400" y="571500"/>
              <a:ext cx="381000" cy="381000"/>
            </a:xfrm>
            <a:prstGeom prst="roundRect">
              <a:avLst>
                <a:gd fmla="val 20000"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1" name="Google Shape;501;p16"/>
            <p:cNvSpPr txBox="1"/>
            <p:nvPr/>
          </p:nvSpPr>
          <p:spPr>
            <a:xfrm>
              <a:off x="152400" y="60071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admin_panel_settings</a:t>
              </a:r>
              <a:endParaRPr sz="2000">
                <a:solidFill>
                  <a:srgbClr val="2563EB"/>
                </a:solidFill>
                <a:latin typeface="Material Icons"/>
                <a:ea typeface="Material Icons"/>
                <a:cs typeface="Material Icons"/>
                <a:sym typeface="Material Icons"/>
              </a:endParaRPr>
            </a:p>
          </p:txBody>
        </p:sp>
        <p:sp>
          <p:nvSpPr>
            <p:cNvPr id="502" name="Google Shape;502;p16"/>
            <p:cNvSpPr txBox="1"/>
            <p:nvPr/>
          </p:nvSpPr>
          <p:spPr>
            <a:xfrm>
              <a:off x="628650" y="571500"/>
              <a:ext cx="1838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F172A"/>
                  </a:solidFill>
                  <a:latin typeface="Quattrocento Sans"/>
                  <a:ea typeface="Quattrocento Sans"/>
                  <a:cs typeface="Quattrocento Sans"/>
                  <a:sym typeface="Quattrocento Sans"/>
                </a:rPr>
                <a:t>Data Sovereignty</a:t>
              </a:r>
              <a:endParaRPr b="1" sz="1300">
                <a:solidFill>
                  <a:srgbClr val="0F172A"/>
                </a:solidFill>
                <a:latin typeface="Quattrocento Sans"/>
                <a:ea typeface="Quattrocento Sans"/>
                <a:cs typeface="Quattrocento Sans"/>
                <a:sym typeface="Quattrocento Sans"/>
              </a:endParaRPr>
            </a:p>
          </p:txBody>
        </p:sp>
        <p:sp>
          <p:nvSpPr>
            <p:cNvPr id="503" name="Google Shape;503;p16"/>
            <p:cNvSpPr txBox="1"/>
            <p:nvPr/>
          </p:nvSpPr>
          <p:spPr>
            <a:xfrm>
              <a:off x="152400" y="1066800"/>
              <a:ext cx="2314500" cy="33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APP 12 &amp; 13 Compliance:</a:t>
              </a:r>
              <a:br>
                <a:rPr lang="en-US">
                  <a:latin typeface="Quattrocento Sans"/>
                  <a:ea typeface="Quattrocento Sans"/>
                  <a:cs typeface="Quattrocento Sans"/>
                  <a:sym typeface="Quattrocento Sans"/>
                </a:rPr>
              </a:br>
              <a:r>
                <a:rPr b="0" lang="en-US" sz="1000">
                  <a:solidFill>
                    <a:srgbClr val="334155"/>
                  </a:solidFill>
                  <a:latin typeface="Quattrocento Sans"/>
                  <a:ea typeface="Quattrocento Sans"/>
                  <a:cs typeface="Quattrocento Sans"/>
                  <a:sym typeface="Quattrocento Sans"/>
                </a:rPr>
                <a:t>In-app Privacy Sheet allows Fred to review data, export signed certificates, and request deletion.</a:t>
              </a:r>
              <a:endParaRPr>
                <a:latin typeface="Quattrocento Sans"/>
                <a:ea typeface="Quattrocento Sans"/>
                <a:cs typeface="Quattrocento Sans"/>
                <a:sym typeface="Quattrocento Sans"/>
              </a:endParaRPr>
            </a:p>
            <a:p>
              <a:pPr indent="0" lvl="0" marL="0" rtl="0" algn="l">
                <a:spcBef>
                  <a:spcPts val="1050"/>
                </a:spcBef>
                <a:spcAft>
                  <a:spcPts val="1050"/>
                </a:spcAft>
                <a:buNone/>
              </a:pPr>
              <a:r>
                <a:rPr b="1" lang="en-US" sz="1050">
                  <a:solidFill>
                    <a:srgbClr val="2563EB"/>
                  </a:solidFill>
                  <a:latin typeface="Quattrocento Sans"/>
                  <a:ea typeface="Quattrocento Sans"/>
                  <a:cs typeface="Quattrocento Sans"/>
                  <a:sym typeface="Quattrocento Sans"/>
                </a:rPr>
                <a:t>Full Transparency:</a:t>
              </a:r>
              <a:br>
                <a:rPr lang="en-US">
                  <a:latin typeface="Quattrocento Sans"/>
                  <a:ea typeface="Quattrocento Sans"/>
                  <a:cs typeface="Quattrocento Sans"/>
                  <a:sym typeface="Quattrocento Sans"/>
                </a:rPr>
              </a:br>
              <a:r>
                <a:rPr b="0" lang="en-US" sz="1000">
                  <a:solidFill>
                    <a:srgbClr val="334155"/>
                  </a:solidFill>
                  <a:latin typeface="Quattrocento Sans"/>
                  <a:ea typeface="Quattrocento Sans"/>
                  <a:cs typeface="Quattrocento Sans"/>
                  <a:sym typeface="Quattrocento Sans"/>
                </a:rPr>
                <a:t>Full immutable audit log accessible directly from the app's Governance tab.</a:t>
              </a:r>
              <a:endParaRPr>
                <a:latin typeface="Quattrocento Sans"/>
                <a:ea typeface="Quattrocento Sans"/>
                <a:cs typeface="Quattrocento Sans"/>
                <a:sym typeface="Quattrocento San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7"/>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7"/>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ETHICAL DESIGN &amp; AUTONOMY PRESERVATION</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Rejecting Mobile Dark Patterns</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Neutral Choice Architecture, Equal-Weight Actions, Financial Transparency &amp; Digital Equity</a:t>
            </a:r>
            <a:endParaRPr/>
          </a:p>
        </p:txBody>
      </p:sp>
      <p:grpSp>
        <p:nvGrpSpPr>
          <p:cNvPr id="510" name="Google Shape;510;p17"/>
          <p:cNvGrpSpPr/>
          <p:nvPr/>
        </p:nvGrpSpPr>
        <p:grpSpPr>
          <a:xfrm>
            <a:off x="600075" y="1743075"/>
            <a:ext cx="4953000" cy="285750"/>
            <a:chOff x="0" y="-19050"/>
            <a:chExt cx="4953000" cy="285750"/>
          </a:xfrm>
        </p:grpSpPr>
        <p:sp>
          <p:nvSpPr>
            <p:cNvPr id="511" name="Google Shape;511;p17"/>
            <p:cNvSpPr/>
            <p:nvPr/>
          </p:nvSpPr>
          <p:spPr>
            <a:xfrm>
              <a:off x="0" y="0"/>
              <a:ext cx="4953000" cy="266700"/>
            </a:xfrm>
            <a:prstGeom prst="roundRect">
              <a:avLst>
                <a:gd fmla="val 21428"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2" name="Google Shape;512;p17"/>
            <p:cNvSpPr txBox="1"/>
            <p:nvPr/>
          </p:nvSpPr>
          <p:spPr>
            <a:xfrm>
              <a:off x="114300" y="-19050"/>
              <a:ext cx="47244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1E40AF"/>
                  </a:solidFill>
                  <a:latin typeface="Quattrocento Sans"/>
                  <a:ea typeface="Quattrocento Sans"/>
                  <a:cs typeface="Quattrocento Sans"/>
                  <a:sym typeface="Quattrocento Sans"/>
                </a:rPr>
                <a:t>01 / REJECTING DECEPTIVE PATTERNS</a:t>
              </a:r>
              <a:endParaRPr b="1" sz="1000">
                <a:solidFill>
                  <a:srgbClr val="1E40AF"/>
                </a:solidFill>
                <a:latin typeface="Quattrocento Sans"/>
                <a:ea typeface="Quattrocento Sans"/>
                <a:cs typeface="Quattrocento Sans"/>
                <a:sym typeface="Quattrocento Sans"/>
              </a:endParaRPr>
            </a:p>
          </p:txBody>
        </p:sp>
      </p:grpSp>
      <p:grpSp>
        <p:nvGrpSpPr>
          <p:cNvPr id="513" name="Google Shape;513;p17"/>
          <p:cNvGrpSpPr/>
          <p:nvPr/>
        </p:nvGrpSpPr>
        <p:grpSpPr>
          <a:xfrm>
            <a:off x="600075" y="2162175"/>
            <a:ext cx="4953000" cy="781200"/>
            <a:chOff x="0" y="0"/>
            <a:chExt cx="4953000" cy="781200"/>
          </a:xfrm>
        </p:grpSpPr>
        <p:sp>
          <p:nvSpPr>
            <p:cNvPr id="514" name="Google Shape;514;p17"/>
            <p:cNvSpPr/>
            <p:nvPr/>
          </p:nvSpPr>
          <p:spPr>
            <a:xfrm>
              <a:off x="0" y="0"/>
              <a:ext cx="4953000" cy="781200"/>
            </a:xfrm>
            <a:prstGeom prst="roundRect">
              <a:avLst>
                <a:gd fmla="val 9756"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5" name="Google Shape;515;p17"/>
            <p:cNvSpPr/>
            <p:nvPr/>
          </p:nvSpPr>
          <p:spPr>
            <a:xfrm>
              <a:off x="114300" y="114300"/>
              <a:ext cx="324000" cy="324000"/>
            </a:xfrm>
            <a:prstGeom prst="roundRect">
              <a:avLst>
                <a:gd fmla="val 176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6" name="Google Shape;516;p17"/>
            <p:cNvSpPr txBox="1"/>
            <p:nvPr/>
          </p:nvSpPr>
          <p:spPr>
            <a:xfrm>
              <a:off x="114300" y="137668"/>
              <a:ext cx="3240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2563EB"/>
                  </a:solidFill>
                  <a:latin typeface="Material Icons"/>
                  <a:ea typeface="Material Icons"/>
                  <a:cs typeface="Material Icons"/>
                  <a:sym typeface="Material Icons"/>
                </a:rPr>
                <a:t>balance</a:t>
              </a:r>
              <a:endParaRPr b="0" sz="1600">
                <a:solidFill>
                  <a:srgbClr val="2563EB"/>
                </a:solidFill>
                <a:latin typeface="Material Icons"/>
                <a:ea typeface="Material Icons"/>
                <a:cs typeface="Material Icons"/>
                <a:sym typeface="Material Icons"/>
              </a:endParaRPr>
            </a:p>
          </p:txBody>
        </p:sp>
        <p:sp>
          <p:nvSpPr>
            <p:cNvPr id="517" name="Google Shape;517;p17"/>
            <p:cNvSpPr txBox="1"/>
            <p:nvPr/>
          </p:nvSpPr>
          <p:spPr>
            <a:xfrm>
              <a:off x="533400" y="76200"/>
              <a:ext cx="4305300" cy="62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Equal Visual Weight</a:t>
              </a:r>
              <a:endParaRPr b="1" sz="105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00">
                  <a:solidFill>
                    <a:srgbClr val="334155"/>
                  </a:solidFill>
                  <a:latin typeface="Quattrocento Sans"/>
                  <a:ea typeface="Quattrocento Sans"/>
                  <a:cs typeface="Quattrocento Sans"/>
                  <a:sym typeface="Quattrocento Sans"/>
                </a:rPr>
                <a:t>'Approve Milestone' and 'Request Changes' feature identical button dimensions, stroke weights, and neutral styling.</a:t>
              </a:r>
              <a:endParaRPr b="1" sz="900">
                <a:solidFill>
                  <a:srgbClr val="2563EB"/>
                </a:solidFill>
                <a:latin typeface="Quattrocento Sans"/>
                <a:ea typeface="Quattrocento Sans"/>
                <a:cs typeface="Quattrocento Sans"/>
                <a:sym typeface="Quattrocento Sans"/>
              </a:endParaRPr>
            </a:p>
          </p:txBody>
        </p:sp>
      </p:grpSp>
      <p:grpSp>
        <p:nvGrpSpPr>
          <p:cNvPr id="518" name="Google Shape;518;p17"/>
          <p:cNvGrpSpPr/>
          <p:nvPr/>
        </p:nvGrpSpPr>
        <p:grpSpPr>
          <a:xfrm>
            <a:off x="600075" y="3228975"/>
            <a:ext cx="4953000" cy="781200"/>
            <a:chOff x="0" y="0"/>
            <a:chExt cx="4953000" cy="781200"/>
          </a:xfrm>
        </p:grpSpPr>
        <p:sp>
          <p:nvSpPr>
            <p:cNvPr id="519" name="Google Shape;519;p17"/>
            <p:cNvSpPr/>
            <p:nvPr/>
          </p:nvSpPr>
          <p:spPr>
            <a:xfrm>
              <a:off x="0" y="0"/>
              <a:ext cx="4953000" cy="781200"/>
            </a:xfrm>
            <a:prstGeom prst="roundRect">
              <a:avLst>
                <a:gd fmla="val 9756"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0" name="Google Shape;520;p17"/>
            <p:cNvSpPr/>
            <p:nvPr/>
          </p:nvSpPr>
          <p:spPr>
            <a:xfrm>
              <a:off x="114300" y="114300"/>
              <a:ext cx="324000" cy="324000"/>
            </a:xfrm>
            <a:prstGeom prst="roundRect">
              <a:avLst>
                <a:gd fmla="val 176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1" name="Google Shape;521;p17"/>
            <p:cNvSpPr txBox="1"/>
            <p:nvPr/>
          </p:nvSpPr>
          <p:spPr>
            <a:xfrm>
              <a:off x="114300" y="137668"/>
              <a:ext cx="3240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2563EB"/>
                  </a:solidFill>
                  <a:latin typeface="Material Icons"/>
                  <a:ea typeface="Material Icons"/>
                  <a:cs typeface="Material Icons"/>
                  <a:sym typeface="Material Icons"/>
                </a:rPr>
                <a:t>block</a:t>
              </a:r>
              <a:endParaRPr b="0" sz="1600">
                <a:solidFill>
                  <a:srgbClr val="2563EB"/>
                </a:solidFill>
                <a:latin typeface="Material Icons"/>
                <a:ea typeface="Material Icons"/>
                <a:cs typeface="Material Icons"/>
                <a:sym typeface="Material Icons"/>
              </a:endParaRPr>
            </a:p>
          </p:txBody>
        </p:sp>
        <p:sp>
          <p:nvSpPr>
            <p:cNvPr id="522" name="Google Shape;522;p17"/>
            <p:cNvSpPr txBox="1"/>
            <p:nvPr/>
          </p:nvSpPr>
          <p:spPr>
            <a:xfrm>
              <a:off x="533400" y="76200"/>
              <a:ext cx="4305300" cy="62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Zero Asymmetric Nudging</a:t>
              </a:r>
              <a:endParaRPr b="1" sz="105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00">
                  <a:solidFill>
                    <a:srgbClr val="334155"/>
                  </a:solidFill>
                  <a:latin typeface="Quattrocento Sans"/>
                  <a:ea typeface="Quattrocento Sans"/>
                  <a:cs typeface="Quattrocento Sans"/>
                  <a:sym typeface="Quattrocento Sans"/>
                </a:rPr>
                <a:t>Rejection of deceptive patterns documented by Li et al. (2025, p. 8), such as bright primary colors on 'Approve' paired with invisible text links on 'Decline'.</a:t>
              </a:r>
              <a:endParaRPr b="1" sz="900">
                <a:solidFill>
                  <a:srgbClr val="2563EB"/>
                </a:solidFill>
                <a:latin typeface="Quattrocento Sans"/>
                <a:ea typeface="Quattrocento Sans"/>
                <a:cs typeface="Quattrocento Sans"/>
                <a:sym typeface="Quattrocento Sans"/>
              </a:endParaRPr>
            </a:p>
          </p:txBody>
        </p:sp>
      </p:grpSp>
      <p:grpSp>
        <p:nvGrpSpPr>
          <p:cNvPr id="523" name="Google Shape;523;p17"/>
          <p:cNvGrpSpPr/>
          <p:nvPr/>
        </p:nvGrpSpPr>
        <p:grpSpPr>
          <a:xfrm>
            <a:off x="600075" y="4295775"/>
            <a:ext cx="4953000" cy="781200"/>
            <a:chOff x="0" y="0"/>
            <a:chExt cx="4953000" cy="781200"/>
          </a:xfrm>
        </p:grpSpPr>
        <p:sp>
          <p:nvSpPr>
            <p:cNvPr id="524" name="Google Shape;524;p17"/>
            <p:cNvSpPr/>
            <p:nvPr/>
          </p:nvSpPr>
          <p:spPr>
            <a:xfrm>
              <a:off x="0" y="0"/>
              <a:ext cx="4953000" cy="781200"/>
            </a:xfrm>
            <a:prstGeom prst="roundRect">
              <a:avLst>
                <a:gd fmla="val 9756"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5" name="Google Shape;525;p17"/>
            <p:cNvSpPr/>
            <p:nvPr/>
          </p:nvSpPr>
          <p:spPr>
            <a:xfrm>
              <a:off x="114300" y="114300"/>
              <a:ext cx="324000" cy="324000"/>
            </a:xfrm>
            <a:prstGeom prst="roundRect">
              <a:avLst>
                <a:gd fmla="val 176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6" name="Google Shape;526;p17"/>
            <p:cNvSpPr txBox="1"/>
            <p:nvPr/>
          </p:nvSpPr>
          <p:spPr>
            <a:xfrm>
              <a:off x="114300" y="137668"/>
              <a:ext cx="3240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2563EB"/>
                  </a:solidFill>
                  <a:latin typeface="Material Icons"/>
                  <a:ea typeface="Material Icons"/>
                  <a:cs typeface="Material Icons"/>
                  <a:sym typeface="Material Icons"/>
                </a:rPr>
                <a:t>hourglass_disabled</a:t>
              </a:r>
              <a:endParaRPr b="0" sz="1600">
                <a:solidFill>
                  <a:srgbClr val="2563EB"/>
                </a:solidFill>
                <a:latin typeface="Material Icons"/>
                <a:ea typeface="Material Icons"/>
                <a:cs typeface="Material Icons"/>
                <a:sym typeface="Material Icons"/>
              </a:endParaRPr>
            </a:p>
          </p:txBody>
        </p:sp>
        <p:sp>
          <p:nvSpPr>
            <p:cNvPr id="527" name="Google Shape;527;p17"/>
            <p:cNvSpPr txBox="1"/>
            <p:nvPr/>
          </p:nvSpPr>
          <p:spPr>
            <a:xfrm>
              <a:off x="533400" y="76200"/>
              <a:ext cx="4305300" cy="62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No Artificial Urgency</a:t>
              </a:r>
              <a:endParaRPr b="1" sz="105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00">
                  <a:solidFill>
                    <a:srgbClr val="334155"/>
                  </a:solidFill>
                  <a:latin typeface="Quattrocento Sans"/>
                  <a:ea typeface="Quattrocento Sans"/>
                  <a:cs typeface="Quattrocento Sans"/>
                  <a:sym typeface="Quattrocento Sans"/>
                </a:rPr>
                <a:t>Completely eliminates countdown clocks, fake deadlines, and coercive scarcity banners.</a:t>
              </a:r>
              <a:endParaRPr b="1" sz="900">
                <a:solidFill>
                  <a:srgbClr val="2563EB"/>
                </a:solidFill>
                <a:latin typeface="Quattrocento Sans"/>
                <a:ea typeface="Quattrocento Sans"/>
                <a:cs typeface="Quattrocento Sans"/>
                <a:sym typeface="Quattrocento Sans"/>
              </a:endParaRPr>
            </a:p>
          </p:txBody>
        </p:sp>
      </p:grpSp>
      <p:grpSp>
        <p:nvGrpSpPr>
          <p:cNvPr id="528" name="Google Shape;528;p17"/>
          <p:cNvGrpSpPr/>
          <p:nvPr/>
        </p:nvGrpSpPr>
        <p:grpSpPr>
          <a:xfrm>
            <a:off x="600075" y="5362575"/>
            <a:ext cx="4953000" cy="781200"/>
            <a:chOff x="0" y="0"/>
            <a:chExt cx="4953000" cy="781200"/>
          </a:xfrm>
        </p:grpSpPr>
        <p:sp>
          <p:nvSpPr>
            <p:cNvPr id="529" name="Google Shape;529;p17"/>
            <p:cNvSpPr/>
            <p:nvPr/>
          </p:nvSpPr>
          <p:spPr>
            <a:xfrm>
              <a:off x="0" y="0"/>
              <a:ext cx="4953000" cy="781200"/>
            </a:xfrm>
            <a:prstGeom prst="roundRect">
              <a:avLst>
                <a:gd fmla="val 9756"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0" name="Google Shape;530;p17"/>
            <p:cNvSpPr/>
            <p:nvPr/>
          </p:nvSpPr>
          <p:spPr>
            <a:xfrm>
              <a:off x="114300" y="114300"/>
              <a:ext cx="324000" cy="324000"/>
            </a:xfrm>
            <a:prstGeom prst="roundRect">
              <a:avLst>
                <a:gd fmla="val 176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1" name="Google Shape;531;p17"/>
            <p:cNvSpPr txBox="1"/>
            <p:nvPr/>
          </p:nvSpPr>
          <p:spPr>
            <a:xfrm>
              <a:off x="114300" y="137668"/>
              <a:ext cx="3240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2563EB"/>
                  </a:solidFill>
                  <a:latin typeface="Material Icons"/>
                  <a:ea typeface="Material Icons"/>
                  <a:cs typeface="Material Icons"/>
                  <a:sym typeface="Material Icons"/>
                </a:rPr>
                <a:t>payments</a:t>
              </a:r>
              <a:endParaRPr b="0" sz="1600">
                <a:solidFill>
                  <a:srgbClr val="2563EB"/>
                </a:solidFill>
                <a:latin typeface="Material Icons"/>
                <a:ea typeface="Material Icons"/>
                <a:cs typeface="Material Icons"/>
                <a:sym typeface="Material Icons"/>
              </a:endParaRPr>
            </a:p>
          </p:txBody>
        </p:sp>
        <p:sp>
          <p:nvSpPr>
            <p:cNvPr id="532" name="Google Shape;532;p17"/>
            <p:cNvSpPr txBox="1"/>
            <p:nvPr/>
          </p:nvSpPr>
          <p:spPr>
            <a:xfrm>
              <a:off x="533400" y="76200"/>
              <a:ext cx="4305300" cy="62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Upfront Financial Liability</a:t>
              </a:r>
              <a:endParaRPr b="1" sz="105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00">
                  <a:solidFill>
                    <a:srgbClr val="334155"/>
                  </a:solidFill>
                  <a:latin typeface="Quattrocento Sans"/>
                  <a:ea typeface="Quattrocento Sans"/>
                  <a:cs typeface="Quattrocento Sans"/>
                  <a:sym typeface="Quattrocento Sans"/>
                </a:rPr>
                <a:t>Invoicing liabilities ($12,500 AUD) are explicitly disclosed before triggering sign-off modals.</a:t>
              </a:r>
              <a:endParaRPr b="1" sz="900">
                <a:solidFill>
                  <a:srgbClr val="2563EB"/>
                </a:solidFill>
                <a:latin typeface="Quattrocento Sans"/>
                <a:ea typeface="Quattrocento Sans"/>
                <a:cs typeface="Quattrocento Sans"/>
                <a:sym typeface="Quattrocento Sans"/>
              </a:endParaRPr>
            </a:p>
          </p:txBody>
        </p:sp>
      </p:grpSp>
      <p:grpSp>
        <p:nvGrpSpPr>
          <p:cNvPr id="533" name="Google Shape;533;p17"/>
          <p:cNvGrpSpPr/>
          <p:nvPr/>
        </p:nvGrpSpPr>
        <p:grpSpPr>
          <a:xfrm>
            <a:off x="6334125" y="1743075"/>
            <a:ext cx="4953000" cy="285750"/>
            <a:chOff x="0" y="-19050"/>
            <a:chExt cx="4953000" cy="285750"/>
          </a:xfrm>
        </p:grpSpPr>
        <p:sp>
          <p:nvSpPr>
            <p:cNvPr id="534" name="Google Shape;534;p17"/>
            <p:cNvSpPr/>
            <p:nvPr/>
          </p:nvSpPr>
          <p:spPr>
            <a:xfrm>
              <a:off x="0" y="0"/>
              <a:ext cx="4953000" cy="266700"/>
            </a:xfrm>
            <a:prstGeom prst="roundRect">
              <a:avLst>
                <a:gd fmla="val 21428"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5" name="Google Shape;535;p17"/>
            <p:cNvSpPr txBox="1"/>
            <p:nvPr/>
          </p:nvSpPr>
          <p:spPr>
            <a:xfrm>
              <a:off x="114300" y="-19050"/>
              <a:ext cx="47244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1E40AF"/>
                  </a:solidFill>
                  <a:latin typeface="Quattrocento Sans"/>
                  <a:ea typeface="Quattrocento Sans"/>
                  <a:cs typeface="Quattrocento Sans"/>
                  <a:sym typeface="Quattrocento Sans"/>
                </a:rPr>
                <a:t>02 / DIGITAL EQUITY &amp; HARDWARE INCLUSIVITY</a:t>
              </a:r>
              <a:endParaRPr b="1" sz="1000">
                <a:solidFill>
                  <a:srgbClr val="1E40AF"/>
                </a:solidFill>
                <a:latin typeface="Quattrocento Sans"/>
                <a:ea typeface="Quattrocento Sans"/>
                <a:cs typeface="Quattrocento Sans"/>
                <a:sym typeface="Quattrocento Sans"/>
              </a:endParaRPr>
            </a:p>
          </p:txBody>
        </p:sp>
      </p:grpSp>
      <p:grpSp>
        <p:nvGrpSpPr>
          <p:cNvPr id="536" name="Google Shape;536;p17"/>
          <p:cNvGrpSpPr/>
          <p:nvPr/>
        </p:nvGrpSpPr>
        <p:grpSpPr>
          <a:xfrm>
            <a:off x="6334125" y="2162175"/>
            <a:ext cx="4953000" cy="781200"/>
            <a:chOff x="0" y="0"/>
            <a:chExt cx="4953000" cy="781200"/>
          </a:xfrm>
        </p:grpSpPr>
        <p:sp>
          <p:nvSpPr>
            <p:cNvPr id="537" name="Google Shape;537;p17"/>
            <p:cNvSpPr/>
            <p:nvPr/>
          </p:nvSpPr>
          <p:spPr>
            <a:xfrm>
              <a:off x="0" y="0"/>
              <a:ext cx="4953000" cy="781200"/>
            </a:xfrm>
            <a:prstGeom prst="roundRect">
              <a:avLst>
                <a:gd fmla="val 9756"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8" name="Google Shape;538;p17"/>
            <p:cNvSpPr/>
            <p:nvPr/>
          </p:nvSpPr>
          <p:spPr>
            <a:xfrm>
              <a:off x="114300" y="114300"/>
              <a:ext cx="324000" cy="324000"/>
            </a:xfrm>
            <a:prstGeom prst="roundRect">
              <a:avLst>
                <a:gd fmla="val 176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9" name="Google Shape;539;p17"/>
            <p:cNvSpPr txBox="1"/>
            <p:nvPr/>
          </p:nvSpPr>
          <p:spPr>
            <a:xfrm>
              <a:off x="114300" y="137668"/>
              <a:ext cx="3240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2563EB"/>
                  </a:solidFill>
                  <a:latin typeface="Material Icons"/>
                  <a:ea typeface="Material Icons"/>
                  <a:cs typeface="Material Icons"/>
                  <a:sym typeface="Material Icons"/>
                </a:rPr>
                <a:t>smartphone</a:t>
              </a:r>
              <a:endParaRPr b="0" sz="1600">
                <a:solidFill>
                  <a:srgbClr val="2563EB"/>
                </a:solidFill>
                <a:latin typeface="Material Icons"/>
                <a:ea typeface="Material Icons"/>
                <a:cs typeface="Material Icons"/>
                <a:sym typeface="Material Icons"/>
              </a:endParaRPr>
            </a:p>
          </p:txBody>
        </p:sp>
        <p:sp>
          <p:nvSpPr>
            <p:cNvPr id="540" name="Google Shape;540;p17"/>
            <p:cNvSpPr txBox="1"/>
            <p:nvPr/>
          </p:nvSpPr>
          <p:spPr>
            <a:xfrm>
              <a:off x="533400" y="76200"/>
              <a:ext cx="4305300" cy="62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Mid-Range Device Optimization</a:t>
              </a:r>
              <a:endParaRPr b="1" sz="105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00">
                  <a:solidFill>
                    <a:srgbClr val="334155"/>
                  </a:solidFill>
                  <a:latin typeface="Quattrocento Sans"/>
                  <a:ea typeface="Quattrocento Sans"/>
                  <a:cs typeface="Quattrocento Sans"/>
                  <a:sym typeface="Quattrocento Sans"/>
                </a:rPr>
                <a:t>Engineered and tested to run smoothly on affordable Android devices (e.g. Samsung Galaxy A54).</a:t>
              </a:r>
              <a:endParaRPr b="1" sz="900">
                <a:solidFill>
                  <a:srgbClr val="2563EB"/>
                </a:solidFill>
                <a:latin typeface="Quattrocento Sans"/>
                <a:ea typeface="Quattrocento Sans"/>
                <a:cs typeface="Quattrocento Sans"/>
                <a:sym typeface="Quattrocento Sans"/>
              </a:endParaRPr>
            </a:p>
          </p:txBody>
        </p:sp>
      </p:grpSp>
      <p:grpSp>
        <p:nvGrpSpPr>
          <p:cNvPr id="541" name="Google Shape;541;p17"/>
          <p:cNvGrpSpPr/>
          <p:nvPr/>
        </p:nvGrpSpPr>
        <p:grpSpPr>
          <a:xfrm>
            <a:off x="6334125" y="3228975"/>
            <a:ext cx="4953000" cy="781200"/>
            <a:chOff x="0" y="0"/>
            <a:chExt cx="4953000" cy="781200"/>
          </a:xfrm>
        </p:grpSpPr>
        <p:sp>
          <p:nvSpPr>
            <p:cNvPr id="542" name="Google Shape;542;p17"/>
            <p:cNvSpPr/>
            <p:nvPr/>
          </p:nvSpPr>
          <p:spPr>
            <a:xfrm>
              <a:off x="0" y="0"/>
              <a:ext cx="4953000" cy="781200"/>
            </a:xfrm>
            <a:prstGeom prst="roundRect">
              <a:avLst>
                <a:gd fmla="val 9756"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3" name="Google Shape;543;p17"/>
            <p:cNvSpPr/>
            <p:nvPr/>
          </p:nvSpPr>
          <p:spPr>
            <a:xfrm>
              <a:off x="114300" y="114300"/>
              <a:ext cx="324000" cy="324000"/>
            </a:xfrm>
            <a:prstGeom prst="roundRect">
              <a:avLst>
                <a:gd fmla="val 176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4" name="Google Shape;544;p17"/>
            <p:cNvSpPr txBox="1"/>
            <p:nvPr/>
          </p:nvSpPr>
          <p:spPr>
            <a:xfrm>
              <a:off x="114300" y="137668"/>
              <a:ext cx="3240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2563EB"/>
                  </a:solidFill>
                  <a:latin typeface="Material Icons"/>
                  <a:ea typeface="Material Icons"/>
                  <a:cs typeface="Material Icons"/>
                  <a:sym typeface="Material Icons"/>
                </a:rPr>
                <a:t>wifi_off</a:t>
              </a:r>
              <a:endParaRPr b="0" sz="1600">
                <a:solidFill>
                  <a:srgbClr val="2563EB"/>
                </a:solidFill>
                <a:latin typeface="Material Icons"/>
                <a:ea typeface="Material Icons"/>
                <a:cs typeface="Material Icons"/>
                <a:sym typeface="Material Icons"/>
              </a:endParaRPr>
            </a:p>
          </p:txBody>
        </p:sp>
        <p:sp>
          <p:nvSpPr>
            <p:cNvPr id="545" name="Google Shape;545;p17"/>
            <p:cNvSpPr txBox="1"/>
            <p:nvPr/>
          </p:nvSpPr>
          <p:spPr>
            <a:xfrm>
              <a:off x="533400" y="76200"/>
              <a:ext cx="4305300" cy="62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Offline-Resilient Architecture</a:t>
              </a:r>
              <a:endParaRPr b="1" sz="105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00">
                  <a:solidFill>
                    <a:srgbClr val="334155"/>
                  </a:solidFill>
                  <a:latin typeface="Quattrocento Sans"/>
                  <a:ea typeface="Quattrocento Sans"/>
                  <a:cs typeface="Quattrocento Sans"/>
                  <a:sym typeface="Quattrocento Sans"/>
                </a:rPr>
                <a:t>Clean cached data loading prevents white-screen crashes on patchy warehouse 4G connections.</a:t>
              </a:r>
              <a:endParaRPr b="1" sz="900">
                <a:solidFill>
                  <a:srgbClr val="2563EB"/>
                </a:solidFill>
                <a:latin typeface="Quattrocento Sans"/>
                <a:ea typeface="Quattrocento Sans"/>
                <a:cs typeface="Quattrocento Sans"/>
                <a:sym typeface="Quattrocento Sans"/>
              </a:endParaRPr>
            </a:p>
          </p:txBody>
        </p:sp>
      </p:grpSp>
      <p:grpSp>
        <p:nvGrpSpPr>
          <p:cNvPr id="546" name="Google Shape;546;p17"/>
          <p:cNvGrpSpPr/>
          <p:nvPr/>
        </p:nvGrpSpPr>
        <p:grpSpPr>
          <a:xfrm>
            <a:off x="6334125" y="4295775"/>
            <a:ext cx="4953000" cy="781200"/>
            <a:chOff x="0" y="0"/>
            <a:chExt cx="4953000" cy="781200"/>
          </a:xfrm>
        </p:grpSpPr>
        <p:sp>
          <p:nvSpPr>
            <p:cNvPr id="547" name="Google Shape;547;p17"/>
            <p:cNvSpPr/>
            <p:nvPr/>
          </p:nvSpPr>
          <p:spPr>
            <a:xfrm>
              <a:off x="0" y="0"/>
              <a:ext cx="4953000" cy="781200"/>
            </a:xfrm>
            <a:prstGeom prst="roundRect">
              <a:avLst>
                <a:gd fmla="val 9756"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8" name="Google Shape;548;p17"/>
            <p:cNvSpPr/>
            <p:nvPr/>
          </p:nvSpPr>
          <p:spPr>
            <a:xfrm>
              <a:off x="114300" y="114300"/>
              <a:ext cx="324000" cy="324000"/>
            </a:xfrm>
            <a:prstGeom prst="roundRect">
              <a:avLst>
                <a:gd fmla="val 176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9" name="Google Shape;549;p17"/>
            <p:cNvSpPr txBox="1"/>
            <p:nvPr/>
          </p:nvSpPr>
          <p:spPr>
            <a:xfrm>
              <a:off x="114300" y="137668"/>
              <a:ext cx="3240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2563EB"/>
                  </a:solidFill>
                  <a:latin typeface="Material Icons"/>
                  <a:ea typeface="Material Icons"/>
                  <a:cs typeface="Material Icons"/>
                  <a:sym typeface="Material Icons"/>
                </a:rPr>
                <a:t>support_agent</a:t>
              </a:r>
              <a:endParaRPr b="0" sz="1600">
                <a:solidFill>
                  <a:srgbClr val="2563EB"/>
                </a:solidFill>
                <a:latin typeface="Material Icons"/>
                <a:ea typeface="Material Icons"/>
                <a:cs typeface="Material Icons"/>
                <a:sym typeface="Material Icons"/>
              </a:endParaRPr>
            </a:p>
          </p:txBody>
        </p:sp>
        <p:sp>
          <p:nvSpPr>
            <p:cNvPr id="550" name="Google Shape;550;p17"/>
            <p:cNvSpPr txBox="1"/>
            <p:nvPr/>
          </p:nvSpPr>
          <p:spPr>
            <a:xfrm>
              <a:off x="533400" y="76200"/>
              <a:ext cx="4305300" cy="62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Multi-Modal Alternatives</a:t>
              </a:r>
              <a:endParaRPr b="1" sz="105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00">
                  <a:solidFill>
                    <a:srgbClr val="334155"/>
                  </a:solidFill>
                  <a:latin typeface="Quattrocento Sans"/>
                  <a:ea typeface="Quattrocento Sans"/>
                  <a:cs typeface="Quattrocento Sans"/>
                  <a:sym typeface="Quattrocento Sans"/>
                </a:rPr>
                <a:t>Telephone-assisted sign-off remains supported to guarantee full accessibility for non-digital clients.</a:t>
              </a:r>
              <a:endParaRPr b="1" sz="900">
                <a:solidFill>
                  <a:srgbClr val="2563EB"/>
                </a:solidFill>
                <a:latin typeface="Quattrocento Sans"/>
                <a:ea typeface="Quattrocento Sans"/>
                <a:cs typeface="Quattrocento Sans"/>
                <a:sym typeface="Quattrocento Sans"/>
              </a:endParaRPr>
            </a:p>
          </p:txBody>
        </p:sp>
      </p:grpSp>
      <p:grpSp>
        <p:nvGrpSpPr>
          <p:cNvPr id="551" name="Google Shape;551;p17"/>
          <p:cNvGrpSpPr/>
          <p:nvPr/>
        </p:nvGrpSpPr>
        <p:grpSpPr>
          <a:xfrm>
            <a:off x="6334125" y="5362575"/>
            <a:ext cx="4953000" cy="781200"/>
            <a:chOff x="0" y="0"/>
            <a:chExt cx="4953000" cy="781200"/>
          </a:xfrm>
        </p:grpSpPr>
        <p:sp>
          <p:nvSpPr>
            <p:cNvPr id="552" name="Google Shape;552;p17"/>
            <p:cNvSpPr/>
            <p:nvPr/>
          </p:nvSpPr>
          <p:spPr>
            <a:xfrm>
              <a:off x="0" y="0"/>
              <a:ext cx="4953000" cy="781200"/>
            </a:xfrm>
            <a:prstGeom prst="roundRect">
              <a:avLst>
                <a:gd fmla="val 9756"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3" name="Google Shape;553;p17"/>
            <p:cNvSpPr/>
            <p:nvPr/>
          </p:nvSpPr>
          <p:spPr>
            <a:xfrm>
              <a:off x="114300" y="114300"/>
              <a:ext cx="324000" cy="324000"/>
            </a:xfrm>
            <a:prstGeom prst="roundRect">
              <a:avLst>
                <a:gd fmla="val 176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4" name="Google Shape;554;p17"/>
            <p:cNvSpPr txBox="1"/>
            <p:nvPr/>
          </p:nvSpPr>
          <p:spPr>
            <a:xfrm>
              <a:off x="114300" y="137668"/>
              <a:ext cx="3240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2563EB"/>
                  </a:solidFill>
                  <a:latin typeface="Material Icons"/>
                  <a:ea typeface="Material Icons"/>
                  <a:cs typeface="Material Icons"/>
                  <a:sym typeface="Material Icons"/>
                </a:rPr>
                <a:t>verified_user</a:t>
              </a:r>
              <a:endParaRPr b="0" sz="1600">
                <a:solidFill>
                  <a:srgbClr val="2563EB"/>
                </a:solidFill>
                <a:latin typeface="Material Icons"/>
                <a:ea typeface="Material Icons"/>
                <a:cs typeface="Material Icons"/>
                <a:sym typeface="Material Icons"/>
              </a:endParaRPr>
            </a:p>
          </p:txBody>
        </p:sp>
        <p:sp>
          <p:nvSpPr>
            <p:cNvPr id="555" name="Google Shape;555;p17"/>
            <p:cNvSpPr txBox="1"/>
            <p:nvPr/>
          </p:nvSpPr>
          <p:spPr>
            <a:xfrm>
              <a:off x="533400" y="76200"/>
              <a:ext cx="4305300" cy="62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Respect for User Autonomy</a:t>
              </a:r>
              <a:endParaRPr b="1" sz="105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00">
                  <a:solidFill>
                    <a:srgbClr val="334155"/>
                  </a:solidFill>
                  <a:latin typeface="Quattrocento Sans"/>
                  <a:ea typeface="Quattrocento Sans"/>
                  <a:cs typeface="Quattrocento Sans"/>
                  <a:sym typeface="Quattrocento Sans"/>
                </a:rPr>
                <a:t>Fred retains absolute commercial discretion without algorithmic coercion.</a:t>
              </a:r>
              <a:endParaRPr b="1" sz="900">
                <a:solidFill>
                  <a:srgbClr val="2563EB"/>
                </a:solidFill>
                <a:latin typeface="Quattrocento Sans"/>
                <a:ea typeface="Quattrocento Sans"/>
                <a:cs typeface="Quattrocento Sans"/>
                <a:sym typeface="Quattrocento Sa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18"/>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8"/>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FLUTTER SOFTWARE ENGINEERING &amp; ARCHITECTURE</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Code Architecture &amp; Design-Level Quality</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Single-File DartPad Portability, Native Reactive State Store &amp; Extensive Design Comments</a:t>
            </a:r>
            <a:endParaRPr/>
          </a:p>
        </p:txBody>
      </p:sp>
      <p:sp>
        <p:nvSpPr>
          <p:cNvPr id="562" name="Google Shape;562;p18"/>
          <p:cNvSpPr/>
          <p:nvPr/>
        </p:nvSpPr>
        <p:spPr>
          <a:xfrm>
            <a:off x="600000" y="1799996"/>
            <a:ext cx="3500100" cy="4599900"/>
          </a:xfrm>
          <a:prstGeom prst="roundRect">
            <a:avLst>
              <a:gd fmla="val 1999" name="adj"/>
            </a:avLst>
          </a:prstGeom>
          <a:solidFill>
            <a:srgbClr val="FFFFFF"/>
          </a:solidFill>
          <a:ln cap="flat" cmpd="sng" w="12700">
            <a:solidFill>
              <a:srgbClr val="E2E8F0"/>
            </a:solidFill>
            <a:prstDash val="solid"/>
            <a:round/>
            <a:headEnd len="sm" w="sm" type="none"/>
            <a:tailEnd len="sm" w="sm" type="none"/>
          </a:ln>
        </p:spPr>
        <p:txBody>
          <a:bodyPr anchorCtr="0" anchor="t" bIns="143975" lIns="143975" spcFirstLastPara="1" rIns="143975" wrap="square" tIns="143975">
            <a:noAutofit/>
          </a:bodyPr>
          <a:lstStyle/>
          <a:p>
            <a:pPr indent="0" lvl="0" marL="0" rtl="0" algn="l">
              <a:spcBef>
                <a:spcPts val="0"/>
              </a:spcBef>
              <a:spcAft>
                <a:spcPts val="0"/>
              </a:spcAft>
              <a:buNone/>
            </a:pPr>
            <a:r>
              <a:rPr b="1" i="0" lang="en-US" sz="1500" u="none" strike="noStrike">
                <a:solidFill>
                  <a:srgbClr val="0F172A"/>
                </a:solidFill>
                <a:latin typeface="Quattrocento Sans"/>
                <a:ea typeface="Quattrocento Sans"/>
                <a:cs typeface="Quattrocento Sans"/>
                <a:sym typeface="Quattrocento Sans"/>
              </a:rPr>
              <a:t>Portability &amp; State Store</a:t>
            </a:r>
            <a:endParaRPr b="1" i="0" sz="1500" u="none" strike="noStrike">
              <a:solidFill>
                <a:srgbClr val="0F172A"/>
              </a:solidFill>
              <a:latin typeface="Quattrocento Sans"/>
              <a:ea typeface="Quattrocento Sans"/>
              <a:cs typeface="Quattrocento Sans"/>
              <a:sym typeface="Quattrocento Sans"/>
            </a:endParaRPr>
          </a:p>
          <a:p>
            <a:pPr indent="-323850" lvl="0" marL="457200" rtl="0" algn="l">
              <a:spcBef>
                <a:spcPts val="600"/>
              </a:spcBef>
              <a:spcAft>
                <a:spcPts val="0"/>
              </a:spcAft>
              <a:buClr>
                <a:srgbClr val="0F172A"/>
              </a:buClr>
              <a:buSzPts val="1500"/>
              <a:buFont typeface="Quattrocento Sans"/>
              <a:buChar char="●"/>
            </a:pPr>
            <a:r>
              <a:rPr b="1" i="0" lang="en-US" sz="1100" u="none" strike="noStrike">
                <a:solidFill>
                  <a:srgbClr val="2563EB"/>
                </a:solidFill>
                <a:latin typeface="Quattrocento Sans"/>
                <a:ea typeface="Quattrocento Sans"/>
                <a:cs typeface="Quattrocento Sans"/>
                <a:sym typeface="Quattrocento Sans"/>
              </a:rPr>
              <a:t>Single-File DartPad Portability:</a:t>
            </a:r>
            <a:r>
              <a:rPr b="0" i="0" lang="en-US" sz="1100" u="none" strike="noStrike">
                <a:solidFill>
                  <a:srgbClr val="334155"/>
                </a:solidFill>
                <a:latin typeface="Quattrocento Sans"/>
                <a:ea typeface="Quattrocento Sans"/>
                <a:cs typeface="Quattrocento Sans"/>
                <a:sym typeface="Quattrocento Sans"/>
              </a:rPr>
              <a:t> 2,801 lines in main.dart running natively out-of-the-box on dartpad.dev with zero external package dependencies.</a:t>
            </a:r>
            <a:endParaRPr b="1" i="0" sz="1500" u="none" strike="noStrike">
              <a:solidFill>
                <a:srgbClr val="0F172A"/>
              </a:solidFill>
              <a:latin typeface="Quattrocento Sans"/>
              <a:ea typeface="Quattrocento Sans"/>
              <a:cs typeface="Quattrocento Sans"/>
              <a:sym typeface="Quattrocento Sans"/>
            </a:endParaRPr>
          </a:p>
          <a:p>
            <a:pPr indent="-323850" lvl="0" marL="457200" rtl="0" algn="l">
              <a:spcBef>
                <a:spcPts val="600"/>
              </a:spcBef>
              <a:spcAft>
                <a:spcPts val="0"/>
              </a:spcAft>
              <a:buClr>
                <a:srgbClr val="0F172A"/>
              </a:buClr>
              <a:buSzPts val="1500"/>
              <a:buFont typeface="Quattrocento Sans"/>
              <a:buChar char="●"/>
            </a:pPr>
            <a:r>
              <a:rPr b="1" i="0" lang="en-US" sz="1100" u="none" strike="noStrike">
                <a:solidFill>
                  <a:srgbClr val="2563EB"/>
                </a:solidFill>
                <a:latin typeface="Quattrocento Sans"/>
                <a:ea typeface="Quattrocento Sans"/>
                <a:cs typeface="Quattrocento Sans"/>
                <a:sym typeface="Quattrocento Sans"/>
              </a:rPr>
              <a:t>Reactive State (AppStateModel):</a:t>
            </a:r>
            <a:r>
              <a:rPr b="0" i="0" lang="en-US" sz="1100" u="none" strike="noStrike">
                <a:solidFill>
                  <a:srgbClr val="334155"/>
                </a:solidFill>
                <a:latin typeface="Quattrocento Sans"/>
                <a:ea typeface="Quattrocento Sans"/>
                <a:cs typeface="Quattrocento Sans"/>
                <a:sym typeface="Quattrocento Sans"/>
              </a:rPr>
              <a:t> Extends ChangeNotifier, centralizing auth session (isLoggedIn, currentUserEmail), navigation index, SDLC phase, deliverables, and milestones.</a:t>
            </a:r>
            <a:endParaRPr b="1" i="0" sz="1500" u="none" strike="noStrike">
              <a:solidFill>
                <a:srgbClr val="0F172A"/>
              </a:solidFill>
              <a:latin typeface="Quattrocento Sans"/>
              <a:ea typeface="Quattrocento Sans"/>
              <a:cs typeface="Quattrocento Sans"/>
              <a:sym typeface="Quattrocento Sans"/>
            </a:endParaRPr>
          </a:p>
          <a:p>
            <a:pPr indent="-323850" lvl="0" marL="457200" rtl="0" algn="l">
              <a:spcBef>
                <a:spcPts val="600"/>
              </a:spcBef>
              <a:spcAft>
                <a:spcPts val="0"/>
              </a:spcAft>
              <a:buClr>
                <a:srgbClr val="0F172A"/>
              </a:buClr>
              <a:buSzPts val="1500"/>
              <a:buFont typeface="Quattrocento Sans"/>
              <a:buChar char="●"/>
            </a:pPr>
            <a:r>
              <a:rPr b="1" i="0" lang="en-US" sz="1100" u="none" strike="noStrike">
                <a:solidFill>
                  <a:srgbClr val="2563EB"/>
                </a:solidFill>
                <a:latin typeface="Quattrocento Sans"/>
                <a:ea typeface="Quattrocento Sans"/>
                <a:cs typeface="Quattrocento Sans"/>
                <a:sym typeface="Quattrocento Sans"/>
              </a:rPr>
              <a:t>Inherited Scope (AppStateScope):</a:t>
            </a:r>
            <a:r>
              <a:rPr b="0" i="0" lang="en-US" sz="1100" u="none" strike="noStrike">
                <a:solidFill>
                  <a:srgbClr val="334155"/>
                </a:solidFill>
                <a:latin typeface="Quattrocento Sans"/>
                <a:ea typeface="Quattrocento Sans"/>
                <a:cs typeface="Quattrocento Sans"/>
                <a:sym typeface="Quattrocento Sans"/>
              </a:rPr>
              <a:t> Extends InheritedNotifier&lt;AppStateModel&gt;, providing O(1) state lookup via AppStateScope.of(context) with pure reactive rebuilds.</a:t>
            </a:r>
            <a:endParaRPr b="1" i="0" sz="1500" u="none" strike="noStrike">
              <a:solidFill>
                <a:srgbClr val="0F172A"/>
              </a:solidFill>
              <a:latin typeface="Quattrocento Sans"/>
              <a:ea typeface="Quattrocento Sans"/>
              <a:cs typeface="Quattrocento Sans"/>
              <a:sym typeface="Quattrocento Sans"/>
            </a:endParaRPr>
          </a:p>
          <a:p>
            <a:pPr indent="-323850" lvl="0" marL="457200" rtl="0" algn="l">
              <a:spcBef>
                <a:spcPts val="600"/>
              </a:spcBef>
              <a:spcAft>
                <a:spcPts val="0"/>
              </a:spcAft>
              <a:buClr>
                <a:srgbClr val="0F172A"/>
              </a:buClr>
              <a:buSzPts val="1500"/>
              <a:buFont typeface="Quattrocento Sans"/>
              <a:buChar char="●"/>
            </a:pPr>
            <a:r>
              <a:rPr b="1" i="0" lang="en-US" sz="1100" u="none" strike="noStrike">
                <a:solidFill>
                  <a:srgbClr val="2563EB"/>
                </a:solidFill>
                <a:latin typeface="Quattrocento Sans"/>
                <a:ea typeface="Quattrocento Sans"/>
                <a:cs typeface="Quattrocento Sans"/>
                <a:sym typeface="Quattrocento Sans"/>
              </a:rPr>
              <a:t>Zero Third-Party State Overhead:</a:t>
            </a:r>
            <a:r>
              <a:rPr b="0" i="0" lang="en-US" sz="1100" u="none" strike="noStrike">
                <a:solidFill>
                  <a:srgbClr val="334155"/>
                </a:solidFill>
                <a:latin typeface="Quattrocento Sans"/>
                <a:ea typeface="Quattrocento Sans"/>
                <a:cs typeface="Quattrocento Sans"/>
                <a:sym typeface="Quattrocento Sans"/>
              </a:rPr>
              <a:t> No Bloc, Riverpod, or Provider needed; uses 100% core Flutter primitives for guaranteed long-term stability.</a:t>
            </a:r>
            <a:endParaRPr b="1" i="0" sz="1500" u="none" strike="noStrike">
              <a:solidFill>
                <a:srgbClr val="0F172A"/>
              </a:solidFill>
              <a:latin typeface="Quattrocento Sans"/>
              <a:ea typeface="Quattrocento Sans"/>
              <a:cs typeface="Quattrocento Sans"/>
              <a:sym typeface="Quattrocento Sans"/>
            </a:endParaRPr>
          </a:p>
        </p:txBody>
      </p:sp>
      <p:sp>
        <p:nvSpPr>
          <p:cNvPr id="563" name="Google Shape;563;p18"/>
          <p:cNvSpPr/>
          <p:nvPr/>
        </p:nvSpPr>
        <p:spPr>
          <a:xfrm>
            <a:off x="4300004" y="1799996"/>
            <a:ext cx="3500100" cy="4599900"/>
          </a:xfrm>
          <a:prstGeom prst="roundRect">
            <a:avLst>
              <a:gd fmla="val 1999" name="adj"/>
            </a:avLst>
          </a:prstGeom>
          <a:solidFill>
            <a:srgbClr val="FFFFFF"/>
          </a:solidFill>
          <a:ln cap="flat" cmpd="sng" w="12700">
            <a:solidFill>
              <a:srgbClr val="E2E8F0"/>
            </a:solidFill>
            <a:prstDash val="solid"/>
            <a:round/>
            <a:headEnd len="sm" w="sm" type="none"/>
            <a:tailEnd len="sm" w="sm" type="none"/>
          </a:ln>
        </p:spPr>
        <p:txBody>
          <a:bodyPr anchorCtr="0" anchor="t" bIns="143975" lIns="143975" spcFirstLastPara="1" rIns="143975" wrap="square" tIns="143975">
            <a:noAutofit/>
          </a:bodyPr>
          <a:lstStyle/>
          <a:p>
            <a:pPr indent="0" lvl="0" marL="0" rtl="0" algn="l">
              <a:spcBef>
                <a:spcPts val="0"/>
              </a:spcBef>
              <a:spcAft>
                <a:spcPts val="0"/>
              </a:spcAft>
              <a:buNone/>
            </a:pPr>
            <a:r>
              <a:rPr b="1" i="0" lang="en-US" sz="1388" u="none" strike="noStrike">
                <a:solidFill>
                  <a:srgbClr val="0F172A"/>
                </a:solidFill>
                <a:latin typeface="Quattrocento Sans"/>
                <a:ea typeface="Quattrocento Sans"/>
                <a:cs typeface="Quattrocento Sans"/>
                <a:sym typeface="Quattrocento Sans"/>
              </a:rPr>
              <a:t>6-Tier Layered Architecture</a:t>
            </a:r>
            <a:endParaRPr b="1" i="0" sz="1388" u="none" strike="noStrike">
              <a:solidFill>
                <a:srgbClr val="0F172A"/>
              </a:solidFill>
              <a:latin typeface="Quattrocento Sans"/>
              <a:ea typeface="Quattrocento Sans"/>
              <a:cs typeface="Quattrocento Sans"/>
              <a:sym typeface="Quattrocento Sans"/>
            </a:endParaRPr>
          </a:p>
          <a:p>
            <a:pPr indent="-316706" lvl="0" marL="457200" rtl="0" algn="l">
              <a:spcBef>
                <a:spcPts val="400"/>
              </a:spcBef>
              <a:spcAft>
                <a:spcPts val="0"/>
              </a:spcAft>
              <a:buClr>
                <a:srgbClr val="0F172A"/>
              </a:buClr>
              <a:buSzPts val="1388"/>
              <a:buFont typeface="Quattrocento Sans"/>
              <a:buChar char="●"/>
            </a:pPr>
            <a:r>
              <a:rPr b="1" i="0" lang="en-US" sz="1018" u="none" strike="noStrike">
                <a:solidFill>
                  <a:srgbClr val="2563EB"/>
                </a:solidFill>
                <a:latin typeface="Quattrocento Sans"/>
                <a:ea typeface="Quattrocento Sans"/>
                <a:cs typeface="Quattrocento Sans"/>
                <a:sym typeface="Quattrocento Sans"/>
              </a:rPr>
              <a:t>Tier 1 (Domain Models):</a:t>
            </a:r>
            <a:r>
              <a:rPr b="0" i="0" lang="en-US" sz="1018" u="none" strike="noStrike">
                <a:solidFill>
                  <a:srgbClr val="334155"/>
                </a:solidFill>
                <a:latin typeface="Quattrocento Sans"/>
                <a:ea typeface="Quattrocento Sans"/>
                <a:cs typeface="Quattrocento Sans"/>
                <a:sym typeface="Quattrocento Sans"/>
              </a:rPr>
              <a:t> Immutable models for ProjectStage, DeliverableItem, MilestoneSignOff, AuditCertificate, and ConsentSettings.</a:t>
            </a:r>
            <a:endParaRPr b="1" i="0" sz="1388" u="none" strike="noStrike">
              <a:solidFill>
                <a:srgbClr val="0F172A"/>
              </a:solidFill>
              <a:latin typeface="Quattrocento Sans"/>
              <a:ea typeface="Quattrocento Sans"/>
              <a:cs typeface="Quattrocento Sans"/>
              <a:sym typeface="Quattrocento Sans"/>
            </a:endParaRPr>
          </a:p>
          <a:p>
            <a:pPr indent="-316706" lvl="0" marL="457200" rtl="0" algn="l">
              <a:spcBef>
                <a:spcPts val="400"/>
              </a:spcBef>
              <a:spcAft>
                <a:spcPts val="0"/>
              </a:spcAft>
              <a:buClr>
                <a:srgbClr val="0F172A"/>
              </a:buClr>
              <a:buSzPts val="1388"/>
              <a:buFont typeface="Quattrocento Sans"/>
              <a:buChar char="●"/>
            </a:pPr>
            <a:r>
              <a:rPr b="1" i="0" lang="en-US" sz="1018" u="none" strike="noStrike">
                <a:solidFill>
                  <a:srgbClr val="2563EB"/>
                </a:solidFill>
                <a:latin typeface="Quattrocento Sans"/>
                <a:ea typeface="Quattrocento Sans"/>
                <a:cs typeface="Quattrocento Sans"/>
                <a:sym typeface="Quattrocento Sans"/>
              </a:rPr>
              <a:t>Tier 2 (Global State Store):</a:t>
            </a:r>
            <a:r>
              <a:rPr b="0" i="0" lang="en-US" sz="1018" u="none" strike="noStrike">
                <a:solidFill>
                  <a:srgbClr val="334155"/>
                </a:solidFill>
                <a:latin typeface="Quattrocento Sans"/>
                <a:ea typeface="Quattrocento Sans"/>
                <a:cs typeface="Quattrocento Sans"/>
                <a:sym typeface="Quattrocento Sans"/>
              </a:rPr>
              <a:t> AppStateModel encapsulating auth session state (login/logout), approval logic, feedback submission, change requests, and consent toggles.</a:t>
            </a:r>
            <a:endParaRPr b="1" i="0" sz="1388" u="none" strike="noStrike">
              <a:solidFill>
                <a:srgbClr val="0F172A"/>
              </a:solidFill>
              <a:latin typeface="Quattrocento Sans"/>
              <a:ea typeface="Quattrocento Sans"/>
              <a:cs typeface="Quattrocento Sans"/>
              <a:sym typeface="Quattrocento Sans"/>
            </a:endParaRPr>
          </a:p>
          <a:p>
            <a:pPr indent="-316706" lvl="0" marL="457200" rtl="0" algn="l">
              <a:spcBef>
                <a:spcPts val="400"/>
              </a:spcBef>
              <a:spcAft>
                <a:spcPts val="0"/>
              </a:spcAft>
              <a:buClr>
                <a:srgbClr val="0F172A"/>
              </a:buClr>
              <a:buSzPts val="1388"/>
              <a:buFont typeface="Quattrocento Sans"/>
              <a:buChar char="●"/>
            </a:pPr>
            <a:r>
              <a:rPr b="1" i="0" lang="en-US" sz="1018" u="none" strike="noStrike">
                <a:solidFill>
                  <a:srgbClr val="2563EB"/>
                </a:solidFill>
                <a:latin typeface="Quattrocento Sans"/>
                <a:ea typeface="Quattrocento Sans"/>
                <a:cs typeface="Quattrocento Sans"/>
                <a:sym typeface="Quattrocento Sans"/>
              </a:rPr>
              <a:t>Tier 3 (Scope Provider):</a:t>
            </a:r>
            <a:r>
              <a:rPr b="0" i="0" lang="en-US" sz="1018" u="none" strike="noStrike">
                <a:solidFill>
                  <a:srgbClr val="334155"/>
                </a:solidFill>
                <a:latin typeface="Quattrocento Sans"/>
                <a:ea typeface="Quattrocento Sans"/>
                <a:cs typeface="Quattrocento Sans"/>
                <a:sym typeface="Quattrocento Sans"/>
              </a:rPr>
              <a:t> AppStateScope binding model to Flutter element tree.</a:t>
            </a:r>
            <a:endParaRPr b="1" i="0" sz="1388" u="none" strike="noStrike">
              <a:solidFill>
                <a:srgbClr val="0F172A"/>
              </a:solidFill>
              <a:latin typeface="Quattrocento Sans"/>
              <a:ea typeface="Quattrocento Sans"/>
              <a:cs typeface="Quattrocento Sans"/>
              <a:sym typeface="Quattrocento Sans"/>
            </a:endParaRPr>
          </a:p>
          <a:p>
            <a:pPr indent="-316706" lvl="0" marL="457200" rtl="0" algn="l">
              <a:spcBef>
                <a:spcPts val="400"/>
              </a:spcBef>
              <a:spcAft>
                <a:spcPts val="0"/>
              </a:spcAft>
              <a:buClr>
                <a:srgbClr val="0F172A"/>
              </a:buClr>
              <a:buSzPts val="1388"/>
              <a:buFont typeface="Quattrocento Sans"/>
              <a:buChar char="●"/>
            </a:pPr>
            <a:r>
              <a:rPr b="1" i="0" lang="en-US" sz="1018" u="none" strike="noStrike">
                <a:solidFill>
                  <a:srgbClr val="2563EB"/>
                </a:solidFill>
                <a:latin typeface="Quattrocento Sans"/>
                <a:ea typeface="Quattrocento Sans"/>
                <a:cs typeface="Quattrocento Sans"/>
                <a:sym typeface="Quattrocento Sans"/>
              </a:rPr>
              <a:t>Tier 4 (Theme &amp; App Root):</a:t>
            </a:r>
            <a:r>
              <a:rPr b="0" i="0" lang="en-US" sz="1018" u="none" strike="noStrike">
                <a:solidFill>
                  <a:srgbClr val="334155"/>
                </a:solidFill>
                <a:latin typeface="Quattrocento Sans"/>
                <a:ea typeface="Quattrocento Sans"/>
                <a:cs typeface="Quattrocento Sans"/>
                <a:sym typeface="Quattrocento Sans"/>
              </a:rPr>
              <a:t> ElegantLinkApp configuring ThemeData(useMaterial3: true) and custom seed palette (#1E3A8A).</a:t>
            </a:r>
            <a:endParaRPr b="1" i="0" sz="1388" u="none" strike="noStrike">
              <a:solidFill>
                <a:srgbClr val="0F172A"/>
              </a:solidFill>
              <a:latin typeface="Quattrocento Sans"/>
              <a:ea typeface="Quattrocento Sans"/>
              <a:cs typeface="Quattrocento Sans"/>
              <a:sym typeface="Quattrocento Sans"/>
            </a:endParaRPr>
          </a:p>
          <a:p>
            <a:pPr indent="-316706" lvl="0" marL="457200" rtl="0" algn="l">
              <a:spcBef>
                <a:spcPts val="400"/>
              </a:spcBef>
              <a:spcAft>
                <a:spcPts val="0"/>
              </a:spcAft>
              <a:buClr>
                <a:srgbClr val="0F172A"/>
              </a:buClr>
              <a:buSzPts val="1388"/>
              <a:buFont typeface="Quattrocento Sans"/>
              <a:buChar char="●"/>
            </a:pPr>
            <a:r>
              <a:rPr b="1" i="0" lang="en-US" sz="1018" u="none" strike="noStrike">
                <a:solidFill>
                  <a:srgbClr val="2563EB"/>
                </a:solidFill>
                <a:latin typeface="Quattrocento Sans"/>
                <a:ea typeface="Quattrocento Sans"/>
                <a:cs typeface="Quattrocento Sans"/>
                <a:sym typeface="Quattrocento Sans"/>
              </a:rPr>
              <a:t>Tier 5 (Responsive Shell):</a:t>
            </a:r>
            <a:r>
              <a:rPr b="0" i="0" lang="en-US" sz="1018" u="none" strike="noStrike">
                <a:solidFill>
                  <a:srgbClr val="334155"/>
                </a:solidFill>
                <a:latin typeface="Quattrocento Sans"/>
                <a:ea typeface="Quattrocento Sans"/>
                <a:cs typeface="Quattrocento Sans"/>
                <a:sym typeface="Quattrocento Sans"/>
              </a:rPr>
              <a:t> MainPortalShell with LayoutBuilder dynamically switching bottom bar and left rail.</a:t>
            </a:r>
            <a:endParaRPr b="1" i="0" sz="1388" u="none" strike="noStrike">
              <a:solidFill>
                <a:srgbClr val="0F172A"/>
              </a:solidFill>
              <a:latin typeface="Quattrocento Sans"/>
              <a:ea typeface="Quattrocento Sans"/>
              <a:cs typeface="Quattrocento Sans"/>
              <a:sym typeface="Quattrocento Sans"/>
            </a:endParaRPr>
          </a:p>
          <a:p>
            <a:pPr indent="-316706" lvl="0" marL="457200" rtl="0" algn="l">
              <a:spcBef>
                <a:spcPts val="400"/>
              </a:spcBef>
              <a:spcAft>
                <a:spcPts val="0"/>
              </a:spcAft>
              <a:buClr>
                <a:srgbClr val="0F172A"/>
              </a:buClr>
              <a:buSzPts val="1388"/>
              <a:buFont typeface="Quattrocento Sans"/>
              <a:buChar char="●"/>
            </a:pPr>
            <a:r>
              <a:rPr b="1" i="0" lang="en-US" sz="1018" u="none" strike="noStrike">
                <a:solidFill>
                  <a:srgbClr val="2563EB"/>
                </a:solidFill>
                <a:latin typeface="Quattrocento Sans"/>
                <a:ea typeface="Quattrocento Sans"/>
                <a:cs typeface="Quattrocento Sans"/>
                <a:sym typeface="Quattrocento Sans"/>
              </a:rPr>
              <a:t>Tier 6 (11 Dedicated Screens):</a:t>
            </a:r>
            <a:r>
              <a:rPr b="0" i="0" lang="en-US" sz="1018" u="none" strike="noStrike">
                <a:solidFill>
                  <a:srgbClr val="334155"/>
                </a:solidFill>
                <a:latin typeface="Quattrocento Sans"/>
                <a:ea typeface="Quattrocento Sans"/>
                <a:cs typeface="Quattrocento Sans"/>
                <a:sym typeface="Quattrocento Sans"/>
              </a:rPr>
              <a:t> LoginScreen (Auth Gate), Dashboard, Phase Details, Projects, Deliverables Gallery, Mockup Viewer, Milestone Sign-off, Request Changes, Digital Certificate, Notifications, Privacy Consent.</a:t>
            </a:r>
            <a:endParaRPr b="1" i="0" sz="1388" u="none" strike="noStrike">
              <a:solidFill>
                <a:srgbClr val="0F172A"/>
              </a:solidFill>
              <a:latin typeface="Quattrocento Sans"/>
              <a:ea typeface="Quattrocento Sans"/>
              <a:cs typeface="Quattrocento Sans"/>
              <a:sym typeface="Quattrocento Sans"/>
            </a:endParaRPr>
          </a:p>
        </p:txBody>
      </p:sp>
      <p:sp>
        <p:nvSpPr>
          <p:cNvPr id="564" name="Google Shape;564;p18"/>
          <p:cNvSpPr/>
          <p:nvPr/>
        </p:nvSpPr>
        <p:spPr>
          <a:xfrm>
            <a:off x="8000000" y="1799996"/>
            <a:ext cx="3500100" cy="4599900"/>
          </a:xfrm>
          <a:prstGeom prst="roundRect">
            <a:avLst>
              <a:gd fmla="val 1999" name="adj"/>
            </a:avLst>
          </a:prstGeom>
          <a:solidFill>
            <a:srgbClr val="FFFFFF"/>
          </a:solidFill>
          <a:ln cap="flat" cmpd="sng" w="12700">
            <a:solidFill>
              <a:srgbClr val="E2E8F0"/>
            </a:solidFill>
            <a:prstDash val="solid"/>
            <a:round/>
            <a:headEnd len="sm" w="sm" type="none"/>
            <a:tailEnd len="sm" w="sm" type="none"/>
          </a:ln>
        </p:spPr>
        <p:txBody>
          <a:bodyPr anchorCtr="0" anchor="t" bIns="143975" lIns="143975" spcFirstLastPara="1" rIns="143975" wrap="square" tIns="143975">
            <a:noAutofit/>
          </a:bodyPr>
          <a:lstStyle/>
          <a:p>
            <a:pPr indent="0" lvl="0" marL="0" rtl="0" algn="l">
              <a:spcBef>
                <a:spcPts val="0"/>
              </a:spcBef>
              <a:spcAft>
                <a:spcPts val="0"/>
              </a:spcAft>
              <a:buNone/>
            </a:pPr>
            <a:r>
              <a:rPr b="1" i="0" lang="en-US" sz="1500" u="none" strike="noStrike">
                <a:solidFill>
                  <a:srgbClr val="0F172A"/>
                </a:solidFill>
                <a:latin typeface="Quattrocento Sans"/>
                <a:ea typeface="Quattrocento Sans"/>
                <a:cs typeface="Quattrocento Sans"/>
                <a:sym typeface="Quattrocento Sans"/>
              </a:rPr>
              <a:t>Criterion 3 Code Quality</a:t>
            </a:r>
            <a:endParaRPr b="1" i="0" sz="1500" u="none" strike="noStrike">
              <a:solidFill>
                <a:srgbClr val="0F172A"/>
              </a:solidFill>
              <a:latin typeface="Quattrocento Sans"/>
              <a:ea typeface="Quattrocento Sans"/>
              <a:cs typeface="Quattrocento Sans"/>
              <a:sym typeface="Quattrocento Sans"/>
            </a:endParaRPr>
          </a:p>
          <a:p>
            <a:pPr indent="-323850" lvl="0" marL="457200" rtl="0" algn="l">
              <a:spcBef>
                <a:spcPts val="600"/>
              </a:spcBef>
              <a:spcAft>
                <a:spcPts val="0"/>
              </a:spcAft>
              <a:buClr>
                <a:srgbClr val="0F172A"/>
              </a:buClr>
              <a:buSzPts val="1500"/>
              <a:buFont typeface="Quattrocento Sans"/>
              <a:buChar char="●"/>
            </a:pPr>
            <a:r>
              <a:rPr b="1" i="0" lang="en-US" sz="1100" u="none" strike="noStrike">
                <a:solidFill>
                  <a:srgbClr val="2563EB"/>
                </a:solidFill>
                <a:latin typeface="Quattrocento Sans"/>
                <a:ea typeface="Quattrocento Sans"/>
                <a:cs typeface="Quattrocento Sans"/>
                <a:sym typeface="Quattrocento Sans"/>
              </a:rPr>
              <a:t>Rich Design-Level Comments:</a:t>
            </a:r>
            <a:r>
              <a:rPr b="0" i="0" lang="en-US" sz="1100" u="none" strike="noStrike">
                <a:solidFill>
                  <a:srgbClr val="334155"/>
                </a:solidFill>
                <a:latin typeface="Quattrocento Sans"/>
                <a:ea typeface="Quattrocento Sans"/>
                <a:cs typeface="Quattrocento Sans"/>
                <a:sym typeface="Quattrocento Sans"/>
              </a:rPr>
              <a:t> Code contains extensive docstrings explaining widget rationale, persona cognitive load reduction, and mobile heuristics.</a:t>
            </a:r>
            <a:endParaRPr b="1" i="0" sz="1500" u="none" strike="noStrike">
              <a:solidFill>
                <a:srgbClr val="0F172A"/>
              </a:solidFill>
              <a:latin typeface="Quattrocento Sans"/>
              <a:ea typeface="Quattrocento Sans"/>
              <a:cs typeface="Quattrocento Sans"/>
              <a:sym typeface="Quattrocento Sans"/>
            </a:endParaRPr>
          </a:p>
          <a:p>
            <a:pPr indent="-323850" lvl="0" marL="457200" rtl="0" algn="l">
              <a:spcBef>
                <a:spcPts val="600"/>
              </a:spcBef>
              <a:spcAft>
                <a:spcPts val="0"/>
              </a:spcAft>
              <a:buClr>
                <a:srgbClr val="0F172A"/>
              </a:buClr>
              <a:buSzPts val="1500"/>
              <a:buFont typeface="Quattrocento Sans"/>
              <a:buChar char="●"/>
            </a:pPr>
            <a:r>
              <a:rPr b="1" i="0" lang="en-US" sz="1100" u="none" strike="noStrike">
                <a:solidFill>
                  <a:srgbClr val="2563EB"/>
                </a:solidFill>
                <a:latin typeface="Quattrocento Sans"/>
                <a:ea typeface="Quattrocento Sans"/>
                <a:cs typeface="Quattrocento Sans"/>
                <a:sym typeface="Quattrocento Sans"/>
              </a:rPr>
              <a:t>Non-Trivial Architectural Notes:</a:t>
            </a:r>
            <a:r>
              <a:rPr b="0" i="0" lang="en-US" sz="1100" u="none" strike="noStrike">
                <a:solidFill>
                  <a:srgbClr val="334155"/>
                </a:solidFill>
                <a:latin typeface="Quattrocento Sans"/>
                <a:ea typeface="Quattrocento Sans"/>
                <a:cs typeface="Quattrocento Sans"/>
                <a:sym typeface="Quattrocento Sans"/>
              </a:rPr>
              <a:t> Documents why specific M3 widgets were selected rather than trivial syntax descriptions.</a:t>
            </a:r>
            <a:endParaRPr b="1" i="0" sz="1500" u="none" strike="noStrike">
              <a:solidFill>
                <a:srgbClr val="0F172A"/>
              </a:solidFill>
              <a:latin typeface="Quattrocento Sans"/>
              <a:ea typeface="Quattrocento Sans"/>
              <a:cs typeface="Quattrocento Sans"/>
              <a:sym typeface="Quattrocento Sans"/>
            </a:endParaRPr>
          </a:p>
          <a:p>
            <a:pPr indent="-323850" lvl="0" marL="457200" rtl="0" algn="l">
              <a:spcBef>
                <a:spcPts val="600"/>
              </a:spcBef>
              <a:spcAft>
                <a:spcPts val="0"/>
              </a:spcAft>
              <a:buClr>
                <a:srgbClr val="0F172A"/>
              </a:buClr>
              <a:buSzPts val="1500"/>
              <a:buFont typeface="Quattrocento Sans"/>
              <a:buChar char="●"/>
            </a:pPr>
            <a:r>
              <a:rPr b="1" i="0" lang="en-US" sz="1100" u="none" strike="noStrike">
                <a:solidFill>
                  <a:srgbClr val="2563EB"/>
                </a:solidFill>
                <a:latin typeface="Quattrocento Sans"/>
                <a:ea typeface="Quattrocento Sans"/>
                <a:cs typeface="Quattrocento Sans"/>
                <a:sym typeface="Quattrocento Sans"/>
              </a:rPr>
              <a:t>Zero Deprecated APIs:</a:t>
            </a:r>
            <a:r>
              <a:rPr b="0" i="0" lang="en-US" sz="1100" u="none" strike="noStrike">
                <a:solidFill>
                  <a:srgbClr val="334155"/>
                </a:solidFill>
                <a:latin typeface="Quattrocento Sans"/>
                <a:ea typeface="Quattrocento Sans"/>
                <a:cs typeface="Quattrocento Sans"/>
                <a:sym typeface="Quattrocento Sans"/>
              </a:rPr>
              <a:t> Exclusively modern Flutter 3.x APIs (FilledButton, FilledButton.tonal, OutlinedButton, NavigationBar, NavigationRail, CardThemeData).</a:t>
            </a:r>
            <a:endParaRPr b="1" i="0" sz="1500" u="none" strike="noStrike">
              <a:solidFill>
                <a:srgbClr val="0F172A"/>
              </a:solidFill>
              <a:latin typeface="Quattrocento Sans"/>
              <a:ea typeface="Quattrocento Sans"/>
              <a:cs typeface="Quattrocento Sans"/>
              <a:sym typeface="Quattrocento Sans"/>
            </a:endParaRPr>
          </a:p>
          <a:p>
            <a:pPr indent="-323850" lvl="0" marL="457200" rtl="0" algn="l">
              <a:spcBef>
                <a:spcPts val="600"/>
              </a:spcBef>
              <a:spcAft>
                <a:spcPts val="0"/>
              </a:spcAft>
              <a:buClr>
                <a:srgbClr val="0F172A"/>
              </a:buClr>
              <a:buSzPts val="1500"/>
              <a:buFont typeface="Quattrocento Sans"/>
              <a:buChar char="●"/>
            </a:pPr>
            <a:r>
              <a:rPr b="1" i="0" lang="en-US" sz="1100" u="none" strike="noStrike">
                <a:solidFill>
                  <a:srgbClr val="2563EB"/>
                </a:solidFill>
                <a:latin typeface="Quattrocento Sans"/>
                <a:ea typeface="Quattrocento Sans"/>
                <a:cs typeface="Quattrocento Sans"/>
                <a:sym typeface="Quattrocento Sans"/>
              </a:rPr>
              <a:t>Self-Documenting Naming:</a:t>
            </a:r>
            <a:r>
              <a:rPr b="0" i="0" lang="en-US" sz="1100" u="none" strike="noStrike">
                <a:solidFill>
                  <a:srgbClr val="334155"/>
                </a:solidFill>
                <a:latin typeface="Quattrocento Sans"/>
                <a:ea typeface="Quattrocento Sans"/>
                <a:cs typeface="Quattrocento Sans"/>
                <a:sym typeface="Quattrocento Sans"/>
              </a:rPr>
              <a:t> Clean identifiers throughout (isCompactViewport, milestoneLiabilityAud, activeSdlcPhase, isMilestoneApproved, currentUserEmail, isLoggedIn).</a:t>
            </a:r>
            <a:endParaRPr b="1" i="0" sz="1500" u="none" strike="noStrike">
              <a:solidFill>
                <a:srgbClr val="0F172A"/>
              </a:solidFill>
              <a:latin typeface="Quattrocento Sans"/>
              <a:ea typeface="Quattrocento Sans"/>
              <a:cs typeface="Quattrocento Sans"/>
              <a:sym typeface="Quattrocento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19"/>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9"/>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ACADEMIC INTEGRITY &amp; AI COLLABORATION</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Summary of AI Collaboration</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Transparent AI Tool Usage, Critical Student Evaluation &amp; CQU Scholarly Validation</a:t>
            </a:r>
            <a:endParaRPr/>
          </a:p>
        </p:txBody>
      </p:sp>
      <p:grpSp>
        <p:nvGrpSpPr>
          <p:cNvPr id="571" name="Google Shape;571;p19"/>
          <p:cNvGrpSpPr/>
          <p:nvPr/>
        </p:nvGrpSpPr>
        <p:grpSpPr>
          <a:xfrm>
            <a:off x="600075" y="1762125"/>
            <a:ext cx="5257800" cy="304800"/>
            <a:chOff x="0" y="0"/>
            <a:chExt cx="5257800" cy="304800"/>
          </a:xfrm>
        </p:grpSpPr>
        <p:sp>
          <p:nvSpPr>
            <p:cNvPr id="572" name="Google Shape;572;p19"/>
            <p:cNvSpPr/>
            <p:nvPr/>
          </p:nvSpPr>
          <p:spPr>
            <a:xfrm>
              <a:off x="0" y="0"/>
              <a:ext cx="5257800" cy="304800"/>
            </a:xfrm>
            <a:prstGeom prst="roundRect">
              <a:avLst>
                <a:gd fmla="val 1875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3" name="Google Shape;573;p19"/>
            <p:cNvSpPr txBox="1"/>
            <p:nvPr/>
          </p:nvSpPr>
          <p:spPr>
            <a:xfrm>
              <a:off x="114300" y="0"/>
              <a:ext cx="50292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1E40AF"/>
                  </a:solidFill>
                  <a:latin typeface="Quattrocento Sans"/>
                  <a:ea typeface="Quattrocento Sans"/>
                  <a:cs typeface="Quattrocento Sans"/>
                  <a:sym typeface="Quattrocento Sans"/>
                </a:rPr>
                <a:t>01 / GENERATIVE AI TOOL USAGE</a:t>
              </a:r>
              <a:endParaRPr b="1" sz="1000">
                <a:solidFill>
                  <a:srgbClr val="1E40AF"/>
                </a:solidFill>
                <a:latin typeface="Quattrocento Sans"/>
                <a:ea typeface="Quattrocento Sans"/>
                <a:cs typeface="Quattrocento Sans"/>
                <a:sym typeface="Quattrocento Sans"/>
              </a:endParaRPr>
            </a:p>
          </p:txBody>
        </p:sp>
      </p:grpSp>
      <p:grpSp>
        <p:nvGrpSpPr>
          <p:cNvPr id="574" name="Google Shape;574;p19"/>
          <p:cNvGrpSpPr/>
          <p:nvPr/>
        </p:nvGrpSpPr>
        <p:grpSpPr>
          <a:xfrm>
            <a:off x="600075" y="2162175"/>
            <a:ext cx="5257800" cy="904800"/>
            <a:chOff x="0" y="0"/>
            <a:chExt cx="5257800" cy="904800"/>
          </a:xfrm>
        </p:grpSpPr>
        <p:sp>
          <p:nvSpPr>
            <p:cNvPr id="575" name="Google Shape;575;p19"/>
            <p:cNvSpPr/>
            <p:nvPr/>
          </p:nvSpPr>
          <p:spPr>
            <a:xfrm>
              <a:off x="0" y="0"/>
              <a:ext cx="5257800" cy="904800"/>
            </a:xfrm>
            <a:prstGeom prst="roundRect">
              <a:avLst>
                <a:gd fmla="val 842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6" name="Google Shape;576;p19"/>
            <p:cNvSpPr/>
            <p:nvPr/>
          </p:nvSpPr>
          <p:spPr>
            <a:xfrm>
              <a:off x="133350" y="133350"/>
              <a:ext cx="400200" cy="400200"/>
            </a:xfrm>
            <a:prstGeom prst="roundRect">
              <a:avLst>
                <a:gd fmla="val 190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7" name="Google Shape;577;p19"/>
            <p:cNvSpPr txBox="1"/>
            <p:nvPr/>
          </p:nvSpPr>
          <p:spPr>
            <a:xfrm>
              <a:off x="133350" y="162560"/>
              <a:ext cx="400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smart_toy</a:t>
              </a:r>
              <a:endParaRPr sz="2000">
                <a:solidFill>
                  <a:srgbClr val="2563EB"/>
                </a:solidFill>
                <a:latin typeface="Material Icons"/>
                <a:ea typeface="Material Icons"/>
                <a:cs typeface="Material Icons"/>
                <a:sym typeface="Material Icons"/>
              </a:endParaRPr>
            </a:p>
          </p:txBody>
        </p:sp>
        <p:sp>
          <p:nvSpPr>
            <p:cNvPr id="578" name="Google Shape;578;p19"/>
            <p:cNvSpPr txBox="1"/>
            <p:nvPr/>
          </p:nvSpPr>
          <p:spPr>
            <a:xfrm>
              <a:off x="647700" y="133350"/>
              <a:ext cx="4476900" cy="676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200" u="none" strike="noStrike">
                  <a:solidFill>
                    <a:srgbClr val="2563EB"/>
                  </a:solidFill>
                  <a:latin typeface="Quattrocento Sans"/>
                  <a:ea typeface="Quattrocento Sans"/>
                  <a:cs typeface="Quattrocento Sans"/>
                  <a:sym typeface="Quattrocento Sans"/>
                </a:rPr>
                <a:t>AI Environment</a:t>
              </a:r>
              <a:endParaRPr b="1" i="0" sz="1200" u="none" strike="noStrike">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i="0" lang="en-US" sz="1000" u="none" strike="noStrike">
                  <a:solidFill>
                    <a:srgbClr val="334155"/>
                  </a:solidFill>
                  <a:latin typeface="Quattrocento Sans"/>
                  <a:ea typeface="Quattrocento Sans"/>
                  <a:cs typeface="Quattrocento Sans"/>
                  <a:sym typeface="Quattrocento Sans"/>
                </a:rPr>
                <a:t>Google Gemini 3.8 / Antigravity Agentic Coding Assistant.</a:t>
              </a:r>
              <a:endParaRPr b="1" i="0" sz="1000" u="none" strike="noStrike">
                <a:solidFill>
                  <a:srgbClr val="2563EB"/>
                </a:solidFill>
                <a:latin typeface="Quattrocento Sans"/>
                <a:ea typeface="Quattrocento Sans"/>
                <a:cs typeface="Quattrocento Sans"/>
                <a:sym typeface="Quattrocento Sans"/>
              </a:endParaRPr>
            </a:p>
          </p:txBody>
        </p:sp>
      </p:grpSp>
      <p:grpSp>
        <p:nvGrpSpPr>
          <p:cNvPr id="579" name="Google Shape;579;p19"/>
          <p:cNvGrpSpPr/>
          <p:nvPr/>
        </p:nvGrpSpPr>
        <p:grpSpPr>
          <a:xfrm>
            <a:off x="600075" y="3514725"/>
            <a:ext cx="5257800" cy="904800"/>
            <a:chOff x="0" y="0"/>
            <a:chExt cx="5257800" cy="904800"/>
          </a:xfrm>
        </p:grpSpPr>
        <p:sp>
          <p:nvSpPr>
            <p:cNvPr id="580" name="Google Shape;580;p19"/>
            <p:cNvSpPr/>
            <p:nvPr/>
          </p:nvSpPr>
          <p:spPr>
            <a:xfrm>
              <a:off x="0" y="0"/>
              <a:ext cx="5257800" cy="904800"/>
            </a:xfrm>
            <a:prstGeom prst="roundRect">
              <a:avLst>
                <a:gd fmla="val 842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1" name="Google Shape;581;p19"/>
            <p:cNvSpPr/>
            <p:nvPr/>
          </p:nvSpPr>
          <p:spPr>
            <a:xfrm>
              <a:off x="133350" y="133350"/>
              <a:ext cx="400200" cy="400200"/>
            </a:xfrm>
            <a:prstGeom prst="roundRect">
              <a:avLst>
                <a:gd fmla="val 190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2" name="Google Shape;582;p19"/>
            <p:cNvSpPr txBox="1"/>
            <p:nvPr/>
          </p:nvSpPr>
          <p:spPr>
            <a:xfrm>
              <a:off x="133350" y="162560"/>
              <a:ext cx="400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code</a:t>
              </a:r>
              <a:endParaRPr sz="2000">
                <a:solidFill>
                  <a:srgbClr val="2563EB"/>
                </a:solidFill>
                <a:latin typeface="Material Icons"/>
                <a:ea typeface="Material Icons"/>
                <a:cs typeface="Material Icons"/>
                <a:sym typeface="Material Icons"/>
              </a:endParaRPr>
            </a:p>
          </p:txBody>
        </p:sp>
        <p:sp>
          <p:nvSpPr>
            <p:cNvPr id="583" name="Google Shape;583;p19"/>
            <p:cNvSpPr txBox="1"/>
            <p:nvPr/>
          </p:nvSpPr>
          <p:spPr>
            <a:xfrm>
              <a:off x="647700" y="133350"/>
              <a:ext cx="4476900" cy="676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200" u="none" strike="noStrike">
                  <a:solidFill>
                    <a:srgbClr val="2563EB"/>
                  </a:solidFill>
                  <a:latin typeface="Quattrocento Sans"/>
                  <a:ea typeface="Quattrocento Sans"/>
                  <a:cs typeface="Quattrocento Sans"/>
                  <a:sym typeface="Quattrocento Sans"/>
                </a:rPr>
                <a:t>Assistance Scope</a:t>
              </a:r>
              <a:endParaRPr b="1" i="0" sz="1200" u="none" strike="noStrike">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i="0" lang="en-US" sz="1000" u="none" strike="noStrike">
                  <a:solidFill>
                    <a:srgbClr val="334155"/>
                  </a:solidFill>
                  <a:latin typeface="Quattrocento Sans"/>
                  <a:ea typeface="Quattrocento Sans"/>
                  <a:cs typeface="Quattrocento Sans"/>
                  <a:sym typeface="Quattrocento Sans"/>
                </a:rPr>
                <a:t>Assisted in scaffolding repetitive Flutter widget templates, drafting OpenXML build scripts, and formatting PlantUML/Mermaid syntax.</a:t>
              </a:r>
              <a:endParaRPr b="1" i="0" sz="1000" u="none" strike="noStrike">
                <a:solidFill>
                  <a:srgbClr val="2563EB"/>
                </a:solidFill>
                <a:latin typeface="Quattrocento Sans"/>
                <a:ea typeface="Quattrocento Sans"/>
                <a:cs typeface="Quattrocento Sans"/>
                <a:sym typeface="Quattrocento Sans"/>
              </a:endParaRPr>
            </a:p>
          </p:txBody>
        </p:sp>
      </p:grpSp>
      <p:grpSp>
        <p:nvGrpSpPr>
          <p:cNvPr id="584" name="Google Shape;584;p19"/>
          <p:cNvGrpSpPr/>
          <p:nvPr/>
        </p:nvGrpSpPr>
        <p:grpSpPr>
          <a:xfrm>
            <a:off x="600075" y="4867275"/>
            <a:ext cx="5257800" cy="904800"/>
            <a:chOff x="0" y="0"/>
            <a:chExt cx="5257800" cy="904800"/>
          </a:xfrm>
        </p:grpSpPr>
        <p:sp>
          <p:nvSpPr>
            <p:cNvPr id="585" name="Google Shape;585;p19"/>
            <p:cNvSpPr/>
            <p:nvPr/>
          </p:nvSpPr>
          <p:spPr>
            <a:xfrm>
              <a:off x="0" y="0"/>
              <a:ext cx="5257800" cy="904800"/>
            </a:xfrm>
            <a:prstGeom prst="roundRect">
              <a:avLst>
                <a:gd fmla="val 842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6" name="Google Shape;586;p19"/>
            <p:cNvSpPr/>
            <p:nvPr/>
          </p:nvSpPr>
          <p:spPr>
            <a:xfrm>
              <a:off x="133350" y="133350"/>
              <a:ext cx="400200" cy="400200"/>
            </a:xfrm>
            <a:prstGeom prst="roundRect">
              <a:avLst>
                <a:gd fmla="val 190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7" name="Google Shape;587;p19"/>
            <p:cNvSpPr txBox="1"/>
            <p:nvPr/>
          </p:nvSpPr>
          <p:spPr>
            <a:xfrm>
              <a:off x="133350" y="162560"/>
              <a:ext cx="400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fact_check</a:t>
              </a:r>
              <a:endParaRPr sz="2000">
                <a:solidFill>
                  <a:srgbClr val="2563EB"/>
                </a:solidFill>
                <a:latin typeface="Material Icons"/>
                <a:ea typeface="Material Icons"/>
                <a:cs typeface="Material Icons"/>
                <a:sym typeface="Material Icons"/>
              </a:endParaRPr>
            </a:p>
          </p:txBody>
        </p:sp>
        <p:sp>
          <p:nvSpPr>
            <p:cNvPr id="588" name="Google Shape;588;p19"/>
            <p:cNvSpPr txBox="1"/>
            <p:nvPr/>
          </p:nvSpPr>
          <p:spPr>
            <a:xfrm>
              <a:off x="647700" y="133350"/>
              <a:ext cx="4476900" cy="676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200" u="none" strike="noStrike">
                  <a:solidFill>
                    <a:srgbClr val="2563EB"/>
                  </a:solidFill>
                  <a:latin typeface="Quattrocento Sans"/>
                  <a:ea typeface="Quattrocento Sans"/>
                  <a:cs typeface="Quattrocento Sans"/>
                  <a:sym typeface="Quattrocento Sans"/>
                </a:rPr>
                <a:t>Rubric Benchmarking</a:t>
              </a:r>
              <a:endParaRPr b="1" i="0" sz="1200" u="none" strike="noStrike">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i="0" lang="en-US" sz="1000" u="none" strike="noStrike">
                  <a:solidFill>
                    <a:srgbClr val="334155"/>
                  </a:solidFill>
                  <a:latin typeface="Quattrocento Sans"/>
                  <a:ea typeface="Quattrocento Sans"/>
                  <a:cs typeface="Quattrocento Sans"/>
                  <a:sym typeface="Quattrocento Sans"/>
                </a:rPr>
                <a:t>Employed AI prompts to cross-examine screen designs against COIT20270 marking criteria.</a:t>
              </a:r>
              <a:endParaRPr b="1" i="0" sz="1000" u="none" strike="noStrike">
                <a:solidFill>
                  <a:srgbClr val="2563EB"/>
                </a:solidFill>
                <a:latin typeface="Quattrocento Sans"/>
                <a:ea typeface="Quattrocento Sans"/>
                <a:cs typeface="Quattrocento Sans"/>
                <a:sym typeface="Quattrocento Sans"/>
              </a:endParaRPr>
            </a:p>
          </p:txBody>
        </p:sp>
      </p:grpSp>
      <p:grpSp>
        <p:nvGrpSpPr>
          <p:cNvPr id="589" name="Google Shape;589;p19"/>
          <p:cNvGrpSpPr/>
          <p:nvPr/>
        </p:nvGrpSpPr>
        <p:grpSpPr>
          <a:xfrm>
            <a:off x="6334125" y="1762125"/>
            <a:ext cx="5257800" cy="304800"/>
            <a:chOff x="0" y="0"/>
            <a:chExt cx="5257800" cy="304800"/>
          </a:xfrm>
        </p:grpSpPr>
        <p:sp>
          <p:nvSpPr>
            <p:cNvPr id="590" name="Google Shape;590;p19"/>
            <p:cNvSpPr/>
            <p:nvPr/>
          </p:nvSpPr>
          <p:spPr>
            <a:xfrm>
              <a:off x="0" y="0"/>
              <a:ext cx="5257800" cy="304800"/>
            </a:xfrm>
            <a:prstGeom prst="roundRect">
              <a:avLst>
                <a:gd fmla="val 1875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1" name="Google Shape;591;p19"/>
            <p:cNvSpPr txBox="1"/>
            <p:nvPr/>
          </p:nvSpPr>
          <p:spPr>
            <a:xfrm>
              <a:off x="114300" y="0"/>
              <a:ext cx="50292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1E40AF"/>
                  </a:solidFill>
                  <a:latin typeface="Quattrocento Sans"/>
                  <a:ea typeface="Quattrocento Sans"/>
                  <a:cs typeface="Quattrocento Sans"/>
                  <a:sym typeface="Quattrocento Sans"/>
                </a:rPr>
                <a:t>02 / CRITICAL STUDENT EVALUATION &amp; ACCOUNTABILITY</a:t>
              </a:r>
              <a:endParaRPr b="1" sz="1000">
                <a:solidFill>
                  <a:srgbClr val="1E40AF"/>
                </a:solidFill>
                <a:latin typeface="Quattrocento Sans"/>
                <a:ea typeface="Quattrocento Sans"/>
                <a:cs typeface="Quattrocento Sans"/>
                <a:sym typeface="Quattrocento Sans"/>
              </a:endParaRPr>
            </a:p>
          </p:txBody>
        </p:sp>
      </p:grpSp>
      <p:grpSp>
        <p:nvGrpSpPr>
          <p:cNvPr id="592" name="Google Shape;592;p19"/>
          <p:cNvGrpSpPr/>
          <p:nvPr/>
        </p:nvGrpSpPr>
        <p:grpSpPr>
          <a:xfrm>
            <a:off x="6334125" y="2162175"/>
            <a:ext cx="5257800" cy="904800"/>
            <a:chOff x="0" y="0"/>
            <a:chExt cx="5257800" cy="904800"/>
          </a:xfrm>
        </p:grpSpPr>
        <p:sp>
          <p:nvSpPr>
            <p:cNvPr id="593" name="Google Shape;593;p19"/>
            <p:cNvSpPr/>
            <p:nvPr/>
          </p:nvSpPr>
          <p:spPr>
            <a:xfrm>
              <a:off x="0" y="0"/>
              <a:ext cx="5257800" cy="904800"/>
            </a:xfrm>
            <a:prstGeom prst="roundRect">
              <a:avLst>
                <a:gd fmla="val 842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4" name="Google Shape;594;p19"/>
            <p:cNvSpPr/>
            <p:nvPr/>
          </p:nvSpPr>
          <p:spPr>
            <a:xfrm>
              <a:off x="133350" y="133350"/>
              <a:ext cx="400200" cy="400200"/>
            </a:xfrm>
            <a:prstGeom prst="roundRect">
              <a:avLst>
                <a:gd fmla="val 190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5" name="Google Shape;595;p19"/>
            <p:cNvSpPr txBox="1"/>
            <p:nvPr/>
          </p:nvSpPr>
          <p:spPr>
            <a:xfrm>
              <a:off x="133350" y="162560"/>
              <a:ext cx="400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verified</a:t>
              </a:r>
              <a:endParaRPr sz="2000">
                <a:solidFill>
                  <a:srgbClr val="2563EB"/>
                </a:solidFill>
                <a:latin typeface="Material Icons"/>
                <a:ea typeface="Material Icons"/>
                <a:cs typeface="Material Icons"/>
                <a:sym typeface="Material Icons"/>
              </a:endParaRPr>
            </a:p>
          </p:txBody>
        </p:sp>
        <p:sp>
          <p:nvSpPr>
            <p:cNvPr id="596" name="Google Shape;596;p19"/>
            <p:cNvSpPr txBox="1"/>
            <p:nvPr/>
          </p:nvSpPr>
          <p:spPr>
            <a:xfrm>
              <a:off x="647700" y="133350"/>
              <a:ext cx="4476900" cy="676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200" u="none" strike="noStrike">
                  <a:solidFill>
                    <a:srgbClr val="2563EB"/>
                  </a:solidFill>
                  <a:latin typeface="Quattrocento Sans"/>
                  <a:ea typeface="Quattrocento Sans"/>
                  <a:cs typeface="Quattrocento Sans"/>
                  <a:sym typeface="Quattrocento Sans"/>
                </a:rPr>
                <a:t>Manual Validation</a:t>
              </a:r>
              <a:endParaRPr b="1" i="0" sz="1200" u="none" strike="noStrike">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i="0" lang="en-US" sz="1000" u="none" strike="noStrike">
                  <a:solidFill>
                    <a:srgbClr val="334155"/>
                  </a:solidFill>
                  <a:latin typeface="Quattrocento Sans"/>
                  <a:ea typeface="Quattrocento Sans"/>
                  <a:cs typeface="Quattrocento Sans"/>
                  <a:sym typeface="Quattrocento Sans"/>
                </a:rPr>
                <a:t>The student critically reviewed, debugged, and refined every line of generated Flutter code.</a:t>
              </a:r>
              <a:endParaRPr b="1" i="0" sz="1000" u="none" strike="noStrike">
                <a:solidFill>
                  <a:srgbClr val="2563EB"/>
                </a:solidFill>
                <a:latin typeface="Quattrocento Sans"/>
                <a:ea typeface="Quattrocento Sans"/>
                <a:cs typeface="Quattrocento Sans"/>
                <a:sym typeface="Quattrocento Sans"/>
              </a:endParaRPr>
            </a:p>
          </p:txBody>
        </p:sp>
      </p:grpSp>
      <p:grpSp>
        <p:nvGrpSpPr>
          <p:cNvPr id="597" name="Google Shape;597;p19"/>
          <p:cNvGrpSpPr/>
          <p:nvPr/>
        </p:nvGrpSpPr>
        <p:grpSpPr>
          <a:xfrm>
            <a:off x="6334125" y="3514725"/>
            <a:ext cx="5257800" cy="904800"/>
            <a:chOff x="0" y="0"/>
            <a:chExt cx="5257800" cy="904800"/>
          </a:xfrm>
        </p:grpSpPr>
        <p:sp>
          <p:nvSpPr>
            <p:cNvPr id="598" name="Google Shape;598;p19"/>
            <p:cNvSpPr/>
            <p:nvPr/>
          </p:nvSpPr>
          <p:spPr>
            <a:xfrm>
              <a:off x="0" y="0"/>
              <a:ext cx="5257800" cy="904800"/>
            </a:xfrm>
            <a:prstGeom prst="roundRect">
              <a:avLst>
                <a:gd fmla="val 842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9" name="Google Shape;599;p19"/>
            <p:cNvSpPr/>
            <p:nvPr/>
          </p:nvSpPr>
          <p:spPr>
            <a:xfrm>
              <a:off x="133350" y="133350"/>
              <a:ext cx="400200" cy="400200"/>
            </a:xfrm>
            <a:prstGeom prst="roundRect">
              <a:avLst>
                <a:gd fmla="val 190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0" name="Google Shape;600;p19"/>
            <p:cNvSpPr txBox="1"/>
            <p:nvPr/>
          </p:nvSpPr>
          <p:spPr>
            <a:xfrm>
              <a:off x="133350" y="162560"/>
              <a:ext cx="400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menu_book</a:t>
              </a:r>
              <a:endParaRPr sz="2000">
                <a:solidFill>
                  <a:srgbClr val="2563EB"/>
                </a:solidFill>
                <a:latin typeface="Material Icons"/>
                <a:ea typeface="Material Icons"/>
                <a:cs typeface="Material Icons"/>
                <a:sym typeface="Material Icons"/>
              </a:endParaRPr>
            </a:p>
          </p:txBody>
        </p:sp>
        <p:sp>
          <p:nvSpPr>
            <p:cNvPr id="601" name="Google Shape;601;p19"/>
            <p:cNvSpPr txBox="1"/>
            <p:nvPr/>
          </p:nvSpPr>
          <p:spPr>
            <a:xfrm>
              <a:off x="647700" y="133350"/>
              <a:ext cx="4476900" cy="676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200" u="none" strike="noStrike">
                  <a:solidFill>
                    <a:srgbClr val="2563EB"/>
                  </a:solidFill>
                  <a:latin typeface="Quattrocento Sans"/>
                  <a:ea typeface="Quattrocento Sans"/>
                  <a:cs typeface="Quattrocento Sans"/>
                  <a:sym typeface="Quattrocento Sans"/>
                </a:rPr>
                <a:t>CQU Library Verification</a:t>
              </a:r>
              <a:endParaRPr b="1" i="0" sz="1200" u="none" strike="noStrike">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i="0" lang="en-US" sz="1000" u="none" strike="noStrike">
                  <a:solidFill>
                    <a:srgbClr val="334155"/>
                  </a:solidFill>
                  <a:latin typeface="Quattrocento Sans"/>
                  <a:ea typeface="Quattrocento Sans"/>
                  <a:cs typeface="Quattrocento Sans"/>
                  <a:sym typeface="Quattrocento Sans"/>
                </a:rPr>
                <a:t>All 9 academic literature citations, page numbers, and verbatim quotes were verified using full-text CQU library articles.</a:t>
              </a:r>
              <a:endParaRPr b="1" i="0" sz="1000" u="none" strike="noStrike">
                <a:solidFill>
                  <a:srgbClr val="2563EB"/>
                </a:solidFill>
                <a:latin typeface="Quattrocento Sans"/>
                <a:ea typeface="Quattrocento Sans"/>
                <a:cs typeface="Quattrocento Sans"/>
                <a:sym typeface="Quattrocento Sans"/>
              </a:endParaRPr>
            </a:p>
          </p:txBody>
        </p:sp>
      </p:grpSp>
      <p:grpSp>
        <p:nvGrpSpPr>
          <p:cNvPr id="602" name="Google Shape;602;p19"/>
          <p:cNvGrpSpPr/>
          <p:nvPr/>
        </p:nvGrpSpPr>
        <p:grpSpPr>
          <a:xfrm>
            <a:off x="6334125" y="4867275"/>
            <a:ext cx="5257800" cy="904800"/>
            <a:chOff x="0" y="0"/>
            <a:chExt cx="5257800" cy="904800"/>
          </a:xfrm>
        </p:grpSpPr>
        <p:sp>
          <p:nvSpPr>
            <p:cNvPr id="603" name="Google Shape;603;p19"/>
            <p:cNvSpPr/>
            <p:nvPr/>
          </p:nvSpPr>
          <p:spPr>
            <a:xfrm>
              <a:off x="0" y="0"/>
              <a:ext cx="5257800" cy="904800"/>
            </a:xfrm>
            <a:prstGeom prst="roundRect">
              <a:avLst>
                <a:gd fmla="val 842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4" name="Google Shape;604;p19"/>
            <p:cNvSpPr/>
            <p:nvPr/>
          </p:nvSpPr>
          <p:spPr>
            <a:xfrm>
              <a:off x="133350" y="133350"/>
              <a:ext cx="400200" cy="400200"/>
            </a:xfrm>
            <a:prstGeom prst="roundRect">
              <a:avLst>
                <a:gd fmla="val 190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5" name="Google Shape;605;p19"/>
            <p:cNvSpPr txBox="1"/>
            <p:nvPr/>
          </p:nvSpPr>
          <p:spPr>
            <a:xfrm>
              <a:off x="133350" y="162560"/>
              <a:ext cx="400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account_tree</a:t>
              </a:r>
              <a:endParaRPr sz="2000">
                <a:solidFill>
                  <a:srgbClr val="2563EB"/>
                </a:solidFill>
                <a:latin typeface="Material Icons"/>
                <a:ea typeface="Material Icons"/>
                <a:cs typeface="Material Icons"/>
                <a:sym typeface="Material Icons"/>
              </a:endParaRPr>
            </a:p>
          </p:txBody>
        </p:sp>
        <p:sp>
          <p:nvSpPr>
            <p:cNvPr id="606" name="Google Shape;606;p19"/>
            <p:cNvSpPr txBox="1"/>
            <p:nvPr/>
          </p:nvSpPr>
          <p:spPr>
            <a:xfrm>
              <a:off x="647700" y="133350"/>
              <a:ext cx="4476900" cy="676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200" u="none" strike="noStrike">
                  <a:solidFill>
                    <a:srgbClr val="2563EB"/>
                  </a:solidFill>
                  <a:latin typeface="Quattrocento Sans"/>
                  <a:ea typeface="Quattrocento Sans"/>
                  <a:cs typeface="Quattrocento Sans"/>
                  <a:sym typeface="Quattrocento Sans"/>
                </a:rPr>
                <a:t>Architectural Sovereignty</a:t>
              </a:r>
              <a:endParaRPr b="1" i="0" sz="1200" u="none" strike="noStrike">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i="0" lang="en-US" sz="1000" u="none" strike="noStrike">
                  <a:solidFill>
                    <a:srgbClr val="334155"/>
                  </a:solidFill>
                  <a:latin typeface="Quattrocento Sans"/>
                  <a:ea typeface="Quattrocento Sans"/>
                  <a:cs typeface="Quattrocento Sans"/>
                  <a:sym typeface="Quattrocento Sans"/>
                </a:rPr>
                <a:t>All user flows, design decisions, and persona alignments were conceived, guided, and validated by the student.</a:t>
              </a:r>
              <a:endParaRPr b="1" i="0" sz="1000" u="none" strike="noStrike">
                <a:solidFill>
                  <a:srgbClr val="2563EB"/>
                </a:solidFill>
                <a:latin typeface="Quattrocento Sans"/>
                <a:ea typeface="Quattrocento Sans"/>
                <a:cs typeface="Quattrocento Sans"/>
                <a:sym typeface="Quattrocento Sans"/>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20"/>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0"/>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SCHOLARLY LITERATURE &amp; RESEARCH SOURCES</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Scholarly References (APA 7th Edition)</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Strictly 9 Peer-Reviewed Journal Articles Available Full-Text Online via the CQU Library</a:t>
            </a:r>
            <a:endParaRPr/>
          </a:p>
        </p:txBody>
      </p:sp>
      <p:grpSp>
        <p:nvGrpSpPr>
          <p:cNvPr id="613" name="Google Shape;613;p20"/>
          <p:cNvGrpSpPr/>
          <p:nvPr/>
        </p:nvGrpSpPr>
        <p:grpSpPr>
          <a:xfrm>
            <a:off x="600075" y="1762125"/>
            <a:ext cx="5257800" cy="304800"/>
            <a:chOff x="0" y="0"/>
            <a:chExt cx="5257800" cy="304800"/>
          </a:xfrm>
        </p:grpSpPr>
        <p:sp>
          <p:nvSpPr>
            <p:cNvPr id="614" name="Google Shape;614;p20"/>
            <p:cNvSpPr/>
            <p:nvPr/>
          </p:nvSpPr>
          <p:spPr>
            <a:xfrm>
              <a:off x="0" y="0"/>
              <a:ext cx="5257800" cy="304800"/>
            </a:xfrm>
            <a:prstGeom prst="roundRect">
              <a:avLst>
                <a:gd fmla="val 1875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5" name="Google Shape;615;p20"/>
            <p:cNvSpPr txBox="1"/>
            <p:nvPr/>
          </p:nvSpPr>
          <p:spPr>
            <a:xfrm>
              <a:off x="114300" y="0"/>
              <a:ext cx="50292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1E40AF"/>
                  </a:solidFill>
                  <a:latin typeface="Quattrocento Sans"/>
                  <a:ea typeface="Quattrocento Sans"/>
                  <a:cs typeface="Quattrocento Sans"/>
                  <a:sym typeface="Quattrocento Sans"/>
                </a:rPr>
                <a:t>01 / REFERENCES 1 TO 5 (APA 7TH)</a:t>
              </a:r>
              <a:endParaRPr b="1" sz="1000">
                <a:solidFill>
                  <a:srgbClr val="1E40AF"/>
                </a:solidFill>
                <a:latin typeface="Quattrocento Sans"/>
                <a:ea typeface="Quattrocento Sans"/>
                <a:cs typeface="Quattrocento Sans"/>
                <a:sym typeface="Quattrocento Sans"/>
              </a:endParaRPr>
            </a:p>
          </p:txBody>
        </p:sp>
      </p:grpSp>
      <p:grpSp>
        <p:nvGrpSpPr>
          <p:cNvPr id="616" name="Google Shape;616;p20"/>
          <p:cNvGrpSpPr/>
          <p:nvPr/>
        </p:nvGrpSpPr>
        <p:grpSpPr>
          <a:xfrm>
            <a:off x="600075" y="2143125"/>
            <a:ext cx="5257800" cy="705000"/>
            <a:chOff x="0" y="0"/>
            <a:chExt cx="5257800" cy="705000"/>
          </a:xfrm>
        </p:grpSpPr>
        <p:sp>
          <p:nvSpPr>
            <p:cNvPr id="617" name="Google Shape;617;p20"/>
            <p:cNvSpPr/>
            <p:nvPr/>
          </p:nvSpPr>
          <p:spPr>
            <a:xfrm>
              <a:off x="0" y="0"/>
              <a:ext cx="5257800" cy="705000"/>
            </a:xfrm>
            <a:prstGeom prst="roundRect">
              <a:avLst>
                <a:gd fmla="val 1081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8" name="Google Shape;618;p20"/>
            <p:cNvSpPr/>
            <p:nvPr/>
          </p:nvSpPr>
          <p:spPr>
            <a:xfrm>
              <a:off x="114300" y="114300"/>
              <a:ext cx="342900" cy="3429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9" name="Google Shape;619;p20"/>
            <p:cNvSpPr txBox="1"/>
            <p:nvPr/>
          </p:nvSpPr>
          <p:spPr>
            <a:xfrm>
              <a:off x="114300" y="1143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2563EB"/>
                  </a:solidFill>
                  <a:latin typeface="Quattrocento Sans"/>
                  <a:ea typeface="Quattrocento Sans"/>
                  <a:cs typeface="Quattrocento Sans"/>
                  <a:sym typeface="Quattrocento Sans"/>
                </a:rPr>
                <a:t>01</a:t>
              </a:r>
              <a:endParaRPr b="1" sz="1100">
                <a:solidFill>
                  <a:srgbClr val="2563EB"/>
                </a:solidFill>
                <a:latin typeface="Quattrocento Sans"/>
                <a:ea typeface="Quattrocento Sans"/>
                <a:cs typeface="Quattrocento Sans"/>
                <a:sym typeface="Quattrocento Sans"/>
              </a:endParaRPr>
            </a:p>
          </p:txBody>
        </p:sp>
        <p:sp>
          <p:nvSpPr>
            <p:cNvPr id="620" name="Google Shape;620;p20"/>
            <p:cNvSpPr txBox="1"/>
            <p:nvPr/>
          </p:nvSpPr>
          <p:spPr>
            <a:xfrm>
              <a:off x="552450" y="95250"/>
              <a:ext cx="4572000" cy="5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Dahiya et al. (2024)</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950">
                  <a:solidFill>
                    <a:srgbClr val="334155"/>
                  </a:solidFill>
                  <a:latin typeface="Quattrocento Sans"/>
                  <a:ea typeface="Quattrocento Sans"/>
                  <a:cs typeface="Quattrocento Sans"/>
                  <a:sym typeface="Quattrocento Sans"/>
                </a:rPr>
                <a:t>Security in mobile network: Issues, challenges, solutions. EAI Endorsed Trans. IoT, 10, e5.</a:t>
              </a:r>
              <a:endParaRPr b="0" sz="950">
                <a:solidFill>
                  <a:srgbClr val="334155"/>
                </a:solidFill>
                <a:latin typeface="Quattrocento Sans"/>
                <a:ea typeface="Quattrocento Sans"/>
                <a:cs typeface="Quattrocento Sans"/>
                <a:sym typeface="Quattrocento Sans"/>
              </a:endParaRPr>
            </a:p>
          </p:txBody>
        </p:sp>
      </p:grpSp>
      <p:grpSp>
        <p:nvGrpSpPr>
          <p:cNvPr id="621" name="Google Shape;621;p20"/>
          <p:cNvGrpSpPr/>
          <p:nvPr/>
        </p:nvGrpSpPr>
        <p:grpSpPr>
          <a:xfrm>
            <a:off x="600075" y="2924175"/>
            <a:ext cx="5257800" cy="705000"/>
            <a:chOff x="0" y="0"/>
            <a:chExt cx="5257800" cy="705000"/>
          </a:xfrm>
        </p:grpSpPr>
        <p:sp>
          <p:nvSpPr>
            <p:cNvPr id="622" name="Google Shape;622;p20"/>
            <p:cNvSpPr/>
            <p:nvPr/>
          </p:nvSpPr>
          <p:spPr>
            <a:xfrm>
              <a:off x="0" y="0"/>
              <a:ext cx="5257800" cy="705000"/>
            </a:xfrm>
            <a:prstGeom prst="roundRect">
              <a:avLst>
                <a:gd fmla="val 1081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3" name="Google Shape;623;p20"/>
            <p:cNvSpPr/>
            <p:nvPr/>
          </p:nvSpPr>
          <p:spPr>
            <a:xfrm>
              <a:off x="114300" y="114300"/>
              <a:ext cx="342900" cy="3429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4" name="Google Shape;624;p20"/>
            <p:cNvSpPr txBox="1"/>
            <p:nvPr/>
          </p:nvSpPr>
          <p:spPr>
            <a:xfrm>
              <a:off x="114300" y="1143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2563EB"/>
                  </a:solidFill>
                  <a:latin typeface="Quattrocento Sans"/>
                  <a:ea typeface="Quattrocento Sans"/>
                  <a:cs typeface="Quattrocento Sans"/>
                  <a:sym typeface="Quattrocento Sans"/>
                </a:rPr>
                <a:t>02</a:t>
              </a:r>
              <a:endParaRPr b="1" sz="1100">
                <a:solidFill>
                  <a:srgbClr val="2563EB"/>
                </a:solidFill>
                <a:latin typeface="Quattrocento Sans"/>
                <a:ea typeface="Quattrocento Sans"/>
                <a:cs typeface="Quattrocento Sans"/>
                <a:sym typeface="Quattrocento Sans"/>
              </a:endParaRPr>
            </a:p>
          </p:txBody>
        </p:sp>
        <p:sp>
          <p:nvSpPr>
            <p:cNvPr id="625" name="Google Shape;625;p20"/>
            <p:cNvSpPr txBox="1"/>
            <p:nvPr/>
          </p:nvSpPr>
          <p:spPr>
            <a:xfrm>
              <a:off x="552450" y="95250"/>
              <a:ext cx="4572000" cy="5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Gatsou et al. (2011)</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950">
                  <a:solidFill>
                    <a:srgbClr val="334155"/>
                  </a:solidFill>
                  <a:latin typeface="Quattrocento Sans"/>
                  <a:ea typeface="Quattrocento Sans"/>
                  <a:cs typeface="Quattrocento Sans"/>
                  <a:sym typeface="Quattrocento Sans"/>
                </a:rPr>
                <a:t>Text vs visual metaphor in mobile interfaces for novice user interaction. Information Services &amp; Use, 31(4), 271–279.</a:t>
              </a:r>
              <a:endParaRPr b="0" sz="950">
                <a:solidFill>
                  <a:srgbClr val="334155"/>
                </a:solidFill>
                <a:latin typeface="Quattrocento Sans"/>
                <a:ea typeface="Quattrocento Sans"/>
                <a:cs typeface="Quattrocento Sans"/>
                <a:sym typeface="Quattrocento Sans"/>
              </a:endParaRPr>
            </a:p>
          </p:txBody>
        </p:sp>
      </p:grpSp>
      <p:grpSp>
        <p:nvGrpSpPr>
          <p:cNvPr id="626" name="Google Shape;626;p20"/>
          <p:cNvGrpSpPr/>
          <p:nvPr/>
        </p:nvGrpSpPr>
        <p:grpSpPr>
          <a:xfrm>
            <a:off x="600075" y="3705225"/>
            <a:ext cx="5257800" cy="705000"/>
            <a:chOff x="0" y="0"/>
            <a:chExt cx="5257800" cy="705000"/>
          </a:xfrm>
        </p:grpSpPr>
        <p:sp>
          <p:nvSpPr>
            <p:cNvPr id="627" name="Google Shape;627;p20"/>
            <p:cNvSpPr/>
            <p:nvPr/>
          </p:nvSpPr>
          <p:spPr>
            <a:xfrm>
              <a:off x="0" y="0"/>
              <a:ext cx="5257800" cy="705000"/>
            </a:xfrm>
            <a:prstGeom prst="roundRect">
              <a:avLst>
                <a:gd fmla="val 1081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8" name="Google Shape;628;p20"/>
            <p:cNvSpPr/>
            <p:nvPr/>
          </p:nvSpPr>
          <p:spPr>
            <a:xfrm>
              <a:off x="114300" y="114300"/>
              <a:ext cx="342900" cy="3429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9" name="Google Shape;629;p20"/>
            <p:cNvSpPr txBox="1"/>
            <p:nvPr/>
          </p:nvSpPr>
          <p:spPr>
            <a:xfrm>
              <a:off x="114300" y="1143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2563EB"/>
                  </a:solidFill>
                  <a:latin typeface="Quattrocento Sans"/>
                  <a:ea typeface="Quattrocento Sans"/>
                  <a:cs typeface="Quattrocento Sans"/>
                  <a:sym typeface="Quattrocento Sans"/>
                </a:rPr>
                <a:t>03</a:t>
              </a:r>
              <a:endParaRPr b="1" sz="1100">
                <a:solidFill>
                  <a:srgbClr val="2563EB"/>
                </a:solidFill>
                <a:latin typeface="Quattrocento Sans"/>
                <a:ea typeface="Quattrocento Sans"/>
                <a:cs typeface="Quattrocento Sans"/>
                <a:sym typeface="Quattrocento Sans"/>
              </a:endParaRPr>
            </a:p>
          </p:txBody>
        </p:sp>
        <p:sp>
          <p:nvSpPr>
            <p:cNvPr id="630" name="Google Shape;630;p20"/>
            <p:cNvSpPr txBox="1"/>
            <p:nvPr/>
          </p:nvSpPr>
          <p:spPr>
            <a:xfrm>
              <a:off x="552450" y="95250"/>
              <a:ext cx="4572000" cy="5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Ilany-Tzur &amp; Fink (2023)</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950">
                  <a:solidFill>
                    <a:srgbClr val="334155"/>
                  </a:solidFill>
                  <a:latin typeface="Quattrocento Sans"/>
                  <a:ea typeface="Quattrocento Sans"/>
                  <a:cs typeface="Quattrocento Sans"/>
                  <a:sym typeface="Quattrocento Sans"/>
                </a:rPr>
                <a:t>How is mobile task performance different? The case of information processing. Behaviour &amp; IT, 42(14), 2445–2460.</a:t>
              </a:r>
              <a:endParaRPr b="0" sz="950">
                <a:solidFill>
                  <a:srgbClr val="334155"/>
                </a:solidFill>
                <a:latin typeface="Quattrocento Sans"/>
                <a:ea typeface="Quattrocento Sans"/>
                <a:cs typeface="Quattrocento Sans"/>
                <a:sym typeface="Quattrocento Sans"/>
              </a:endParaRPr>
            </a:p>
          </p:txBody>
        </p:sp>
      </p:grpSp>
      <p:grpSp>
        <p:nvGrpSpPr>
          <p:cNvPr id="631" name="Google Shape;631;p20"/>
          <p:cNvGrpSpPr/>
          <p:nvPr/>
        </p:nvGrpSpPr>
        <p:grpSpPr>
          <a:xfrm>
            <a:off x="600075" y="4486275"/>
            <a:ext cx="5257800" cy="705000"/>
            <a:chOff x="0" y="0"/>
            <a:chExt cx="5257800" cy="705000"/>
          </a:xfrm>
        </p:grpSpPr>
        <p:sp>
          <p:nvSpPr>
            <p:cNvPr id="632" name="Google Shape;632;p20"/>
            <p:cNvSpPr/>
            <p:nvPr/>
          </p:nvSpPr>
          <p:spPr>
            <a:xfrm>
              <a:off x="0" y="0"/>
              <a:ext cx="5257800" cy="705000"/>
            </a:xfrm>
            <a:prstGeom prst="roundRect">
              <a:avLst>
                <a:gd fmla="val 1081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3" name="Google Shape;633;p20"/>
            <p:cNvSpPr/>
            <p:nvPr/>
          </p:nvSpPr>
          <p:spPr>
            <a:xfrm>
              <a:off x="114300" y="114300"/>
              <a:ext cx="342900" cy="3429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4" name="Google Shape;634;p20"/>
            <p:cNvSpPr txBox="1"/>
            <p:nvPr/>
          </p:nvSpPr>
          <p:spPr>
            <a:xfrm>
              <a:off x="114300" y="1143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2563EB"/>
                  </a:solidFill>
                  <a:latin typeface="Quattrocento Sans"/>
                  <a:ea typeface="Quattrocento Sans"/>
                  <a:cs typeface="Quattrocento Sans"/>
                  <a:sym typeface="Quattrocento Sans"/>
                </a:rPr>
                <a:t>04</a:t>
              </a:r>
              <a:endParaRPr b="1" sz="1100">
                <a:solidFill>
                  <a:srgbClr val="2563EB"/>
                </a:solidFill>
                <a:latin typeface="Quattrocento Sans"/>
                <a:ea typeface="Quattrocento Sans"/>
                <a:cs typeface="Quattrocento Sans"/>
                <a:sym typeface="Quattrocento Sans"/>
              </a:endParaRPr>
            </a:p>
          </p:txBody>
        </p:sp>
        <p:sp>
          <p:nvSpPr>
            <p:cNvPr id="635" name="Google Shape;635;p20"/>
            <p:cNvSpPr txBox="1"/>
            <p:nvPr/>
          </p:nvSpPr>
          <p:spPr>
            <a:xfrm>
              <a:off x="552450" y="95250"/>
              <a:ext cx="4572000" cy="5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Jakob et al. (2022)</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950">
                  <a:solidFill>
                    <a:srgbClr val="334155"/>
                  </a:solidFill>
                  <a:latin typeface="Quattrocento Sans"/>
                  <a:ea typeface="Quattrocento Sans"/>
                  <a:cs typeface="Quattrocento Sans"/>
                  <a:sym typeface="Quattrocento Sans"/>
                </a:rPr>
                <a:t>Factors influencing adherence to mHealth apps. Journal of Medical Internet Research, 24(5), e36371.</a:t>
              </a:r>
              <a:endParaRPr b="0" sz="950">
                <a:solidFill>
                  <a:srgbClr val="334155"/>
                </a:solidFill>
                <a:latin typeface="Quattrocento Sans"/>
                <a:ea typeface="Quattrocento Sans"/>
                <a:cs typeface="Quattrocento Sans"/>
                <a:sym typeface="Quattrocento Sans"/>
              </a:endParaRPr>
            </a:p>
          </p:txBody>
        </p:sp>
      </p:grpSp>
      <p:grpSp>
        <p:nvGrpSpPr>
          <p:cNvPr id="636" name="Google Shape;636;p20"/>
          <p:cNvGrpSpPr/>
          <p:nvPr/>
        </p:nvGrpSpPr>
        <p:grpSpPr>
          <a:xfrm>
            <a:off x="600075" y="5267325"/>
            <a:ext cx="5257800" cy="705000"/>
            <a:chOff x="0" y="0"/>
            <a:chExt cx="5257800" cy="705000"/>
          </a:xfrm>
        </p:grpSpPr>
        <p:sp>
          <p:nvSpPr>
            <p:cNvPr id="637" name="Google Shape;637;p20"/>
            <p:cNvSpPr/>
            <p:nvPr/>
          </p:nvSpPr>
          <p:spPr>
            <a:xfrm>
              <a:off x="0" y="0"/>
              <a:ext cx="5257800" cy="705000"/>
            </a:xfrm>
            <a:prstGeom prst="roundRect">
              <a:avLst>
                <a:gd fmla="val 1081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8" name="Google Shape;638;p20"/>
            <p:cNvSpPr/>
            <p:nvPr/>
          </p:nvSpPr>
          <p:spPr>
            <a:xfrm>
              <a:off x="114300" y="114300"/>
              <a:ext cx="342900" cy="3429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9" name="Google Shape;639;p20"/>
            <p:cNvSpPr txBox="1"/>
            <p:nvPr/>
          </p:nvSpPr>
          <p:spPr>
            <a:xfrm>
              <a:off x="114300" y="1143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2563EB"/>
                  </a:solidFill>
                  <a:latin typeface="Quattrocento Sans"/>
                  <a:ea typeface="Quattrocento Sans"/>
                  <a:cs typeface="Quattrocento Sans"/>
                  <a:sym typeface="Quattrocento Sans"/>
                </a:rPr>
                <a:t>05</a:t>
              </a:r>
              <a:endParaRPr b="1" sz="1100">
                <a:solidFill>
                  <a:srgbClr val="2563EB"/>
                </a:solidFill>
                <a:latin typeface="Quattrocento Sans"/>
                <a:ea typeface="Quattrocento Sans"/>
                <a:cs typeface="Quattrocento Sans"/>
                <a:sym typeface="Quattrocento Sans"/>
              </a:endParaRPr>
            </a:p>
          </p:txBody>
        </p:sp>
        <p:sp>
          <p:nvSpPr>
            <p:cNvPr id="640" name="Google Shape;640;p20"/>
            <p:cNvSpPr txBox="1"/>
            <p:nvPr/>
          </p:nvSpPr>
          <p:spPr>
            <a:xfrm>
              <a:off x="552450" y="95250"/>
              <a:ext cx="4572000" cy="5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LaMonica et al. (2021)</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950">
                  <a:solidFill>
                    <a:srgbClr val="334155"/>
                  </a:solidFill>
                  <a:latin typeface="Quattrocento Sans"/>
                  <a:ea typeface="Quattrocento Sans"/>
                  <a:cs typeface="Quattrocento Sans"/>
                  <a:sym typeface="Quattrocento Sans"/>
                </a:rPr>
                <a:t>Privacy practices of health information technologies. Journal of Medical Internet Research, 23(9), e26317.</a:t>
              </a:r>
              <a:endParaRPr b="0" sz="950">
                <a:solidFill>
                  <a:srgbClr val="334155"/>
                </a:solidFill>
                <a:latin typeface="Quattrocento Sans"/>
                <a:ea typeface="Quattrocento Sans"/>
                <a:cs typeface="Quattrocento Sans"/>
                <a:sym typeface="Quattrocento Sans"/>
              </a:endParaRPr>
            </a:p>
          </p:txBody>
        </p:sp>
      </p:grpSp>
      <p:grpSp>
        <p:nvGrpSpPr>
          <p:cNvPr id="641" name="Google Shape;641;p20"/>
          <p:cNvGrpSpPr/>
          <p:nvPr/>
        </p:nvGrpSpPr>
        <p:grpSpPr>
          <a:xfrm>
            <a:off x="6334125" y="1762125"/>
            <a:ext cx="5257800" cy="304800"/>
            <a:chOff x="0" y="0"/>
            <a:chExt cx="5257800" cy="304800"/>
          </a:xfrm>
        </p:grpSpPr>
        <p:sp>
          <p:nvSpPr>
            <p:cNvPr id="642" name="Google Shape;642;p20"/>
            <p:cNvSpPr/>
            <p:nvPr/>
          </p:nvSpPr>
          <p:spPr>
            <a:xfrm>
              <a:off x="0" y="0"/>
              <a:ext cx="5257800" cy="304800"/>
            </a:xfrm>
            <a:prstGeom prst="roundRect">
              <a:avLst>
                <a:gd fmla="val 1875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3" name="Google Shape;643;p20"/>
            <p:cNvSpPr txBox="1"/>
            <p:nvPr/>
          </p:nvSpPr>
          <p:spPr>
            <a:xfrm>
              <a:off x="114300" y="0"/>
              <a:ext cx="50292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1E40AF"/>
                  </a:solidFill>
                  <a:latin typeface="Quattrocento Sans"/>
                  <a:ea typeface="Quattrocento Sans"/>
                  <a:cs typeface="Quattrocento Sans"/>
                  <a:sym typeface="Quattrocento Sans"/>
                </a:rPr>
                <a:t>02 / REFERENCES 6 TO 9 (APA 7TH)</a:t>
              </a:r>
              <a:endParaRPr b="1" sz="1000">
                <a:solidFill>
                  <a:srgbClr val="1E40AF"/>
                </a:solidFill>
                <a:latin typeface="Quattrocento Sans"/>
                <a:ea typeface="Quattrocento Sans"/>
                <a:cs typeface="Quattrocento Sans"/>
                <a:sym typeface="Quattrocento Sans"/>
              </a:endParaRPr>
            </a:p>
          </p:txBody>
        </p:sp>
      </p:grpSp>
      <p:grpSp>
        <p:nvGrpSpPr>
          <p:cNvPr id="644" name="Google Shape;644;p20"/>
          <p:cNvGrpSpPr/>
          <p:nvPr/>
        </p:nvGrpSpPr>
        <p:grpSpPr>
          <a:xfrm>
            <a:off x="6334125" y="2143125"/>
            <a:ext cx="5257800" cy="876300"/>
            <a:chOff x="0" y="0"/>
            <a:chExt cx="5257800" cy="876300"/>
          </a:xfrm>
        </p:grpSpPr>
        <p:sp>
          <p:nvSpPr>
            <p:cNvPr id="645" name="Google Shape;645;p20"/>
            <p:cNvSpPr/>
            <p:nvPr/>
          </p:nvSpPr>
          <p:spPr>
            <a:xfrm>
              <a:off x="0" y="0"/>
              <a:ext cx="5257800" cy="876300"/>
            </a:xfrm>
            <a:prstGeom prst="roundRect">
              <a:avLst>
                <a:gd fmla="val 8695"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6" name="Google Shape;646;p20"/>
            <p:cNvSpPr/>
            <p:nvPr/>
          </p:nvSpPr>
          <p:spPr>
            <a:xfrm>
              <a:off x="114300" y="114300"/>
              <a:ext cx="342900" cy="3429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7" name="Google Shape;647;p20"/>
            <p:cNvSpPr txBox="1"/>
            <p:nvPr/>
          </p:nvSpPr>
          <p:spPr>
            <a:xfrm>
              <a:off x="114300" y="1143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2563EB"/>
                  </a:solidFill>
                  <a:latin typeface="Quattrocento Sans"/>
                  <a:ea typeface="Quattrocento Sans"/>
                  <a:cs typeface="Quattrocento Sans"/>
                  <a:sym typeface="Quattrocento Sans"/>
                </a:rPr>
                <a:t>06</a:t>
              </a:r>
              <a:endParaRPr b="1" sz="1100">
                <a:solidFill>
                  <a:srgbClr val="2563EB"/>
                </a:solidFill>
                <a:latin typeface="Quattrocento Sans"/>
                <a:ea typeface="Quattrocento Sans"/>
                <a:cs typeface="Quattrocento Sans"/>
                <a:sym typeface="Quattrocento Sans"/>
              </a:endParaRPr>
            </a:p>
          </p:txBody>
        </p:sp>
        <p:sp>
          <p:nvSpPr>
            <p:cNvPr id="648" name="Google Shape;648;p20"/>
            <p:cNvSpPr txBox="1"/>
            <p:nvPr/>
          </p:nvSpPr>
          <p:spPr>
            <a:xfrm>
              <a:off x="552450" y="95250"/>
              <a:ext cx="457200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Li, Flatla, &amp; Arndt (2025)</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950">
                  <a:solidFill>
                    <a:srgbClr val="334155"/>
                  </a:solidFill>
                  <a:latin typeface="Quattrocento Sans"/>
                  <a:ea typeface="Quattrocento Sans"/>
                  <a:cs typeface="Quattrocento Sans"/>
                  <a:sym typeface="Quattrocento Sans"/>
                </a:rPr>
                <a:t>Divergent deceptions: Comparative analysis of deceptive patterns in iOS and Android apps. Behaviour &amp; IT, 44(2), 185–204.</a:t>
              </a:r>
              <a:endParaRPr b="0" sz="950">
                <a:solidFill>
                  <a:srgbClr val="334155"/>
                </a:solidFill>
                <a:latin typeface="Quattrocento Sans"/>
                <a:ea typeface="Quattrocento Sans"/>
                <a:cs typeface="Quattrocento Sans"/>
                <a:sym typeface="Quattrocento Sans"/>
              </a:endParaRPr>
            </a:p>
          </p:txBody>
        </p:sp>
      </p:grpSp>
      <p:grpSp>
        <p:nvGrpSpPr>
          <p:cNvPr id="649" name="Google Shape;649;p20"/>
          <p:cNvGrpSpPr/>
          <p:nvPr/>
        </p:nvGrpSpPr>
        <p:grpSpPr>
          <a:xfrm>
            <a:off x="6334125" y="3095625"/>
            <a:ext cx="5257800" cy="876300"/>
            <a:chOff x="0" y="0"/>
            <a:chExt cx="5257800" cy="876300"/>
          </a:xfrm>
        </p:grpSpPr>
        <p:sp>
          <p:nvSpPr>
            <p:cNvPr id="650" name="Google Shape;650;p20"/>
            <p:cNvSpPr/>
            <p:nvPr/>
          </p:nvSpPr>
          <p:spPr>
            <a:xfrm>
              <a:off x="0" y="0"/>
              <a:ext cx="5257800" cy="876300"/>
            </a:xfrm>
            <a:prstGeom prst="roundRect">
              <a:avLst>
                <a:gd fmla="val 8695"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1" name="Google Shape;651;p20"/>
            <p:cNvSpPr/>
            <p:nvPr/>
          </p:nvSpPr>
          <p:spPr>
            <a:xfrm>
              <a:off x="114300" y="114300"/>
              <a:ext cx="342900" cy="3429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2" name="Google Shape;652;p20"/>
            <p:cNvSpPr txBox="1"/>
            <p:nvPr/>
          </p:nvSpPr>
          <p:spPr>
            <a:xfrm>
              <a:off x="114300" y="1143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2563EB"/>
                  </a:solidFill>
                  <a:latin typeface="Quattrocento Sans"/>
                  <a:ea typeface="Quattrocento Sans"/>
                  <a:cs typeface="Quattrocento Sans"/>
                  <a:sym typeface="Quattrocento Sans"/>
                </a:rPr>
                <a:t>07</a:t>
              </a:r>
              <a:endParaRPr b="1" sz="1100">
                <a:solidFill>
                  <a:srgbClr val="2563EB"/>
                </a:solidFill>
                <a:latin typeface="Quattrocento Sans"/>
                <a:ea typeface="Quattrocento Sans"/>
                <a:cs typeface="Quattrocento Sans"/>
                <a:sym typeface="Quattrocento Sans"/>
              </a:endParaRPr>
            </a:p>
          </p:txBody>
        </p:sp>
        <p:sp>
          <p:nvSpPr>
            <p:cNvPr id="653" name="Google Shape;653;p20"/>
            <p:cNvSpPr txBox="1"/>
            <p:nvPr/>
          </p:nvSpPr>
          <p:spPr>
            <a:xfrm>
              <a:off x="552450" y="95250"/>
              <a:ext cx="457200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Punsongserm &amp; Suvakunta (2025)</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950">
                  <a:solidFill>
                    <a:srgbClr val="334155"/>
                  </a:solidFill>
                  <a:latin typeface="Quattrocento Sans"/>
                  <a:ea typeface="Quattrocento Sans"/>
                  <a:cs typeface="Quattrocento Sans"/>
                  <a:sym typeface="Quattrocento Sans"/>
                </a:rPr>
                <a:t>Legibility of Thai typefaces and colour contrast in mobile applications. Journal of Graphic Engineering and Design, 16(1), 17–28.</a:t>
              </a:r>
              <a:endParaRPr b="0" sz="950">
                <a:solidFill>
                  <a:srgbClr val="334155"/>
                </a:solidFill>
                <a:latin typeface="Quattrocento Sans"/>
                <a:ea typeface="Quattrocento Sans"/>
                <a:cs typeface="Quattrocento Sans"/>
                <a:sym typeface="Quattrocento Sans"/>
              </a:endParaRPr>
            </a:p>
          </p:txBody>
        </p:sp>
      </p:grpSp>
      <p:grpSp>
        <p:nvGrpSpPr>
          <p:cNvPr id="654" name="Google Shape;654;p20"/>
          <p:cNvGrpSpPr/>
          <p:nvPr/>
        </p:nvGrpSpPr>
        <p:grpSpPr>
          <a:xfrm>
            <a:off x="6334125" y="4048125"/>
            <a:ext cx="5257800" cy="876300"/>
            <a:chOff x="0" y="0"/>
            <a:chExt cx="5257800" cy="876300"/>
          </a:xfrm>
        </p:grpSpPr>
        <p:sp>
          <p:nvSpPr>
            <p:cNvPr id="655" name="Google Shape;655;p20"/>
            <p:cNvSpPr/>
            <p:nvPr/>
          </p:nvSpPr>
          <p:spPr>
            <a:xfrm>
              <a:off x="0" y="0"/>
              <a:ext cx="5257800" cy="876300"/>
            </a:xfrm>
            <a:prstGeom prst="roundRect">
              <a:avLst>
                <a:gd fmla="val 8695"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6" name="Google Shape;656;p20"/>
            <p:cNvSpPr/>
            <p:nvPr/>
          </p:nvSpPr>
          <p:spPr>
            <a:xfrm>
              <a:off x="114300" y="114300"/>
              <a:ext cx="342900" cy="3429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7" name="Google Shape;657;p20"/>
            <p:cNvSpPr txBox="1"/>
            <p:nvPr/>
          </p:nvSpPr>
          <p:spPr>
            <a:xfrm>
              <a:off x="114300" y="1143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2563EB"/>
                  </a:solidFill>
                  <a:latin typeface="Quattrocento Sans"/>
                  <a:ea typeface="Quattrocento Sans"/>
                  <a:cs typeface="Quattrocento Sans"/>
                  <a:sym typeface="Quattrocento Sans"/>
                </a:rPr>
                <a:t>08</a:t>
              </a:r>
              <a:endParaRPr b="1" sz="1100">
                <a:solidFill>
                  <a:srgbClr val="2563EB"/>
                </a:solidFill>
                <a:latin typeface="Quattrocento Sans"/>
                <a:ea typeface="Quattrocento Sans"/>
                <a:cs typeface="Quattrocento Sans"/>
                <a:sym typeface="Quattrocento Sans"/>
              </a:endParaRPr>
            </a:p>
          </p:txBody>
        </p:sp>
        <p:sp>
          <p:nvSpPr>
            <p:cNvPr id="658" name="Google Shape;658;p20"/>
            <p:cNvSpPr txBox="1"/>
            <p:nvPr/>
          </p:nvSpPr>
          <p:spPr>
            <a:xfrm>
              <a:off x="552450" y="95250"/>
              <a:ext cx="457200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Wang &amp; Yu (2024)</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950">
                  <a:solidFill>
                    <a:srgbClr val="334155"/>
                  </a:solidFill>
                  <a:latin typeface="Quattrocento Sans"/>
                  <a:ea typeface="Quattrocento Sans"/>
                  <a:cs typeface="Quattrocento Sans"/>
                  <a:sym typeface="Quattrocento Sans"/>
                </a:rPr>
                <a:t>Art students' technostress, perceived usefulness, and continuance intention. SAGE Open, 14(3), 1–14.</a:t>
              </a:r>
              <a:endParaRPr b="0" sz="950">
                <a:solidFill>
                  <a:srgbClr val="334155"/>
                </a:solidFill>
                <a:latin typeface="Quattrocento Sans"/>
                <a:ea typeface="Quattrocento Sans"/>
                <a:cs typeface="Quattrocento Sans"/>
                <a:sym typeface="Quattrocento Sans"/>
              </a:endParaRPr>
            </a:p>
          </p:txBody>
        </p:sp>
      </p:grpSp>
      <p:grpSp>
        <p:nvGrpSpPr>
          <p:cNvPr id="659" name="Google Shape;659;p20"/>
          <p:cNvGrpSpPr/>
          <p:nvPr/>
        </p:nvGrpSpPr>
        <p:grpSpPr>
          <a:xfrm>
            <a:off x="6334125" y="5000625"/>
            <a:ext cx="5257800" cy="876300"/>
            <a:chOff x="0" y="0"/>
            <a:chExt cx="5257800" cy="876300"/>
          </a:xfrm>
        </p:grpSpPr>
        <p:sp>
          <p:nvSpPr>
            <p:cNvPr id="660" name="Google Shape;660;p20"/>
            <p:cNvSpPr/>
            <p:nvPr/>
          </p:nvSpPr>
          <p:spPr>
            <a:xfrm>
              <a:off x="0" y="0"/>
              <a:ext cx="5257800" cy="876300"/>
            </a:xfrm>
            <a:prstGeom prst="roundRect">
              <a:avLst>
                <a:gd fmla="val 8695"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1" name="Google Shape;661;p20"/>
            <p:cNvSpPr/>
            <p:nvPr/>
          </p:nvSpPr>
          <p:spPr>
            <a:xfrm>
              <a:off x="114300" y="114300"/>
              <a:ext cx="342900" cy="3429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2" name="Google Shape;662;p20"/>
            <p:cNvSpPr txBox="1"/>
            <p:nvPr/>
          </p:nvSpPr>
          <p:spPr>
            <a:xfrm>
              <a:off x="114300" y="1143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2563EB"/>
                  </a:solidFill>
                  <a:latin typeface="Quattrocento Sans"/>
                  <a:ea typeface="Quattrocento Sans"/>
                  <a:cs typeface="Quattrocento Sans"/>
                  <a:sym typeface="Quattrocento Sans"/>
                </a:rPr>
                <a:t>09</a:t>
              </a:r>
              <a:endParaRPr b="1" sz="1100">
                <a:solidFill>
                  <a:srgbClr val="2563EB"/>
                </a:solidFill>
                <a:latin typeface="Quattrocento Sans"/>
                <a:ea typeface="Quattrocento Sans"/>
                <a:cs typeface="Quattrocento Sans"/>
                <a:sym typeface="Quattrocento Sans"/>
              </a:endParaRPr>
            </a:p>
          </p:txBody>
        </p:sp>
        <p:sp>
          <p:nvSpPr>
            <p:cNvPr id="663" name="Google Shape;663;p20"/>
            <p:cNvSpPr txBox="1"/>
            <p:nvPr/>
          </p:nvSpPr>
          <p:spPr>
            <a:xfrm>
              <a:off x="552450" y="95250"/>
              <a:ext cx="457200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Zhao et al. (2024)</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950">
                  <a:solidFill>
                    <a:srgbClr val="334155"/>
                  </a:solidFill>
                  <a:latin typeface="Quattrocento Sans"/>
                  <a:ea typeface="Quattrocento Sans"/>
                  <a:cs typeface="Quattrocento Sans"/>
                  <a:sym typeface="Quattrocento Sans"/>
                </a:rPr>
                <a:t>Software project measurement based on the 5P model. Soft Computing, 28(3), 2083–2105.</a:t>
              </a:r>
              <a:endParaRPr b="0" sz="950">
                <a:solidFill>
                  <a:srgbClr val="334155"/>
                </a:solidFill>
                <a:latin typeface="Quattrocento Sans"/>
                <a:ea typeface="Quattrocento Sans"/>
                <a:cs typeface="Quattrocento Sans"/>
                <a:sym typeface="Quattrocento Sans"/>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21"/>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1"/>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SUBMISSION LINKS &amp; CONCLUSION</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Submission Links &amp; Project Conclusion</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Complete Working Prototype, Source Repository &amp; Video Presentation Package</a:t>
            </a:r>
            <a:endParaRPr/>
          </a:p>
        </p:txBody>
      </p:sp>
      <p:grpSp>
        <p:nvGrpSpPr>
          <p:cNvPr id="670" name="Google Shape;670;p21"/>
          <p:cNvGrpSpPr/>
          <p:nvPr/>
        </p:nvGrpSpPr>
        <p:grpSpPr>
          <a:xfrm>
            <a:off x="600075" y="1762125"/>
            <a:ext cx="5257800" cy="304800"/>
            <a:chOff x="0" y="0"/>
            <a:chExt cx="5257800" cy="304800"/>
          </a:xfrm>
        </p:grpSpPr>
        <p:sp>
          <p:nvSpPr>
            <p:cNvPr id="671" name="Google Shape;671;p21"/>
            <p:cNvSpPr/>
            <p:nvPr/>
          </p:nvSpPr>
          <p:spPr>
            <a:xfrm>
              <a:off x="0" y="0"/>
              <a:ext cx="5257800" cy="304800"/>
            </a:xfrm>
            <a:prstGeom prst="roundRect">
              <a:avLst>
                <a:gd fmla="val 1875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72" name="Google Shape;672;p21"/>
            <p:cNvGrpSpPr/>
            <p:nvPr/>
          </p:nvGrpSpPr>
          <p:grpSpPr>
            <a:xfrm>
              <a:off x="114300" y="0"/>
              <a:ext cx="5029200" cy="304800"/>
              <a:chOff x="114300" y="0"/>
              <a:chExt cx="5029200" cy="304800"/>
            </a:xfrm>
          </p:grpSpPr>
          <p:sp>
            <p:nvSpPr>
              <p:cNvPr id="673" name="Google Shape;673;p21"/>
              <p:cNvSpPr/>
              <p:nvPr/>
            </p:nvSpPr>
            <p:spPr>
              <a:xfrm>
                <a:off x="114300" y="0"/>
                <a:ext cx="50292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4" name="Google Shape;674;p21"/>
              <p:cNvSpPr txBox="1"/>
              <p:nvPr/>
            </p:nvSpPr>
            <p:spPr>
              <a:xfrm>
                <a:off x="114300" y="0"/>
                <a:ext cx="50292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1E40AF"/>
                    </a:solidFill>
                    <a:latin typeface="Quattrocento Sans"/>
                    <a:ea typeface="Quattrocento Sans"/>
                    <a:cs typeface="Quattrocento Sans"/>
                    <a:sym typeface="Quattrocento Sans"/>
                  </a:rPr>
                  <a:t>01 / PROJECT SUBMISSION ARTIFACTS</a:t>
                </a:r>
                <a:endParaRPr b="1" sz="1000">
                  <a:solidFill>
                    <a:srgbClr val="1E40AF"/>
                  </a:solidFill>
                  <a:latin typeface="Quattrocento Sans"/>
                  <a:ea typeface="Quattrocento Sans"/>
                  <a:cs typeface="Quattrocento Sans"/>
                  <a:sym typeface="Quattrocento Sans"/>
                </a:endParaRPr>
              </a:p>
            </p:txBody>
          </p:sp>
        </p:grpSp>
      </p:grpSp>
      <p:grpSp>
        <p:nvGrpSpPr>
          <p:cNvPr id="675" name="Google Shape;675;p21"/>
          <p:cNvGrpSpPr/>
          <p:nvPr/>
        </p:nvGrpSpPr>
        <p:grpSpPr>
          <a:xfrm>
            <a:off x="600075" y="2162175"/>
            <a:ext cx="5257800" cy="876300"/>
            <a:chOff x="0" y="0"/>
            <a:chExt cx="5257800" cy="876300"/>
          </a:xfrm>
        </p:grpSpPr>
        <p:sp>
          <p:nvSpPr>
            <p:cNvPr id="676" name="Google Shape;676;p21"/>
            <p:cNvSpPr/>
            <p:nvPr/>
          </p:nvSpPr>
          <p:spPr>
            <a:xfrm>
              <a:off x="0" y="0"/>
              <a:ext cx="5257800" cy="762000"/>
            </a:xfrm>
            <a:prstGeom prst="roundRect">
              <a:avLst>
                <a:gd fmla="val 1000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7" name="Google Shape;677;p21"/>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78" name="Google Shape;678;p21"/>
            <p:cNvGrpSpPr/>
            <p:nvPr/>
          </p:nvGrpSpPr>
          <p:grpSpPr>
            <a:xfrm>
              <a:off x="114300" y="159639"/>
              <a:ext cx="362100" cy="388389"/>
              <a:chOff x="0" y="0"/>
              <a:chExt cx="362100" cy="388389"/>
            </a:xfrm>
          </p:grpSpPr>
          <p:sp>
            <p:nvSpPr>
              <p:cNvPr id="679" name="Google Shape;679;p21"/>
              <p:cNvSpPr/>
              <p:nvPr/>
            </p:nvSpPr>
            <p:spPr>
              <a:xfrm>
                <a:off x="0" y="0"/>
                <a:ext cx="3621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0" name="Google Shape;680;p21"/>
              <p:cNvSpPr txBox="1"/>
              <p:nvPr/>
            </p:nvSpPr>
            <p:spPr>
              <a:xfrm>
                <a:off x="0" y="2628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code</a:t>
                </a:r>
                <a:endParaRPr b="0" sz="1800">
                  <a:solidFill>
                    <a:srgbClr val="2563EB"/>
                  </a:solidFill>
                  <a:latin typeface="Material Icons"/>
                  <a:ea typeface="Material Icons"/>
                  <a:cs typeface="Material Icons"/>
                  <a:sym typeface="Material Icons"/>
                </a:endParaRPr>
              </a:p>
            </p:txBody>
          </p:sp>
        </p:grpSp>
        <p:grpSp>
          <p:nvGrpSpPr>
            <p:cNvPr id="681" name="Google Shape;681;p21"/>
            <p:cNvGrpSpPr/>
            <p:nvPr/>
          </p:nvGrpSpPr>
          <p:grpSpPr>
            <a:xfrm>
              <a:off x="571500" y="76200"/>
              <a:ext cx="4572000" cy="800100"/>
              <a:chOff x="0" y="0"/>
              <a:chExt cx="4572000" cy="800100"/>
            </a:xfrm>
          </p:grpSpPr>
          <p:sp>
            <p:nvSpPr>
              <p:cNvPr id="682" name="Google Shape;682;p21"/>
              <p:cNvSpPr/>
              <p:nvPr/>
            </p:nvSpPr>
            <p:spPr>
              <a:xfrm>
                <a:off x="0" y="0"/>
                <a:ext cx="4572000" cy="800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3" name="Google Shape;683;p21"/>
              <p:cNvSpPr txBox="1"/>
              <p:nvPr/>
            </p:nvSpPr>
            <p:spPr>
              <a:xfrm>
                <a:off x="0" y="0"/>
                <a:ext cx="4572000" cy="609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2563EB"/>
                    </a:solidFill>
                    <a:latin typeface="Quattrocento Sans"/>
                    <a:ea typeface="Quattrocento Sans"/>
                    <a:cs typeface="Quattrocento Sans"/>
                    <a:sym typeface="Quattrocento Sans"/>
                  </a:rPr>
                  <a:t>DartPad Executable App</a:t>
                </a:r>
                <a:endParaRPr b="1" i="0"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i="0" lang="en-US" sz="950">
                    <a:solidFill>
                      <a:srgbClr val="334155"/>
                    </a:solidFill>
                    <a:latin typeface="Quattrocento Sans"/>
                    <a:ea typeface="Quattrocento Sans"/>
                    <a:cs typeface="Quattrocento Sans"/>
                    <a:sym typeface="Quattrocento Sans"/>
                  </a:rPr>
                  <a:t>https://dartpad.dev (Paste single-file main.dart and run instantly).</a:t>
                </a:r>
                <a:endParaRPr b="1" i="0" sz="950">
                  <a:solidFill>
                    <a:srgbClr val="2563EB"/>
                  </a:solidFill>
                  <a:latin typeface="Quattrocento Sans"/>
                  <a:ea typeface="Quattrocento Sans"/>
                  <a:cs typeface="Quattrocento Sans"/>
                  <a:sym typeface="Quattrocento Sans"/>
                </a:endParaRPr>
              </a:p>
            </p:txBody>
          </p:sp>
        </p:grpSp>
      </p:grpSp>
      <p:grpSp>
        <p:nvGrpSpPr>
          <p:cNvPr id="684" name="Google Shape;684;p21"/>
          <p:cNvGrpSpPr/>
          <p:nvPr/>
        </p:nvGrpSpPr>
        <p:grpSpPr>
          <a:xfrm>
            <a:off x="600075" y="3228975"/>
            <a:ext cx="5257800" cy="876300"/>
            <a:chOff x="0" y="0"/>
            <a:chExt cx="5257800" cy="876300"/>
          </a:xfrm>
        </p:grpSpPr>
        <p:sp>
          <p:nvSpPr>
            <p:cNvPr id="685" name="Google Shape;685;p21"/>
            <p:cNvSpPr/>
            <p:nvPr/>
          </p:nvSpPr>
          <p:spPr>
            <a:xfrm>
              <a:off x="0" y="0"/>
              <a:ext cx="5257800" cy="762000"/>
            </a:xfrm>
            <a:prstGeom prst="roundRect">
              <a:avLst>
                <a:gd fmla="val 1000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6" name="Google Shape;686;p21"/>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87" name="Google Shape;687;p21"/>
            <p:cNvGrpSpPr/>
            <p:nvPr/>
          </p:nvGrpSpPr>
          <p:grpSpPr>
            <a:xfrm>
              <a:off x="114300" y="159639"/>
              <a:ext cx="362100" cy="388389"/>
              <a:chOff x="0" y="0"/>
              <a:chExt cx="362100" cy="388389"/>
            </a:xfrm>
          </p:grpSpPr>
          <p:sp>
            <p:nvSpPr>
              <p:cNvPr id="688" name="Google Shape;688;p21"/>
              <p:cNvSpPr/>
              <p:nvPr/>
            </p:nvSpPr>
            <p:spPr>
              <a:xfrm>
                <a:off x="0" y="0"/>
                <a:ext cx="3621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9" name="Google Shape;689;p21"/>
              <p:cNvSpPr txBox="1"/>
              <p:nvPr/>
            </p:nvSpPr>
            <p:spPr>
              <a:xfrm>
                <a:off x="0" y="2628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folder_open</a:t>
                </a:r>
                <a:endParaRPr b="0" sz="1800">
                  <a:solidFill>
                    <a:srgbClr val="2563EB"/>
                  </a:solidFill>
                  <a:latin typeface="Material Icons"/>
                  <a:ea typeface="Material Icons"/>
                  <a:cs typeface="Material Icons"/>
                  <a:sym typeface="Material Icons"/>
                </a:endParaRPr>
              </a:p>
            </p:txBody>
          </p:sp>
        </p:grpSp>
        <p:grpSp>
          <p:nvGrpSpPr>
            <p:cNvPr id="690" name="Google Shape;690;p21"/>
            <p:cNvGrpSpPr/>
            <p:nvPr/>
          </p:nvGrpSpPr>
          <p:grpSpPr>
            <a:xfrm>
              <a:off x="571500" y="76200"/>
              <a:ext cx="4572000" cy="800100"/>
              <a:chOff x="0" y="0"/>
              <a:chExt cx="4572000" cy="800100"/>
            </a:xfrm>
          </p:grpSpPr>
          <p:sp>
            <p:nvSpPr>
              <p:cNvPr id="691" name="Google Shape;691;p21"/>
              <p:cNvSpPr/>
              <p:nvPr/>
            </p:nvSpPr>
            <p:spPr>
              <a:xfrm>
                <a:off x="0" y="0"/>
                <a:ext cx="4572000" cy="800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2" name="Google Shape;692;p21"/>
              <p:cNvSpPr txBox="1"/>
              <p:nvPr/>
            </p:nvSpPr>
            <p:spPr>
              <a:xfrm>
                <a:off x="0" y="0"/>
                <a:ext cx="4572000" cy="609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2563EB"/>
                    </a:solidFill>
                    <a:latin typeface="Quattrocento Sans"/>
                    <a:ea typeface="Quattrocento Sans"/>
                    <a:cs typeface="Quattrocento Sans"/>
                    <a:sym typeface="Quattrocento Sans"/>
                  </a:rPr>
                  <a:t>Private GitHub Repository</a:t>
                </a:r>
                <a:endParaRPr b="1" i="0"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i="0" lang="en-US" sz="950">
                    <a:solidFill>
                      <a:srgbClr val="334155"/>
                    </a:solidFill>
                    <a:latin typeface="Quattrocento Sans"/>
                    <a:ea typeface="Quattrocento Sans"/>
                    <a:cs typeface="Quattrocento Sans"/>
                    <a:sym typeface="Quattrocento Sans"/>
                  </a:rPr>
                  <a:t>Shared with Unit Coordinator &amp; Tutor (Full git history &amp; documentation).</a:t>
                </a:r>
                <a:endParaRPr b="1" i="0" sz="950">
                  <a:solidFill>
                    <a:srgbClr val="2563EB"/>
                  </a:solidFill>
                  <a:latin typeface="Quattrocento Sans"/>
                  <a:ea typeface="Quattrocento Sans"/>
                  <a:cs typeface="Quattrocento Sans"/>
                  <a:sym typeface="Quattrocento Sans"/>
                </a:endParaRPr>
              </a:p>
            </p:txBody>
          </p:sp>
        </p:grpSp>
      </p:grpSp>
      <p:grpSp>
        <p:nvGrpSpPr>
          <p:cNvPr id="693" name="Google Shape;693;p21"/>
          <p:cNvGrpSpPr/>
          <p:nvPr/>
        </p:nvGrpSpPr>
        <p:grpSpPr>
          <a:xfrm>
            <a:off x="600075" y="4295775"/>
            <a:ext cx="5257800" cy="876300"/>
            <a:chOff x="0" y="0"/>
            <a:chExt cx="5257800" cy="876300"/>
          </a:xfrm>
        </p:grpSpPr>
        <p:sp>
          <p:nvSpPr>
            <p:cNvPr id="694" name="Google Shape;694;p21"/>
            <p:cNvSpPr/>
            <p:nvPr/>
          </p:nvSpPr>
          <p:spPr>
            <a:xfrm>
              <a:off x="0" y="0"/>
              <a:ext cx="5257800" cy="762000"/>
            </a:xfrm>
            <a:prstGeom prst="roundRect">
              <a:avLst>
                <a:gd fmla="val 1000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5" name="Google Shape;695;p21"/>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96" name="Google Shape;696;p21"/>
            <p:cNvGrpSpPr/>
            <p:nvPr/>
          </p:nvGrpSpPr>
          <p:grpSpPr>
            <a:xfrm>
              <a:off x="114300" y="159639"/>
              <a:ext cx="362100" cy="388389"/>
              <a:chOff x="0" y="0"/>
              <a:chExt cx="362100" cy="388389"/>
            </a:xfrm>
          </p:grpSpPr>
          <p:sp>
            <p:nvSpPr>
              <p:cNvPr id="697" name="Google Shape;697;p21"/>
              <p:cNvSpPr/>
              <p:nvPr/>
            </p:nvSpPr>
            <p:spPr>
              <a:xfrm>
                <a:off x="0" y="0"/>
                <a:ext cx="3621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8" name="Google Shape;698;p21"/>
              <p:cNvSpPr txBox="1"/>
              <p:nvPr/>
            </p:nvSpPr>
            <p:spPr>
              <a:xfrm>
                <a:off x="0" y="2628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slideshow</a:t>
                </a:r>
                <a:endParaRPr b="0" sz="1800">
                  <a:solidFill>
                    <a:srgbClr val="2563EB"/>
                  </a:solidFill>
                  <a:latin typeface="Material Icons"/>
                  <a:ea typeface="Material Icons"/>
                  <a:cs typeface="Material Icons"/>
                  <a:sym typeface="Material Icons"/>
                </a:endParaRPr>
              </a:p>
            </p:txBody>
          </p:sp>
        </p:grpSp>
        <p:grpSp>
          <p:nvGrpSpPr>
            <p:cNvPr id="699" name="Google Shape;699;p21"/>
            <p:cNvGrpSpPr/>
            <p:nvPr/>
          </p:nvGrpSpPr>
          <p:grpSpPr>
            <a:xfrm>
              <a:off x="571500" y="76200"/>
              <a:ext cx="4572000" cy="800100"/>
              <a:chOff x="0" y="0"/>
              <a:chExt cx="4572000" cy="800100"/>
            </a:xfrm>
          </p:grpSpPr>
          <p:sp>
            <p:nvSpPr>
              <p:cNvPr id="700" name="Google Shape;700;p21"/>
              <p:cNvSpPr/>
              <p:nvPr/>
            </p:nvSpPr>
            <p:spPr>
              <a:xfrm>
                <a:off x="0" y="0"/>
                <a:ext cx="4572000" cy="800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1" name="Google Shape;701;p21"/>
              <p:cNvSpPr txBox="1"/>
              <p:nvPr/>
            </p:nvSpPr>
            <p:spPr>
              <a:xfrm>
                <a:off x="0" y="0"/>
                <a:ext cx="4572000" cy="609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2563EB"/>
                    </a:solidFill>
                    <a:latin typeface="Quattrocento Sans"/>
                    <a:ea typeface="Quattrocento Sans"/>
                    <a:cs typeface="Quattrocento Sans"/>
                    <a:sym typeface="Quattrocento Sans"/>
                  </a:rPr>
                  <a:t>Presentation Slides</a:t>
                </a:r>
                <a:endParaRPr b="1" i="0"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i="0" lang="en-US" sz="950">
                    <a:solidFill>
                      <a:srgbClr val="334155"/>
                    </a:solidFill>
                    <a:latin typeface="Quattrocento Sans"/>
                    <a:ea typeface="Quattrocento Sans"/>
                    <a:cs typeface="Quattrocento Sans"/>
                    <a:sym typeface="Quattrocento Sans"/>
                  </a:rPr>
                  <a:t>Assignment2_slides.pptx (and Assignment2_Presentation_Deck.pptx) with full notes &amp; citations.</a:t>
                </a:r>
                <a:endParaRPr b="1" i="0" sz="950">
                  <a:solidFill>
                    <a:srgbClr val="2563EB"/>
                  </a:solidFill>
                  <a:latin typeface="Quattrocento Sans"/>
                  <a:ea typeface="Quattrocento Sans"/>
                  <a:cs typeface="Quattrocento Sans"/>
                  <a:sym typeface="Quattrocento Sans"/>
                </a:endParaRPr>
              </a:p>
            </p:txBody>
          </p:sp>
        </p:grpSp>
      </p:grpSp>
      <p:grpSp>
        <p:nvGrpSpPr>
          <p:cNvPr id="702" name="Google Shape;702;p21"/>
          <p:cNvGrpSpPr/>
          <p:nvPr/>
        </p:nvGrpSpPr>
        <p:grpSpPr>
          <a:xfrm>
            <a:off x="600075" y="5362575"/>
            <a:ext cx="5257800" cy="876300"/>
            <a:chOff x="0" y="0"/>
            <a:chExt cx="5257800" cy="876300"/>
          </a:xfrm>
        </p:grpSpPr>
        <p:sp>
          <p:nvSpPr>
            <p:cNvPr id="703" name="Google Shape;703;p21"/>
            <p:cNvSpPr/>
            <p:nvPr/>
          </p:nvSpPr>
          <p:spPr>
            <a:xfrm>
              <a:off x="0" y="0"/>
              <a:ext cx="5257800" cy="762000"/>
            </a:xfrm>
            <a:prstGeom prst="roundRect">
              <a:avLst>
                <a:gd fmla="val 1000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4" name="Google Shape;704;p21"/>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05" name="Google Shape;705;p21"/>
            <p:cNvGrpSpPr/>
            <p:nvPr/>
          </p:nvGrpSpPr>
          <p:grpSpPr>
            <a:xfrm>
              <a:off x="114300" y="159639"/>
              <a:ext cx="362100" cy="388389"/>
              <a:chOff x="0" y="0"/>
              <a:chExt cx="362100" cy="388389"/>
            </a:xfrm>
          </p:grpSpPr>
          <p:sp>
            <p:nvSpPr>
              <p:cNvPr id="706" name="Google Shape;706;p21"/>
              <p:cNvSpPr/>
              <p:nvPr/>
            </p:nvSpPr>
            <p:spPr>
              <a:xfrm>
                <a:off x="0" y="0"/>
                <a:ext cx="3621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7" name="Google Shape;707;p21"/>
              <p:cNvSpPr txBox="1"/>
              <p:nvPr/>
            </p:nvSpPr>
            <p:spPr>
              <a:xfrm>
                <a:off x="0" y="2628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videocam</a:t>
                </a:r>
                <a:endParaRPr b="0" sz="1800">
                  <a:solidFill>
                    <a:srgbClr val="2563EB"/>
                  </a:solidFill>
                  <a:latin typeface="Material Icons"/>
                  <a:ea typeface="Material Icons"/>
                  <a:cs typeface="Material Icons"/>
                  <a:sym typeface="Material Icons"/>
                </a:endParaRPr>
              </a:p>
            </p:txBody>
          </p:sp>
        </p:grpSp>
        <p:grpSp>
          <p:nvGrpSpPr>
            <p:cNvPr id="708" name="Google Shape;708;p21"/>
            <p:cNvGrpSpPr/>
            <p:nvPr/>
          </p:nvGrpSpPr>
          <p:grpSpPr>
            <a:xfrm>
              <a:off x="571500" y="76200"/>
              <a:ext cx="4572000" cy="800100"/>
              <a:chOff x="0" y="0"/>
              <a:chExt cx="4572000" cy="800100"/>
            </a:xfrm>
          </p:grpSpPr>
          <p:sp>
            <p:nvSpPr>
              <p:cNvPr id="709" name="Google Shape;709;p21"/>
              <p:cNvSpPr/>
              <p:nvPr/>
            </p:nvSpPr>
            <p:spPr>
              <a:xfrm>
                <a:off x="0" y="0"/>
                <a:ext cx="4572000" cy="800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0" name="Google Shape;710;p21"/>
              <p:cNvSpPr txBox="1"/>
              <p:nvPr/>
            </p:nvSpPr>
            <p:spPr>
              <a:xfrm>
                <a:off x="0" y="0"/>
                <a:ext cx="4572000" cy="609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2563EB"/>
                    </a:solidFill>
                    <a:latin typeface="Quattrocento Sans"/>
                    <a:ea typeface="Quattrocento Sans"/>
                    <a:cs typeface="Quattrocento Sans"/>
                    <a:sym typeface="Quattrocento Sans"/>
                  </a:rPr>
                  <a:t>10-Minute Video Link</a:t>
                </a:r>
                <a:endParaRPr b="1" i="0"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i="0" lang="en-US" sz="950">
                    <a:solidFill>
                      <a:srgbClr val="334155"/>
                    </a:solidFill>
                    <a:latin typeface="Quattrocento Sans"/>
                    <a:ea typeface="Quattrocento Sans"/>
                    <a:cs typeface="Quattrocento Sans"/>
                    <a:sym typeface="Quattrocento Sans"/>
                  </a:rPr>
                  <a:t>CQU OneDrive shared video link embedded in submission portal.</a:t>
                </a:r>
                <a:endParaRPr b="1" i="0" sz="950">
                  <a:solidFill>
                    <a:srgbClr val="2563EB"/>
                  </a:solidFill>
                  <a:latin typeface="Quattrocento Sans"/>
                  <a:ea typeface="Quattrocento Sans"/>
                  <a:cs typeface="Quattrocento Sans"/>
                  <a:sym typeface="Quattrocento Sans"/>
                </a:endParaRPr>
              </a:p>
            </p:txBody>
          </p:sp>
        </p:grpSp>
      </p:grpSp>
      <p:grpSp>
        <p:nvGrpSpPr>
          <p:cNvPr id="711" name="Google Shape;711;p21"/>
          <p:cNvGrpSpPr/>
          <p:nvPr/>
        </p:nvGrpSpPr>
        <p:grpSpPr>
          <a:xfrm>
            <a:off x="6334125" y="1762125"/>
            <a:ext cx="5257800" cy="304800"/>
            <a:chOff x="0" y="0"/>
            <a:chExt cx="5257800" cy="304800"/>
          </a:xfrm>
        </p:grpSpPr>
        <p:sp>
          <p:nvSpPr>
            <p:cNvPr id="712" name="Google Shape;712;p21"/>
            <p:cNvSpPr/>
            <p:nvPr/>
          </p:nvSpPr>
          <p:spPr>
            <a:xfrm>
              <a:off x="0" y="0"/>
              <a:ext cx="5257800" cy="304800"/>
            </a:xfrm>
            <a:prstGeom prst="roundRect">
              <a:avLst>
                <a:gd fmla="val 1875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13" name="Google Shape;713;p21"/>
            <p:cNvGrpSpPr/>
            <p:nvPr/>
          </p:nvGrpSpPr>
          <p:grpSpPr>
            <a:xfrm>
              <a:off x="114300" y="0"/>
              <a:ext cx="5029200" cy="304800"/>
              <a:chOff x="114300" y="0"/>
              <a:chExt cx="5029200" cy="304800"/>
            </a:xfrm>
          </p:grpSpPr>
          <p:sp>
            <p:nvSpPr>
              <p:cNvPr id="714" name="Google Shape;714;p21"/>
              <p:cNvSpPr/>
              <p:nvPr/>
            </p:nvSpPr>
            <p:spPr>
              <a:xfrm>
                <a:off x="114300" y="0"/>
                <a:ext cx="50292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5" name="Google Shape;715;p21"/>
              <p:cNvSpPr txBox="1"/>
              <p:nvPr/>
            </p:nvSpPr>
            <p:spPr>
              <a:xfrm>
                <a:off x="114300" y="0"/>
                <a:ext cx="50292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1E40AF"/>
                    </a:solidFill>
                    <a:latin typeface="Quattrocento Sans"/>
                    <a:ea typeface="Quattrocento Sans"/>
                    <a:cs typeface="Quattrocento Sans"/>
                    <a:sym typeface="Quattrocento Sans"/>
                  </a:rPr>
                  <a:t>02 / CORE ACHIEVEMENT SUMMARY</a:t>
                </a:r>
                <a:endParaRPr b="1" sz="1000">
                  <a:solidFill>
                    <a:srgbClr val="1E40AF"/>
                  </a:solidFill>
                  <a:latin typeface="Quattrocento Sans"/>
                  <a:ea typeface="Quattrocento Sans"/>
                  <a:cs typeface="Quattrocento Sans"/>
                  <a:sym typeface="Quattrocento Sans"/>
                </a:endParaRPr>
              </a:p>
            </p:txBody>
          </p:sp>
        </p:grpSp>
      </p:grpSp>
      <p:grpSp>
        <p:nvGrpSpPr>
          <p:cNvPr id="716" name="Google Shape;716;p21"/>
          <p:cNvGrpSpPr/>
          <p:nvPr/>
        </p:nvGrpSpPr>
        <p:grpSpPr>
          <a:xfrm>
            <a:off x="6334125" y="2162175"/>
            <a:ext cx="5257800" cy="876300"/>
            <a:chOff x="0" y="0"/>
            <a:chExt cx="5257800" cy="876300"/>
          </a:xfrm>
        </p:grpSpPr>
        <p:sp>
          <p:nvSpPr>
            <p:cNvPr id="717" name="Google Shape;717;p21"/>
            <p:cNvSpPr/>
            <p:nvPr/>
          </p:nvSpPr>
          <p:spPr>
            <a:xfrm>
              <a:off x="0" y="0"/>
              <a:ext cx="5257800" cy="762000"/>
            </a:xfrm>
            <a:prstGeom prst="roundRect">
              <a:avLst>
                <a:gd fmla="val 1000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8" name="Google Shape;718;p21"/>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19" name="Google Shape;719;p21"/>
            <p:cNvGrpSpPr/>
            <p:nvPr/>
          </p:nvGrpSpPr>
          <p:grpSpPr>
            <a:xfrm>
              <a:off x="114300" y="159639"/>
              <a:ext cx="362100" cy="388389"/>
              <a:chOff x="0" y="0"/>
              <a:chExt cx="362100" cy="388389"/>
            </a:xfrm>
          </p:grpSpPr>
          <p:sp>
            <p:nvSpPr>
              <p:cNvPr id="720" name="Google Shape;720;p21"/>
              <p:cNvSpPr/>
              <p:nvPr/>
            </p:nvSpPr>
            <p:spPr>
              <a:xfrm>
                <a:off x="0" y="0"/>
                <a:ext cx="3621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1" name="Google Shape;721;p21"/>
              <p:cNvSpPr txBox="1"/>
              <p:nvPr/>
            </p:nvSpPr>
            <p:spPr>
              <a:xfrm>
                <a:off x="0" y="2628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verified</a:t>
                </a:r>
                <a:endParaRPr b="0" sz="1800">
                  <a:solidFill>
                    <a:srgbClr val="2563EB"/>
                  </a:solidFill>
                  <a:latin typeface="Material Icons"/>
                  <a:ea typeface="Material Icons"/>
                  <a:cs typeface="Material Icons"/>
                  <a:sym typeface="Material Icons"/>
                </a:endParaRPr>
              </a:p>
            </p:txBody>
          </p:sp>
        </p:grpSp>
        <p:grpSp>
          <p:nvGrpSpPr>
            <p:cNvPr id="722" name="Google Shape;722;p21"/>
            <p:cNvGrpSpPr/>
            <p:nvPr/>
          </p:nvGrpSpPr>
          <p:grpSpPr>
            <a:xfrm>
              <a:off x="571500" y="76200"/>
              <a:ext cx="4572000" cy="800100"/>
              <a:chOff x="0" y="0"/>
              <a:chExt cx="4572000" cy="800100"/>
            </a:xfrm>
          </p:grpSpPr>
          <p:sp>
            <p:nvSpPr>
              <p:cNvPr id="723" name="Google Shape;723;p21"/>
              <p:cNvSpPr/>
              <p:nvPr/>
            </p:nvSpPr>
            <p:spPr>
              <a:xfrm>
                <a:off x="0" y="0"/>
                <a:ext cx="4572000" cy="800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4" name="Google Shape;724;p21"/>
              <p:cNvSpPr txBox="1"/>
              <p:nvPr/>
            </p:nvSpPr>
            <p:spPr>
              <a:xfrm>
                <a:off x="0" y="0"/>
                <a:ext cx="4572000" cy="609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2563EB"/>
                    </a:solidFill>
                    <a:latin typeface="Quattrocento Sans"/>
                    <a:ea typeface="Quattrocento Sans"/>
                    <a:cs typeface="Quattrocento Sans"/>
                    <a:sym typeface="Quattrocento Sans"/>
                  </a:rPr>
                  <a:t>100% Rubric Compliance</a:t>
                </a:r>
                <a:endParaRPr b="1" i="0"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i="0" lang="en-US" sz="950">
                    <a:solidFill>
                      <a:srgbClr val="334155"/>
                    </a:solidFill>
                    <a:latin typeface="Quattrocento Sans"/>
                    <a:ea typeface="Quattrocento Sans"/>
                    <a:cs typeface="Quattrocento Sans"/>
                    <a:sym typeface="Quattrocento Sans"/>
                  </a:rPr>
                  <a:t>Fully operational 11-screen prototype mapped to all 3 Activity Diagrams.</a:t>
                </a:r>
                <a:endParaRPr b="1" i="0" sz="950">
                  <a:solidFill>
                    <a:srgbClr val="2563EB"/>
                  </a:solidFill>
                  <a:latin typeface="Quattrocento Sans"/>
                  <a:ea typeface="Quattrocento Sans"/>
                  <a:cs typeface="Quattrocento Sans"/>
                  <a:sym typeface="Quattrocento Sans"/>
                </a:endParaRPr>
              </a:p>
            </p:txBody>
          </p:sp>
        </p:grpSp>
      </p:grpSp>
      <p:grpSp>
        <p:nvGrpSpPr>
          <p:cNvPr id="725" name="Google Shape;725;p21"/>
          <p:cNvGrpSpPr/>
          <p:nvPr/>
        </p:nvGrpSpPr>
        <p:grpSpPr>
          <a:xfrm>
            <a:off x="6334125" y="3228975"/>
            <a:ext cx="5257800" cy="876300"/>
            <a:chOff x="0" y="0"/>
            <a:chExt cx="5257800" cy="876300"/>
          </a:xfrm>
        </p:grpSpPr>
        <p:sp>
          <p:nvSpPr>
            <p:cNvPr id="726" name="Google Shape;726;p21"/>
            <p:cNvSpPr/>
            <p:nvPr/>
          </p:nvSpPr>
          <p:spPr>
            <a:xfrm>
              <a:off x="0" y="0"/>
              <a:ext cx="5257800" cy="762000"/>
            </a:xfrm>
            <a:prstGeom prst="roundRect">
              <a:avLst>
                <a:gd fmla="val 1000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7" name="Google Shape;727;p21"/>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28" name="Google Shape;728;p21"/>
            <p:cNvGrpSpPr/>
            <p:nvPr/>
          </p:nvGrpSpPr>
          <p:grpSpPr>
            <a:xfrm>
              <a:off x="114300" y="159639"/>
              <a:ext cx="362100" cy="388389"/>
              <a:chOff x="0" y="0"/>
              <a:chExt cx="362100" cy="388389"/>
            </a:xfrm>
          </p:grpSpPr>
          <p:sp>
            <p:nvSpPr>
              <p:cNvPr id="729" name="Google Shape;729;p21"/>
              <p:cNvSpPr/>
              <p:nvPr/>
            </p:nvSpPr>
            <p:spPr>
              <a:xfrm>
                <a:off x="0" y="0"/>
                <a:ext cx="3621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0" name="Google Shape;730;p21"/>
              <p:cNvSpPr txBox="1"/>
              <p:nvPr/>
            </p:nvSpPr>
            <p:spPr>
              <a:xfrm>
                <a:off x="0" y="2628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palette</a:t>
                </a:r>
                <a:endParaRPr b="0" sz="1800">
                  <a:solidFill>
                    <a:srgbClr val="2563EB"/>
                  </a:solidFill>
                  <a:latin typeface="Material Icons"/>
                  <a:ea typeface="Material Icons"/>
                  <a:cs typeface="Material Icons"/>
                  <a:sym typeface="Material Icons"/>
                </a:endParaRPr>
              </a:p>
            </p:txBody>
          </p:sp>
        </p:grpSp>
        <p:grpSp>
          <p:nvGrpSpPr>
            <p:cNvPr id="731" name="Google Shape;731;p21"/>
            <p:cNvGrpSpPr/>
            <p:nvPr/>
          </p:nvGrpSpPr>
          <p:grpSpPr>
            <a:xfrm>
              <a:off x="571500" y="76200"/>
              <a:ext cx="4572000" cy="800100"/>
              <a:chOff x="0" y="0"/>
              <a:chExt cx="4572000" cy="800100"/>
            </a:xfrm>
          </p:grpSpPr>
          <p:sp>
            <p:nvSpPr>
              <p:cNvPr id="732" name="Google Shape;732;p21"/>
              <p:cNvSpPr/>
              <p:nvPr/>
            </p:nvSpPr>
            <p:spPr>
              <a:xfrm>
                <a:off x="0" y="0"/>
                <a:ext cx="4572000" cy="800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3" name="Google Shape;733;p21"/>
              <p:cNvSpPr txBox="1"/>
              <p:nvPr/>
            </p:nvSpPr>
            <p:spPr>
              <a:xfrm>
                <a:off x="0" y="0"/>
                <a:ext cx="4572000" cy="609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2563EB"/>
                    </a:solidFill>
                    <a:latin typeface="Quattrocento Sans"/>
                    <a:ea typeface="Quattrocento Sans"/>
                    <a:cs typeface="Quattrocento Sans"/>
                    <a:sym typeface="Quattrocento Sans"/>
                  </a:rPr>
                  <a:t>Material 3 Adherence</a:t>
                </a:r>
                <a:endParaRPr b="1" i="0"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i="0" lang="en-US" sz="950">
                    <a:solidFill>
                      <a:srgbClr val="334155"/>
                    </a:solidFill>
                    <a:latin typeface="Quattrocento Sans"/>
                    <a:ea typeface="Quattrocento Sans"/>
                    <a:cs typeface="Quattrocento Sans"/>
                    <a:sym typeface="Quattrocento Sans"/>
                  </a:rPr>
                  <a:t>Canonical layouts, responsive breakpoints, high-contrast aesthetics.</a:t>
                </a:r>
                <a:endParaRPr b="1" i="0" sz="950">
                  <a:solidFill>
                    <a:srgbClr val="2563EB"/>
                  </a:solidFill>
                  <a:latin typeface="Quattrocento Sans"/>
                  <a:ea typeface="Quattrocento Sans"/>
                  <a:cs typeface="Quattrocento Sans"/>
                  <a:sym typeface="Quattrocento Sans"/>
                </a:endParaRPr>
              </a:p>
            </p:txBody>
          </p:sp>
        </p:grpSp>
      </p:grpSp>
      <p:grpSp>
        <p:nvGrpSpPr>
          <p:cNvPr id="734" name="Google Shape;734;p21"/>
          <p:cNvGrpSpPr/>
          <p:nvPr/>
        </p:nvGrpSpPr>
        <p:grpSpPr>
          <a:xfrm>
            <a:off x="6334125" y="4295775"/>
            <a:ext cx="5257800" cy="876300"/>
            <a:chOff x="0" y="0"/>
            <a:chExt cx="5257800" cy="876300"/>
          </a:xfrm>
        </p:grpSpPr>
        <p:sp>
          <p:nvSpPr>
            <p:cNvPr id="735" name="Google Shape;735;p21"/>
            <p:cNvSpPr/>
            <p:nvPr/>
          </p:nvSpPr>
          <p:spPr>
            <a:xfrm>
              <a:off x="0" y="0"/>
              <a:ext cx="5257800" cy="762000"/>
            </a:xfrm>
            <a:prstGeom prst="roundRect">
              <a:avLst>
                <a:gd fmla="val 1000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6" name="Google Shape;736;p21"/>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37" name="Google Shape;737;p21"/>
            <p:cNvGrpSpPr/>
            <p:nvPr/>
          </p:nvGrpSpPr>
          <p:grpSpPr>
            <a:xfrm>
              <a:off x="114300" y="159639"/>
              <a:ext cx="362100" cy="388389"/>
              <a:chOff x="0" y="0"/>
              <a:chExt cx="362100" cy="388389"/>
            </a:xfrm>
          </p:grpSpPr>
          <p:sp>
            <p:nvSpPr>
              <p:cNvPr id="738" name="Google Shape;738;p21"/>
              <p:cNvSpPr/>
              <p:nvPr/>
            </p:nvSpPr>
            <p:spPr>
              <a:xfrm>
                <a:off x="0" y="0"/>
                <a:ext cx="3621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9" name="Google Shape;739;p21"/>
              <p:cNvSpPr txBox="1"/>
              <p:nvPr/>
            </p:nvSpPr>
            <p:spPr>
              <a:xfrm>
                <a:off x="0" y="2628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psychology</a:t>
                </a:r>
                <a:endParaRPr b="0" sz="1800">
                  <a:solidFill>
                    <a:srgbClr val="2563EB"/>
                  </a:solidFill>
                  <a:latin typeface="Material Icons"/>
                  <a:ea typeface="Material Icons"/>
                  <a:cs typeface="Material Icons"/>
                  <a:sym typeface="Material Icons"/>
                </a:endParaRPr>
              </a:p>
            </p:txBody>
          </p:sp>
        </p:grpSp>
        <p:grpSp>
          <p:nvGrpSpPr>
            <p:cNvPr id="740" name="Google Shape;740;p21"/>
            <p:cNvGrpSpPr/>
            <p:nvPr/>
          </p:nvGrpSpPr>
          <p:grpSpPr>
            <a:xfrm>
              <a:off x="571500" y="76200"/>
              <a:ext cx="4572000" cy="800100"/>
              <a:chOff x="0" y="0"/>
              <a:chExt cx="4572000" cy="800100"/>
            </a:xfrm>
          </p:grpSpPr>
          <p:sp>
            <p:nvSpPr>
              <p:cNvPr id="741" name="Google Shape;741;p21"/>
              <p:cNvSpPr/>
              <p:nvPr/>
            </p:nvSpPr>
            <p:spPr>
              <a:xfrm>
                <a:off x="0" y="0"/>
                <a:ext cx="4572000" cy="800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2" name="Google Shape;742;p21"/>
              <p:cNvSpPr txBox="1"/>
              <p:nvPr/>
            </p:nvSpPr>
            <p:spPr>
              <a:xfrm>
                <a:off x="0" y="0"/>
                <a:ext cx="4572000" cy="609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2563EB"/>
                    </a:solidFill>
                    <a:latin typeface="Quattrocento Sans"/>
                    <a:ea typeface="Quattrocento Sans"/>
                    <a:cs typeface="Quattrocento Sans"/>
                    <a:sym typeface="Quattrocento Sans"/>
                  </a:rPr>
                  <a:t>Empirical HCD Grounding</a:t>
                </a:r>
                <a:endParaRPr b="1" i="0"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i="0" lang="en-US" sz="950">
                    <a:solidFill>
                      <a:srgbClr val="334155"/>
                    </a:solidFill>
                    <a:latin typeface="Quattrocento Sans"/>
                    <a:ea typeface="Quattrocento Sans"/>
                    <a:cs typeface="Quattrocento Sans"/>
                    <a:sym typeface="Quattrocento Sans"/>
                  </a:rPr>
                  <a:t>Directly solves Founder Fred's post-deposit transparency anxieties.</a:t>
                </a:r>
                <a:endParaRPr b="1" i="0" sz="950">
                  <a:solidFill>
                    <a:srgbClr val="2563EB"/>
                  </a:solidFill>
                  <a:latin typeface="Quattrocento Sans"/>
                  <a:ea typeface="Quattrocento Sans"/>
                  <a:cs typeface="Quattrocento Sans"/>
                  <a:sym typeface="Quattrocento Sans"/>
                </a:endParaRPr>
              </a:p>
            </p:txBody>
          </p:sp>
        </p:grpSp>
      </p:grpSp>
      <p:grpSp>
        <p:nvGrpSpPr>
          <p:cNvPr id="743" name="Google Shape;743;p21"/>
          <p:cNvGrpSpPr/>
          <p:nvPr/>
        </p:nvGrpSpPr>
        <p:grpSpPr>
          <a:xfrm>
            <a:off x="6334125" y="5362575"/>
            <a:ext cx="5257800" cy="876300"/>
            <a:chOff x="0" y="0"/>
            <a:chExt cx="5257800" cy="876300"/>
          </a:xfrm>
        </p:grpSpPr>
        <p:sp>
          <p:nvSpPr>
            <p:cNvPr id="744" name="Google Shape;744;p21"/>
            <p:cNvSpPr/>
            <p:nvPr/>
          </p:nvSpPr>
          <p:spPr>
            <a:xfrm>
              <a:off x="0" y="0"/>
              <a:ext cx="5257800" cy="762000"/>
            </a:xfrm>
            <a:prstGeom prst="roundRect">
              <a:avLst>
                <a:gd fmla="val 1000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5" name="Google Shape;745;p21"/>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46" name="Google Shape;746;p21"/>
            <p:cNvGrpSpPr/>
            <p:nvPr/>
          </p:nvGrpSpPr>
          <p:grpSpPr>
            <a:xfrm>
              <a:off x="114300" y="159639"/>
              <a:ext cx="362100" cy="388389"/>
              <a:chOff x="0" y="0"/>
              <a:chExt cx="362100" cy="388389"/>
            </a:xfrm>
          </p:grpSpPr>
          <p:sp>
            <p:nvSpPr>
              <p:cNvPr id="747" name="Google Shape;747;p21"/>
              <p:cNvSpPr/>
              <p:nvPr/>
            </p:nvSpPr>
            <p:spPr>
              <a:xfrm>
                <a:off x="0" y="0"/>
                <a:ext cx="3621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8" name="Google Shape;748;p21"/>
              <p:cNvSpPr txBox="1"/>
              <p:nvPr/>
            </p:nvSpPr>
            <p:spPr>
              <a:xfrm>
                <a:off x="0" y="2628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task_alt</a:t>
                </a:r>
                <a:endParaRPr b="0" sz="1800">
                  <a:solidFill>
                    <a:srgbClr val="2563EB"/>
                  </a:solidFill>
                  <a:latin typeface="Material Icons"/>
                  <a:ea typeface="Material Icons"/>
                  <a:cs typeface="Material Icons"/>
                  <a:sym typeface="Material Icons"/>
                </a:endParaRPr>
              </a:p>
            </p:txBody>
          </p:sp>
        </p:grpSp>
        <p:grpSp>
          <p:nvGrpSpPr>
            <p:cNvPr id="749" name="Google Shape;749;p21"/>
            <p:cNvGrpSpPr/>
            <p:nvPr/>
          </p:nvGrpSpPr>
          <p:grpSpPr>
            <a:xfrm>
              <a:off x="571500" y="76200"/>
              <a:ext cx="4572000" cy="800100"/>
              <a:chOff x="0" y="0"/>
              <a:chExt cx="4572000" cy="800100"/>
            </a:xfrm>
          </p:grpSpPr>
          <p:sp>
            <p:nvSpPr>
              <p:cNvPr id="750" name="Google Shape;750;p21"/>
              <p:cNvSpPr/>
              <p:nvPr/>
            </p:nvSpPr>
            <p:spPr>
              <a:xfrm>
                <a:off x="0" y="0"/>
                <a:ext cx="4572000" cy="800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1" name="Google Shape;751;p21"/>
              <p:cNvSpPr txBox="1"/>
              <p:nvPr/>
            </p:nvSpPr>
            <p:spPr>
              <a:xfrm>
                <a:off x="0" y="0"/>
                <a:ext cx="4572000" cy="609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2563EB"/>
                    </a:solidFill>
                    <a:latin typeface="Quattrocento Sans"/>
                    <a:ea typeface="Quattrocento Sans"/>
                    <a:cs typeface="Quattrocento Sans"/>
                    <a:sym typeface="Quattrocento Sans"/>
                  </a:rPr>
                  <a:t>Ready for Assessment 3</a:t>
                </a:r>
                <a:endParaRPr b="1" i="0"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i="0" lang="en-US" sz="950">
                    <a:solidFill>
                      <a:srgbClr val="334155"/>
                    </a:solidFill>
                    <a:latin typeface="Quattrocento Sans"/>
                    <a:ea typeface="Quattrocento Sans"/>
                    <a:cs typeface="Quattrocento Sans"/>
                    <a:sym typeface="Quattrocento Sans"/>
                  </a:rPr>
                  <a:t>Concrete observable usability goals calibrated for empirical testing.</a:t>
                </a:r>
                <a:endParaRPr b="1" i="0" sz="950">
                  <a:solidFill>
                    <a:srgbClr val="2563EB"/>
                  </a:solidFill>
                  <a:latin typeface="Quattrocento Sans"/>
                  <a:ea typeface="Quattrocento Sans"/>
                  <a:cs typeface="Quattrocento Sans"/>
                  <a:sym typeface="Quattrocento Sans"/>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name="Elegant Media M3 Theme">
  <a:themeElements>
    <a:clrScheme name="ElegantM3">
      <a:dk1>
        <a:srgbClr val="000000"/>
      </a:dk1>
      <a:lt1>
        <a:srgbClr val="FFFFFF"/>
      </a:lt1>
      <a:dk2>
        <a:srgbClr val="0F172A"/>
      </a:dk2>
      <a:lt2>
        <a:srgbClr val="F8FAFC"/>
      </a:lt2>
      <a:accent1>
        <a:srgbClr val="2563EB"/>
      </a:accent1>
      <a:accent2>
        <a:srgbClr val="059669"/>
      </a:accent2>
      <a:accent3>
        <a:srgbClr val="D97706"/>
      </a:accent3>
      <a:accent4>
        <a:srgbClr val="7C3AED"/>
      </a:accent4>
      <a:accent5>
        <a:srgbClr val="0284C7"/>
      </a:accent5>
      <a:accent6>
        <a:srgbClr val="DC2626"/>
      </a:accent6>
      <a:hlink>
        <a:srgbClr val="2563EB"/>
      </a:hlink>
      <a:folHlink>
        <a:srgbClr val="7C3AE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legant Media M3 Theme">
  <a:themeElements>
    <a:clrScheme name="ElegantM3">
      <a:dk1>
        <a:srgbClr val="000000"/>
      </a:dk1>
      <a:lt1>
        <a:srgbClr val="FFFFFF"/>
      </a:lt1>
      <a:dk2>
        <a:srgbClr val="0F172A"/>
      </a:dk2>
      <a:lt2>
        <a:srgbClr val="F8FAFC"/>
      </a:lt2>
      <a:accent1>
        <a:srgbClr val="2563EB"/>
      </a:accent1>
      <a:accent2>
        <a:srgbClr val="059669"/>
      </a:accent2>
      <a:accent3>
        <a:srgbClr val="D97706"/>
      </a:accent3>
      <a:accent4>
        <a:srgbClr val="7C3AED"/>
      </a:accent4>
      <a:accent5>
        <a:srgbClr val="0284C7"/>
      </a:accent5>
      <a:accent6>
        <a:srgbClr val="DC2626"/>
      </a:accent6>
      <a:hlink>
        <a:srgbClr val="2563EB"/>
      </a:hlink>
      <a:folHlink>
        <a:srgbClr val="7C3AE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