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id="2147483649"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NotesMaster" Type="http://schemas.openxmlformats.org/officeDocument/2006/relationships/notesMaster" Target="notesMasters/notesMaster1.xml"/>
  <Relationship Id="rIdSlide1" Type="http://schemas.openxmlformats.org/officeDocument/2006/relationships/slide" Target="slides/slide1.xml"/>
  <Relationship Id="rIdSlide2" Type="http://schemas.openxmlformats.org/officeDocument/2006/relationships/slide" Target="slides/slide2.xml"/>
  <Relationship Id="rIdSlide3" Type="http://schemas.openxmlformats.org/officeDocument/2006/relationships/slide" Target="slides/slide3.xml"/>
  <Relationship Id="rIdSlide4" Type="http://schemas.openxmlformats.org/officeDocument/2006/relationships/slide" Target="slides/slide4.xml"/>
  <Relationship Id="rIdSlide5" Type="http://schemas.openxmlformats.org/officeDocument/2006/relationships/slide" Target="slides/slide5.xml"/>
  <Relationship Id="rIdSlide6" Type="http://schemas.openxmlformats.org/officeDocument/2006/relationships/slide" Target="slides/slide6.xml"/>
  <Relationship Id="rIdSlide7" Type="http://schemas.openxmlformats.org/officeDocument/2006/relationships/slide" Target="slides/slide7.xml"/>
  <Relationship Id="rIdSlide8" Type="http://schemas.openxmlformats.org/officeDocument/2006/relationships/slide" Target="slides/slide8.xml"/>
  <Relationship Id="rIdSlide9" Type="http://schemas.openxmlformats.org/officeDocument/2006/relationships/slide" Target="slides/slide9.xml"/>
  <Relationship Id="rIdSlide10" Type="http://schemas.openxmlformats.org/officeDocument/2006/relationships/slide" Target="slides/slide10.xml"/>
  <Relationship Id="rIdSlide11" Type="http://schemas.openxmlformats.org/officeDocument/2006/relationships/slide" Target="slides/slide11.xml"/>
  <Relationship Id="rIdSlide12" Type="http://schemas.openxmlformats.org/officeDocument/2006/relationships/slide" Target="slides/slide12.xml"/>
  <Relationship Id="rIdSlide13" Type="http://schemas.openxmlformats.org/officeDocument/2006/relationships/slide" Target="slides/slide13.xml"/>
  <Relationship Id="rIdSlide14" Type="http://schemas.openxmlformats.org/officeDocument/2006/relationships/slide" Target="slides/slide14.xml"/>
  <Relationship Id="rIdSlide15" Type="http://schemas.openxmlformats.org/officeDocument/2006/relationships/slide" Target="slides/slide15.xml"/>
  <Relationship Id="rIdSlide16" Type="http://schemas.openxmlformats.org/officeDocument/2006/relationships/slide" Target="slides/slide16.xml"/>
  <Relationship Id="rIdSlide17" Type="http://schemas.openxmlformats.org/officeDocument/2006/relationships/slide" Target="slides/slide17.xml"/>
  <Relationship Id="rIdSlide18" Type="http://schemas.openxmlformats.org/officeDocument/2006/relationships/slide" Target="slides/slide18.xml"/>
  <Relationship Id="rIdSlide19" Type="http://schemas.openxmlformats.org/officeDocument/2006/relationships/slide" Target="slides/slide1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 SPOKEN SCRIPT (10-MINUTE VIDEO PRESENTATION):</a:t>
            </a:r>
          </a:p>
          <a:p>
            <a:pPr>
              <a:spcAft>
                <a:spcPts val="120"/>
              </a:spcAft>
              <a:buNone/>
            </a:pPr>
            <a:r>
              <a:rPr lang="en-US" sz="1000">
                <a:solidFill>
                  <a:srgbClr val="334155"/>
                </a:solidFill>
                <a:latin typeface="Segoe UI"/>
              </a:rPr>
              <a:t>"Hello and welcome. My name is Sadiq Salman, student ID 12284952, presenting Assignment 2 for COIT20270: App Development for Mobile Platforms at Central Queensland University. Today, I am proud to showcase the working prototype of ElegantLink, a client governance mobile platform custom-designed for Australian software development consultancy Elegant Media. Over the next ten minutes, I will demonstrate our fully responsive Material 3 Flutter prototype running live on DartPad, explain how our persona Founder Fred influenced every design choice, evaluate our adherence to canonical UI guidelines and mobile heuristics, and walk you through our privacy and ethical safeguards."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COIT20270 Assignment 2 Rubric: Integration of Persona, UCD, ADs 1-3, Usability Goals, APPs/CASFUD Privacy, M3 Guidelines, Responsive Layouts, and DartPad Execution.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2 SPOKEN SCRIPT (10-MINUTE VIDEO PRESENTATION):</a:t>
            </a:r>
          </a:p>
          <a:p>
            <a:pPr>
              <a:spcAft>
                <a:spcPts val="120"/>
              </a:spcAft>
              <a:buNone/>
            </a:pPr>
            <a:r>
              <a:rPr lang="en-US" sz="1000">
                <a:solidFill>
                  <a:srgbClr val="334155"/>
                </a:solidFill>
                <a:latin typeface="Segoe UI"/>
              </a:rPr>
              <a:t>"In Assignment 1, we identified the fundamental industry problem confronting Elegant Media: once a commercial client remits their deposit, they enter an operational black box. Status updates arrive as disjointed emails saturated with Git logs and sprint velocities that business owners cannot interpret. In Assignment 2, we have brought our technology-agnostic design to life as an interactive Flutter prototype. As Zhao et al. (2024, p. 2084) stated, software project measurement must provide structured, transparent indicators so non-technical stakeholders can monitor quality through objective measurement. ElegantLink fulfills this by curating engineering progress into glanceable traffic lights, contextual deliverable threads, and binding milestone approvals."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Zhao, Z., Deng, S., Ma, Y., Gao, Q., &amp; Zhao, N. (2024). Software project measurement based on the 5P model. Soft Computing, 28(3), p. 2084. Quote: 'assess, monitor, and improve software development processes and product quality through objective measurement rather than subjective reassurance.'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3 SPOKEN SCRIPT (10-MINUTE VIDEO PRESENTATION):</a:t>
            </a:r>
          </a:p>
          <a:p>
            <a:pPr>
              <a:spcAft>
                <a:spcPts val="120"/>
              </a:spcAft>
              <a:buNone/>
            </a:pPr>
            <a:r>
              <a:rPr lang="en-US" sz="1000">
                <a:solidFill>
                  <a:srgbClr val="334155"/>
                </a:solidFill>
                <a:latin typeface="Segoe UI"/>
              </a:rPr>
              <a:t>"Every screen in our prototype was shaped by our empirical persona, Founder Fred—standardized across our app as Fred R. Fred is a 42-year-old retail business founder who commissioned custom software. He checks his phone in 10-to-60 second micro-breaks while managing logistics and store operations. Wang and Yu (2024, p. 3) observed that 'technostress has a direct negative impact on user satisfaction and continuance intention to use mobile applications.' Exposing Fred to raw developer tools induces technostress. Furthermore, Punsongserm and Suvakunta (2025, p. 21) showed that mobile legibility collapses under outdoor illumination unless minimum contrast standards are met. We enforced WCAG 2.1 AA contrast and large touch targets throughout."</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Wang, X., &amp; Yu, X. (2024). Art students' technostress. SAGE Open, 14(3), p. 3. Quote: 'technostress has a direct negative impact on user satisfaction and continuance intention to use mobile applications.' | Punsongserm, R., &amp; Suvakunta, P. (2025). Legibility of Thai typefaces. Journal of Graphic Engineering and Design, 16(1), p. 21.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4 SPOKEN SCRIPT (10-MINUTE VIDEO PRESENTATION):</a:t>
            </a:r>
          </a:p>
          <a:p>
            <a:pPr>
              <a:spcAft>
                <a:spcPts val="120"/>
              </a:spcAft>
              <a:buNone/>
            </a:pPr>
            <a:r>
              <a:rPr lang="en-US" sz="1000">
                <a:solidFill>
                  <a:srgbClr val="334155"/>
                </a:solidFill>
                <a:latin typeface="Segoe UI"/>
              </a:rPr>
              <a:t>"Slide 4 presents our UML Use Case Diagram, which establishes the architectural system boundary. Following rubric instructions, this diagram is technology-agnostic and organized around actor goals rather than UI clicks. The system clearly delineates Client Fred R. from Project Manager James R. Fred interacts with four primary capabilities: viewing curated project status, reviewing uploaded artefacts and giving feedback, approving milestones or requesting revisions, and managing data privacy consent. On the agency side, James curates sanitized updates and records binding decisions. Notice that privacy management is elevated to a primary use case, upholding user data sovereignty."</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COIT20270 Assessment Rubric: Goal-oriented UML Use Case Diagram with appropriate abstraction and distinct external actor boundaries.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5 SPOKEN SCRIPT (10-MINUTE VIDEO PRESENTATION):</a:t>
            </a:r>
          </a:p>
          <a:p>
            <a:pPr>
              <a:spcAft>
                <a:spcPts val="120"/>
              </a:spcAft>
              <a:buNone/>
            </a:pPr>
            <a:r>
              <a:rPr lang="en-US" sz="1000">
                <a:solidFill>
                  <a:srgbClr val="334155"/>
                </a:solidFill>
                <a:latin typeface="Segoe UI"/>
              </a:rPr>
              <a:t>"Activity Diagram 1 models how Fred inspects project status, implemented in Screens 2 and 3 of our Flutter app. The diagram utilizes distinct swimlanes for Client and ElegantLink Service. When Fred authenticates into the app or uses demo quick access, the system validates client credentials and renders the ambient dashboard. Fred is greeted with an ambient traffic-light badge—currently green for 'On Track'—the active SDLC stage at 65% completion, and a prominent 'Next Required Action' card. An alternative decision branch allows Fred to exit immediately after a ten-second glance, or tap into the 5-stage SDLC detail screen to view timestamped developer milestones."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Gatsou, C., Politis, A., &amp; Zevgolis, D. (2011). Text vs visual metaphor. Information Services &amp; Use, 31(4), p. 275. Quote: 'visual metaphors facilitate novice users' comprehension and engagement.'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6 SPOKEN SCRIPT (10-MINUTE VIDEO PRESENTATION):</a:t>
            </a:r>
          </a:p>
          <a:p>
            <a:pPr>
              <a:spcAft>
                <a:spcPts val="120"/>
              </a:spcAft>
              <a:buNone/>
            </a:pPr>
            <a:r>
              <a:rPr lang="en-US" sz="1000">
                <a:solidFill>
                  <a:srgbClr val="334155"/>
                </a:solidFill>
                <a:latin typeface="Segoe UI"/>
              </a:rPr>
              <a:t>"Activity Diagram 2 models deliverable review and feedback submission, implemented in Screens 5 and 6. Fred receives a notification that a new UI mockup is ready, navigates to the Deliverables Gallery, and taps into the Mockup Viewer. Directly beneath the deliverable is an anchored discussion thread featuring previous messages from PM James R. Fred enters his notes into the contextual text field. Crucially, AD2 features verified discard logic: tapping Cancel discards the draft safely without false confirmations, while tapping Submit appends the comment to the live thread with an audit timestamp and triggers a non-intrusive confirmation SnackBar."</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Jakob, R., et al. (2022). Factors influencing adherence to mHealth apps. Journal of Medical Internet Research, 24(5), p. 8. Quote: 'user-tailored content and predictable technical behavior.'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7 SPOKEN SCRIPT (10-MINUTE VIDEO PRESENTATION):</a:t>
            </a:r>
          </a:p>
          <a:p>
            <a:pPr>
              <a:spcAft>
                <a:spcPts val="120"/>
              </a:spcAft>
              <a:buNone/>
            </a:pPr>
            <a:r>
              <a:rPr lang="en-US" sz="1000">
                <a:solidFill>
                  <a:srgbClr val="334155"/>
                </a:solidFill>
                <a:latin typeface="Segoe UI"/>
              </a:rPr>
              <a:t>"Activity Diagram 3 governs commercial milestone acceptance, implemented across Screens 7, 8, and 9. Milestone approvals carry legally binding financial obligations, such as releasing progress invoices. To eliminate accidental commitments, our flow implements a strict two-step confirmation process. Fred reviews the acceptance checklist and billing liability of 12,500 dollars AUD. If unsatisfied, he selects 'Request Changes' and submits revision notes. If satisfied, selecting 'Approve' triggers a neutral confirmation dialog that explicitly summarizes invoice consequences. Once confirmed, the system writes an immutable audit record and renders a cryptographically signed Digital Certificate."</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Li, W., Flatla, D. R., &amp; Arndt, F. (2025). Divergent deceptions. Behaviour &amp; Information Technology, 44(2), p. 8. Quote: 'asymmetric button styling, hidden consequence disclosures, and false urgency.'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8 SPOKEN SCRIPT (10-MINUTE VIDEO PRESENTATION):</a:t>
            </a:r>
          </a:p>
          <a:p>
            <a:pPr>
              <a:spcAft>
                <a:spcPts val="120"/>
              </a:spcAft>
              <a:buNone/>
            </a:pPr>
            <a:r>
              <a:rPr lang="en-US" sz="1000">
                <a:solidFill>
                  <a:srgbClr val="334155"/>
                </a:solidFill>
                <a:latin typeface="Segoe UI"/>
              </a:rPr>
              <a:t>"In compliance with Criterion 1, our prototype implements canonical Material 3 responsive layouts using Flutter's LayoutBuilder. We provide concrete proof of responsiveness across two target devices: the Samsung Galaxy A54 mobile phone and the Apple iPad 10th Gen tablet. On compact viewports under 640dp, the app renders a bottom NavigationBar with filled pill active indicators, placing navigation within Fred's natural thumb zone for one-handed operation. When the screen width expands to 640dp or wider on Fred's iPad or desktop browser, the navigation dynamically transforms into an adaptive left NavigationRail. The content surface reflows from a single column into width-bounded cards, preventing awkward horizontal stretching. This responsiveness is verified live on DartPad by dragging the preview splitter bar across 640dp, adapting seamlessly with zero layout overflow exceptions."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Material 3 Design Guidelines: Canonical Layouts (Compact &lt;640dp vs Medium 640-839dp &amp; Expanded &gt;=840dp); Flutter LayoutBuilder &amp; NavigationRail APIs.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9 SPOKEN SCRIPT (10-MINUTE VIDEO PRESENTATION):</a:t>
            </a:r>
          </a:p>
          <a:p>
            <a:pPr>
              <a:spcAft>
                <a:spcPts val="120"/>
              </a:spcAft>
              <a:buNone/>
            </a:pPr>
            <a:r>
              <a:rPr lang="en-US" sz="1000">
                <a:solidFill>
                  <a:srgbClr val="334155"/>
                </a:solidFill>
                <a:latin typeface="Segoe UI"/>
              </a:rPr>
              <a:t>"Slide 9 provides our detailed Material 3 component mapping matrix, demonstrating exhaustive adherence to every mandated widget in the unit rubric. Our AppBars feature centered titles with scroll surface elevation tints; our NavigationBar and NavigationRail employ filled active indicator pills with unbolded unselected states; our TabBars utilize primary pill tab styling; and our deliverable showcase uses a PageView Carousel with animated dot indicators. We strictly respect the Material 3 card specification by using outlined cards with 16dp rounded corners for discrete actions while avoiding antipatterns like nesting ListViews inside cards. Furthermore, our authentication and feedback flows implement Material 3 Forms and TextFormFields with RFC regex email validation, our AlertDialogs enforce neutral two-step confirmations without deceptive button asymmetry, and our FABs and SnackBars provide instantaneous, accessible feedback with minimum 48 by 48dp touch targets."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Material 3 Design Guidelines: Component Specifications for AppBar, NavigationBar, NavigationRail, Tab, Card, Carousel, Form/TextField, Dialog, FAB, and SnackBar.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10 SPOKEN SCRIPT (10-MINUTE VIDEO PRESENTATION):</a:t>
            </a:r>
          </a:p>
          <a:p>
            <a:pPr>
              <a:spcAft>
                <a:spcPts val="120"/>
              </a:spcAft>
              <a:buNone/>
            </a:pPr>
            <a:r>
              <a:rPr lang="en-US" sz="1000">
                <a:solidFill>
                  <a:srgbClr val="334155"/>
                </a:solidFill>
                <a:latin typeface="Segoe UI"/>
              </a:rPr>
              <a:t>"Evaluating our static screens against mobile heuristics reveals strong alignment with Fred's working constraints. First, Quick Interaction and Micro-Usage: Fred operates in 10-to-60-second bursts. Our dashboard surfaces active stage progress, overall health, and the next required action immediately upon launch, allowing Fred to glance and exit in under ten seconds. Second, Readability and Cognitive Load: Ilany-Tzur and Fink (2023, p. 2446) established that dense data structures degrade mobile user performance. By translating internal Jira backlogs into commercial milestone summaries and visual traffic-light indicators, ElegantLink minimizes extraneous cognitive load."</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Ilany-Tzur, N., &amp; Fink, L. (2023). How is mobile task performance different? Behaviour &amp; Information Technology, 42(14), p. 2446. | Gatsou, C., Politis, A., &amp; Zevgolis, D. (2011). Text vs visual metaphor. Information Services &amp; Use, 31(4), p. 273.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11 SPOKEN SCRIPT (10-MINUTE VIDEO PRESENTATION):</a:t>
            </a:r>
          </a:p>
          <a:p>
            <a:pPr>
              <a:spcAft>
                <a:spcPts val="120"/>
              </a:spcAft>
              <a:buNone/>
            </a:pPr>
            <a:r>
              <a:rPr lang="en-US" sz="1000">
                <a:solidFill>
                  <a:srgbClr val="334155"/>
                </a:solidFill>
                <a:latin typeface="Segoe UI"/>
              </a:rPr>
              <a:t>"Continuing our heuristic evaluation: Error Prevention is paramount. On mobile touchscreens, slips and accidental taps occur frequently. Milestone approvals trigger binding commercial invoices; accidental confirmation would destroy client trust. Our prototype enforces an explicit two-step confirmation dialog that clearly details the financial invoice amount before committing. Furthermore, Consistency and Accessibility are strictly upheld. All stakeholders follow a uniform First Name plus Last Initial format: Fred R. and James R. All typography meets WCAG 2.1 AA standards exceeding 4.5:1 contrast, ensuring complete legibility under bright Australian sunlight."</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Jakob, R., et al. (2022). Factors influencing adherence to mHealth apps. JMIR, 24(5), p. 8. | Punsongserm, R., &amp; Suvakunta, P. (2025). Legibility of Thai typefaces. JGED, 16(1), p. 21. | WCAG 2.1 Level AA Accessibility Standards.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12 SPOKEN SCRIPT (10-MINUTE VIDEO PRESENTATION):</a:t>
            </a:r>
          </a:p>
          <a:p>
            <a:pPr>
              <a:spcAft>
                <a:spcPts val="120"/>
              </a:spcAft>
              <a:buNone/>
            </a:pPr>
            <a:r>
              <a:rPr lang="en-US" sz="1000">
                <a:solidFill>
                  <a:srgbClr val="334155"/>
                </a:solidFill>
                <a:latin typeface="Segoe UI"/>
              </a:rPr>
              <a:t>"Slide 12 maps our five usability goals from Assignment 1 to our working prototype and outlines the empirical testing protocols for Assessment 3. Goal 1, Learnability: cold app launch to verbal stage recognition in ten seconds or less. Goal 2, Efficiency: submitting contextual deliverable feedback in 60 seconds or less—representing an observable 40% speed improvement over email. Goal 3, Error Prevention: exactly zero accidental milestone approvals across 20 trials. Goal 4, Satisfaction: achieving an above-average SUS score of 68 or higher. And Goal 5, Accessibility: full layout stability at 200% text scaling and WCAG AA contrast."</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Usability Goals Framework: Learnability (&lt;=10s), Efficiency (&lt;=60s), Error Prevention (0% accidental approvals), Satisfaction (SUS &gt;=68), and Accessibility (WCAG AA &gt;=4.5:1).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13 SPOKEN SCRIPT (10-MINUTE VIDEO PRESENTATION):</a:t>
            </a:r>
          </a:p>
          <a:p>
            <a:pPr>
              <a:spcAft>
                <a:spcPts val="120"/>
              </a:spcAft>
              <a:buNone/>
            </a:pPr>
            <a:r>
              <a:rPr lang="en-US" sz="1000">
                <a:solidFill>
                  <a:srgbClr val="334155"/>
                </a:solidFill>
                <a:latin typeface="Segoe UI"/>
              </a:rPr>
              <a:t>"Slide 13 illustrates our formal Data Flow Diagram, establishing our privacy architecture and data storage boundaries. External entities Client Fred R. and PM James R. interact through authenticated processes. Process 1.0 captures user consent preferences into Data Store 1. Process 3.0 sanitizes engineering backlogs into client-ready summaries stored in Data Store 2. All milestone approvals flow through Process 4.0, which generates immutable cryptographic timestamps saved to the Governance Log in Data Store 3. Crucially, Process 5.0 strips all Personally Identifiable Information from usage telemetry before it reaches analytical storage, preventing commercial surveillance."</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Australian Privacy Principles (APPs 1, 2, 3, 5, 6, 11, 12, 13) | CASFUD Framework: Consent, Anonymity, Security, Freedom &amp; User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14 SPOKEN SCRIPT (10-MINUTE VIDEO PRESENTATION):</a:t>
            </a:r>
          </a:p>
          <a:p>
            <a:pPr>
              <a:spcAft>
                <a:spcPts val="120"/>
              </a:spcAft>
              <a:buNone/>
            </a:pPr>
            <a:r>
              <a:rPr lang="en-US" sz="1000">
                <a:solidFill>
                  <a:srgbClr val="334155"/>
                </a:solidFill>
                <a:latin typeface="Segoe UI"/>
              </a:rPr>
              <a:t>"Our privacy model strictly operationalizes the Australian Privacy Principles and the CASFUD ethical framework. Regarding Consent, LaMonica et al. (2021, p. 5) proved that 'dense, legalistic policies undermine the user's capacity to provide genuinely informed consent.' We replaced opaque legal terms with layered, plain-English in-app consent sheets with unbundled toggles. On the Security front, Dahiya et al. (2024, p. 3) emphasized that 'mobile applications require defense-in-depth architectural safeguards against data interception.' We enforce TLS 1.3 encryption in transit, AES-256 at rest in Australian cloud facilities, and biometric authentication."</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LaMonica, H. M., et al. (2021). Privacy practices of health IT. JMIR, 23(9), p. 5. Quote: 'dense, legalistic policies undermine the user's capacity to provide genuinely informed consent.' | Dahiya, R., et al. (2024). Security in mobile network. EAI Endorsed Trans. IoT, p. 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15 SPOKEN SCRIPT (10-MINUTE VIDEO PRESENTATION):</a:t>
            </a:r>
          </a:p>
          <a:p>
            <a:pPr>
              <a:spcAft>
                <a:spcPts val="120"/>
              </a:spcAft>
              <a:buNone/>
            </a:pPr>
            <a:r>
              <a:rPr lang="en-US" sz="1000">
                <a:solidFill>
                  <a:srgbClr val="334155"/>
                </a:solidFill>
                <a:latin typeface="Segoe UI"/>
              </a:rPr>
              <a:t>"Slide 15 addresses ethical interaction design and our active rejection of mobile dark patterns. Li et al. (2025, p. 8) documented that deceptive patterns such as 'asymmetric button styling, hidden consequence disclosures, and false urgency' routinely manipulate mobile users. ElegantLink prevents this: our 'Approve Milestone' and 'Request Changes' buttons feature identical visual weight, preventing asymmetric nudging. We prohibit artificial urgency countdowns, explicitly display commercial fee liabilities upfront, and optimize performance for mid-range Android devices over patchy cellular connections to uphold digital equity."</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Li, W., Flatla, D. R., &amp; Arndt, F. (2025). Divergent deceptions: Comparative analysis of deceptive patterns in iOS and Android apps. Behaviour &amp; Information Technology, 44(2), p. 8. Quote: 'asymmetric button styling, hidden consequence disclosures, and false urgency.'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16 SPOKEN SCRIPT (10-MINUTE VIDEO PRESENTATION):</a:t>
            </a:r>
          </a:p>
          <a:p>
            <a:pPr>
              <a:spcAft>
                <a:spcPts val="120"/>
              </a:spcAft>
              <a:buNone/>
            </a:pPr>
            <a:r>
              <a:rPr lang="en-US" sz="1000">
                <a:solidFill>
                  <a:srgbClr val="334155"/>
                </a:solidFill>
                <a:latin typeface="Segoe UI"/>
              </a:rPr>
              <a:t>"Slide 16 details our code-level software architecture. In accordance with unit specifications, our prototype is packaged into a single, self-contained Dart file of 3,151 lines that compiles cleanly on dartpad.dev without external packages. We implemented a clean reactive architecture using AppStateModel—extending ChangeNotifier—and AppStateScope—extending InheritedNotifier. This provides O(1) state lookups and reactive widget rebuilds across all 11 screens, including our simulated authentication gate, without third-party dependencies. Our codebase is structured across six clear architectural tiers, from domain models up to dedicated screen widgets. Most importantly, complying with Criterion 3, our code contains rich design-level comments explaining architectural decisions, persona heuristics, and accessibility compliance, rather than trivial syntax descriptions."</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COIT20270 Code Quality Guidelines: Clean coding conventions, self-documenting variables, zero deprecated code, and insightful design-level comments.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17 SPOKEN SCRIPT (10-MINUTE VIDEO PRESENTATION):</a:t>
            </a:r>
          </a:p>
          <a:p>
            <a:pPr>
              <a:spcAft>
                <a:spcPts val="120"/>
              </a:spcAft>
              <a:buNone/>
            </a:pPr>
            <a:r>
              <a:rPr lang="en-US" sz="1000">
                <a:solidFill>
                  <a:srgbClr val="334155"/>
                </a:solidFill>
                <a:latin typeface="Segoe UI"/>
              </a:rPr>
              <a:t>"In accordance with CQUniversity assessment policy, Slide 17 outlines our transparent use of Generative AI. AI tools were utilized to assist with initial widget scaffolding, OpenXML generation scripts, and benchmarking code against the assessment rubric. However, in compliance with academic integrity standards, I critically evaluated, refactored, and tested every line of code myself. All architectural flows, design-level comments, and literature citations were verified against full-text peer-reviewed articles from the Central Queensland University Library. AI was an assistive peer-review tool, not an authoritative source."</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CQUniversity Assessment Policy on Generative AI Collaboration: Critical Evaluation, Verification, and Transparent Disclosure.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18 SPOKEN SCRIPT (10-MINUTE VIDEO PRESENTATION):</a:t>
            </a:r>
          </a:p>
          <a:p>
            <a:pPr>
              <a:spcAft>
                <a:spcPts val="120"/>
              </a:spcAft>
              <a:buNone/>
            </a:pPr>
            <a:r>
              <a:rPr lang="en-US" sz="1000">
                <a:solidFill>
                  <a:srgbClr val="334155"/>
                </a:solidFill>
                <a:latin typeface="Segoe UI"/>
              </a:rPr>
              <a:t>"Slide 18 provides our complete reference list of nine peer-reviewed journal articles, all retrieved full-text online from the Central Queensland University Library. In accordance with the 2027 unit requirements, every citation across the slide notes includes verified page numbers and verbatim quotations. These sources ground our persona, cognitive load management, mobile heuristics, privacy architecture, and anti-dark-pattern ethics in empirical academic research."</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Strictly 9 CQU Library Peer-Reviewed Research Papers supporting ULO 1, ULO 3, and ULO 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685800" y="685800"/>
            <a:ext cx="5486400" cy="3086100"/>
          </a:xfrm>
        </p:spPr>
      </p:sp>
      <p:sp>
        <p:nvSpPr>
          <p:cNvPr id="3" name="Notes Text"/>
          <p:cNvSpPr>
            <a:spLocks noGrp="1"/>
          </p:cNvSpPr>
          <p:nvPr>
            <p:ph type="body" idx="1"/>
          </p:nvPr>
        </p:nvSpPr>
        <p:spPr>
          <a:xfrm>
            <a:off x="685800" y="4000000"/>
            <a:ext cx="5486400" cy="4500000"/>
          </a:xfrm>
        </p:spPr>
        <p:txBody>
          <a:bodyPr/>
          <a:lstStyle/>
          <a:p>
            <a:pPr>
              <a:spcAft>
                <a:spcPts val="60"/>
              </a:spcAft>
              <a:buNone/>
            </a:pPr>
            <a:r>
              <a:rPr lang="en-US" sz="1100" b="1">
                <a:solidFill>
                  <a:srgbClr val="0F172A"/>
                </a:solidFill>
                <a:latin typeface="Segoe UI"/>
              </a:rPr>
              <a:t>SLIDE 19 SPOKEN SCRIPT (10-MINUTE VIDEO PRESENTATION):</a:t>
            </a:r>
          </a:p>
          <a:p>
            <a:pPr>
              <a:spcAft>
                <a:spcPts val="120"/>
              </a:spcAft>
              <a:buNone/>
            </a:pPr>
            <a:r>
              <a:rPr lang="en-US" sz="1000">
                <a:solidFill>
                  <a:srgbClr val="334155"/>
                </a:solidFill>
                <a:latin typeface="Segoe UI"/>
              </a:rPr>
              <a:t>"In conclusion, ElegantLink demonstrates a complete, robust Material 3 Flutter prototype that directly resolves the post-deposit communication void for Elegant Media and Founder Fred. Our prototype runs flawlessly on DartPad, adapts dynamically across mobile and tablet form factors, adheres strictly to canonical Material 3 guidelines, and upholds ethical privacy standards. All submission links—including the DartPad code, private GitHub repository, and shared video link—are provided here. Thank you for your time, and I welcome any feedback."</a:t>
            </a:r>
          </a:p>
          <a:p>
            <a:pPr>
              <a:spcAft>
                <a:spcPts val="60"/>
              </a:spcAft>
              <a:buNone/>
            </a:pPr>
            <a:r>
              <a:rPr lang="en-US" sz="1100" b="1">
                <a:solidFill>
                  <a:srgbClr val="2563EB"/>
                </a:solidFill>
                <a:latin typeface="Segoe UI"/>
              </a:rPr>
              <a:t>SLIDE NOTES CITATIONS &amp; SCHOLARLY QUOTES (MANDATORY CQU RUBRIC):</a:t>
            </a:r>
          </a:p>
          <a:p>
            <a:pPr>
              <a:buNone/>
            </a:pPr>
            <a:r>
              <a:rPr lang="en-US" sz="1000">
                <a:solidFill>
                  <a:srgbClr val="475569"/>
                </a:solidFill>
                <a:latin typeface="Segoe UI"/>
              </a:rPr>
              <a:t>COIT20270 Assignment 2 Final Submission Package | Central Queensland University Australia.</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4.xml"/>
  <Relationship Id="rIdDiagram" Type="http://schemas.openxmlformats.org/officeDocument/2006/relationships/image" Target="../media/image1.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5.xml"/>
  <Relationship Id="rIdDiagram" Type="http://schemas.openxmlformats.org/officeDocument/2006/relationships/image" Target="../media/image2.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6.xml"/>
  <Relationship Id="rIdDiagram" Type="http://schemas.openxmlformats.org/officeDocument/2006/relationships/image" Target="../media/image3.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7.xml"/>
  <Relationship Id="rIdDiagram" Type="http://schemas.openxmlformats.org/officeDocument/2006/relationships/image" Target="../media/image4.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3.xml"/>
  <Relationship Id="rIdDiagram" Type="http://schemas.openxmlformats.org/officeDocument/2006/relationships/image" Target="../media/image5.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Notes"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CQUNIVERSITY AUSTRALIA — COIT20270 APP DEVELOPMENT FOR MOBILE PLATFORMS</a:t>
            </a:r>
          </a:p>
          <a:p>
            <a:pPr>
              <a:spcAft>
                <a:spcPts val="40"/>
              </a:spcAft>
              <a:buNone/>
            </a:pPr>
            <a:r>
              <a:rPr lang="en-US" sz="2600" b="1">
                <a:solidFill>
                  <a:srgbClr val="0F172A"/>
                </a:solidFill>
                <a:latin typeface="Segoe UI"/>
              </a:rPr>
              <a:t>ElegantLink: Client Governance Mobile Platform</a:t>
            </a:r>
          </a:p>
          <a:p>
            <a:pPr>
              <a:buNone/>
            </a:pPr>
            <a:r>
              <a:rPr lang="en-US" sz="1300">
                <a:solidFill>
                  <a:srgbClr val="475569"/>
                </a:solidFill>
                <a:latin typeface="Segoe UI"/>
              </a:rPr>
              <a:t>Assignment 2: Material 3 Prototype &amp; Architectural Evaluation</a:t>
            </a:r>
          </a:p>
        </p:txBody>
      </p:sp>
      <p:sp>
        <p:nvSpPr>
          <p:cNvPr id="12" name="Card_0"/>
          <p:cNvSpPr/>
          <p:nvPr/>
        </p:nvSpPr>
        <p:spPr>
          <a:xfrm>
            <a:off x="600000" y="1900000"/>
            <a:ext cx="5300000" cy="44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80"/>
              </a:spcAft>
              <a:buNone/>
            </a:pPr>
            <a:r>
              <a:rPr lang="en-US" sz="1800" b="1">
                <a:solidFill>
                  <a:srgbClr val="0F172A"/>
                </a:solidFill>
                <a:latin typeface="Segoe UI"/>
              </a:rPr>
              <a:t>Candidate &amp; Project Metadata</a:t>
            </a:r>
          </a:p>
          <a:p>
            <a:pPr marL="288000">
              <a:spcAft>
                <a:spcPts val="120"/>
              </a:spcAft>
              <a:buChar char="•"/>
            </a:pPr>
            <a:r>
              <a:rPr lang="en-US" sz="1300" b="1">
                <a:solidFill>
                  <a:srgbClr val="2563EB"/>
                </a:solidFill>
                <a:latin typeface="Segoe UI"/>
              </a:rPr>
              <a:t>Student Author:</a:t>
            </a:r>
            <a:r>
              <a:rPr lang="en-US" sz="1300">
                <a:solidFill>
                  <a:srgbClr val="334155"/>
                </a:solidFill>
                <a:latin typeface="Segoe UI"/>
              </a:rPr>
              <a:t> Sadiq Salman (Student ID: 12284952)</a:t>
            </a:r>
          </a:p>
          <a:p>
            <a:pPr marL="288000">
              <a:spcAft>
                <a:spcPts val="120"/>
              </a:spcAft>
              <a:buChar char="•"/>
            </a:pPr>
            <a:r>
              <a:rPr lang="en-US" sz="1300" b="1">
                <a:solidFill>
                  <a:srgbClr val="2563EB"/>
                </a:solidFill>
                <a:latin typeface="Segoe UI"/>
              </a:rPr>
              <a:t>Target Organisation:</a:t>
            </a:r>
            <a:r>
              <a:rPr lang="en-US" sz="1300">
                <a:solidFill>
                  <a:srgbClr val="334155"/>
                </a:solidFill>
                <a:latin typeface="Segoe UI"/>
              </a:rPr>
              <a:t> Elegant Media Australia (Melbourne Head Office)</a:t>
            </a:r>
          </a:p>
          <a:p>
            <a:pPr marL="288000">
              <a:spcAft>
                <a:spcPts val="120"/>
              </a:spcAft>
              <a:buChar char="•"/>
            </a:pPr>
            <a:r>
              <a:rPr lang="en-US" sz="1300" b="1">
                <a:solidFill>
                  <a:srgbClr val="2563EB"/>
                </a:solidFill>
                <a:latin typeface="Segoe UI"/>
              </a:rPr>
              <a:t>Unit Learning Outcomes:</a:t>
            </a:r>
            <a:r>
              <a:rPr lang="en-US" sz="1300">
                <a:solidFill>
                  <a:srgbClr val="334155"/>
                </a:solidFill>
                <a:latin typeface="Segoe UI"/>
              </a:rPr>
              <a:t> ULO 1 (Native Apps) &amp; ULO 3 (IDE &amp; Debugging)</a:t>
            </a:r>
          </a:p>
          <a:p>
            <a:pPr marL="288000">
              <a:spcAft>
                <a:spcPts val="120"/>
              </a:spcAft>
              <a:buChar char="•"/>
            </a:pPr>
            <a:r>
              <a:rPr lang="en-US" sz="1300" b="1">
                <a:solidFill>
                  <a:srgbClr val="2563EB"/>
                </a:solidFill>
                <a:latin typeface="Segoe UI"/>
              </a:rPr>
              <a:t>Assessment Weight:</a:t>
            </a:r>
            <a:r>
              <a:rPr lang="en-US" sz="1300">
                <a:solidFill>
                  <a:srgbClr val="334155"/>
                </a:solidFill>
                <a:latin typeface="Segoe UI"/>
              </a:rPr>
              <a:t> 30% (Term 1, Week 6 Submission)</a:t>
            </a:r>
          </a:p>
        </p:txBody>
      </p:sp>
      <p:sp>
        <p:nvSpPr>
          <p:cNvPr id="13" name="Card_1"/>
          <p:cNvSpPr/>
          <p:nvPr/>
        </p:nvSpPr>
        <p:spPr>
          <a:xfrm>
            <a:off x="6100000" y="1900000"/>
            <a:ext cx="5300000" cy="44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80"/>
              </a:spcAft>
              <a:buNone/>
            </a:pPr>
            <a:r>
              <a:rPr lang="en-US" sz="1800" b="1">
                <a:solidFill>
                  <a:srgbClr val="0F172A"/>
                </a:solidFill>
                <a:latin typeface="Segoe UI"/>
              </a:rPr>
              <a:t>Submission Deliverables &amp; Access Links</a:t>
            </a:r>
          </a:p>
          <a:p>
            <a:pPr marL="288000">
              <a:spcAft>
                <a:spcPts val="120"/>
              </a:spcAft>
              <a:buChar char="•"/>
            </a:pPr>
            <a:r>
              <a:rPr lang="en-US" sz="1300" b="1">
                <a:solidFill>
                  <a:srgbClr val="2563EB"/>
                </a:solidFill>
                <a:latin typeface="Segoe UI"/>
              </a:rPr>
              <a:t>Interactive Prototype:</a:t>
            </a:r>
            <a:r>
              <a:rPr lang="en-US" sz="1300">
                <a:solidFill>
                  <a:srgbClr val="334155"/>
                </a:solidFill>
                <a:latin typeface="Segoe UI"/>
              </a:rPr>
              <a:t> Single-file executable directly on dartpad.dev</a:t>
            </a:r>
          </a:p>
          <a:p>
            <a:pPr marL="288000">
              <a:spcAft>
                <a:spcPts val="120"/>
              </a:spcAft>
              <a:buChar char="•"/>
            </a:pPr>
            <a:r>
              <a:rPr lang="en-US" sz="1300" b="1">
                <a:solidFill>
                  <a:srgbClr val="2563EB"/>
                </a:solidFill>
                <a:latin typeface="Segoe UI"/>
              </a:rPr>
              <a:t>Private Code Repository:</a:t>
            </a:r>
            <a:r>
              <a:rPr lang="en-US" sz="1300">
                <a:solidFill>
                  <a:srgbClr val="334155"/>
                </a:solidFill>
                <a:latin typeface="Segoe UI"/>
              </a:rPr>
              <a:t> GitHub repository shared with tutor &amp; unit coordinator</a:t>
            </a:r>
          </a:p>
          <a:p>
            <a:pPr marL="288000">
              <a:spcAft>
                <a:spcPts val="120"/>
              </a:spcAft>
              <a:buChar char="•"/>
            </a:pPr>
            <a:r>
              <a:rPr lang="en-US" sz="1300" b="1">
                <a:solidFill>
                  <a:srgbClr val="2563EB"/>
                </a:solidFill>
                <a:latin typeface="Segoe UI"/>
              </a:rPr>
              <a:t>Presentation Slides:</a:t>
            </a:r>
            <a:r>
              <a:rPr lang="en-US" sz="1300">
                <a:solidFill>
                  <a:srgbClr val="334155"/>
                </a:solidFill>
                <a:latin typeface="Segoe UI"/>
              </a:rPr>
              <a:t> 19-Slide PowerPoint Deck with full notes &amp; citations</a:t>
            </a:r>
          </a:p>
          <a:p>
            <a:pPr marL="288000">
              <a:spcAft>
                <a:spcPts val="120"/>
              </a:spcAft>
              <a:buChar char="•"/>
            </a:pPr>
            <a:r>
              <a:rPr lang="en-US" sz="1300" b="1">
                <a:solidFill>
                  <a:srgbClr val="2563EB"/>
                </a:solidFill>
                <a:latin typeface="Segoe UI"/>
              </a:rPr>
              <a:t>Video Presentation:</a:t>
            </a:r>
            <a:r>
              <a:rPr lang="en-US" sz="1300">
                <a:solidFill>
                  <a:srgbClr val="334155"/>
                </a:solidFill>
                <a:latin typeface="Segoe UI"/>
              </a:rPr>
              <a:t> 10-Minute Walkthrough shared via CQU OneDrive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SYSTEM EVOLUTION &amp; PROBLEM STATEMENT</a:t>
            </a:r>
          </a:p>
          <a:p>
            <a:pPr>
              <a:spcAft>
                <a:spcPts val="40"/>
              </a:spcAft>
              <a:buNone/>
            </a:pPr>
            <a:r>
              <a:rPr lang="en-US" sz="2600" b="1">
                <a:solidFill>
                  <a:srgbClr val="0F172A"/>
                </a:solidFill>
                <a:latin typeface="Segoe UI"/>
              </a:rPr>
              <a:t>Transitioning from System Design to Interactive Prototype</a:t>
            </a:r>
          </a:p>
          <a:p>
            <a:pPr>
              <a:buNone/>
            </a:pPr>
            <a:r>
              <a:rPr lang="en-US" sz="1300">
                <a:solidFill>
                  <a:srgbClr val="475569"/>
                </a:solidFill>
                <a:latin typeface="Segoe UI"/>
              </a:rPr>
              <a:t>Bridging the Post-Deposit Communication Gap with Interactive Material 3 Governance</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The Real-World Industry Problem (Design Foundations)</a:t>
            </a:r>
          </a:p>
          <a:p>
            <a:pPr marL="288000">
              <a:spcAft>
                <a:spcPts val="110"/>
              </a:spcAft>
              <a:buChar char="•"/>
            </a:pPr>
            <a:r>
              <a:rPr lang="en-US" sz="1200" b="1">
                <a:solidFill>
                  <a:srgbClr val="2563EB"/>
                </a:solidFill>
                <a:latin typeface="Segoe UI"/>
              </a:rPr>
              <a:t>Commercial Opacity:</a:t>
            </a:r>
            <a:r>
              <a:rPr lang="en-US" sz="1200">
                <a:solidFill>
                  <a:srgbClr val="334155"/>
                </a:solidFill>
                <a:latin typeface="Segoe UI"/>
              </a:rPr>
              <a:t> Following deposit payment, software clients enter an informational black box with zero operational visibility.</a:t>
            </a:r>
          </a:p>
          <a:p>
            <a:pPr marL="288000">
              <a:spcAft>
                <a:spcPts val="110"/>
              </a:spcAft>
              <a:buChar char="•"/>
            </a:pPr>
            <a:r>
              <a:rPr lang="en-US" sz="1200" b="1">
                <a:solidFill>
                  <a:srgbClr val="2563EB"/>
                </a:solidFill>
                <a:latin typeface="Segoe UI"/>
              </a:rPr>
              <a:t>Technical Jargon Barrier:</a:t>
            </a:r>
            <a:r>
              <a:rPr lang="en-US" sz="1200">
                <a:solidFill>
                  <a:srgbClr val="334155"/>
                </a:solidFill>
                <a:latin typeface="Segoe UI"/>
              </a:rPr>
              <a:t> Status reports are saturated with developer terms (Git commits, pull requests, sprint burndowns) that non-technical founders cannot decipher.</a:t>
            </a:r>
          </a:p>
          <a:p>
            <a:pPr marL="288000">
              <a:spcAft>
                <a:spcPts val="110"/>
              </a:spcAft>
              <a:buChar char="•"/>
            </a:pPr>
            <a:r>
              <a:rPr lang="en-US" sz="1200" b="1">
                <a:solidFill>
                  <a:srgbClr val="2563EB"/>
                </a:solidFill>
                <a:latin typeface="Segoe UI"/>
              </a:rPr>
              <a:t>Operational Friction:</a:t>
            </a:r>
            <a:r>
              <a:rPr lang="en-US" sz="1200">
                <a:solidFill>
                  <a:srgbClr val="334155"/>
                </a:solidFill>
                <a:latin typeface="Segoe UI"/>
              </a:rPr>
              <a:t> Agency project managers spend 30-40% of their working hours fielding anxious phone calls and manually translating Jira backlogs.</a:t>
            </a:r>
          </a:p>
          <a:p>
            <a:pPr marL="288000">
              <a:spcAft>
                <a:spcPts val="110"/>
              </a:spcAft>
              <a:buChar char="•"/>
            </a:pPr>
            <a:r>
              <a:rPr lang="en-US" sz="1200" b="1">
                <a:solidFill>
                  <a:srgbClr val="2563EB"/>
                </a:solidFill>
                <a:latin typeface="Segoe UI"/>
              </a:rPr>
              <a:t>Scholarly Foundation:</a:t>
            </a:r>
            <a:r>
              <a:rPr lang="en-US" sz="1200">
                <a:solidFill>
                  <a:srgbClr val="334155"/>
                </a:solidFill>
                <a:latin typeface="Segoe UI"/>
              </a:rPr>
              <a:t> Zhao et al. (2024, p. 2084) establish that project measurement requires structured, transparent indicators for non-technical stakeholders.</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The Interactive Prototype Solution (Assignment 2)</a:t>
            </a:r>
          </a:p>
          <a:p>
            <a:pPr marL="288000">
              <a:spcAft>
                <a:spcPts val="110"/>
              </a:spcAft>
              <a:buChar char="•"/>
            </a:pPr>
            <a:r>
              <a:rPr lang="en-US" sz="1200" b="1">
                <a:solidFill>
                  <a:srgbClr val="2563EB"/>
                </a:solidFill>
                <a:latin typeface="Segoe UI"/>
              </a:rPr>
              <a:t>Ambient Visual Governance:</a:t>
            </a:r>
            <a:r>
              <a:rPr lang="en-US" sz="1200">
                <a:solidFill>
                  <a:srgbClr val="334155"/>
                </a:solidFill>
                <a:latin typeface="Segoe UI"/>
              </a:rPr>
              <a:t> Translates opaque engineering backlogs into glanceable traffic-light metrics and high-level SDLC phases.</a:t>
            </a:r>
          </a:p>
          <a:p>
            <a:pPr marL="288000">
              <a:spcAft>
                <a:spcPts val="110"/>
              </a:spcAft>
              <a:buChar char="•"/>
            </a:pPr>
            <a:r>
              <a:rPr lang="en-US" sz="1200" b="1">
                <a:solidFill>
                  <a:srgbClr val="2563EB"/>
                </a:solidFill>
                <a:latin typeface="Segoe UI"/>
              </a:rPr>
              <a:t>Contextual Deliverable Reviews:</a:t>
            </a:r>
            <a:r>
              <a:rPr lang="en-US" sz="1200">
                <a:solidFill>
                  <a:srgbClr val="334155"/>
                </a:solidFill>
                <a:latin typeface="Segoe UI"/>
              </a:rPr>
              <a:t> Replaces disjointed email chains with an inline discussion thread anchored directly beneath review artefacts.</a:t>
            </a:r>
          </a:p>
          <a:p>
            <a:pPr marL="288000">
              <a:spcAft>
                <a:spcPts val="110"/>
              </a:spcAft>
              <a:buChar char="•"/>
            </a:pPr>
            <a:r>
              <a:rPr lang="en-US" sz="1200" b="1">
                <a:solidFill>
                  <a:srgbClr val="2563EB"/>
                </a:solidFill>
                <a:latin typeface="Segoe UI"/>
              </a:rPr>
              <a:t>Formal Milestone Gates:</a:t>
            </a:r>
            <a:r>
              <a:rPr lang="en-US" sz="1200">
                <a:solidFill>
                  <a:srgbClr val="334155"/>
                </a:solidFill>
                <a:latin typeface="Segoe UI"/>
              </a:rPr>
              <a:t> Eliminates surprise invoices through transparent, two-step legally deliberate milestone sign-offs.</a:t>
            </a:r>
          </a:p>
          <a:p>
            <a:pPr marL="288000">
              <a:spcAft>
                <a:spcPts val="110"/>
              </a:spcAft>
              <a:buChar char="•"/>
            </a:pPr>
            <a:r>
              <a:rPr lang="en-US" sz="1200" b="1">
                <a:solidFill>
                  <a:srgbClr val="2563EB"/>
                </a:solidFill>
                <a:latin typeface="Segoe UI"/>
              </a:rPr>
              <a:t>Canonical Flutter Execution:</a:t>
            </a:r>
            <a:r>
              <a:rPr lang="en-US" sz="1200">
                <a:solidFill>
                  <a:srgbClr val="334155"/>
                </a:solidFill>
                <a:latin typeface="Segoe UI"/>
              </a:rPr>
              <a:t> 100% executable single-file prototype on dartpad.dev with adaptive responsive layouts (&lt;640dp vs &gt;=640dp).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HUMAN-CENTERED DESIGN &amp; EMPIRICAL PERSONA</a:t>
            </a:r>
          </a:p>
          <a:p>
            <a:pPr>
              <a:spcAft>
                <a:spcPts val="40"/>
              </a:spcAft>
              <a:buNone/>
            </a:pPr>
            <a:r>
              <a:rPr lang="en-US" sz="2600" b="1">
                <a:solidFill>
                  <a:srgbClr val="0F172A"/>
                </a:solidFill>
                <a:latin typeface="Segoe UI"/>
              </a:rPr>
              <a:t>Persona: Founder Fred (Fred R.)</a:t>
            </a:r>
          </a:p>
          <a:p>
            <a:pPr>
              <a:buNone/>
            </a:pPr>
            <a:r>
              <a:rPr lang="en-US" sz="1300">
                <a:solidFill>
                  <a:srgbClr val="475569"/>
                </a:solidFill>
                <a:latin typeface="Segoe UI"/>
              </a:rPr>
              <a:t>42-Year-Old Managing Director Requiring Glanceability, Error Prevention &amp; High Contrast</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Demographic Profile &amp; Operational Context</a:t>
            </a:r>
          </a:p>
          <a:p>
            <a:pPr marL="288000">
              <a:spcAft>
                <a:spcPts val="110"/>
              </a:spcAft>
              <a:buChar char="•"/>
            </a:pPr>
            <a:r>
              <a:rPr lang="en-US" sz="1200" b="1">
                <a:solidFill>
                  <a:srgbClr val="2563EB"/>
                </a:solidFill>
                <a:latin typeface="Segoe UI"/>
              </a:rPr>
              <a:t>Name &amp; Title:</a:t>
            </a:r>
            <a:r>
              <a:rPr lang="en-US" sz="1200">
                <a:solidFill>
                  <a:srgbClr val="334155"/>
                </a:solidFill>
                <a:latin typeface="Segoe UI"/>
              </a:rPr>
              <a:t> Fred Rahman ('Fred R.'), Age 42, Managing Director of Retail Venture.</a:t>
            </a:r>
          </a:p>
          <a:p>
            <a:pPr marL="288000">
              <a:spcAft>
                <a:spcPts val="110"/>
              </a:spcAft>
              <a:buChar char="•"/>
            </a:pPr>
            <a:r>
              <a:rPr lang="en-US" sz="1200" b="1">
                <a:solidFill>
                  <a:srgbClr val="2563EB"/>
                </a:solidFill>
                <a:latin typeface="Segoe UI"/>
              </a:rPr>
              <a:t>Technical Literacy:</a:t>
            </a:r>
            <a:r>
              <a:rPr lang="en-US" sz="1200">
                <a:solidFill>
                  <a:srgbClr val="334155"/>
                </a:solidFill>
                <a:latin typeface="Segoe UI"/>
              </a:rPr>
              <a:t> Novice to Intermediate (frequent user of CommBank, Xero, WhatsApp).</a:t>
            </a:r>
          </a:p>
          <a:p>
            <a:pPr marL="288000">
              <a:spcAft>
                <a:spcPts val="110"/>
              </a:spcAft>
              <a:buChar char="•"/>
            </a:pPr>
            <a:r>
              <a:rPr lang="en-US" sz="1200" b="1">
                <a:solidFill>
                  <a:srgbClr val="2563EB"/>
                </a:solidFill>
                <a:latin typeface="Segoe UI"/>
              </a:rPr>
              <a:t>Hardware Ecosystem:</a:t>
            </a:r>
            <a:r>
              <a:rPr lang="en-US" sz="1200">
                <a:solidFill>
                  <a:srgbClr val="334155"/>
                </a:solidFill>
                <a:latin typeface="Segoe UI"/>
              </a:rPr>
              <a:t> Samsung Galaxy A54 (Mid-range Android) &amp; Apple iPad (10th Gen).</a:t>
            </a:r>
          </a:p>
          <a:p>
            <a:pPr marL="288000">
              <a:spcAft>
                <a:spcPts val="110"/>
              </a:spcAft>
              <a:buChar char="•"/>
            </a:pPr>
            <a:r>
              <a:rPr lang="en-US" sz="1200" b="1">
                <a:solidFill>
                  <a:srgbClr val="2563EB"/>
                </a:solidFill>
                <a:latin typeface="Segoe UI"/>
              </a:rPr>
              <a:t>Physical Environment:</a:t>
            </a:r>
            <a:r>
              <a:rPr lang="en-US" sz="1200">
                <a:solidFill>
                  <a:srgbClr val="334155"/>
                </a:solidFill>
                <a:latin typeface="Segoe UI"/>
              </a:rPr>
              <a:t> High-mobility, transit, on-site warehouses, and bright outdoor sunlight.</a:t>
            </a:r>
          </a:p>
          <a:p>
            <a:pPr marL="288000">
              <a:spcAft>
                <a:spcPts val="110"/>
              </a:spcAft>
              <a:buChar char="•"/>
            </a:pPr>
            <a:r>
              <a:rPr lang="en-US" sz="1200" b="1">
                <a:solidFill>
                  <a:srgbClr val="2563EB"/>
                </a:solidFill>
                <a:latin typeface="Segoe UI"/>
              </a:rPr>
              <a:t>Interaction Pattern:</a:t>
            </a:r>
            <a:r>
              <a:rPr lang="en-US" sz="1200">
                <a:solidFill>
                  <a:srgbClr val="334155"/>
                </a:solidFill>
                <a:latin typeface="Segoe UI"/>
              </a:rPr>
              <a:t> Micro-sessions lasting 10 to 60 seconds between managerial tasks.</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Empirical Needs &amp; Persona-Driven Screen Decisions</a:t>
            </a:r>
          </a:p>
          <a:p>
            <a:pPr marL="288000">
              <a:spcAft>
                <a:spcPts val="110"/>
              </a:spcAft>
              <a:buChar char="•"/>
            </a:pPr>
            <a:r>
              <a:rPr lang="en-US" sz="1200" b="1">
                <a:solidFill>
                  <a:srgbClr val="2563EB"/>
                </a:solidFill>
                <a:latin typeface="Segoe UI"/>
              </a:rPr>
              <a:t>Technostress Mitigation:</a:t>
            </a:r>
            <a:r>
              <a:rPr lang="en-US" sz="1200">
                <a:solidFill>
                  <a:srgbClr val="334155"/>
                </a:solidFill>
                <a:latin typeface="Segoe UI"/>
              </a:rPr>
              <a:t> Wang &amp; Yu (2024, p. 3) show technostress causes user disengagement; ElegantLink eliminates all engineering jargon from client screens.</a:t>
            </a:r>
          </a:p>
          <a:p>
            <a:pPr marL="288000">
              <a:spcAft>
                <a:spcPts val="110"/>
              </a:spcAft>
              <a:buChar char="•"/>
            </a:pPr>
            <a:r>
              <a:rPr lang="en-US" sz="1200" b="1">
                <a:solidFill>
                  <a:srgbClr val="2563EB"/>
                </a:solidFill>
                <a:latin typeface="Segoe UI"/>
              </a:rPr>
              <a:t>Outdoor Contrast Compliance:</a:t>
            </a:r>
            <a:r>
              <a:rPr lang="en-US" sz="1200">
                <a:solidFill>
                  <a:srgbClr val="334155"/>
                </a:solidFill>
                <a:latin typeface="Segoe UI"/>
              </a:rPr>
              <a:t> Punsongserm &amp; Suvakunta (2025, p. 21) show mobile legibility collapses under field sunlight; our UI enforces strict WCAG AA &gt;=4.5:1 contrast.</a:t>
            </a:r>
          </a:p>
          <a:p>
            <a:pPr marL="288000">
              <a:spcAft>
                <a:spcPts val="110"/>
              </a:spcAft>
              <a:buChar char="•"/>
            </a:pPr>
            <a:r>
              <a:rPr lang="en-US" sz="1200" b="1">
                <a:solidFill>
                  <a:srgbClr val="2563EB"/>
                </a:solidFill>
                <a:latin typeface="Segoe UI"/>
              </a:rPr>
              <a:t>Accidental Tap Prevention:</a:t>
            </a:r>
            <a:r>
              <a:rPr lang="en-US" sz="1200">
                <a:solidFill>
                  <a:srgbClr val="334155"/>
                </a:solidFill>
                <a:latin typeface="Segoe UI"/>
              </a:rPr>
              <a:t> Fred fears committing binding funds unintentionally; milestone approval features a two-step neutral modal detailing exact billing amounts.</a:t>
            </a:r>
          </a:p>
          <a:p>
            <a:pPr marL="288000">
              <a:spcAft>
                <a:spcPts val="110"/>
              </a:spcAft>
              <a:buChar char="•"/>
            </a:pPr>
            <a:r>
              <a:rPr lang="en-US" sz="1200" b="1">
                <a:solidFill>
                  <a:srgbClr val="2563EB"/>
                </a:solidFill>
                <a:latin typeface="Segoe UI"/>
              </a:rPr>
              <a:t>Glanceable Micro-Usage:</a:t>
            </a:r>
            <a:r>
              <a:rPr lang="en-US" sz="1200">
                <a:solidFill>
                  <a:srgbClr val="334155"/>
                </a:solidFill>
                <a:latin typeface="Segoe UI"/>
              </a:rPr>
              <a:t> Dashboard conveys overall project health in &lt;=10 seconds via ambient traffic-light badges (Green, Amber, 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UML SYSTEM ARCHITECTURE &amp; GOVERNANCE BOUNDARY</a:t>
            </a:r>
          </a:p>
          <a:p>
            <a:pPr>
              <a:spcAft>
                <a:spcPts val="40"/>
              </a:spcAft>
              <a:buNone/>
            </a:pPr>
            <a:r>
              <a:rPr lang="en-US" sz="2600" b="1">
                <a:solidFill>
                  <a:srgbClr val="0F172A"/>
                </a:solidFill>
                <a:latin typeface="Segoe UI"/>
              </a:rPr>
              <a:t>Use Case Diagram (UCD) Specification</a:t>
            </a:r>
          </a:p>
          <a:p>
            <a:pPr>
              <a:buNone/>
            </a:pPr>
            <a:r>
              <a:rPr lang="en-US" sz="1300">
                <a:solidFill>
                  <a:srgbClr val="475569"/>
                </a:solidFill>
                <a:latin typeface="Segoe UI"/>
              </a:rPr>
              <a:t>Technology-Agnostic Goal Abstraction Dividing Client Governance from Agency Project Management</a:t>
            </a:r>
          </a:p>
        </p:txBody>
      </p:sp>
      <p:sp>
        <p:nvSpPr>
          <p:cNvPr id="12" name="LeftCard"/>
          <p:cNvSpPr/>
          <p:nvPr/>
        </p:nvSpPr>
        <p:spPr>
          <a:xfrm>
            <a:off x="600000" y="1800000"/>
            <a:ext cx="56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Architectural Design Principles</a:t>
            </a:r>
          </a:p>
          <a:p>
            <a:pPr marL="288000">
              <a:spcAft>
                <a:spcPts val="100"/>
              </a:spcAft>
              <a:buChar char="•"/>
            </a:pPr>
            <a:r>
              <a:rPr lang="en-US" sz="1200" b="1">
                <a:solidFill>
                  <a:srgbClr val="2563EB"/>
                </a:solidFill>
                <a:latin typeface="Segoe UI"/>
              </a:rPr>
              <a:t>Goal-Oriented Abstraction:</a:t>
            </a:r>
            <a:r>
              <a:rPr lang="en-US" sz="1200">
                <a:solidFill>
                  <a:srgbClr val="334155"/>
                </a:solidFill>
                <a:latin typeface="Segoe UI"/>
              </a:rPr>
              <a:t> Models business capabilities rather than procedural screen clicks.</a:t>
            </a:r>
          </a:p>
          <a:p>
            <a:pPr marL="288000">
              <a:spcAft>
                <a:spcPts val="100"/>
              </a:spcAft>
              <a:buChar char="•"/>
            </a:pPr>
            <a:r>
              <a:rPr lang="en-US" sz="1200" b="1">
                <a:solidFill>
                  <a:srgbClr val="2563EB"/>
                </a:solidFill>
                <a:latin typeface="Segoe UI"/>
              </a:rPr>
              <a:t>Strict System Boundary:</a:t>
            </a:r>
            <a:r>
              <a:rPr lang="en-US" sz="1200">
                <a:solidFill>
                  <a:srgbClr val="334155"/>
                </a:solidFill>
                <a:latin typeface="Segoe UI"/>
              </a:rPr>
              <a:t> Separates external actors (Client Fred R. vs Project Manager James R.).</a:t>
            </a:r>
          </a:p>
          <a:p>
            <a:pPr marL="288000">
              <a:spcAft>
                <a:spcPts val="100"/>
              </a:spcAft>
              <a:buChar char="•"/>
            </a:pPr>
            <a:r>
              <a:rPr lang="en-US" sz="1200" b="1">
                <a:solidFill>
                  <a:srgbClr val="2563EB"/>
                </a:solidFill>
                <a:latin typeface="Segoe UI"/>
              </a:rPr>
              <a:t>Client Goal Cases:</a:t>
            </a:r>
            <a:r>
              <a:rPr lang="en-US" sz="1200">
                <a:solidFill>
                  <a:srgbClr val="334155"/>
                </a:solidFill>
                <a:latin typeface="Segoe UI"/>
              </a:rPr>
              <a:t> UC1 (View Status), UC2 (Review Artefact), UC3 (Approve Milestone), UC4 (Manage Privacy &amp; Data).</a:t>
            </a:r>
          </a:p>
          <a:p>
            <a:pPr marL="288000">
              <a:spcAft>
                <a:spcPts val="100"/>
              </a:spcAft>
              <a:buChar char="•"/>
            </a:pPr>
            <a:r>
              <a:rPr lang="en-US" sz="1200" b="1">
                <a:solidFill>
                  <a:srgbClr val="2563EB"/>
                </a:solidFill>
                <a:latin typeface="Segoe UI"/>
              </a:rPr>
              <a:t>Agency Management Cases:</a:t>
            </a:r>
            <a:r>
              <a:rPr lang="en-US" sz="1200">
                <a:solidFill>
                  <a:srgbClr val="334155"/>
                </a:solidFill>
                <a:latin typeface="Segoe UI"/>
              </a:rPr>
              <a:t> UC5 (Publish Updates), UC6 (Upload Artefacts), UC7 (Respond to Feedback), UC8 (Record Governance Decision).</a:t>
            </a:r>
          </a:p>
          <a:p>
            <a:pPr marL="288000">
              <a:spcAft>
                <a:spcPts val="100"/>
              </a:spcAft>
              <a:buChar char="•"/>
            </a:pPr>
            <a:r>
              <a:rPr lang="en-US" sz="1200" b="1">
                <a:solidFill>
                  <a:srgbClr val="2563EB"/>
                </a:solidFill>
                <a:latin typeface="Segoe UI"/>
              </a:rPr>
              <a:t>Privacy Sovereignty:</a:t>
            </a:r>
            <a:r>
              <a:rPr lang="en-US" sz="1200">
                <a:solidFill>
                  <a:srgbClr val="334155"/>
                </a:solidFill>
                <a:latin typeface="Segoe UI"/>
              </a:rPr>
              <a:t> Privacy management is elevated as a primary first-class use case (UC4).</a:t>
            </a:r>
          </a:p>
        </p:txBody>
      </p:sp>
      <p:pic>
        <p:nvPicPr>
          <p:cNvPr id="13" name="DiagramImg"/>
          <p:cNvPicPr>
            <a:picLocks noChangeAspect="1"/>
          </p:cNvPicPr>
          <p:nvPr/>
        </p:nvPicPr>
        <p:blipFill>
          <a:blip r:embed="rIdDiagram"/>
          <a:stretch>
            <a:fillRect/>
          </a:stretch>
        </p:blipFill>
        <p:spPr>
          <a:xfrm>
            <a:off x="6500000" y="1800000"/>
            <a:ext cx="5000000" cy="4600000"/>
          </a:xfrm>
          <a:prstGeom prst="rect">
            <a:avLst/>
          </a:prstGeom>
          <a:ln w="12700">
            <a:solidFill>
              <a:srgbClr val="CBD5E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USE CASE 1 WALKTHROUGH &amp; ACTIVITY DIAGRAM 1</a:t>
            </a:r>
          </a:p>
          <a:p>
            <a:pPr>
              <a:spcAft>
                <a:spcPts val="40"/>
              </a:spcAft>
              <a:buNone/>
            </a:pPr>
            <a:r>
              <a:rPr lang="en-US" sz="2600" b="1">
                <a:solidFill>
                  <a:srgbClr val="0F172A"/>
                </a:solidFill>
                <a:latin typeface="Segoe UI"/>
              </a:rPr>
              <a:t>View Project Status (AD1 &amp; Dashboard)</a:t>
            </a:r>
          </a:p>
          <a:p>
            <a:pPr>
              <a:buNone/>
            </a:pPr>
            <a:r>
              <a:rPr lang="en-US" sz="1300">
                <a:solidFill>
                  <a:srgbClr val="475569"/>
                </a:solidFill>
                <a:latin typeface="Segoe UI"/>
              </a:rPr>
              <a:t>Ambient Traffic-Light Health, Curated SDLC Stage Progress &amp; Quick Detail Branching</a:t>
            </a:r>
          </a:p>
        </p:txBody>
      </p:sp>
      <p:sp>
        <p:nvSpPr>
          <p:cNvPr id="12" name="LeftCard"/>
          <p:cNvSpPr/>
          <p:nvPr/>
        </p:nvSpPr>
        <p:spPr>
          <a:xfrm>
            <a:off x="600000" y="1800000"/>
            <a:ext cx="56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Prototype Implementation (Screens 2 &amp; 3)</a:t>
            </a:r>
          </a:p>
          <a:p>
            <a:pPr marL="288000">
              <a:spcAft>
                <a:spcPts val="100"/>
              </a:spcAft>
              <a:buChar char="•"/>
            </a:pPr>
            <a:r>
              <a:rPr lang="en-US" sz="1200" b="1">
                <a:solidFill>
                  <a:srgbClr val="2563EB"/>
                </a:solidFill>
                <a:latin typeface="Segoe UI"/>
              </a:rPr>
              <a:t>Ambient Health Card:</a:t>
            </a:r>
            <a:r>
              <a:rPr lang="en-US" sz="1200">
                <a:solidFill>
                  <a:srgbClr val="334155"/>
                </a:solidFill>
                <a:latin typeface="Segoe UI"/>
              </a:rPr>
              <a:t> Displays active health status ('On Track' - Green, Amber, Red) with plain-English summary.</a:t>
            </a:r>
          </a:p>
          <a:p>
            <a:pPr marL="288000">
              <a:spcAft>
                <a:spcPts val="100"/>
              </a:spcAft>
              <a:buChar char="•"/>
            </a:pPr>
            <a:r>
              <a:rPr lang="en-US" sz="1200" b="1">
                <a:solidFill>
                  <a:srgbClr val="2563EB"/>
                </a:solidFill>
                <a:latin typeface="Segoe UI"/>
              </a:rPr>
              <a:t>Active SDLC Stage:</a:t>
            </a:r>
            <a:r>
              <a:rPr lang="en-US" sz="1200">
                <a:solidFill>
                  <a:srgbClr val="334155"/>
                </a:solidFill>
                <a:latin typeface="Segoe UI"/>
              </a:rPr>
              <a:t> Highlights Stage 3 (Core UI Screens) at 65% completion with target delivery date.</a:t>
            </a:r>
          </a:p>
          <a:p>
            <a:pPr marL="288000">
              <a:spcAft>
                <a:spcPts val="100"/>
              </a:spcAft>
              <a:buChar char="•"/>
            </a:pPr>
            <a:r>
              <a:rPr lang="en-US" sz="1200" b="1">
                <a:solidFill>
                  <a:srgbClr val="2563EB"/>
                </a:solidFill>
                <a:latin typeface="Segoe UI"/>
              </a:rPr>
              <a:t>Next Action Callout:</a:t>
            </a:r>
            <a:r>
              <a:rPr lang="en-US" sz="1200">
                <a:solidFill>
                  <a:srgbClr val="334155"/>
                </a:solidFill>
                <a:latin typeface="Segoe UI"/>
              </a:rPr>
              <a:t> Prominent banner alerting Fred to pending deliverable review, eliminating guessing.</a:t>
            </a:r>
          </a:p>
          <a:p>
            <a:pPr marL="288000">
              <a:spcAft>
                <a:spcPts val="100"/>
              </a:spcAft>
              <a:buChar char="•"/>
            </a:pPr>
            <a:r>
              <a:rPr lang="en-US" sz="1200" b="1">
                <a:solidFill>
                  <a:srgbClr val="2563EB"/>
                </a:solidFill>
                <a:latin typeface="Segoe UI"/>
              </a:rPr>
              <a:t>Multi-Entity Swimlanes:</a:t>
            </a:r>
            <a:r>
              <a:rPr lang="en-US" sz="1200">
                <a:solidFill>
                  <a:srgbClr val="334155"/>
                </a:solidFill>
                <a:latin typeface="Segoe UI"/>
              </a:rPr>
              <a:t> AD1 separates Client actions from ElegantLink Service validation in the background.</a:t>
            </a:r>
          </a:p>
          <a:p>
            <a:pPr marL="288000">
              <a:spcAft>
                <a:spcPts val="100"/>
              </a:spcAft>
              <a:buChar char="•"/>
            </a:pPr>
            <a:r>
              <a:rPr lang="en-US" sz="1200" b="1">
                <a:solidFill>
                  <a:srgbClr val="2563EB"/>
                </a:solidFill>
                <a:latin typeface="Segoe UI"/>
              </a:rPr>
              <a:t>Alternative Decision Branch:</a:t>
            </a:r>
            <a:r>
              <a:rPr lang="en-US" sz="1200">
                <a:solidFill>
                  <a:srgbClr val="334155"/>
                </a:solidFill>
                <a:latin typeface="Segoe UI"/>
              </a:rPr>
              <a:t> Fred can glance and immediately exit in 10s, or tap to inspect the 5-stage SDLC breakdown.</a:t>
            </a:r>
          </a:p>
        </p:txBody>
      </p:sp>
      <p:pic>
        <p:nvPicPr>
          <p:cNvPr id="13" name="DiagramImg"/>
          <p:cNvPicPr>
            <a:picLocks noChangeAspect="1"/>
          </p:cNvPicPr>
          <p:nvPr/>
        </p:nvPicPr>
        <p:blipFill>
          <a:blip r:embed="rIdDiagram"/>
          <a:stretch>
            <a:fillRect/>
          </a:stretch>
        </p:blipFill>
        <p:spPr>
          <a:xfrm>
            <a:off x="6500000" y="1800000"/>
            <a:ext cx="5000000" cy="4600000"/>
          </a:xfrm>
          <a:prstGeom prst="rect">
            <a:avLst/>
          </a:prstGeom>
          <a:ln w="12700">
            <a:solidFill>
              <a:srgbClr val="CBD5E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USE CASE 2 WALKTHROUGH &amp; ACTIVITY DIAGRAM 2</a:t>
            </a:r>
          </a:p>
          <a:p>
            <a:pPr>
              <a:spcAft>
                <a:spcPts val="40"/>
              </a:spcAft>
              <a:buNone/>
            </a:pPr>
            <a:r>
              <a:rPr lang="en-US" sz="2600" b="1">
                <a:solidFill>
                  <a:srgbClr val="0F172A"/>
                </a:solidFill>
                <a:latin typeface="Segoe UI"/>
              </a:rPr>
              <a:t>Review Artefact &amp; Feedback Loop (AD2)</a:t>
            </a:r>
          </a:p>
          <a:p>
            <a:pPr>
              <a:buNone/>
            </a:pPr>
            <a:r>
              <a:rPr lang="en-US" sz="1300">
                <a:solidFill>
                  <a:srgbClr val="475569"/>
                </a:solidFill>
                <a:latin typeface="Segoe UI"/>
              </a:rPr>
              <a:t>Contextual Deliverable Gallery, High-Fidelity Mockup Viewer &amp; Verified Discard Logic</a:t>
            </a:r>
          </a:p>
        </p:txBody>
      </p:sp>
      <p:sp>
        <p:nvSpPr>
          <p:cNvPr id="12" name="LeftCard"/>
          <p:cNvSpPr/>
          <p:nvPr/>
        </p:nvSpPr>
        <p:spPr>
          <a:xfrm>
            <a:off x="600000" y="1800000"/>
            <a:ext cx="56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Prototype Implementation (Screens 5 &amp; 6)</a:t>
            </a:r>
          </a:p>
          <a:p>
            <a:pPr marL="288000">
              <a:spcAft>
                <a:spcPts val="100"/>
              </a:spcAft>
              <a:buChar char="•"/>
            </a:pPr>
            <a:r>
              <a:rPr lang="en-US" sz="1200" b="1">
                <a:solidFill>
                  <a:srgbClr val="2563EB"/>
                </a:solidFill>
                <a:latin typeface="Segoe UI"/>
              </a:rPr>
              <a:t>Deliverables Gallery:</a:t>
            </a:r>
            <a:r>
              <a:rPr lang="en-US" sz="1200">
                <a:solidFill>
                  <a:srgbClr val="334155"/>
                </a:solidFill>
                <a:latin typeface="Segoe UI"/>
              </a:rPr>
              <a:t> Filterable grid of review items categorized by UI Screens, Specifications, and APIs.</a:t>
            </a:r>
          </a:p>
          <a:p>
            <a:pPr marL="288000">
              <a:spcAft>
                <a:spcPts val="100"/>
              </a:spcAft>
              <a:buChar char="•"/>
            </a:pPr>
            <a:r>
              <a:rPr lang="en-US" sz="1200" b="1">
                <a:solidFill>
                  <a:srgbClr val="2563EB"/>
                </a:solidFill>
                <a:latin typeface="Segoe UI"/>
              </a:rPr>
              <a:t>Contextual Mockup Viewer:</a:t>
            </a:r>
            <a:r>
              <a:rPr lang="en-US" sz="1200">
                <a:solidFill>
                  <a:srgbClr val="334155"/>
                </a:solidFill>
                <a:latin typeface="Segoe UI"/>
              </a:rPr>
              <a:t> Full-screen deliverable inspection with version tag (v2.1) and approval status pill.</a:t>
            </a:r>
          </a:p>
          <a:p>
            <a:pPr marL="288000">
              <a:spcAft>
                <a:spcPts val="100"/>
              </a:spcAft>
              <a:buChar char="•"/>
            </a:pPr>
            <a:r>
              <a:rPr lang="en-US" sz="1200" b="1">
                <a:solidFill>
                  <a:srgbClr val="2563EB"/>
                </a:solidFill>
                <a:latin typeface="Segoe UI"/>
              </a:rPr>
              <a:t>Anchored Discussion Thread:</a:t>
            </a:r>
            <a:r>
              <a:rPr lang="en-US" sz="1200">
                <a:solidFill>
                  <a:srgbClr val="334155"/>
                </a:solidFill>
                <a:latin typeface="Segoe UI"/>
              </a:rPr>
              <a:t> Chronological chat history displaying messages from James R. (PM) and Fred R. (Client).</a:t>
            </a:r>
          </a:p>
          <a:p>
            <a:pPr marL="288000">
              <a:spcAft>
                <a:spcPts val="100"/>
              </a:spcAft>
              <a:buChar char="•"/>
            </a:pPr>
            <a:r>
              <a:rPr lang="en-US" sz="1200" b="1">
                <a:solidFill>
                  <a:srgbClr val="2563EB"/>
                </a:solidFill>
                <a:latin typeface="Segoe UI"/>
              </a:rPr>
              <a:t>Verified Discard Logic:</a:t>
            </a:r>
            <a:r>
              <a:rPr lang="en-US" sz="1200">
                <a:solidFill>
                  <a:srgbClr val="334155"/>
                </a:solidFill>
                <a:latin typeface="Segoe UI"/>
              </a:rPr>
              <a:t> AD2 decision gate ('Submit Feedback?'): Cancel clears draft safely with SnackBar; Submit logs audit timestamp and updates thread.</a:t>
            </a:r>
          </a:p>
          <a:p>
            <a:pPr marL="288000">
              <a:spcAft>
                <a:spcPts val="100"/>
              </a:spcAft>
              <a:buChar char="•"/>
            </a:pPr>
            <a:r>
              <a:rPr lang="en-US" sz="1200" b="1">
                <a:solidFill>
                  <a:srgbClr val="2563EB"/>
                </a:solidFill>
                <a:latin typeface="Segoe UI"/>
              </a:rPr>
              <a:t>Frictionless Submission:</a:t>
            </a:r>
            <a:r>
              <a:rPr lang="en-US" sz="1200">
                <a:solidFill>
                  <a:srgbClr val="334155"/>
                </a:solidFill>
                <a:latin typeface="Segoe UI"/>
              </a:rPr>
              <a:t> Task completed in under 60 seconds directly below the image, eliminating fragmented emails.</a:t>
            </a:r>
          </a:p>
        </p:txBody>
      </p:sp>
      <p:pic>
        <p:nvPicPr>
          <p:cNvPr id="13" name="DiagramImg"/>
          <p:cNvPicPr>
            <a:picLocks noChangeAspect="1"/>
          </p:cNvPicPr>
          <p:nvPr/>
        </p:nvPicPr>
        <p:blipFill>
          <a:blip r:embed="rIdDiagram"/>
          <a:stretch>
            <a:fillRect/>
          </a:stretch>
        </p:blipFill>
        <p:spPr>
          <a:xfrm>
            <a:off x="6500000" y="1800000"/>
            <a:ext cx="5000000" cy="4600000"/>
          </a:xfrm>
          <a:prstGeom prst="rect">
            <a:avLst/>
          </a:prstGeom>
          <a:ln w="12700">
            <a:solidFill>
              <a:srgbClr val="CBD5E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USE CASE 3 WALKTHROUGH &amp; ACTIVITY DIAGRAM 3</a:t>
            </a:r>
          </a:p>
          <a:p>
            <a:pPr>
              <a:spcAft>
                <a:spcPts val="40"/>
              </a:spcAft>
              <a:buNone/>
            </a:pPr>
            <a:r>
              <a:rPr lang="en-US" sz="2600" b="1">
                <a:solidFill>
                  <a:srgbClr val="0F172A"/>
                </a:solidFill>
                <a:latin typeface="Segoe UI"/>
              </a:rPr>
              <a:t>Milestone Governance &amp; Sign-Off (AD3)</a:t>
            </a:r>
          </a:p>
          <a:p>
            <a:pPr>
              <a:buNone/>
            </a:pPr>
            <a:r>
              <a:rPr lang="en-US" sz="1300">
                <a:solidFill>
                  <a:srgbClr val="475569"/>
                </a:solidFill>
                <a:latin typeface="Segoe UI"/>
              </a:rPr>
              <a:t>Two-Step Neutral Confirmation, Scope Checklist, Revision Form &amp; Digital Certificate</a:t>
            </a:r>
          </a:p>
        </p:txBody>
      </p:sp>
      <p:sp>
        <p:nvSpPr>
          <p:cNvPr id="12" name="LeftCard"/>
          <p:cNvSpPr/>
          <p:nvPr/>
        </p:nvSpPr>
        <p:spPr>
          <a:xfrm>
            <a:off x="600000" y="1800000"/>
            <a:ext cx="56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Prototype Implementation (Screens 7, 8 &amp; 9)</a:t>
            </a:r>
          </a:p>
          <a:p>
            <a:pPr marL="288000">
              <a:spcAft>
                <a:spcPts val="100"/>
              </a:spcAft>
              <a:buChar char="•"/>
            </a:pPr>
            <a:r>
              <a:rPr lang="en-US" sz="1200" b="1">
                <a:solidFill>
                  <a:srgbClr val="2563EB"/>
                </a:solidFill>
                <a:latin typeface="Segoe UI"/>
              </a:rPr>
              <a:t>Commercial Scope Review:</a:t>
            </a:r>
            <a:r>
              <a:rPr lang="en-US" sz="1200">
                <a:solidFill>
                  <a:srgbClr val="334155"/>
                </a:solidFill>
                <a:latin typeface="Segoe UI"/>
              </a:rPr>
              <a:t> Acceptance criteria checklist detailing exact deliverable completion and financial fee ($12,500 AUD).</a:t>
            </a:r>
          </a:p>
          <a:p>
            <a:pPr marL="288000">
              <a:spcAft>
                <a:spcPts val="100"/>
              </a:spcAft>
              <a:buChar char="•"/>
            </a:pPr>
            <a:r>
              <a:rPr lang="en-US" sz="1200" b="1">
                <a:solidFill>
                  <a:srgbClr val="2563EB"/>
                </a:solidFill>
                <a:latin typeface="Segoe UI"/>
              </a:rPr>
              <a:t>Equal-Weight Action Gates:</a:t>
            </a:r>
            <a:r>
              <a:rPr lang="en-US" sz="1200">
                <a:solidFill>
                  <a:srgbClr val="334155"/>
                </a:solidFill>
                <a:latin typeface="Segoe UI"/>
              </a:rPr>
              <a:t> 'Approve Milestone' and 'Request Changes' buttons feature identical visual prominence.</a:t>
            </a:r>
          </a:p>
          <a:p>
            <a:pPr marL="288000">
              <a:spcAft>
                <a:spcPts val="100"/>
              </a:spcAft>
              <a:buChar char="•"/>
            </a:pPr>
            <a:r>
              <a:rPr lang="en-US" sz="1200" b="1">
                <a:solidFill>
                  <a:srgbClr val="2563EB"/>
                </a:solidFill>
                <a:latin typeface="Segoe UI"/>
              </a:rPr>
              <a:t>Two-Step Error Prevention Modal:</a:t>
            </a:r>
            <a:r>
              <a:rPr lang="en-US" sz="1200">
                <a:solidFill>
                  <a:srgbClr val="334155"/>
                </a:solidFill>
                <a:latin typeface="Segoe UI"/>
              </a:rPr>
              <a:t> Tapping Approve triggers a neutral dialog explicitly detailing legally binding invoice liabilities.</a:t>
            </a:r>
          </a:p>
          <a:p>
            <a:pPr marL="288000">
              <a:spcAft>
                <a:spcPts val="100"/>
              </a:spcAft>
              <a:buChar char="•"/>
            </a:pPr>
            <a:r>
              <a:rPr lang="en-US" sz="1200" b="1">
                <a:solidFill>
                  <a:srgbClr val="2563EB"/>
                </a:solidFill>
                <a:latin typeface="Segoe UI"/>
              </a:rPr>
              <a:t>Revision Branch (Screen 8):</a:t>
            </a:r>
            <a:r>
              <a:rPr lang="en-US" sz="1200">
                <a:solidFill>
                  <a:srgbClr val="334155"/>
                </a:solidFill>
                <a:latin typeface="Segoe UI"/>
              </a:rPr>
              <a:t> Tapping Request Changes routes to a structured revision form with specific change categories.</a:t>
            </a:r>
          </a:p>
          <a:p>
            <a:pPr marL="288000">
              <a:spcAft>
                <a:spcPts val="100"/>
              </a:spcAft>
              <a:buChar char="•"/>
            </a:pPr>
            <a:r>
              <a:rPr lang="en-US" sz="1200" b="1">
                <a:solidFill>
                  <a:srgbClr val="2563EB"/>
                </a:solidFill>
                <a:latin typeface="Segoe UI"/>
              </a:rPr>
              <a:t>Digital Certificate (Screen 9):</a:t>
            </a:r>
            <a:r>
              <a:rPr lang="en-US" sz="1200">
                <a:solidFill>
                  <a:srgbClr val="334155"/>
                </a:solidFill>
                <a:latin typeface="Segoe UI"/>
              </a:rPr>
              <a:t> Confirmed sign-off generates an immutable receipt with SHA-256 hash, User ID, and timestamp.</a:t>
            </a:r>
          </a:p>
        </p:txBody>
      </p:sp>
      <p:pic>
        <p:nvPicPr>
          <p:cNvPr id="13" name="DiagramImg"/>
          <p:cNvPicPr>
            <a:picLocks noChangeAspect="1"/>
          </p:cNvPicPr>
          <p:nvPr/>
        </p:nvPicPr>
        <p:blipFill>
          <a:blip r:embed="rIdDiagram"/>
          <a:stretch>
            <a:fillRect/>
          </a:stretch>
        </p:blipFill>
        <p:spPr>
          <a:xfrm>
            <a:off x="6500000" y="1800000"/>
            <a:ext cx="5000000" cy="4600000"/>
          </a:xfrm>
          <a:prstGeom prst="rect">
            <a:avLst/>
          </a:prstGeom>
          <a:ln w="12700">
            <a:solidFill>
              <a:srgbClr val="CBD5E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RESPONSIVE &amp; ADAPTIVE SCREEN ARCHITECTURE</a:t>
            </a:r>
          </a:p>
          <a:p>
            <a:pPr>
              <a:spcAft>
                <a:spcPts val="40"/>
              </a:spcAft>
              <a:buNone/>
            </a:pPr>
            <a:r>
              <a:rPr lang="en-US" sz="2600" b="1">
                <a:solidFill>
                  <a:srgbClr val="0F172A"/>
                </a:solidFill>
                <a:latin typeface="Segoe UI"/>
              </a:rPr>
              <a:t>Canonical Material 3 Responsiveness Proof</a:t>
            </a:r>
          </a:p>
          <a:p>
            <a:pPr>
              <a:buNone/>
            </a:pPr>
            <a:r>
              <a:rPr lang="en-US" sz="1300">
                <a:solidFill>
                  <a:srgbClr val="475569"/>
                </a:solidFill>
                <a:latin typeface="Segoe UI"/>
              </a:rPr>
              <a:t>Dynamic Breakpoint Switching: Bottom NavigationBar (&lt;640dp) to Left NavigationRail (&gt;=640dp)</a:t>
            </a:r>
          </a:p>
        </p:txBody>
      </p:sp>
      <p:sp>
        <p:nvSpPr>
          <p:cNvPr id="12" name="Card_0"/>
          <p:cNvSpPr/>
          <p:nvPr/>
        </p:nvSpPr>
        <p:spPr>
          <a:xfrm>
            <a:off x="6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Compact Viewport (&lt;640dp Phone)</a:t>
            </a:r>
          </a:p>
          <a:p>
            <a:pPr marL="288000">
              <a:spcAft>
                <a:spcPts val="90"/>
              </a:spcAft>
              <a:buChar char="•"/>
            </a:pPr>
            <a:r>
              <a:rPr lang="en-US" sz="1100" b="1">
                <a:solidFill>
                  <a:srgbClr val="2563EB"/>
                </a:solidFill>
                <a:latin typeface="Segoe UI"/>
              </a:rPr>
              <a:t>Hardware Target:</a:t>
            </a:r>
            <a:r>
              <a:rPr lang="en-US" sz="1100">
                <a:solidFill>
                  <a:srgbClr val="334155"/>
                </a:solidFill>
                <a:latin typeface="Segoe UI"/>
              </a:rPr>
              <a:t> Smartphones (Samsung Galaxy A54, iPhone 15) in portrait orientation.</a:t>
            </a:r>
          </a:p>
          <a:p>
            <a:pPr marL="288000">
              <a:spcAft>
                <a:spcPts val="90"/>
              </a:spcAft>
              <a:buChar char="•"/>
            </a:pPr>
            <a:r>
              <a:rPr lang="en-US" sz="1100" b="1">
                <a:solidFill>
                  <a:srgbClr val="2563EB"/>
                </a:solidFill>
                <a:latin typeface="Segoe UI"/>
              </a:rPr>
              <a:t>Navigation Paradigm:</a:t>
            </a:r>
            <a:r>
              <a:rPr lang="en-US" sz="1100">
                <a:solidFill>
                  <a:srgbClr val="334155"/>
                </a:solidFill>
                <a:latin typeface="Segoe UI"/>
              </a:rPr>
              <a:t> Canonical Material 3 Bottom NavigationBar with 4 primary destinations (Dashboard, Projects, Governance, Alerts).</a:t>
            </a:r>
          </a:p>
          <a:p>
            <a:pPr marL="288000">
              <a:spcAft>
                <a:spcPts val="90"/>
              </a:spcAft>
              <a:buChar char="•"/>
            </a:pPr>
            <a:r>
              <a:rPr lang="en-US" sz="1100" b="1">
                <a:solidFill>
                  <a:srgbClr val="2563EB"/>
                </a:solidFill>
                <a:latin typeface="Segoe UI"/>
              </a:rPr>
              <a:t>Ergonomic Thumb Zone:</a:t>
            </a:r>
            <a:r>
              <a:rPr lang="en-US" sz="1100">
                <a:solidFill>
                  <a:srgbClr val="334155"/>
                </a:solidFill>
                <a:latin typeface="Segoe UI"/>
              </a:rPr>
              <a:t> All major navigational touch points reside in bottom 30% of screen for one-handed reach.</a:t>
            </a:r>
          </a:p>
          <a:p>
            <a:pPr marL="288000">
              <a:spcAft>
                <a:spcPts val="90"/>
              </a:spcAft>
              <a:buChar char="•"/>
            </a:pPr>
            <a:r>
              <a:rPr lang="en-US" sz="1100" b="1">
                <a:solidFill>
                  <a:srgbClr val="2563EB"/>
                </a:solidFill>
                <a:latin typeface="Segoe UI"/>
              </a:rPr>
              <a:t>Single-Column Flow:</a:t>
            </a:r>
            <a:r>
              <a:rPr lang="en-US" sz="1100">
                <a:solidFill>
                  <a:srgbClr val="334155"/>
                </a:solidFill>
                <a:latin typeface="Segoe UI"/>
              </a:rPr>
              <a:t> Outlined cards stacked vertically with 16dp horizontal edge margins and dynamic vertical scrolling.</a:t>
            </a:r>
          </a:p>
          <a:p>
            <a:pPr marL="288000">
              <a:spcAft>
                <a:spcPts val="90"/>
              </a:spcAft>
              <a:buChar char="•"/>
            </a:pPr>
            <a:r>
              <a:rPr lang="en-US" sz="1100" b="1">
                <a:solidFill>
                  <a:srgbClr val="2563EB"/>
                </a:solidFill>
                <a:latin typeface="Segoe UI"/>
              </a:rPr>
              <a:t>Touch Target Standards:</a:t>
            </a:r>
            <a:r>
              <a:rPr lang="en-US" sz="1100">
                <a:solidFill>
                  <a:srgbClr val="334155"/>
                </a:solidFill>
                <a:latin typeface="Segoe UI"/>
              </a:rPr>
              <a:t> All buttons and tappable chips meet or exceed 48x48dp minimum touch target.</a:t>
            </a:r>
          </a:p>
        </p:txBody>
      </p:sp>
      <p:sp>
        <p:nvSpPr>
          <p:cNvPr id="13" name="Card_1"/>
          <p:cNvSpPr/>
          <p:nvPr/>
        </p:nvSpPr>
        <p:spPr>
          <a:xfrm>
            <a:off x="43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Medium / Expanded (&gt;=640dp Tablet)</a:t>
            </a:r>
          </a:p>
          <a:p>
            <a:pPr marL="288000">
              <a:spcAft>
                <a:spcPts val="90"/>
              </a:spcAft>
              <a:buChar char="•"/>
            </a:pPr>
            <a:r>
              <a:rPr lang="en-US" sz="1100" b="1">
                <a:solidFill>
                  <a:srgbClr val="2563EB"/>
                </a:solidFill>
                <a:latin typeface="Segoe UI"/>
              </a:rPr>
              <a:t>Hardware Target:</a:t>
            </a:r>
            <a:r>
              <a:rPr lang="en-US" sz="1100">
                <a:solidFill>
                  <a:srgbClr val="334155"/>
                </a:solidFill>
                <a:latin typeface="Segoe UI"/>
              </a:rPr>
              <a:t> Tablets (Apple iPad 10th Gen), foldable devices, and desktop web browsers.</a:t>
            </a:r>
          </a:p>
          <a:p>
            <a:pPr marL="288000">
              <a:spcAft>
                <a:spcPts val="90"/>
              </a:spcAft>
              <a:buChar char="•"/>
            </a:pPr>
            <a:r>
              <a:rPr lang="en-US" sz="1100" b="1">
                <a:solidFill>
                  <a:srgbClr val="2563EB"/>
                </a:solidFill>
                <a:latin typeface="Segoe UI"/>
              </a:rPr>
              <a:t>Navigation Paradigm:</a:t>
            </a:r>
            <a:r>
              <a:rPr lang="en-US" sz="1100">
                <a:solidFill>
                  <a:srgbClr val="334155"/>
                </a:solidFill>
                <a:latin typeface="Segoe UI"/>
              </a:rPr>
              <a:t> Adaptive Left NavigationRail featuring permanent brand header, extended labels, and zero elevation.</a:t>
            </a:r>
          </a:p>
          <a:p>
            <a:pPr marL="288000">
              <a:spcAft>
                <a:spcPts val="90"/>
              </a:spcAft>
              <a:buChar char="•"/>
            </a:pPr>
            <a:r>
              <a:rPr lang="en-US" sz="1100" b="1">
                <a:solidFill>
                  <a:srgbClr val="2563EB"/>
                </a:solidFill>
                <a:latin typeface="Segoe UI"/>
              </a:rPr>
              <a:t>Screen Real Estate:</a:t>
            </a:r>
            <a:r>
              <a:rPr lang="en-US" sz="1100">
                <a:solidFill>
                  <a:srgbClr val="334155"/>
                </a:solidFill>
                <a:latin typeface="Segoe UI"/>
              </a:rPr>
              <a:t> Preserves vertical reading height while utilizing horizontal tablet landscape width.</a:t>
            </a:r>
          </a:p>
          <a:p>
            <a:pPr marL="288000">
              <a:spcAft>
                <a:spcPts val="90"/>
              </a:spcAft>
              <a:buChar char="•"/>
            </a:pPr>
            <a:r>
              <a:rPr lang="en-US" sz="1100" b="1">
                <a:solidFill>
                  <a:srgbClr val="2563EB"/>
                </a:solidFill>
                <a:latin typeface="Segoe UI"/>
              </a:rPr>
              <a:t>Width-Bounded Cards:</a:t>
            </a:r>
            <a:r>
              <a:rPr lang="en-US" sz="1100">
                <a:solidFill>
                  <a:srgbClr val="334155"/>
                </a:solidFill>
                <a:latin typeface="Segoe UI"/>
              </a:rPr>
              <a:t> Uses ConstrainedBox(maxWidth: 800) to prevent awkward full-width card stretching.</a:t>
            </a:r>
          </a:p>
          <a:p>
            <a:pPr marL="288000">
              <a:spcAft>
                <a:spcPts val="90"/>
              </a:spcAft>
              <a:buChar char="•"/>
            </a:pPr>
            <a:r>
              <a:rPr lang="en-US" sz="1100" b="1">
                <a:solidFill>
                  <a:srgbClr val="2563EB"/>
                </a:solidFill>
                <a:latin typeface="Segoe UI"/>
              </a:rPr>
              <a:t>Reflow Mechanics:</a:t>
            </a:r>
            <a:r>
              <a:rPr lang="en-US" sz="1100">
                <a:solidFill>
                  <a:srgbClr val="334155"/>
                </a:solidFill>
                <a:latin typeface="Segoe UI"/>
              </a:rPr>
              <a:t> Multi-column responsive grid layout for metrics and deliverable cards via LayoutBuilder.</a:t>
            </a:r>
          </a:p>
        </p:txBody>
      </p:sp>
      <p:sp>
        <p:nvSpPr>
          <p:cNvPr id="14" name="Card_2"/>
          <p:cNvSpPr/>
          <p:nvPr/>
        </p:nvSpPr>
        <p:spPr>
          <a:xfrm>
            <a:off x="80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DartPad Live Split-Pane Proof</a:t>
            </a:r>
          </a:p>
          <a:p>
            <a:pPr marL="288000">
              <a:spcAft>
                <a:spcPts val="90"/>
              </a:spcAft>
              <a:buChar char="•"/>
            </a:pPr>
            <a:r>
              <a:rPr lang="en-US" sz="1100" b="1">
                <a:solidFill>
                  <a:srgbClr val="2563EB"/>
                </a:solidFill>
                <a:latin typeface="Segoe UI"/>
              </a:rPr>
              <a:t>Live Verification:</a:t>
            </a:r>
            <a:r>
              <a:rPr lang="en-US" sz="1100">
                <a:solidFill>
                  <a:srgbClr val="334155"/>
                </a:solidFill>
                <a:latin typeface="Segoe UI"/>
              </a:rPr>
              <a:t> Interactive split-pane divider in dartpad.dev dragged live between &lt;640dp and &gt;=640dp.</a:t>
            </a:r>
          </a:p>
          <a:p>
            <a:pPr marL="288000">
              <a:spcAft>
                <a:spcPts val="90"/>
              </a:spcAft>
              <a:buChar char="•"/>
            </a:pPr>
            <a:r>
              <a:rPr lang="en-US" sz="1100" b="1">
                <a:solidFill>
                  <a:srgbClr val="2563EB"/>
                </a:solidFill>
                <a:latin typeface="Segoe UI"/>
              </a:rPr>
              <a:t>LayoutBuilder Rebuild:</a:t>
            </a:r>
            <a:r>
              <a:rPr lang="en-US" sz="1100">
                <a:solidFill>
                  <a:srgbClr val="334155"/>
                </a:solidFill>
                <a:latin typeface="Segoe UI"/>
              </a:rPr>
              <a:t> LayoutBuilder(builder: (context, constraints) =&gt; ...) recalculates constraints in real time.</a:t>
            </a:r>
          </a:p>
          <a:p>
            <a:pPr marL="288000">
              <a:spcAft>
                <a:spcPts val="90"/>
              </a:spcAft>
              <a:buChar char="•"/>
            </a:pPr>
            <a:r>
              <a:rPr lang="en-US" sz="1100" b="1">
                <a:solidFill>
                  <a:srgbClr val="2563EB"/>
                </a:solidFill>
                <a:latin typeface="Segoe UI"/>
              </a:rPr>
              <a:t>Zero Page Reloads:</a:t>
            </a:r>
            <a:r>
              <a:rPr lang="en-US" sz="1100">
                <a:solidFill>
                  <a:srgbClr val="334155"/>
                </a:solidFill>
                <a:latin typeface="Segoe UI"/>
              </a:rPr>
              <a:t> Preserves navigation state, tab selection, and form inputs during viewport resizing.</a:t>
            </a:r>
          </a:p>
          <a:p>
            <a:pPr marL="288000">
              <a:spcAft>
                <a:spcPts val="90"/>
              </a:spcAft>
              <a:buChar char="•"/>
            </a:pPr>
            <a:r>
              <a:rPr lang="en-US" sz="1100" b="1">
                <a:solidFill>
                  <a:srgbClr val="2563EB"/>
                </a:solidFill>
                <a:latin typeface="Segoe UI"/>
              </a:rPr>
              <a:t>Zero Layout Overflows:</a:t>
            </a:r>
            <a:r>
              <a:rPr lang="en-US" sz="1100">
                <a:solidFill>
                  <a:srgbClr val="334155"/>
                </a:solidFill>
                <a:latin typeface="Segoe UI"/>
              </a:rPr>
              <a:t> 100% verified layout stability with zero RenderFlex overflow errors across all 11 screens.</a:t>
            </a:r>
          </a:p>
          <a:p>
            <a:pPr marL="288000">
              <a:spcAft>
                <a:spcPts val="90"/>
              </a:spcAft>
              <a:buChar char="•"/>
            </a:pPr>
            <a:r>
              <a:rPr lang="en-US" sz="1100" b="1">
                <a:solidFill>
                  <a:srgbClr val="2563EB"/>
                </a:solidFill>
                <a:latin typeface="Segoe UI"/>
              </a:rPr>
              <a:t>200% Font Scale Stability:</a:t>
            </a:r>
            <a:r>
              <a:rPr lang="en-US" sz="1100">
                <a:solidFill>
                  <a:srgbClr val="334155"/>
                </a:solidFill>
                <a:latin typeface="Segoe UI"/>
              </a:rPr>
              <a:t> Layout structures remain stable and legible at up to 200% operating system text scaling.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MATERIAL 3 COMPONENT MAPPING &amp; GUIDELINES ADHERENCE</a:t>
            </a:r>
          </a:p>
          <a:p>
            <a:pPr>
              <a:spcAft>
                <a:spcPts val="40"/>
              </a:spcAft>
              <a:buNone/>
            </a:pPr>
            <a:r>
              <a:rPr lang="en-US" sz="2600" b="1">
                <a:solidFill>
                  <a:srgbClr val="0F172A"/>
                </a:solidFill>
                <a:latin typeface="Segoe UI"/>
              </a:rPr>
              <a:t>Material 3 Component Mapping Matrix</a:t>
            </a:r>
          </a:p>
          <a:p>
            <a:pPr>
              <a:buNone/>
            </a:pPr>
            <a:r>
              <a:rPr lang="en-US" sz="1300">
                <a:solidFill>
                  <a:srgbClr val="475569"/>
                </a:solidFill>
                <a:latin typeface="Segoe UI"/>
              </a:rPr>
              <a:t>Exhaustive Implementation of Mandated Widgets Aligned with Official Flutter &amp; M3 Guidelines</a:t>
            </a:r>
          </a:p>
        </p:txBody>
      </p:sp>
      <p:sp>
        <p:nvSpPr>
          <p:cNvPr id="12" name="Card_0"/>
          <p:cNvSpPr/>
          <p:nvPr/>
        </p:nvSpPr>
        <p:spPr>
          <a:xfrm>
            <a:off x="6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Navigation &amp; Structure</a:t>
            </a:r>
          </a:p>
          <a:p>
            <a:pPr marL="288000">
              <a:spcAft>
                <a:spcPts val="90"/>
              </a:spcAft>
              <a:buChar char="•"/>
            </a:pPr>
            <a:r>
              <a:rPr lang="en-US" sz="1100" b="1">
                <a:solidFill>
                  <a:srgbClr val="2563EB"/>
                </a:solidFill>
                <a:latin typeface="Segoe UI"/>
              </a:rPr>
              <a:t>AppBar:</a:t>
            </a:r>
            <a:r>
              <a:rPr lang="en-US" sz="1100">
                <a:solidFill>
                  <a:srgbClr val="334155"/>
                </a:solidFill>
                <a:latin typeface="Segoe UI"/>
              </a:rPr>
              <a:t> Centered title (centerTitle: true), surface elevation tint, profile action, and uniform back navigation (Screens 1–11).</a:t>
            </a:r>
          </a:p>
          <a:p>
            <a:pPr marL="288000">
              <a:spcAft>
                <a:spcPts val="90"/>
              </a:spcAft>
              <a:buChar char="•"/>
            </a:pPr>
            <a:r>
              <a:rPr lang="en-US" sz="1100" b="1">
                <a:solidFill>
                  <a:srgbClr val="2563EB"/>
                </a:solidFill>
                <a:latin typeface="Segoe UI"/>
              </a:rPr>
              <a:t>NavBar (NavigationBar):</a:t>
            </a:r>
            <a:r>
              <a:rPr lang="en-US" sz="1100">
                <a:solidFill>
                  <a:srgbClr val="334155"/>
                </a:solidFill>
                <a:latin typeface="Segoe UI"/>
              </a:rPr>
              <a:t> Bottom bar on Compact (&lt;640dp), 4 destinations, filled pill indicators, semantic labels, unbolded inactive state.</a:t>
            </a:r>
          </a:p>
          <a:p>
            <a:pPr marL="288000">
              <a:spcAft>
                <a:spcPts val="90"/>
              </a:spcAft>
              <a:buChar char="•"/>
            </a:pPr>
            <a:r>
              <a:rPr lang="en-US" sz="1100" b="1">
                <a:solidFill>
                  <a:srgbClr val="2563EB"/>
                </a:solidFill>
                <a:latin typeface="Segoe UI"/>
              </a:rPr>
              <a:t>NavigationRail:</a:t>
            </a:r>
            <a:r>
              <a:rPr lang="en-US" sz="1100">
                <a:solidFill>
                  <a:srgbClr val="334155"/>
                </a:solidFill>
                <a:latin typeface="Segoe UI"/>
              </a:rPr>
              <a:t> Left rail on Medium/Expanded (&gt;=640dp), brand logo header, extended labels on tablet, vertical divider, elevation 0.</a:t>
            </a:r>
          </a:p>
          <a:p>
            <a:pPr marL="288000">
              <a:spcAft>
                <a:spcPts val="90"/>
              </a:spcAft>
              <a:buChar char="•"/>
            </a:pPr>
            <a:r>
              <a:rPr lang="en-US" sz="1100" b="1">
                <a:solidFill>
                  <a:srgbClr val="2563EB"/>
                </a:solidFill>
                <a:latin typeface="Segoe UI"/>
              </a:rPr>
              <a:t>Tab (TabBar / TabBarView):</a:t>
            </a:r>
            <a:r>
              <a:rPr lang="en-US" sz="1100">
                <a:solidFill>
                  <a:srgbClr val="334155"/>
                </a:solidFill>
                <a:latin typeface="Segoe UI"/>
              </a:rPr>
              <a:t> Primary pill tabs with smooth animation and nested scroll syncing across project categories (All, Active, Review).</a:t>
            </a:r>
          </a:p>
        </p:txBody>
      </p:sp>
      <p:sp>
        <p:nvSpPr>
          <p:cNvPr id="13" name="Card_1"/>
          <p:cNvSpPr/>
          <p:nvPr/>
        </p:nvSpPr>
        <p:spPr>
          <a:xfrm>
            <a:off x="43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Content, Cards &amp; Lists</a:t>
            </a:r>
          </a:p>
          <a:p>
            <a:pPr marL="288000">
              <a:spcAft>
                <a:spcPts val="90"/>
              </a:spcAft>
              <a:buChar char="•"/>
            </a:pPr>
            <a:r>
              <a:rPr lang="en-US" sz="1100" b="1">
                <a:solidFill>
                  <a:srgbClr val="2563EB"/>
                </a:solidFill>
                <a:latin typeface="Segoe UI"/>
              </a:rPr>
              <a:t>Card:</a:t>
            </a:r>
            <a:r>
              <a:rPr lang="en-US" sz="1100">
                <a:solidFill>
                  <a:srgbClr val="334155"/>
                </a:solidFill>
                <a:latin typeface="Segoe UI"/>
              </a:rPr>
              <a:t> Outlined M3 cards with subtle 1dp border, 16dp radius, strictly zero nested ListViews to avoid double-scroll antipatterns.</a:t>
            </a:r>
          </a:p>
          <a:p>
            <a:pPr marL="288000">
              <a:spcAft>
                <a:spcPts val="90"/>
              </a:spcAft>
              <a:buChar char="•"/>
            </a:pPr>
            <a:r>
              <a:rPr lang="en-US" sz="1100" b="1">
                <a:solidFill>
                  <a:srgbClr val="2563EB"/>
                </a:solidFill>
                <a:latin typeface="Segoe UI"/>
              </a:rPr>
              <a:t>List (ListView / ListTile):</a:t>
            </a:r>
            <a:r>
              <a:rPr lang="en-US" sz="1100">
                <a:solidFill>
                  <a:srgbClr val="334155"/>
                </a:solidFill>
                <a:latin typeface="Segoe UI"/>
              </a:rPr>
              <a:t> Uniform 48dp leading avatars, two-line subtitles, and trailing status pills across backlog and audit logs.</a:t>
            </a:r>
          </a:p>
          <a:p>
            <a:pPr marL="288000">
              <a:spcAft>
                <a:spcPts val="90"/>
              </a:spcAft>
              <a:buChar char="•"/>
            </a:pPr>
            <a:r>
              <a:rPr lang="en-US" sz="1100" b="1">
                <a:solidFill>
                  <a:srgbClr val="2563EB"/>
                </a:solidFill>
                <a:latin typeface="Segoe UI"/>
              </a:rPr>
              <a:t>Carousel (PageView):</a:t>
            </a:r>
            <a:r>
              <a:rPr lang="en-US" sz="1100">
                <a:solidFill>
                  <a:srgbClr val="334155"/>
                </a:solidFill>
                <a:latin typeface="Segoe UI"/>
              </a:rPr>
              <a:t> Swipeable deliverable review cards in Screens 4/5, PageController physics, active dot indicators, page badge.</a:t>
            </a:r>
          </a:p>
          <a:p>
            <a:pPr marL="288000">
              <a:spcAft>
                <a:spcPts val="90"/>
              </a:spcAft>
              <a:buChar char="•"/>
            </a:pPr>
            <a:r>
              <a:rPr lang="en-US" sz="1100" b="1">
                <a:solidFill>
                  <a:srgbClr val="2563EB"/>
                </a:solidFill>
                <a:latin typeface="Segoe UI"/>
              </a:rPr>
              <a:t>Chips &amp; Badges:</a:t>
            </a:r>
            <a:r>
              <a:rPr lang="en-US" sz="1100">
                <a:solidFill>
                  <a:srgbClr val="334155"/>
                </a:solidFill>
                <a:latin typeface="Segoe UI"/>
              </a:rPr>
              <a:t> M3 ActionChip, ChoiceChip, and notification Badge for fast filtering, stage tagging, and unread alert counts.</a:t>
            </a:r>
          </a:p>
        </p:txBody>
      </p:sp>
      <p:sp>
        <p:nvSpPr>
          <p:cNvPr id="14" name="Card_2"/>
          <p:cNvSpPr/>
          <p:nvPr/>
        </p:nvSpPr>
        <p:spPr>
          <a:xfrm>
            <a:off x="80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Input, Dialogs &amp; Actions</a:t>
            </a:r>
          </a:p>
          <a:p>
            <a:pPr marL="288000">
              <a:spcAft>
                <a:spcPts val="90"/>
              </a:spcAft>
              <a:buChar char="•"/>
            </a:pPr>
            <a:r>
              <a:rPr lang="en-US" sz="1100" b="1">
                <a:solidFill>
                  <a:srgbClr val="2563EB"/>
                </a:solidFill>
                <a:latin typeface="Segoe UI"/>
              </a:rPr>
              <a:t>Form &amp; TextFields:</a:t>
            </a:r>
            <a:r>
              <a:rPr lang="en-US" sz="1100">
                <a:solidFill>
                  <a:srgbClr val="334155"/>
                </a:solidFill>
                <a:latin typeface="Segoe UI"/>
              </a:rPr>
              <a:t> M3 Form with GlobalKey validation, RFC regex email validator, password obscure toggle, and 48dp touch targets.</a:t>
            </a:r>
          </a:p>
          <a:p>
            <a:pPr marL="288000">
              <a:spcAft>
                <a:spcPts val="90"/>
              </a:spcAft>
              <a:buChar char="•"/>
            </a:pPr>
            <a:r>
              <a:rPr lang="en-US" sz="1100" b="1">
                <a:solidFill>
                  <a:srgbClr val="2563EB"/>
                </a:solidFill>
                <a:latin typeface="Segoe UI"/>
              </a:rPr>
              <a:t>AlertDialog:</a:t>
            </a:r>
            <a:r>
              <a:rPr lang="en-US" sz="1100">
                <a:solidFill>
                  <a:srgbClr val="334155"/>
                </a:solidFill>
                <a:latin typeface="Segoe UI"/>
              </a:rPr>
              <a:t> Neutral title, two-step confirmation for commercial approvals ($12,500 AUD liability), equal-weight action buttons.</a:t>
            </a:r>
          </a:p>
          <a:p>
            <a:pPr marL="288000">
              <a:spcAft>
                <a:spcPts val="90"/>
              </a:spcAft>
              <a:buChar char="•"/>
            </a:pPr>
            <a:r>
              <a:rPr lang="en-US" sz="1100" b="1">
                <a:solidFill>
                  <a:srgbClr val="2563EB"/>
                </a:solidFill>
                <a:latin typeface="Segoe UI"/>
              </a:rPr>
              <a:t>FAB &amp; SnackBar:</a:t>
            </a:r>
            <a:r>
              <a:rPr lang="en-US" sz="1100">
                <a:solidFill>
                  <a:srgbClr val="334155"/>
                </a:solidFill>
                <a:latin typeface="Segoe UI"/>
              </a:rPr>
              <a:t> Extended FAB for rapid feedback; non-intrusive floating SnackBars with contextual action triggers ('Undo Discard').</a:t>
            </a:r>
          </a:p>
          <a:p>
            <a:pPr marL="288000">
              <a:spcAft>
                <a:spcPts val="90"/>
              </a:spcAft>
              <a:buChar char="•"/>
            </a:pPr>
            <a:r>
              <a:rPr lang="en-US" sz="1100" b="1">
                <a:solidFill>
                  <a:srgbClr val="2563EB"/>
                </a:solidFill>
                <a:latin typeface="Segoe UI"/>
              </a:rPr>
              <a:t>Progress Indicators:</a:t>
            </a:r>
            <a:r>
              <a:rPr lang="en-US" sz="1100">
                <a:solidFill>
                  <a:srgbClr val="334155"/>
                </a:solidFill>
                <a:latin typeface="Segoe UI"/>
              </a:rPr>
              <a:t> LinearProgressIndicator for milestone budget tracking and CircularProgressIndicator for SDLC stage rings.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MOBILE USABILITY HEURISTIC EVALUATION — PART 1</a:t>
            </a:r>
          </a:p>
          <a:p>
            <a:pPr>
              <a:spcAft>
                <a:spcPts val="40"/>
              </a:spcAft>
              <a:buNone/>
            </a:pPr>
            <a:r>
              <a:rPr lang="en-US" sz="2600" b="1">
                <a:solidFill>
                  <a:srgbClr val="0F172A"/>
                </a:solidFill>
                <a:latin typeface="Segoe UI"/>
              </a:rPr>
              <a:t>Heuristics: Micro-Usage &amp; Glanceability</a:t>
            </a:r>
          </a:p>
          <a:p>
            <a:pPr>
              <a:buNone/>
            </a:pPr>
            <a:r>
              <a:rPr lang="en-US" sz="1300">
                <a:solidFill>
                  <a:srgbClr val="475569"/>
                </a:solidFill>
                <a:latin typeface="Segoe UI"/>
              </a:rPr>
              <a:t>Designing for High-Mobility Environments, Low Cognitive Load &amp; Instant Comprehension</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Quick &amp; Easy Interaction (Micro-Usage)</a:t>
            </a:r>
          </a:p>
          <a:p>
            <a:pPr marL="288000">
              <a:spcAft>
                <a:spcPts val="110"/>
              </a:spcAft>
              <a:buChar char="•"/>
            </a:pPr>
            <a:r>
              <a:rPr lang="en-US" sz="1200" b="1">
                <a:solidFill>
                  <a:srgbClr val="2563EB"/>
                </a:solidFill>
                <a:latin typeface="Segoe UI"/>
              </a:rPr>
              <a:t>10 to 60 Second Sessions:</a:t>
            </a:r>
            <a:r>
              <a:rPr lang="en-US" sz="1200">
                <a:solidFill>
                  <a:srgbClr val="334155"/>
                </a:solidFill>
                <a:latin typeface="Segoe UI"/>
              </a:rPr>
              <a:t> Architecture engineered for rapid in-and-out tasks during busy warehouse checks.</a:t>
            </a:r>
          </a:p>
          <a:p>
            <a:pPr marL="288000">
              <a:spcAft>
                <a:spcPts val="110"/>
              </a:spcAft>
              <a:buChar char="•"/>
            </a:pPr>
            <a:r>
              <a:rPr lang="en-US" sz="1200" b="1">
                <a:solidFill>
                  <a:srgbClr val="2563EB"/>
                </a:solidFill>
                <a:latin typeface="Segoe UI"/>
              </a:rPr>
              <a:t>One-Tap Primary Actions:</a:t>
            </a:r>
            <a:r>
              <a:rPr lang="en-US" sz="1200">
                <a:solidFill>
                  <a:srgbClr val="334155"/>
                </a:solidFill>
                <a:latin typeface="Segoe UI"/>
              </a:rPr>
              <a:t> Direct navigation to pending deliverables via high-visibility dashboard callout banners.</a:t>
            </a:r>
          </a:p>
          <a:p>
            <a:pPr marL="288000">
              <a:spcAft>
                <a:spcPts val="110"/>
              </a:spcAft>
              <a:buChar char="•"/>
            </a:pPr>
            <a:r>
              <a:rPr lang="en-US" sz="1200" b="1">
                <a:solidFill>
                  <a:srgbClr val="2563EB"/>
                </a:solidFill>
                <a:latin typeface="Segoe UI"/>
              </a:rPr>
              <a:t>Glanceable Project Status:</a:t>
            </a:r>
            <a:r>
              <a:rPr lang="en-US" sz="1200">
                <a:solidFill>
                  <a:srgbClr val="334155"/>
                </a:solidFill>
                <a:latin typeface="Segoe UI"/>
              </a:rPr>
              <a:t> High-level health conveyed immediately without scrolling or opening nested submenus.</a:t>
            </a:r>
          </a:p>
          <a:p>
            <a:pPr marL="288000">
              <a:spcAft>
                <a:spcPts val="110"/>
              </a:spcAft>
              <a:buChar char="•"/>
            </a:pPr>
            <a:r>
              <a:rPr lang="en-US" sz="1200" b="1">
                <a:solidFill>
                  <a:srgbClr val="2563EB"/>
                </a:solidFill>
                <a:latin typeface="Segoe UI"/>
              </a:rPr>
              <a:t>Zero Intrusive Onboarding:</a:t>
            </a:r>
            <a:r>
              <a:rPr lang="en-US" sz="1200">
                <a:solidFill>
                  <a:srgbClr val="334155"/>
                </a:solidFill>
                <a:latin typeface="Segoe UI"/>
              </a:rPr>
              <a:t> Intuitive visual hierarchy eliminates the need for mandatory multi-step tutorials.</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Readability &amp; Cognitive Load Reduction</a:t>
            </a:r>
          </a:p>
          <a:p>
            <a:pPr marL="288000">
              <a:spcAft>
                <a:spcPts val="110"/>
              </a:spcAft>
              <a:buChar char="•"/>
            </a:pPr>
            <a:r>
              <a:rPr lang="en-US" sz="1200" b="1">
                <a:solidFill>
                  <a:srgbClr val="2563EB"/>
                </a:solidFill>
                <a:latin typeface="Segoe UI"/>
              </a:rPr>
              <a:t>Plain-Language Translation:</a:t>
            </a:r>
            <a:r>
              <a:rPr lang="en-US" sz="1200">
                <a:solidFill>
                  <a:srgbClr val="334155"/>
                </a:solidFill>
                <a:latin typeface="Segoe UI"/>
              </a:rPr>
              <a:t> Internal developer jargon (e.g. Git hashes, staging builds) is translated into commercial milestones.</a:t>
            </a:r>
          </a:p>
          <a:p>
            <a:pPr marL="288000">
              <a:spcAft>
                <a:spcPts val="110"/>
              </a:spcAft>
              <a:buChar char="•"/>
            </a:pPr>
            <a:r>
              <a:rPr lang="en-US" sz="1200" b="1">
                <a:solidFill>
                  <a:srgbClr val="2563EB"/>
                </a:solidFill>
                <a:latin typeface="Segoe UI"/>
              </a:rPr>
              <a:t>Extraneous Load Elimination:</a:t>
            </a:r>
            <a:r>
              <a:rPr lang="en-US" sz="1200">
                <a:solidFill>
                  <a:srgbClr val="334155"/>
                </a:solidFill>
                <a:latin typeface="Segoe UI"/>
              </a:rPr>
              <a:t> Ilany-Tzur &amp; Fink (2023, p. 2446) demonstrated that mobile use impairs performance under high cognitive load; our UI shields Fred from developer churn.</a:t>
            </a:r>
          </a:p>
          <a:p>
            <a:pPr marL="288000">
              <a:spcAft>
                <a:spcPts val="110"/>
              </a:spcAft>
              <a:buChar char="•"/>
            </a:pPr>
            <a:r>
              <a:rPr lang="en-US" sz="1200" b="1">
                <a:solidFill>
                  <a:srgbClr val="2563EB"/>
                </a:solidFill>
                <a:latin typeface="Segoe UI"/>
              </a:rPr>
              <a:t>Visual Metaphor Acceleration:</a:t>
            </a:r>
            <a:r>
              <a:rPr lang="en-US" sz="1200">
                <a:solidFill>
                  <a:srgbClr val="334155"/>
                </a:solidFill>
                <a:latin typeface="Segoe UI"/>
              </a:rPr>
              <a:t> Gatsou et al. (2011, p. 273) proved visual metaphors accelerate novice recognition; we use traffic-light icons and progress rings.</a:t>
            </a:r>
          </a:p>
          <a:p>
            <a:pPr marL="288000">
              <a:spcAft>
                <a:spcPts val="110"/>
              </a:spcAft>
              <a:buChar char="•"/>
            </a:pPr>
            <a:r>
              <a:rPr lang="en-US" sz="1200" b="1">
                <a:solidFill>
                  <a:srgbClr val="2563EB"/>
                </a:solidFill>
                <a:latin typeface="Segoe UI"/>
              </a:rPr>
              <a:t>Progressive Disclosure:</a:t>
            </a:r>
            <a:r>
              <a:rPr lang="en-US" sz="1200">
                <a:solidFill>
                  <a:srgbClr val="334155"/>
                </a:solidFill>
                <a:latin typeface="Segoe UI"/>
              </a:rPr>
              <a:t> Overview presented first; detailed developer notes accessible on demand.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MOBILE USABILITY HEURISTIC EVALUATION — PART 2</a:t>
            </a:r>
          </a:p>
          <a:p>
            <a:pPr>
              <a:spcAft>
                <a:spcPts val="40"/>
              </a:spcAft>
              <a:buNone/>
            </a:pPr>
            <a:r>
              <a:rPr lang="en-US" sz="2600" b="1">
                <a:solidFill>
                  <a:srgbClr val="0F172A"/>
                </a:solidFill>
                <a:latin typeface="Segoe UI"/>
              </a:rPr>
              <a:t>Heuristics: Error Prevention &amp; Consistency</a:t>
            </a:r>
          </a:p>
          <a:p>
            <a:pPr>
              <a:buNone/>
            </a:pPr>
            <a:r>
              <a:rPr lang="en-US" sz="1300">
                <a:solidFill>
                  <a:srgbClr val="475569"/>
                </a:solidFill>
                <a:latin typeface="Segoe UI"/>
              </a:rPr>
              <a:t>Two-Step Commercial Confirmations, Uniform Naming &amp; Outdoor WCAG AA Contrast</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Error Prevention &amp; Reversibility</a:t>
            </a:r>
          </a:p>
          <a:p>
            <a:pPr marL="288000">
              <a:spcAft>
                <a:spcPts val="110"/>
              </a:spcAft>
              <a:buChar char="•"/>
            </a:pPr>
            <a:r>
              <a:rPr lang="en-US" sz="1200" b="1">
                <a:solidFill>
                  <a:srgbClr val="2563EB"/>
                </a:solidFill>
                <a:latin typeface="Segoe UI"/>
              </a:rPr>
              <a:t>Deliberate Milestone Confirmation:</a:t>
            </a:r>
            <a:r>
              <a:rPr lang="en-US" sz="1200">
                <a:solidFill>
                  <a:srgbClr val="334155"/>
                </a:solidFill>
                <a:latin typeface="Segoe UI"/>
              </a:rPr>
              <a:t> Accidental touchscreen taps cannot trigger binding commercial approvals or financial invoicing.</a:t>
            </a:r>
          </a:p>
          <a:p>
            <a:pPr marL="288000">
              <a:spcAft>
                <a:spcPts val="110"/>
              </a:spcAft>
              <a:buChar char="•"/>
            </a:pPr>
            <a:r>
              <a:rPr lang="en-US" sz="1200" b="1">
                <a:solidFill>
                  <a:srgbClr val="2563EB"/>
                </a:solidFill>
                <a:latin typeface="Segoe UI"/>
              </a:rPr>
              <a:t>Two-Step Consequence Dialog:</a:t>
            </a:r>
            <a:r>
              <a:rPr lang="en-US" sz="1200">
                <a:solidFill>
                  <a:srgbClr val="334155"/>
                </a:solidFill>
                <a:latin typeface="Segoe UI"/>
              </a:rPr>
              <a:t> Secondary modal explicitly displays invoice liability ($12,500 AUD) with neutral confirmation choices.</a:t>
            </a:r>
          </a:p>
          <a:p>
            <a:pPr marL="288000">
              <a:spcAft>
                <a:spcPts val="110"/>
              </a:spcAft>
              <a:buChar char="•"/>
            </a:pPr>
            <a:r>
              <a:rPr lang="en-US" sz="1200" b="1">
                <a:solidFill>
                  <a:srgbClr val="2563EB"/>
                </a:solidFill>
                <a:latin typeface="Segoe UI"/>
              </a:rPr>
              <a:t>Discard Draft Protection:</a:t>
            </a:r>
            <a:r>
              <a:rPr lang="en-US" sz="1200">
                <a:solidFill>
                  <a:srgbClr val="334155"/>
                </a:solidFill>
                <a:latin typeface="Segoe UI"/>
              </a:rPr>
              <a:t> AD2 review thread includes explicit confirmation when cancelling draft feedback to prevent lost input.</a:t>
            </a:r>
          </a:p>
          <a:p>
            <a:pPr marL="288000">
              <a:spcAft>
                <a:spcPts val="110"/>
              </a:spcAft>
              <a:buChar char="•"/>
            </a:pPr>
            <a:r>
              <a:rPr lang="en-US" sz="1200" b="1">
                <a:solidFill>
                  <a:srgbClr val="2563EB"/>
                </a:solidFill>
                <a:latin typeface="Segoe UI"/>
              </a:rPr>
              <a:t>Predictable Technical Behavior:</a:t>
            </a:r>
            <a:r>
              <a:rPr lang="en-US" sz="1200">
                <a:solidFill>
                  <a:srgbClr val="334155"/>
                </a:solidFill>
                <a:latin typeface="Segoe UI"/>
              </a:rPr>
              <a:t> Jakob et al. (2022, p. 8) found user retention requires predictable behavior; our app enforces clear confirmation boundaries.</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Consistency, Standards &amp; Accessibility</a:t>
            </a:r>
          </a:p>
          <a:p>
            <a:pPr marL="288000">
              <a:spcAft>
                <a:spcPts val="110"/>
              </a:spcAft>
              <a:buChar char="•"/>
            </a:pPr>
            <a:r>
              <a:rPr lang="en-US" sz="1200" b="1">
                <a:solidFill>
                  <a:srgbClr val="2563EB"/>
                </a:solidFill>
                <a:latin typeface="Segoe UI"/>
              </a:rPr>
              <a:t>Uniform Stakeholder Naming:</a:t>
            </a:r>
            <a:r>
              <a:rPr lang="en-US" sz="1200">
                <a:solidFill>
                  <a:srgbClr val="334155"/>
                </a:solidFill>
                <a:latin typeface="Segoe UI"/>
              </a:rPr>
              <a:t> Consistent First Name + Last Initial format applied across the app (Client: Fred R. [FR], PM: James R. [JR]).</a:t>
            </a:r>
          </a:p>
          <a:p>
            <a:pPr marL="288000">
              <a:spcAft>
                <a:spcPts val="110"/>
              </a:spcAft>
              <a:buChar char="•"/>
            </a:pPr>
            <a:r>
              <a:rPr lang="en-US" sz="1200" b="1">
                <a:solidFill>
                  <a:srgbClr val="2563EB"/>
                </a:solidFill>
                <a:latin typeface="Segoe UI"/>
              </a:rPr>
              <a:t>WCAG 2.1 AA Contrast (&gt;=4.5:1):</a:t>
            </a:r>
            <a:r>
              <a:rPr lang="en-US" sz="1200">
                <a:solidFill>
                  <a:srgbClr val="334155"/>
                </a:solidFill>
                <a:latin typeface="Segoe UI"/>
              </a:rPr>
              <a:t> Punsongserm &amp; Suvakunta (2025, p. 21) proved low contrast causes outdoor legibility failure; all body copy exceeds 4.5:1 contrast.</a:t>
            </a:r>
          </a:p>
          <a:p>
            <a:pPr marL="288000">
              <a:spcAft>
                <a:spcPts val="110"/>
              </a:spcAft>
              <a:buChar char="•"/>
            </a:pPr>
            <a:r>
              <a:rPr lang="en-US" sz="1200" b="1">
                <a:solidFill>
                  <a:srgbClr val="2563EB"/>
                </a:solidFill>
                <a:latin typeface="Segoe UI"/>
              </a:rPr>
              <a:t>Ergonomic Touch Targets:</a:t>
            </a:r>
            <a:r>
              <a:rPr lang="en-US" sz="1200">
                <a:solidFill>
                  <a:srgbClr val="334155"/>
                </a:solidFill>
                <a:latin typeface="Segoe UI"/>
              </a:rPr>
              <a:t> Every tappable control meets or exceeds the canonical 48x48dp minimum touch target.</a:t>
            </a:r>
          </a:p>
          <a:p>
            <a:pPr marL="288000">
              <a:spcAft>
                <a:spcPts val="110"/>
              </a:spcAft>
              <a:buChar char="•"/>
            </a:pPr>
            <a:r>
              <a:rPr lang="en-US" sz="1200" b="1">
                <a:solidFill>
                  <a:srgbClr val="2563EB"/>
                </a:solidFill>
                <a:latin typeface="Segoe UI"/>
              </a:rPr>
              <a:t>Dynamic Font Scaling:</a:t>
            </a:r>
            <a:r>
              <a:rPr lang="en-US" sz="1200">
                <a:solidFill>
                  <a:srgbClr val="334155"/>
                </a:solidFill>
                <a:latin typeface="Segoe UI"/>
              </a:rPr>
              <a:t> Layout structures use flexible wrappers that remain stable up to 200% operating system text scaling.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USABILITY GOALS &amp; EMPIRICAL BENCHMARKS</a:t>
            </a:r>
          </a:p>
          <a:p>
            <a:pPr>
              <a:spcAft>
                <a:spcPts val="40"/>
              </a:spcAft>
              <a:buNone/>
            </a:pPr>
            <a:r>
              <a:rPr lang="en-US" sz="2600" b="1">
                <a:solidFill>
                  <a:srgbClr val="0F172A"/>
                </a:solidFill>
                <a:latin typeface="Segoe UI"/>
              </a:rPr>
              <a:t>Usability Goals &amp; Observable Behaviors</a:t>
            </a:r>
          </a:p>
          <a:p>
            <a:pPr>
              <a:buNone/>
            </a:pPr>
            <a:r>
              <a:rPr lang="en-US" sz="1300">
                <a:solidFill>
                  <a:srgbClr val="475569"/>
                </a:solidFill>
                <a:latin typeface="Segoe UI"/>
              </a:rPr>
              <a:t>Mapping Usability Goals to Working Prototype Capabilities and Evaluation Protocols</a:t>
            </a:r>
          </a:p>
        </p:txBody>
      </p:sp>
      <p:sp>
        <p:nvSpPr>
          <p:cNvPr id="12" name="Card_0"/>
          <p:cNvSpPr/>
          <p:nvPr/>
        </p:nvSpPr>
        <p:spPr>
          <a:xfrm>
            <a:off x="6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Goal 1: Learnability</a:t>
            </a:r>
          </a:p>
          <a:p>
            <a:pPr marL="288000">
              <a:spcAft>
                <a:spcPts val="90"/>
              </a:spcAft>
              <a:buChar char="•"/>
            </a:pPr>
            <a:r>
              <a:rPr lang="en-US" sz="1100" b="1">
                <a:solidFill>
                  <a:srgbClr val="2563EB"/>
                </a:solidFill>
                <a:latin typeface="Segoe UI"/>
              </a:rPr>
              <a:t>Target Benchmark:</a:t>
            </a:r>
            <a:r>
              <a:rPr lang="en-US" sz="1100">
                <a:solidFill>
                  <a:srgbClr val="334155"/>
                </a:solidFill>
                <a:latin typeface="Segoe UI"/>
              </a:rPr>
              <a:t> Active project stage and next required action identified in &lt;= 10 seconds without instructions.</a:t>
            </a:r>
          </a:p>
          <a:p>
            <a:pPr marL="288000">
              <a:spcAft>
                <a:spcPts val="90"/>
              </a:spcAft>
              <a:buChar char="•"/>
            </a:pPr>
            <a:r>
              <a:rPr lang="en-US" sz="1100" b="1">
                <a:solidFill>
                  <a:srgbClr val="2563EB"/>
                </a:solidFill>
                <a:latin typeface="Segoe UI"/>
              </a:rPr>
              <a:t>Persona Rationale:</a:t>
            </a:r>
            <a:r>
              <a:rPr lang="en-US" sz="1100">
                <a:solidFill>
                  <a:srgbClr val="334155"/>
                </a:solidFill>
                <a:latin typeface="Segoe UI"/>
              </a:rPr>
              <a:t> Fred operates under time pressure and avoids lengthy help manuals.</a:t>
            </a:r>
          </a:p>
          <a:p>
            <a:pPr marL="288000">
              <a:spcAft>
                <a:spcPts val="90"/>
              </a:spcAft>
              <a:buChar char="•"/>
            </a:pPr>
            <a:r>
              <a:rPr lang="en-US" sz="1100" b="1">
                <a:solidFill>
                  <a:srgbClr val="2563EB"/>
                </a:solidFill>
                <a:latin typeface="Segoe UI"/>
              </a:rPr>
              <a:t>Evaluation Protocol:</a:t>
            </a:r>
            <a:r>
              <a:rPr lang="en-US" sz="1100">
                <a:solidFill>
                  <a:srgbClr val="334155"/>
                </a:solidFill>
                <a:latin typeface="Segoe UI"/>
              </a:rPr>
              <a:t> Cold app launch to correct verbal description across 5 test participants; pass target &gt;= 90% accuracy.</a:t>
            </a:r>
          </a:p>
        </p:txBody>
      </p:sp>
      <p:sp>
        <p:nvSpPr>
          <p:cNvPr id="13" name="Card_1"/>
          <p:cNvSpPr/>
          <p:nvPr/>
        </p:nvSpPr>
        <p:spPr>
          <a:xfrm>
            <a:off x="43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Goals 2 &amp; 3: Efficiency &amp; Error</a:t>
            </a:r>
          </a:p>
          <a:p>
            <a:pPr marL="288000">
              <a:spcAft>
                <a:spcPts val="90"/>
              </a:spcAft>
              <a:buChar char="•"/>
            </a:pPr>
            <a:r>
              <a:rPr lang="en-US" sz="1100" b="1">
                <a:solidFill>
                  <a:srgbClr val="2563EB"/>
                </a:solidFill>
                <a:latin typeface="Segoe UI"/>
              </a:rPr>
              <a:t>Goal 2 (Efficiency):</a:t>
            </a:r>
            <a:r>
              <a:rPr lang="en-US" sz="1100">
                <a:solidFill>
                  <a:srgbClr val="334155"/>
                </a:solidFill>
                <a:latin typeface="Segoe UI"/>
              </a:rPr>
              <a:t> Contextual feedback submitted in &lt;= 60 seconds (&gt;= 40% faster than email chains).</a:t>
            </a:r>
          </a:p>
          <a:p>
            <a:pPr marL="288000">
              <a:spcAft>
                <a:spcPts val="90"/>
              </a:spcAft>
              <a:buChar char="•"/>
            </a:pPr>
            <a:r>
              <a:rPr lang="en-US" sz="1100" b="1">
                <a:solidFill>
                  <a:srgbClr val="2563EB"/>
                </a:solidFill>
                <a:latin typeface="Segoe UI"/>
              </a:rPr>
              <a:t>Evaluation Protocol:</a:t>
            </a:r>
            <a:r>
              <a:rPr lang="en-US" sz="1100">
                <a:solidFill>
                  <a:srgbClr val="334155"/>
                </a:solidFill>
                <a:latin typeface="Segoe UI"/>
              </a:rPr>
              <a:t> Timed comparative benchmark (Email vs ElegantLink) logging elapsed seconds and tap count.</a:t>
            </a:r>
          </a:p>
          <a:p>
            <a:pPr marL="288000">
              <a:spcAft>
                <a:spcPts val="90"/>
              </a:spcAft>
              <a:buChar char="•"/>
            </a:pPr>
            <a:r>
              <a:rPr lang="en-US" sz="1100" b="1">
                <a:solidFill>
                  <a:srgbClr val="2563EB"/>
                </a:solidFill>
                <a:latin typeface="Segoe UI"/>
              </a:rPr>
              <a:t>Goal 3 (Error Prevention):</a:t>
            </a:r>
            <a:r>
              <a:rPr lang="en-US" sz="1100">
                <a:solidFill>
                  <a:srgbClr val="334155"/>
                </a:solidFill>
                <a:latin typeface="Segoe UI"/>
              </a:rPr>
              <a:t> Exactly zero unintended milestone approvals (0% accidental error rate across 20 trials).</a:t>
            </a:r>
          </a:p>
        </p:txBody>
      </p:sp>
      <p:sp>
        <p:nvSpPr>
          <p:cNvPr id="14" name="Card_2"/>
          <p:cNvSpPr/>
          <p:nvPr/>
        </p:nvSpPr>
        <p:spPr>
          <a:xfrm>
            <a:off x="80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Goals 4 &amp; 5: SUS &amp; Access</a:t>
            </a:r>
          </a:p>
          <a:p>
            <a:pPr marL="288000">
              <a:spcAft>
                <a:spcPts val="90"/>
              </a:spcAft>
              <a:buChar char="•"/>
            </a:pPr>
            <a:r>
              <a:rPr lang="en-US" sz="1100" b="1">
                <a:solidFill>
                  <a:srgbClr val="2563EB"/>
                </a:solidFill>
                <a:latin typeface="Segoe UI"/>
              </a:rPr>
              <a:t>Goal 4 (Satisfaction):</a:t>
            </a:r>
            <a:r>
              <a:rPr lang="en-US" sz="1100">
                <a:solidFill>
                  <a:srgbClr val="334155"/>
                </a:solidFill>
                <a:latin typeface="Segoe UI"/>
              </a:rPr>
              <a:t> Mean System Usability Scale (SUS) score &gt;= 68 (Above Average); &gt;= 80% transparency rating.</a:t>
            </a:r>
          </a:p>
          <a:p>
            <a:pPr marL="288000">
              <a:spcAft>
                <a:spcPts val="90"/>
              </a:spcAft>
              <a:buChar char="•"/>
            </a:pPr>
            <a:r>
              <a:rPr lang="en-US" sz="1100" b="1">
                <a:solidFill>
                  <a:srgbClr val="2563EB"/>
                </a:solidFill>
                <a:latin typeface="Segoe UI"/>
              </a:rPr>
              <a:t>Goal 5 (Accessibility):</a:t>
            </a:r>
            <a:r>
              <a:rPr lang="en-US" sz="1100">
                <a:solidFill>
                  <a:srgbClr val="334155"/>
                </a:solidFill>
                <a:latin typeface="Segoe UI"/>
              </a:rPr>
              <a:t> Strict WCAG 2.1 AA contrast (&gt;=4.5:1) and layout integrity maintained at 200% font scaling.</a:t>
            </a:r>
          </a:p>
          <a:p>
            <a:pPr marL="288000">
              <a:spcAft>
                <a:spcPts val="90"/>
              </a:spcAft>
              <a:buChar char="•"/>
            </a:pPr>
            <a:r>
              <a:rPr lang="en-US" sz="1100" b="1">
                <a:solidFill>
                  <a:srgbClr val="2563EB"/>
                </a:solidFill>
                <a:latin typeface="Segoe UI"/>
              </a:rPr>
              <a:t>Evaluation Protocol:</a:t>
            </a:r>
            <a:r>
              <a:rPr lang="en-US" sz="1100">
                <a:solidFill>
                  <a:srgbClr val="334155"/>
                </a:solidFill>
                <a:latin typeface="Segoe UI"/>
              </a:rPr>
              <a:t> Automated contrast scanner and think-aloud usability testing under simulated glare.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DATA GOVERNANCE &amp; PRIVACY ARCHITECTURE</a:t>
            </a:r>
          </a:p>
          <a:p>
            <a:pPr>
              <a:spcAft>
                <a:spcPts val="40"/>
              </a:spcAft>
              <a:buNone/>
            </a:pPr>
            <a:r>
              <a:rPr lang="en-US" sz="2600" b="1">
                <a:solidFill>
                  <a:srgbClr val="0F172A"/>
                </a:solidFill>
                <a:latin typeface="Segoe UI"/>
              </a:rPr>
              <a:t>Data Flow Diagram (DFD) Specification</a:t>
            </a:r>
          </a:p>
          <a:p>
            <a:pPr>
              <a:buNone/>
            </a:pPr>
            <a:r>
              <a:rPr lang="en-US" sz="1300">
                <a:solidFill>
                  <a:srgbClr val="475569"/>
                </a:solidFill>
                <a:latin typeface="Segoe UI"/>
              </a:rPr>
              <a:t>Architectural Privacy Boundaries, Role Validation &amp; Australian Sovereign Encrypted Stores</a:t>
            </a:r>
          </a:p>
        </p:txBody>
      </p:sp>
      <p:sp>
        <p:nvSpPr>
          <p:cNvPr id="12" name="LeftCard"/>
          <p:cNvSpPr/>
          <p:nvPr/>
        </p:nvSpPr>
        <p:spPr>
          <a:xfrm>
            <a:off x="600000" y="1800000"/>
            <a:ext cx="56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Architectural Data Processes</a:t>
            </a:r>
          </a:p>
          <a:p>
            <a:pPr marL="288000">
              <a:spcAft>
                <a:spcPts val="100"/>
              </a:spcAft>
              <a:buChar char="•"/>
            </a:pPr>
            <a:r>
              <a:rPr lang="en-US" sz="1200" b="1">
                <a:solidFill>
                  <a:srgbClr val="2563EB"/>
                </a:solidFill>
                <a:latin typeface="Segoe UI"/>
              </a:rPr>
              <a:t>P1.0 Consent Management:</a:t>
            </a:r>
            <a:r>
              <a:rPr lang="en-US" sz="1200">
                <a:solidFill>
                  <a:srgbClr val="334155"/>
                </a:solidFill>
                <a:latin typeface="Segoe UI"/>
              </a:rPr>
              <a:t> Captures granular, unbundled opt-in preferences for telemetry and notifications.</a:t>
            </a:r>
          </a:p>
          <a:p>
            <a:pPr marL="288000">
              <a:spcAft>
                <a:spcPts val="100"/>
              </a:spcAft>
              <a:buChar char="•"/>
            </a:pPr>
            <a:r>
              <a:rPr lang="en-US" sz="1200" b="1">
                <a:solidFill>
                  <a:srgbClr val="2563EB"/>
                </a:solidFill>
                <a:latin typeface="Segoe UI"/>
              </a:rPr>
              <a:t>P2.0 Access Control:</a:t>
            </a:r>
            <a:r>
              <a:rPr lang="en-US" sz="1200">
                <a:solidFill>
                  <a:srgbClr val="334155"/>
                </a:solidFill>
                <a:latin typeface="Segoe UI"/>
              </a:rPr>
              <a:t> Enforces multi-factor authentication and token-based role verification.</a:t>
            </a:r>
          </a:p>
          <a:p>
            <a:pPr marL="288000">
              <a:spcAft>
                <a:spcPts val="100"/>
              </a:spcAft>
              <a:buChar char="•"/>
            </a:pPr>
            <a:r>
              <a:rPr lang="en-US" sz="1200" b="1">
                <a:solidFill>
                  <a:srgbClr val="2563EB"/>
                </a:solidFill>
                <a:latin typeface="Segoe UI"/>
              </a:rPr>
              <a:t>P3.0 Curated Status Processing:</a:t>
            </a:r>
            <a:r>
              <a:rPr lang="en-US" sz="1200">
                <a:solidFill>
                  <a:srgbClr val="334155"/>
                </a:solidFill>
                <a:latin typeface="Segoe UI"/>
              </a:rPr>
              <a:t> Sanitizes raw internal developer data before serving to client devices.</a:t>
            </a:r>
          </a:p>
          <a:p>
            <a:pPr marL="288000">
              <a:spcAft>
                <a:spcPts val="100"/>
              </a:spcAft>
              <a:buChar char="•"/>
            </a:pPr>
            <a:r>
              <a:rPr lang="en-US" sz="1200" b="1">
                <a:solidFill>
                  <a:srgbClr val="2563EB"/>
                </a:solidFill>
                <a:latin typeface="Segoe UI"/>
              </a:rPr>
              <a:t>P4.0 Governance Processing:</a:t>
            </a:r>
            <a:r>
              <a:rPr lang="en-US" sz="1200">
                <a:solidFill>
                  <a:srgbClr val="334155"/>
                </a:solidFill>
                <a:latin typeface="Segoe UI"/>
              </a:rPr>
              <a:t> Attaches immutable cryptographic audit timestamps to approvals and feedback.</a:t>
            </a:r>
          </a:p>
          <a:p>
            <a:pPr marL="288000">
              <a:spcAft>
                <a:spcPts val="100"/>
              </a:spcAft>
              <a:buChar char="•"/>
            </a:pPr>
            <a:r>
              <a:rPr lang="en-US" sz="1200" b="1">
                <a:solidFill>
                  <a:srgbClr val="2563EB"/>
                </a:solidFill>
                <a:latin typeface="Segoe UI"/>
              </a:rPr>
              <a:t>P5.0 De-identification Pipeline:</a:t>
            </a:r>
            <a:r>
              <a:rPr lang="en-US" sz="1200">
                <a:solidFill>
                  <a:srgbClr val="334155"/>
                </a:solidFill>
                <a:latin typeface="Segoe UI"/>
              </a:rPr>
              <a:t> Strips all PII from raw diagnostic events before passing to analytical stores.</a:t>
            </a:r>
          </a:p>
          <a:p>
            <a:pPr marL="288000">
              <a:spcAft>
                <a:spcPts val="100"/>
              </a:spcAft>
              <a:buChar char="•"/>
            </a:pPr>
            <a:r>
              <a:rPr lang="en-US" sz="1200" b="1">
                <a:solidFill>
                  <a:srgbClr val="2563EB"/>
                </a:solidFill>
                <a:latin typeface="Segoe UI"/>
              </a:rPr>
              <a:t>Encrypted Stores (AES-256):</a:t>
            </a:r>
            <a:r>
              <a:rPr lang="en-US" sz="1200">
                <a:solidFill>
                  <a:srgbClr val="334155"/>
                </a:solidFill>
                <a:latin typeface="Segoe UI"/>
              </a:rPr>
              <a:t> D1 (Consent), D2 (Milestones), D3 (Audit Log), D4 (De-identified Analytics).</a:t>
            </a:r>
          </a:p>
        </p:txBody>
      </p:sp>
      <p:pic>
        <p:nvPicPr>
          <p:cNvPr id="13" name="DiagramImg"/>
          <p:cNvPicPr>
            <a:picLocks noChangeAspect="1"/>
          </p:cNvPicPr>
          <p:nvPr/>
        </p:nvPicPr>
        <p:blipFill>
          <a:blip r:embed="rIdDiagram"/>
          <a:stretch>
            <a:fillRect/>
          </a:stretch>
        </p:blipFill>
        <p:spPr>
          <a:xfrm>
            <a:off x="6500000" y="1800000"/>
            <a:ext cx="5000000" cy="4600000"/>
          </a:xfrm>
          <a:prstGeom prst="rect">
            <a:avLst/>
          </a:prstGeom>
          <a:ln w="12700">
            <a:solidFill>
              <a:srgbClr val="CBD5E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ETHICAL COMPLIANCE &amp; PRIVACY PRINCIPLES</a:t>
            </a:r>
          </a:p>
          <a:p>
            <a:pPr>
              <a:spcAft>
                <a:spcPts val="40"/>
              </a:spcAft>
              <a:buNone/>
            </a:pPr>
            <a:r>
              <a:rPr lang="en-US" sz="2600" b="1">
                <a:solidFill>
                  <a:srgbClr val="0F172A"/>
                </a:solidFill>
                <a:latin typeface="Segoe UI"/>
              </a:rPr>
              <a:t>Australian Privacy Principles &amp; CASFUD</a:t>
            </a:r>
          </a:p>
          <a:p>
            <a:pPr>
              <a:buNone/>
            </a:pPr>
            <a:r>
              <a:rPr lang="en-US" sz="1300">
                <a:solidFill>
                  <a:srgbClr val="475569"/>
                </a:solidFill>
                <a:latin typeface="Segoe UI"/>
              </a:rPr>
              <a:t>Informed Consent, Anonymity, Defense-in-Depth Security &amp; Client Data Sovereignty</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Informed Consent &amp; Anonymity (C &amp; A)</a:t>
            </a:r>
          </a:p>
          <a:p>
            <a:pPr marL="288000">
              <a:spcAft>
                <a:spcPts val="110"/>
              </a:spcAft>
              <a:buChar char="•"/>
            </a:pPr>
            <a:r>
              <a:rPr lang="en-US" sz="1200" b="1">
                <a:solidFill>
                  <a:srgbClr val="2563EB"/>
                </a:solidFill>
                <a:latin typeface="Segoe UI"/>
              </a:rPr>
              <a:t>C — Informed Consent (APP 1, APP 5):</a:t>
            </a:r>
            <a:r>
              <a:rPr lang="en-US" sz="1200">
                <a:solidFill>
                  <a:srgbClr val="334155"/>
                </a:solidFill>
                <a:latin typeface="Segoe UI"/>
              </a:rPr>
              <a:t> LaMonica et al. (2021, p. 5) demonstrated that dense legalistic policies destroy genuine informed consent; ElegantLink features layered, plain-language in-app consent sheets.</a:t>
            </a:r>
          </a:p>
          <a:p>
            <a:pPr marL="288000">
              <a:spcAft>
                <a:spcPts val="110"/>
              </a:spcAft>
              <a:buChar char="•"/>
            </a:pPr>
            <a:r>
              <a:rPr lang="en-US" sz="1200" b="1">
                <a:solidFill>
                  <a:srgbClr val="2563EB"/>
                </a:solidFill>
                <a:latin typeface="Segoe UI"/>
              </a:rPr>
              <a:t>Unbundled Opt-In Controls:</a:t>
            </a:r>
            <a:r>
              <a:rPr lang="en-US" sz="1200">
                <a:solidFill>
                  <a:srgbClr val="334155"/>
                </a:solidFill>
                <a:latin typeface="Segoe UI"/>
              </a:rPr>
              <a:t> Granular toggles allow Fred to approve critical governance alerts while declining secondary telemetry.</a:t>
            </a:r>
          </a:p>
          <a:p>
            <a:pPr marL="288000">
              <a:spcAft>
                <a:spcPts val="110"/>
              </a:spcAft>
              <a:buChar char="•"/>
            </a:pPr>
            <a:r>
              <a:rPr lang="en-US" sz="1200" b="1">
                <a:solidFill>
                  <a:srgbClr val="2563EB"/>
                </a:solidFill>
                <a:latin typeface="Segoe UI"/>
              </a:rPr>
              <a:t>A — Anonymity &amp; Pseudonymity (APP 2):</a:t>
            </a:r>
            <a:r>
              <a:rPr lang="en-US" sz="1200">
                <a:solidFill>
                  <a:srgbClr val="334155"/>
                </a:solidFill>
                <a:latin typeface="Segoe UI"/>
              </a:rPr>
              <a:t> While formal contracts require verified identity, all diagnostic analytics are irreversibly anonymized.</a:t>
            </a:r>
          </a:p>
          <a:p>
            <a:pPr marL="288000">
              <a:spcAft>
                <a:spcPts val="110"/>
              </a:spcAft>
              <a:buChar char="•"/>
            </a:pPr>
            <a:r>
              <a:rPr lang="en-US" sz="1200" b="1">
                <a:solidFill>
                  <a:srgbClr val="2563EB"/>
                </a:solidFill>
                <a:latin typeface="Segoe UI"/>
              </a:rPr>
              <a:t>Zero Commercial Tracking:</a:t>
            </a:r>
            <a:r>
              <a:rPr lang="en-US" sz="1200">
                <a:solidFill>
                  <a:srgbClr val="334155"/>
                </a:solidFill>
                <a:latin typeface="Segoe UI"/>
              </a:rPr>
              <a:t> Third-party tracking SDKs and cross-app advertising identifiers are strictly banned.</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Security &amp; Freedom / User Control (S &amp; F/UD)</a:t>
            </a:r>
          </a:p>
          <a:p>
            <a:pPr marL="288000">
              <a:spcAft>
                <a:spcPts val="110"/>
              </a:spcAft>
              <a:buChar char="•"/>
            </a:pPr>
            <a:r>
              <a:rPr lang="en-US" sz="1200" b="1">
                <a:solidFill>
                  <a:srgbClr val="2563EB"/>
                </a:solidFill>
                <a:latin typeface="Segoe UI"/>
              </a:rPr>
              <a:t>S — Security of Data (APP 11):</a:t>
            </a:r>
            <a:r>
              <a:rPr lang="en-US" sz="1200">
                <a:solidFill>
                  <a:srgbClr val="334155"/>
                </a:solidFill>
                <a:latin typeface="Segoe UI"/>
              </a:rPr>
              <a:t> Dahiya et al. (2024, p. 3) emphasized defense-in-depth against mobile data interception; all data uses TLS 1.3 in transit and AES-256 at rest in Australian sovereign clouds.</a:t>
            </a:r>
          </a:p>
          <a:p>
            <a:pPr marL="288000">
              <a:spcAft>
                <a:spcPts val="110"/>
              </a:spcAft>
              <a:buChar char="•"/>
            </a:pPr>
            <a:r>
              <a:rPr lang="en-US" sz="1200" b="1">
                <a:solidFill>
                  <a:srgbClr val="2563EB"/>
                </a:solidFill>
                <a:latin typeface="Segoe UI"/>
              </a:rPr>
              <a:t>Biometric Authentication:</a:t>
            </a:r>
            <a:r>
              <a:rPr lang="en-US" sz="1200">
                <a:solidFill>
                  <a:srgbClr val="334155"/>
                </a:solidFill>
                <a:latin typeface="Segoe UI"/>
              </a:rPr>
              <a:t> Secure hardware enclave integration (Face ID / Fingerprint) protects unauthorized device access.</a:t>
            </a:r>
          </a:p>
          <a:p>
            <a:pPr marL="288000">
              <a:spcAft>
                <a:spcPts val="110"/>
              </a:spcAft>
              <a:buChar char="•"/>
            </a:pPr>
            <a:r>
              <a:rPr lang="en-US" sz="1200" b="1">
                <a:solidFill>
                  <a:srgbClr val="2563EB"/>
                </a:solidFill>
                <a:latin typeface="Segoe UI"/>
              </a:rPr>
              <a:t>F / UD — User Data Sovereignty (APP 12, 13):</a:t>
            </a:r>
            <a:r>
              <a:rPr lang="en-US" sz="1200">
                <a:solidFill>
                  <a:srgbClr val="334155"/>
                </a:solidFill>
                <a:latin typeface="Segoe UI"/>
              </a:rPr>
              <a:t> In-app Privacy Sheet allows Fred to review stored profile data, export signed certificates, and request deletion upon project completion.</a:t>
            </a:r>
          </a:p>
          <a:p>
            <a:pPr marL="288000">
              <a:spcAft>
                <a:spcPts val="110"/>
              </a:spcAft>
              <a:buChar char="•"/>
            </a:pPr>
            <a:r>
              <a:rPr lang="en-US" sz="1200" b="1">
                <a:solidFill>
                  <a:srgbClr val="2563EB"/>
                </a:solidFill>
                <a:latin typeface="Segoe UI"/>
              </a:rPr>
              <a:t>Complete Transparency:</a:t>
            </a:r>
            <a:r>
              <a:rPr lang="en-US" sz="1200">
                <a:solidFill>
                  <a:srgbClr val="334155"/>
                </a:solidFill>
                <a:latin typeface="Segoe UI"/>
              </a:rPr>
              <a:t> Full audit log accessible directly from the app's Governance tab.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ETHICAL DESIGN &amp; AUTONOMY PRESERVATION</a:t>
            </a:r>
          </a:p>
          <a:p>
            <a:pPr>
              <a:spcAft>
                <a:spcPts val="40"/>
              </a:spcAft>
              <a:buNone/>
            </a:pPr>
            <a:r>
              <a:rPr lang="en-US" sz="2600" b="1">
                <a:solidFill>
                  <a:srgbClr val="0F172A"/>
                </a:solidFill>
                <a:latin typeface="Segoe UI"/>
              </a:rPr>
              <a:t>Rejecting Mobile Dark Patterns</a:t>
            </a:r>
          </a:p>
          <a:p>
            <a:pPr>
              <a:buNone/>
            </a:pPr>
            <a:r>
              <a:rPr lang="en-US" sz="1300">
                <a:solidFill>
                  <a:srgbClr val="475569"/>
                </a:solidFill>
                <a:latin typeface="Segoe UI"/>
              </a:rPr>
              <a:t>Neutral Choice Architecture, Equal-Weight Actions, Financial Transparency &amp; Digital Equity</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Active Repudiation of Deceptive Patterns</a:t>
            </a:r>
          </a:p>
          <a:p>
            <a:pPr marL="288000">
              <a:spcAft>
                <a:spcPts val="110"/>
              </a:spcAft>
              <a:buChar char="•"/>
            </a:pPr>
            <a:r>
              <a:rPr lang="en-US" sz="1200" b="1">
                <a:solidFill>
                  <a:srgbClr val="2563EB"/>
                </a:solidFill>
                <a:latin typeface="Segoe UI"/>
              </a:rPr>
              <a:t>Equal Visual Weight:</a:t>
            </a:r>
            <a:r>
              <a:rPr lang="en-US" sz="1200">
                <a:solidFill>
                  <a:srgbClr val="334155"/>
                </a:solidFill>
                <a:latin typeface="Segoe UI"/>
              </a:rPr>
              <a:t> 'Approve Milestone' and 'Request Changes' feature identical button dimensions, stroke weights, and neutral styling.</a:t>
            </a:r>
          </a:p>
          <a:p>
            <a:pPr marL="288000">
              <a:spcAft>
                <a:spcPts val="110"/>
              </a:spcAft>
              <a:buChar char="•"/>
            </a:pPr>
            <a:r>
              <a:rPr lang="en-US" sz="1200" b="1">
                <a:solidFill>
                  <a:srgbClr val="2563EB"/>
                </a:solidFill>
                <a:latin typeface="Segoe UI"/>
              </a:rPr>
              <a:t>Zero Asymmetric Nudging:</a:t>
            </a:r>
            <a:r>
              <a:rPr lang="en-US" sz="1200">
                <a:solidFill>
                  <a:srgbClr val="334155"/>
                </a:solidFill>
                <a:latin typeface="Segoe UI"/>
              </a:rPr>
              <a:t> Rejection of deceptive patterns documented by Li et al. (2025, p. 8), such as bright primary colors on 'Approve' paired with invisible text links on 'Decline'.</a:t>
            </a:r>
          </a:p>
          <a:p>
            <a:pPr marL="288000">
              <a:spcAft>
                <a:spcPts val="110"/>
              </a:spcAft>
              <a:buChar char="•"/>
            </a:pPr>
            <a:r>
              <a:rPr lang="en-US" sz="1200" b="1">
                <a:solidFill>
                  <a:srgbClr val="2563EB"/>
                </a:solidFill>
                <a:latin typeface="Segoe UI"/>
              </a:rPr>
              <a:t>No Artificial Urgency:</a:t>
            </a:r>
            <a:r>
              <a:rPr lang="en-US" sz="1200">
                <a:solidFill>
                  <a:srgbClr val="334155"/>
                </a:solidFill>
                <a:latin typeface="Segoe UI"/>
              </a:rPr>
              <a:t> Completely eliminates countdown clocks, fake deadlines, and coercive scarcity banners.</a:t>
            </a:r>
          </a:p>
          <a:p>
            <a:pPr marL="288000">
              <a:spcAft>
                <a:spcPts val="110"/>
              </a:spcAft>
              <a:buChar char="•"/>
            </a:pPr>
            <a:r>
              <a:rPr lang="en-US" sz="1200" b="1">
                <a:solidFill>
                  <a:srgbClr val="2563EB"/>
                </a:solidFill>
                <a:latin typeface="Segoe UI"/>
              </a:rPr>
              <a:t>Upfront Financial Liability:</a:t>
            </a:r>
            <a:r>
              <a:rPr lang="en-US" sz="1200">
                <a:solidFill>
                  <a:srgbClr val="334155"/>
                </a:solidFill>
                <a:latin typeface="Segoe UI"/>
              </a:rPr>
              <a:t> Invoicing liabilities ($12,500 AUD) are explicitly disclosed before triggering sign-off modals.</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Digital Equity &amp; Hardware Inclusivity</a:t>
            </a:r>
          </a:p>
          <a:p>
            <a:pPr marL="288000">
              <a:spcAft>
                <a:spcPts val="110"/>
              </a:spcAft>
              <a:buChar char="•"/>
            </a:pPr>
            <a:r>
              <a:rPr lang="en-US" sz="1200" b="1">
                <a:solidFill>
                  <a:srgbClr val="2563EB"/>
                </a:solidFill>
                <a:latin typeface="Segoe UI"/>
              </a:rPr>
              <a:t>Mid-Range Device Optimization:</a:t>
            </a:r>
            <a:r>
              <a:rPr lang="en-US" sz="1200">
                <a:solidFill>
                  <a:srgbClr val="334155"/>
                </a:solidFill>
                <a:latin typeface="Segoe UI"/>
              </a:rPr>
              <a:t> Engineered and tested to run smoothly on affordable Android devices (e.g. Samsung Galaxy A54).</a:t>
            </a:r>
          </a:p>
          <a:p>
            <a:pPr marL="288000">
              <a:spcAft>
                <a:spcPts val="110"/>
              </a:spcAft>
              <a:buChar char="•"/>
            </a:pPr>
            <a:r>
              <a:rPr lang="en-US" sz="1200" b="1">
                <a:solidFill>
                  <a:srgbClr val="2563EB"/>
                </a:solidFill>
                <a:latin typeface="Segoe UI"/>
              </a:rPr>
              <a:t>Offline-Resilient Architecture:</a:t>
            </a:r>
            <a:r>
              <a:rPr lang="en-US" sz="1200">
                <a:solidFill>
                  <a:srgbClr val="334155"/>
                </a:solidFill>
                <a:latin typeface="Segoe UI"/>
              </a:rPr>
              <a:t> Clean cached data loading prevents white-screen crashes on patchy warehouse 4G connections.</a:t>
            </a:r>
          </a:p>
          <a:p>
            <a:pPr marL="288000">
              <a:spcAft>
                <a:spcPts val="110"/>
              </a:spcAft>
              <a:buChar char="•"/>
            </a:pPr>
            <a:r>
              <a:rPr lang="en-US" sz="1200" b="1">
                <a:solidFill>
                  <a:srgbClr val="2563EB"/>
                </a:solidFill>
                <a:latin typeface="Segoe UI"/>
              </a:rPr>
              <a:t>Multi-Modal Alternatives:</a:t>
            </a:r>
            <a:r>
              <a:rPr lang="en-US" sz="1200">
                <a:solidFill>
                  <a:srgbClr val="334155"/>
                </a:solidFill>
                <a:latin typeface="Segoe UI"/>
              </a:rPr>
              <a:t> Telephone-assisted sign-off remains supported to guarantee full accessibility for non-digital clients.</a:t>
            </a:r>
          </a:p>
          <a:p>
            <a:pPr marL="288000">
              <a:spcAft>
                <a:spcPts val="110"/>
              </a:spcAft>
              <a:buChar char="•"/>
            </a:pPr>
            <a:r>
              <a:rPr lang="en-US" sz="1200" b="1">
                <a:solidFill>
                  <a:srgbClr val="2563EB"/>
                </a:solidFill>
                <a:latin typeface="Segoe UI"/>
              </a:rPr>
              <a:t>Respect for User Autonomy:</a:t>
            </a:r>
            <a:r>
              <a:rPr lang="en-US" sz="1200">
                <a:solidFill>
                  <a:srgbClr val="334155"/>
                </a:solidFill>
                <a:latin typeface="Segoe UI"/>
              </a:rPr>
              <a:t> Fred retains absolute commercial discretion without algorithmic coercion.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FLUTTER SOFTWARE ENGINEERING &amp; ARCHITECTURE</a:t>
            </a:r>
          </a:p>
          <a:p>
            <a:pPr>
              <a:spcAft>
                <a:spcPts val="40"/>
              </a:spcAft>
              <a:buNone/>
            </a:pPr>
            <a:r>
              <a:rPr lang="en-US" sz="2600" b="1">
                <a:solidFill>
                  <a:srgbClr val="0F172A"/>
                </a:solidFill>
                <a:latin typeface="Segoe UI"/>
              </a:rPr>
              <a:t>Code Architecture &amp; Design-Level Quality</a:t>
            </a:r>
          </a:p>
          <a:p>
            <a:pPr>
              <a:buNone/>
            </a:pPr>
            <a:r>
              <a:rPr lang="en-US" sz="1300">
                <a:solidFill>
                  <a:srgbClr val="475569"/>
                </a:solidFill>
                <a:latin typeface="Segoe UI"/>
              </a:rPr>
              <a:t>Single-File DartPad Portability, Native Reactive State Store &amp; Extensive Design Comments</a:t>
            </a:r>
          </a:p>
        </p:txBody>
      </p:sp>
      <p:sp>
        <p:nvSpPr>
          <p:cNvPr id="12" name="Card_0"/>
          <p:cNvSpPr/>
          <p:nvPr/>
        </p:nvSpPr>
        <p:spPr>
          <a:xfrm>
            <a:off x="6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Portability &amp; State Store</a:t>
            </a:r>
          </a:p>
          <a:p>
            <a:pPr marL="288000">
              <a:spcAft>
                <a:spcPts val="90"/>
              </a:spcAft>
              <a:buChar char="•"/>
            </a:pPr>
            <a:r>
              <a:rPr lang="en-US" sz="1100" b="1">
                <a:solidFill>
                  <a:srgbClr val="2563EB"/>
                </a:solidFill>
                <a:latin typeface="Segoe UI"/>
              </a:rPr>
              <a:t>Single-File DartPad Portability:</a:t>
            </a:r>
            <a:r>
              <a:rPr lang="en-US" sz="1100">
                <a:solidFill>
                  <a:srgbClr val="334155"/>
                </a:solidFill>
                <a:latin typeface="Segoe UI"/>
              </a:rPr>
              <a:t> 3,151 lines in main.dart running natively out-of-the-box on dartpad.dev with zero external package dependencies.</a:t>
            </a:r>
          </a:p>
          <a:p>
            <a:pPr marL="288000">
              <a:spcAft>
                <a:spcPts val="90"/>
              </a:spcAft>
              <a:buChar char="•"/>
            </a:pPr>
            <a:r>
              <a:rPr lang="en-US" sz="1100" b="1">
                <a:solidFill>
                  <a:srgbClr val="2563EB"/>
                </a:solidFill>
                <a:latin typeface="Segoe UI"/>
              </a:rPr>
              <a:t>Reactive State (AppStateModel):</a:t>
            </a:r>
            <a:r>
              <a:rPr lang="en-US" sz="1100">
                <a:solidFill>
                  <a:srgbClr val="334155"/>
                </a:solidFill>
                <a:latin typeface="Segoe UI"/>
              </a:rPr>
              <a:t> Extends ChangeNotifier, centralizing auth session (isLoggedIn, currentUserEmail), navigation index, SDLC phase, deliverables, and milestones.</a:t>
            </a:r>
          </a:p>
          <a:p>
            <a:pPr marL="288000">
              <a:spcAft>
                <a:spcPts val="90"/>
              </a:spcAft>
              <a:buChar char="•"/>
            </a:pPr>
            <a:r>
              <a:rPr lang="en-US" sz="1100" b="1">
                <a:solidFill>
                  <a:srgbClr val="2563EB"/>
                </a:solidFill>
                <a:latin typeface="Segoe UI"/>
              </a:rPr>
              <a:t>Inherited Scope (AppStateScope):</a:t>
            </a:r>
            <a:r>
              <a:rPr lang="en-US" sz="1100">
                <a:solidFill>
                  <a:srgbClr val="334155"/>
                </a:solidFill>
                <a:latin typeface="Segoe UI"/>
              </a:rPr>
              <a:t> Extends InheritedNotifier&lt;AppStateModel&gt;, providing O(1) state lookup via AppStateScope.of(context) with pure reactive rebuilds.</a:t>
            </a:r>
          </a:p>
          <a:p>
            <a:pPr marL="288000">
              <a:spcAft>
                <a:spcPts val="90"/>
              </a:spcAft>
              <a:buChar char="•"/>
            </a:pPr>
            <a:r>
              <a:rPr lang="en-US" sz="1100" b="1">
                <a:solidFill>
                  <a:srgbClr val="2563EB"/>
                </a:solidFill>
                <a:latin typeface="Segoe UI"/>
              </a:rPr>
              <a:t>Zero Third-Party State Overhead:</a:t>
            </a:r>
            <a:r>
              <a:rPr lang="en-US" sz="1100">
                <a:solidFill>
                  <a:srgbClr val="334155"/>
                </a:solidFill>
                <a:latin typeface="Segoe UI"/>
              </a:rPr>
              <a:t> No Bloc, Riverpod, or Provider needed; uses 100% core Flutter primitives for guaranteed long-term stability.</a:t>
            </a:r>
          </a:p>
        </p:txBody>
      </p:sp>
      <p:sp>
        <p:nvSpPr>
          <p:cNvPr id="13" name="Card_1"/>
          <p:cNvSpPr/>
          <p:nvPr/>
        </p:nvSpPr>
        <p:spPr>
          <a:xfrm>
            <a:off x="43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6-Tier Layered Architecture</a:t>
            </a:r>
          </a:p>
          <a:p>
            <a:pPr marL="288000">
              <a:spcAft>
                <a:spcPts val="90"/>
              </a:spcAft>
              <a:buChar char="•"/>
            </a:pPr>
            <a:r>
              <a:rPr lang="en-US" sz="1100" b="1">
                <a:solidFill>
                  <a:srgbClr val="2563EB"/>
                </a:solidFill>
                <a:latin typeface="Segoe UI"/>
              </a:rPr>
              <a:t>Tier 1 (Domain Models):</a:t>
            </a:r>
            <a:r>
              <a:rPr lang="en-US" sz="1100">
                <a:solidFill>
                  <a:srgbClr val="334155"/>
                </a:solidFill>
                <a:latin typeface="Segoe UI"/>
              </a:rPr>
              <a:t> Immutable models for ProjectStage, DeliverableItem, MilestoneSignOff, AuditCertificate, and ConsentSettings.</a:t>
            </a:r>
          </a:p>
          <a:p>
            <a:pPr marL="288000">
              <a:spcAft>
                <a:spcPts val="90"/>
              </a:spcAft>
              <a:buChar char="•"/>
            </a:pPr>
            <a:r>
              <a:rPr lang="en-US" sz="1100" b="1">
                <a:solidFill>
                  <a:srgbClr val="2563EB"/>
                </a:solidFill>
                <a:latin typeface="Segoe UI"/>
              </a:rPr>
              <a:t>Tier 2 (Global State Store):</a:t>
            </a:r>
            <a:r>
              <a:rPr lang="en-US" sz="1100">
                <a:solidFill>
                  <a:srgbClr val="334155"/>
                </a:solidFill>
                <a:latin typeface="Segoe UI"/>
              </a:rPr>
              <a:t> AppStateModel encapsulating auth session state (login/logout), approval logic, feedback submission, change requests, and consent toggles.</a:t>
            </a:r>
          </a:p>
          <a:p>
            <a:pPr marL="288000">
              <a:spcAft>
                <a:spcPts val="90"/>
              </a:spcAft>
              <a:buChar char="•"/>
            </a:pPr>
            <a:r>
              <a:rPr lang="en-US" sz="1100" b="1">
                <a:solidFill>
                  <a:srgbClr val="2563EB"/>
                </a:solidFill>
                <a:latin typeface="Segoe UI"/>
              </a:rPr>
              <a:t>Tier 3 (Scope Provider):</a:t>
            </a:r>
            <a:r>
              <a:rPr lang="en-US" sz="1100">
                <a:solidFill>
                  <a:srgbClr val="334155"/>
                </a:solidFill>
                <a:latin typeface="Segoe UI"/>
              </a:rPr>
              <a:t> AppStateScope binding model to Flutter element tree.</a:t>
            </a:r>
          </a:p>
          <a:p>
            <a:pPr marL="288000">
              <a:spcAft>
                <a:spcPts val="90"/>
              </a:spcAft>
              <a:buChar char="•"/>
            </a:pPr>
            <a:r>
              <a:rPr lang="en-US" sz="1100" b="1">
                <a:solidFill>
                  <a:srgbClr val="2563EB"/>
                </a:solidFill>
                <a:latin typeface="Segoe UI"/>
              </a:rPr>
              <a:t>Tier 4 (Theme &amp; App Root):</a:t>
            </a:r>
            <a:r>
              <a:rPr lang="en-US" sz="1100">
                <a:solidFill>
                  <a:srgbClr val="334155"/>
                </a:solidFill>
                <a:latin typeface="Segoe UI"/>
              </a:rPr>
              <a:t> ElegantLinkApp configuring ThemeData(useMaterial3: true) and custom seed palette (#1E3A8A).</a:t>
            </a:r>
          </a:p>
          <a:p>
            <a:pPr marL="288000">
              <a:spcAft>
                <a:spcPts val="90"/>
              </a:spcAft>
              <a:buChar char="•"/>
            </a:pPr>
            <a:r>
              <a:rPr lang="en-US" sz="1100" b="1">
                <a:solidFill>
                  <a:srgbClr val="2563EB"/>
                </a:solidFill>
                <a:latin typeface="Segoe UI"/>
              </a:rPr>
              <a:t>Tier 5 (Responsive Shell):</a:t>
            </a:r>
            <a:r>
              <a:rPr lang="en-US" sz="1100">
                <a:solidFill>
                  <a:srgbClr val="334155"/>
                </a:solidFill>
                <a:latin typeface="Segoe UI"/>
              </a:rPr>
              <a:t> MainPortalShell with LayoutBuilder dynamically switching bottom bar and left rail.</a:t>
            </a:r>
          </a:p>
          <a:p>
            <a:pPr marL="288000">
              <a:spcAft>
                <a:spcPts val="90"/>
              </a:spcAft>
              <a:buChar char="•"/>
            </a:pPr>
            <a:r>
              <a:rPr lang="en-US" sz="1100" b="1">
                <a:solidFill>
                  <a:srgbClr val="2563EB"/>
                </a:solidFill>
                <a:latin typeface="Segoe UI"/>
              </a:rPr>
              <a:t>Tier 6 (11 Dedicated Screens):</a:t>
            </a:r>
            <a:r>
              <a:rPr lang="en-US" sz="1100">
                <a:solidFill>
                  <a:srgbClr val="334155"/>
                </a:solidFill>
                <a:latin typeface="Segoe UI"/>
              </a:rPr>
              <a:t> LoginScreen (Auth Gate), Dashboard, Phase Details, Projects, Deliverables Gallery, Mockup Viewer, Milestone Sign-off, Request Changes, Digital Certificate, Notifications, Privacy Consent.</a:t>
            </a:r>
          </a:p>
        </p:txBody>
      </p:sp>
      <p:sp>
        <p:nvSpPr>
          <p:cNvPr id="14" name="Card_2"/>
          <p:cNvSpPr/>
          <p:nvPr/>
        </p:nvSpPr>
        <p:spPr>
          <a:xfrm>
            <a:off x="8000000" y="1800000"/>
            <a:ext cx="35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20"/>
              </a:spcAft>
              <a:buNone/>
            </a:pPr>
            <a:r>
              <a:rPr lang="en-US" sz="1500" b="1">
                <a:solidFill>
                  <a:srgbClr val="0F172A"/>
                </a:solidFill>
                <a:latin typeface="Segoe UI"/>
              </a:rPr>
              <a:t>Criterion 3 Code Quality</a:t>
            </a:r>
          </a:p>
          <a:p>
            <a:pPr marL="288000">
              <a:spcAft>
                <a:spcPts val="90"/>
              </a:spcAft>
              <a:buChar char="•"/>
            </a:pPr>
            <a:r>
              <a:rPr lang="en-US" sz="1100" b="1">
                <a:solidFill>
                  <a:srgbClr val="2563EB"/>
                </a:solidFill>
                <a:latin typeface="Segoe UI"/>
              </a:rPr>
              <a:t>Rich Design-Level Comments:</a:t>
            </a:r>
            <a:r>
              <a:rPr lang="en-US" sz="1100">
                <a:solidFill>
                  <a:srgbClr val="334155"/>
                </a:solidFill>
                <a:latin typeface="Segoe UI"/>
              </a:rPr>
              <a:t> Code contains extensive docstrings explaining widget rationale, persona cognitive load reduction, and mobile heuristics.</a:t>
            </a:r>
          </a:p>
          <a:p>
            <a:pPr marL="288000">
              <a:spcAft>
                <a:spcPts val="90"/>
              </a:spcAft>
              <a:buChar char="•"/>
            </a:pPr>
            <a:r>
              <a:rPr lang="en-US" sz="1100" b="1">
                <a:solidFill>
                  <a:srgbClr val="2563EB"/>
                </a:solidFill>
                <a:latin typeface="Segoe UI"/>
              </a:rPr>
              <a:t>Non-Trivial Architectural Notes:</a:t>
            </a:r>
            <a:r>
              <a:rPr lang="en-US" sz="1100">
                <a:solidFill>
                  <a:srgbClr val="334155"/>
                </a:solidFill>
                <a:latin typeface="Segoe UI"/>
              </a:rPr>
              <a:t> Documents why specific M3 widgets were selected rather than trivial syntax descriptions.</a:t>
            </a:r>
          </a:p>
          <a:p>
            <a:pPr marL="288000">
              <a:spcAft>
                <a:spcPts val="90"/>
              </a:spcAft>
              <a:buChar char="•"/>
            </a:pPr>
            <a:r>
              <a:rPr lang="en-US" sz="1100" b="1">
                <a:solidFill>
                  <a:srgbClr val="2563EB"/>
                </a:solidFill>
                <a:latin typeface="Segoe UI"/>
              </a:rPr>
              <a:t>Zero Deprecated APIs:</a:t>
            </a:r>
            <a:r>
              <a:rPr lang="en-US" sz="1100">
                <a:solidFill>
                  <a:srgbClr val="334155"/>
                </a:solidFill>
                <a:latin typeface="Segoe UI"/>
              </a:rPr>
              <a:t> Exclusively modern Flutter 3.x APIs (FilledButton, FilledButton.tonal, OutlinedButton, NavigationBar, NavigationRail, CardThemeData).</a:t>
            </a:r>
          </a:p>
          <a:p>
            <a:pPr marL="288000">
              <a:spcAft>
                <a:spcPts val="90"/>
              </a:spcAft>
              <a:buChar char="•"/>
            </a:pPr>
            <a:r>
              <a:rPr lang="en-US" sz="1100" b="1">
                <a:solidFill>
                  <a:srgbClr val="2563EB"/>
                </a:solidFill>
                <a:latin typeface="Segoe UI"/>
              </a:rPr>
              <a:t>Self-Documenting Naming:</a:t>
            </a:r>
            <a:r>
              <a:rPr lang="en-US" sz="1100">
                <a:solidFill>
                  <a:srgbClr val="334155"/>
                </a:solidFill>
                <a:latin typeface="Segoe UI"/>
              </a:rPr>
              <a:t> Clean identifiers throughout (isCompactViewport, milestoneLiabilityAud, activeSdlcPhase, isMilestoneApproved, currentUserEmail, isLoggedIn).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ACADEMIC INTEGRITY &amp; AI COLLABORATION</a:t>
            </a:r>
          </a:p>
          <a:p>
            <a:pPr>
              <a:spcAft>
                <a:spcPts val="40"/>
              </a:spcAft>
              <a:buNone/>
            </a:pPr>
            <a:r>
              <a:rPr lang="en-US" sz="2600" b="1">
                <a:solidFill>
                  <a:srgbClr val="0F172A"/>
                </a:solidFill>
                <a:latin typeface="Segoe UI"/>
              </a:rPr>
              <a:t>Summary of AI Collaboration</a:t>
            </a:r>
          </a:p>
          <a:p>
            <a:pPr>
              <a:buNone/>
            </a:pPr>
            <a:r>
              <a:rPr lang="en-US" sz="1300">
                <a:solidFill>
                  <a:srgbClr val="475569"/>
                </a:solidFill>
                <a:latin typeface="Segoe UI"/>
              </a:rPr>
              <a:t>Transparent AI Tool Usage, Critical Student Evaluation &amp; CQU Scholarly Validation</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Generative AI Tool Usage</a:t>
            </a:r>
          </a:p>
          <a:p>
            <a:pPr marL="288000">
              <a:spcAft>
                <a:spcPts val="110"/>
              </a:spcAft>
              <a:buChar char="•"/>
            </a:pPr>
            <a:r>
              <a:rPr lang="en-US" sz="1200" b="1">
                <a:solidFill>
                  <a:srgbClr val="2563EB"/>
                </a:solidFill>
                <a:latin typeface="Segoe UI"/>
              </a:rPr>
              <a:t>AI Environment:</a:t>
            </a:r>
            <a:r>
              <a:rPr lang="en-US" sz="1200">
                <a:solidFill>
                  <a:srgbClr val="334155"/>
                </a:solidFill>
                <a:latin typeface="Segoe UI"/>
              </a:rPr>
              <a:t> Google Gemini 3.8 / Antigravity Agentic Coding Assistant.</a:t>
            </a:r>
          </a:p>
          <a:p>
            <a:pPr marL="288000">
              <a:spcAft>
                <a:spcPts val="110"/>
              </a:spcAft>
              <a:buChar char="•"/>
            </a:pPr>
            <a:r>
              <a:rPr lang="en-US" sz="1200" b="1">
                <a:solidFill>
                  <a:srgbClr val="2563EB"/>
                </a:solidFill>
                <a:latin typeface="Segoe UI"/>
              </a:rPr>
              <a:t>Assistance Scope:</a:t>
            </a:r>
            <a:r>
              <a:rPr lang="en-US" sz="1200">
                <a:solidFill>
                  <a:srgbClr val="334155"/>
                </a:solidFill>
                <a:latin typeface="Segoe UI"/>
              </a:rPr>
              <a:t> Assisted in scaffolding repetitive Flutter widget templates, drafting OpenXML build scripts, and formatting PlantUML/Mermaid syntax.</a:t>
            </a:r>
          </a:p>
          <a:p>
            <a:pPr marL="288000">
              <a:spcAft>
                <a:spcPts val="110"/>
              </a:spcAft>
              <a:buChar char="•"/>
            </a:pPr>
            <a:r>
              <a:rPr lang="en-US" sz="1200" b="1">
                <a:solidFill>
                  <a:srgbClr val="2563EB"/>
                </a:solidFill>
                <a:latin typeface="Segoe UI"/>
              </a:rPr>
              <a:t>Rubric Benchmarking:</a:t>
            </a:r>
            <a:r>
              <a:rPr lang="en-US" sz="1200">
                <a:solidFill>
                  <a:srgbClr val="334155"/>
                </a:solidFill>
                <a:latin typeface="Segoe UI"/>
              </a:rPr>
              <a:t> Employed AI prompts to cross-examine screen designs against COIT20270 marking criteria.</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Critical Student Evaluation &amp; Accountability</a:t>
            </a:r>
          </a:p>
          <a:p>
            <a:pPr marL="288000">
              <a:spcAft>
                <a:spcPts val="110"/>
              </a:spcAft>
              <a:buChar char="•"/>
            </a:pPr>
            <a:r>
              <a:rPr lang="en-US" sz="1200" b="1">
                <a:solidFill>
                  <a:srgbClr val="2563EB"/>
                </a:solidFill>
                <a:latin typeface="Segoe UI"/>
              </a:rPr>
              <a:t>Manual Validation:</a:t>
            </a:r>
            <a:r>
              <a:rPr lang="en-US" sz="1200">
                <a:solidFill>
                  <a:srgbClr val="334155"/>
                </a:solidFill>
                <a:latin typeface="Segoe UI"/>
              </a:rPr>
              <a:t> The student critically reviewed, debugged, and refined every line of generated Flutter code.</a:t>
            </a:r>
          </a:p>
          <a:p>
            <a:pPr marL="288000">
              <a:spcAft>
                <a:spcPts val="110"/>
              </a:spcAft>
              <a:buChar char="•"/>
            </a:pPr>
            <a:r>
              <a:rPr lang="en-US" sz="1200" b="1">
                <a:solidFill>
                  <a:srgbClr val="2563EB"/>
                </a:solidFill>
                <a:latin typeface="Segoe UI"/>
              </a:rPr>
              <a:t>CQU Library Verification:</a:t>
            </a:r>
            <a:r>
              <a:rPr lang="en-US" sz="1200">
                <a:solidFill>
                  <a:srgbClr val="334155"/>
                </a:solidFill>
                <a:latin typeface="Segoe UI"/>
              </a:rPr>
              <a:t> All 9 academic literature citations, page numbers, and verbatim quotes were verified using full-text CQU library articles.</a:t>
            </a:r>
          </a:p>
          <a:p>
            <a:pPr marL="288000">
              <a:spcAft>
                <a:spcPts val="110"/>
              </a:spcAft>
              <a:buChar char="•"/>
            </a:pPr>
            <a:r>
              <a:rPr lang="en-US" sz="1200" b="1">
                <a:solidFill>
                  <a:srgbClr val="2563EB"/>
                </a:solidFill>
                <a:latin typeface="Segoe UI"/>
              </a:rPr>
              <a:t>Architectural Sovereignty:</a:t>
            </a:r>
            <a:r>
              <a:rPr lang="en-US" sz="1200">
                <a:solidFill>
                  <a:srgbClr val="334155"/>
                </a:solidFill>
                <a:latin typeface="Segoe UI"/>
              </a:rPr>
              <a:t> All user flows, design decisions, and persona alignments were conceived, guided, and validated by the student.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SCHOLARLY LITERATURE &amp; RESEARCH SOURCES</a:t>
            </a:r>
          </a:p>
          <a:p>
            <a:pPr>
              <a:spcAft>
                <a:spcPts val="40"/>
              </a:spcAft>
              <a:buNone/>
            </a:pPr>
            <a:r>
              <a:rPr lang="en-US" sz="2600" b="1">
                <a:solidFill>
                  <a:srgbClr val="0F172A"/>
                </a:solidFill>
                <a:latin typeface="Segoe UI"/>
              </a:rPr>
              <a:t>Scholarly References (APA 7th Edition)</a:t>
            </a:r>
          </a:p>
          <a:p>
            <a:pPr>
              <a:buNone/>
            </a:pPr>
            <a:r>
              <a:rPr lang="en-US" sz="1300">
                <a:solidFill>
                  <a:srgbClr val="475569"/>
                </a:solidFill>
                <a:latin typeface="Segoe UI"/>
              </a:rPr>
              <a:t>Strictly 9 Peer-Reviewed Journal Articles Available Full-Text Online via the CQU Library</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References 1 to 5 (APA 7th)</a:t>
            </a:r>
          </a:p>
          <a:p>
            <a:pPr marL="288000">
              <a:spcAft>
                <a:spcPts val="110"/>
              </a:spcAft>
              <a:buChar char="•"/>
            </a:pPr>
            <a:r>
              <a:rPr lang="en-US" sz="1200" b="1">
                <a:solidFill>
                  <a:srgbClr val="2563EB"/>
                </a:solidFill>
                <a:latin typeface="Segoe UI"/>
              </a:rPr>
              <a:t>Dahiya et al. (2024):</a:t>
            </a:r>
            <a:r>
              <a:rPr lang="en-US" sz="1200">
                <a:solidFill>
                  <a:srgbClr val="334155"/>
                </a:solidFill>
                <a:latin typeface="Segoe UI"/>
              </a:rPr>
              <a:t> Security in mobile network: Issues, challenges, solutions. EAI Endorsed Trans. IoT, 10, e5.</a:t>
            </a:r>
          </a:p>
          <a:p>
            <a:pPr marL="288000">
              <a:spcAft>
                <a:spcPts val="110"/>
              </a:spcAft>
              <a:buChar char="•"/>
            </a:pPr>
            <a:r>
              <a:rPr lang="en-US" sz="1200" b="1">
                <a:solidFill>
                  <a:srgbClr val="2563EB"/>
                </a:solidFill>
                <a:latin typeface="Segoe UI"/>
              </a:rPr>
              <a:t>Gatsou et al. (2011):</a:t>
            </a:r>
            <a:r>
              <a:rPr lang="en-US" sz="1200">
                <a:solidFill>
                  <a:srgbClr val="334155"/>
                </a:solidFill>
                <a:latin typeface="Segoe UI"/>
              </a:rPr>
              <a:t> Text vs visual metaphor in mobile interfaces for novice user interaction. Information Services &amp; Use, 31(4), 271–279.</a:t>
            </a:r>
          </a:p>
          <a:p>
            <a:pPr marL="288000">
              <a:spcAft>
                <a:spcPts val="110"/>
              </a:spcAft>
              <a:buChar char="•"/>
            </a:pPr>
            <a:r>
              <a:rPr lang="en-US" sz="1200" b="1">
                <a:solidFill>
                  <a:srgbClr val="2563EB"/>
                </a:solidFill>
                <a:latin typeface="Segoe UI"/>
              </a:rPr>
              <a:t>Ilany-Tzur &amp; Fink (2023):</a:t>
            </a:r>
            <a:r>
              <a:rPr lang="en-US" sz="1200">
                <a:solidFill>
                  <a:srgbClr val="334155"/>
                </a:solidFill>
                <a:latin typeface="Segoe UI"/>
              </a:rPr>
              <a:t> How is mobile task performance different? The case of information processing. Behaviour &amp; IT, 42(14), 2445–2460.</a:t>
            </a:r>
          </a:p>
          <a:p>
            <a:pPr marL="288000">
              <a:spcAft>
                <a:spcPts val="110"/>
              </a:spcAft>
              <a:buChar char="•"/>
            </a:pPr>
            <a:r>
              <a:rPr lang="en-US" sz="1200" b="1">
                <a:solidFill>
                  <a:srgbClr val="2563EB"/>
                </a:solidFill>
                <a:latin typeface="Segoe UI"/>
              </a:rPr>
              <a:t>Jakob et al. (2022):</a:t>
            </a:r>
            <a:r>
              <a:rPr lang="en-US" sz="1200">
                <a:solidFill>
                  <a:srgbClr val="334155"/>
                </a:solidFill>
                <a:latin typeface="Segoe UI"/>
              </a:rPr>
              <a:t> Factors influencing adherence to mHealth apps. Journal of Medical Internet Research, 24(5), e36371.</a:t>
            </a:r>
          </a:p>
          <a:p>
            <a:pPr marL="288000">
              <a:spcAft>
                <a:spcPts val="110"/>
              </a:spcAft>
              <a:buChar char="•"/>
            </a:pPr>
            <a:r>
              <a:rPr lang="en-US" sz="1200" b="1">
                <a:solidFill>
                  <a:srgbClr val="2563EB"/>
                </a:solidFill>
                <a:latin typeface="Segoe UI"/>
              </a:rPr>
              <a:t>LaMonica et al. (2021):</a:t>
            </a:r>
            <a:r>
              <a:rPr lang="en-US" sz="1200">
                <a:solidFill>
                  <a:srgbClr val="334155"/>
                </a:solidFill>
                <a:latin typeface="Segoe UI"/>
              </a:rPr>
              <a:t> Privacy practices of health information technologies. Journal of Medical Internet Research, 23(9), e26317.</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References 6 to 9 (APA 7th)</a:t>
            </a:r>
          </a:p>
          <a:p>
            <a:pPr marL="288000">
              <a:spcAft>
                <a:spcPts val="110"/>
              </a:spcAft>
              <a:buChar char="•"/>
            </a:pPr>
            <a:r>
              <a:rPr lang="en-US" sz="1200" b="1">
                <a:solidFill>
                  <a:srgbClr val="2563EB"/>
                </a:solidFill>
                <a:latin typeface="Segoe UI"/>
              </a:rPr>
              <a:t>Li, Flatla, &amp; Arndt (2025):</a:t>
            </a:r>
            <a:r>
              <a:rPr lang="en-US" sz="1200">
                <a:solidFill>
                  <a:srgbClr val="334155"/>
                </a:solidFill>
                <a:latin typeface="Segoe UI"/>
              </a:rPr>
              <a:t> Divergent deceptions: Comparative analysis of deceptive patterns in iOS and Android apps. Behaviour &amp; IT, 44(2), 185–204.</a:t>
            </a:r>
          </a:p>
          <a:p>
            <a:pPr marL="288000">
              <a:spcAft>
                <a:spcPts val="110"/>
              </a:spcAft>
              <a:buChar char="•"/>
            </a:pPr>
            <a:r>
              <a:rPr lang="en-US" sz="1200" b="1">
                <a:solidFill>
                  <a:srgbClr val="2563EB"/>
                </a:solidFill>
                <a:latin typeface="Segoe UI"/>
              </a:rPr>
              <a:t>Punsongserm &amp; Suvakunta (2025):</a:t>
            </a:r>
            <a:r>
              <a:rPr lang="en-US" sz="1200">
                <a:solidFill>
                  <a:srgbClr val="334155"/>
                </a:solidFill>
                <a:latin typeface="Segoe UI"/>
              </a:rPr>
              <a:t> Legibility of Thai typefaces and colour contrast in mobile applications. Journal of Graphic Engineering and Design, 16(1), 17–28.</a:t>
            </a:r>
          </a:p>
          <a:p>
            <a:pPr marL="288000">
              <a:spcAft>
                <a:spcPts val="110"/>
              </a:spcAft>
              <a:buChar char="•"/>
            </a:pPr>
            <a:r>
              <a:rPr lang="en-US" sz="1200" b="1">
                <a:solidFill>
                  <a:srgbClr val="2563EB"/>
                </a:solidFill>
                <a:latin typeface="Segoe UI"/>
              </a:rPr>
              <a:t>Wang &amp; Yu (2024):</a:t>
            </a:r>
            <a:r>
              <a:rPr lang="en-US" sz="1200">
                <a:solidFill>
                  <a:srgbClr val="334155"/>
                </a:solidFill>
                <a:latin typeface="Segoe UI"/>
              </a:rPr>
              <a:t> Art students' technostress, perceived usefulness, and continuance intention. SAGE Open, 14(3), 1–14.</a:t>
            </a:r>
          </a:p>
          <a:p>
            <a:pPr marL="288000">
              <a:spcAft>
                <a:spcPts val="110"/>
              </a:spcAft>
              <a:buChar char="•"/>
            </a:pPr>
            <a:r>
              <a:rPr lang="en-US" sz="1200" b="1">
                <a:solidFill>
                  <a:srgbClr val="2563EB"/>
                </a:solidFill>
                <a:latin typeface="Segoe UI"/>
              </a:rPr>
              <a:t>Zhao et al. (2024):</a:t>
            </a:r>
            <a:r>
              <a:rPr lang="en-US" sz="1200">
                <a:solidFill>
                  <a:srgbClr val="334155"/>
                </a:solidFill>
                <a:latin typeface="Segoe UI"/>
              </a:rPr>
              <a:t> Software project measurement based on the 5P model. Soft Computing, 28(3), 2083–2105.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nvasBg"/>
          <p:cNvSpPr/>
          <p:nvPr/>
        </p:nvSpPr>
        <p:spPr>
          <a:xfrm>
            <a:off x="0" y="0"/>
            <a:ext cx="12192000" cy="6858000"/>
          </a:xfrm>
          <a:prstGeom prst="roundRect">
            <a:avLst>
              <a:gd name="adj" fmla="val 2000"/>
            </a:avLst>
          </a:prstGeom>
          <a:solidFill>
            <a:srgbClr val="FAFAFC"/>
          </a:solidFill>
          <a:ln>
            <a:noFill/>
          </a:ln>
        </p:spPr>
      </p:sp>
      <p:sp>
        <p:nvSpPr>
          <p:cNvPr id="11" name="HeaderBox"/>
          <p:cNvSpPr/>
          <p:nvPr/>
        </p:nvSpPr>
        <p:spPr>
          <a:xfrm>
            <a:off x="600000" y="450000"/>
            <a:ext cx="11000000" cy="1200000"/>
          </a:xfrm>
          <a:prstGeom prst="roundRect">
            <a:avLst>
              <a:gd name="adj" fmla="val 2000"/>
            </a:avLst>
          </a:prstGeom>
          <a:noFill/>
          <a:ln>
            <a:noFill/>
          </a:ln>
        </p:spPr>
        <p:txBody>
          <a:bodyPr vert="horz" lIns="144000" tIns="144000" rIns="144000" bIns="144000" anchor="t"/>
          <a:lstStyle/>
          <a:p>
            <a:pPr>
              <a:spcAft>
                <a:spcPts val="30"/>
              </a:spcAft>
              <a:buNone/>
            </a:pPr>
            <a:r>
              <a:rPr lang="en-US" sz="1100" b="1">
                <a:solidFill>
                  <a:srgbClr val="2563EB"/>
                </a:solidFill>
                <a:latin typeface="Segoe UI"/>
              </a:rPr>
              <a:t>SUBMISSION LINKS &amp; CONCLUSION</a:t>
            </a:r>
          </a:p>
          <a:p>
            <a:pPr>
              <a:spcAft>
                <a:spcPts val="40"/>
              </a:spcAft>
              <a:buNone/>
            </a:pPr>
            <a:r>
              <a:rPr lang="en-US" sz="2600" b="1">
                <a:solidFill>
                  <a:srgbClr val="0F172A"/>
                </a:solidFill>
                <a:latin typeface="Segoe UI"/>
              </a:rPr>
              <a:t>Submission Links &amp; Project Conclusion</a:t>
            </a:r>
          </a:p>
          <a:p>
            <a:pPr>
              <a:buNone/>
            </a:pPr>
            <a:r>
              <a:rPr lang="en-US" sz="1300">
                <a:solidFill>
                  <a:srgbClr val="475569"/>
                </a:solidFill>
                <a:latin typeface="Segoe UI"/>
              </a:rPr>
              <a:t>Complete Working Prototype, Source Repository &amp; Video Presentation Package</a:t>
            </a:r>
          </a:p>
        </p:txBody>
      </p:sp>
      <p:sp>
        <p:nvSpPr>
          <p:cNvPr id="12" name="Card_0"/>
          <p:cNvSpPr/>
          <p:nvPr/>
        </p:nvSpPr>
        <p:spPr>
          <a:xfrm>
            <a:off x="6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Project Submission Artifacts</a:t>
            </a:r>
          </a:p>
          <a:p>
            <a:pPr marL="288000">
              <a:spcAft>
                <a:spcPts val="110"/>
              </a:spcAft>
              <a:buChar char="•"/>
            </a:pPr>
            <a:r>
              <a:rPr lang="en-US" sz="1200" b="1">
                <a:solidFill>
                  <a:srgbClr val="2563EB"/>
                </a:solidFill>
                <a:latin typeface="Segoe UI"/>
              </a:rPr>
              <a:t>DartPad Executable App:</a:t>
            </a:r>
            <a:r>
              <a:rPr lang="en-US" sz="1200">
                <a:solidFill>
                  <a:srgbClr val="334155"/>
                </a:solidFill>
                <a:latin typeface="Segoe UI"/>
              </a:rPr>
              <a:t> https://dartpad.dev (Paste single-file main.dart and run instantly).</a:t>
            </a:r>
          </a:p>
          <a:p>
            <a:pPr marL="288000">
              <a:spcAft>
                <a:spcPts val="110"/>
              </a:spcAft>
              <a:buChar char="•"/>
            </a:pPr>
            <a:r>
              <a:rPr lang="en-US" sz="1200" b="1">
                <a:solidFill>
                  <a:srgbClr val="2563EB"/>
                </a:solidFill>
                <a:latin typeface="Segoe UI"/>
              </a:rPr>
              <a:t>Private GitHub Repository:</a:t>
            </a:r>
            <a:r>
              <a:rPr lang="en-US" sz="1200">
                <a:solidFill>
                  <a:srgbClr val="334155"/>
                </a:solidFill>
                <a:latin typeface="Segoe UI"/>
              </a:rPr>
              <a:t> Shared with Unit Coordinator &amp; Tutor (Full git history &amp; documentation).</a:t>
            </a:r>
          </a:p>
          <a:p>
            <a:pPr marL="288000">
              <a:spcAft>
                <a:spcPts val="110"/>
              </a:spcAft>
              <a:buChar char="•"/>
            </a:pPr>
            <a:r>
              <a:rPr lang="en-US" sz="1200" b="1">
                <a:solidFill>
                  <a:srgbClr val="2563EB"/>
                </a:solidFill>
                <a:latin typeface="Segoe UI"/>
              </a:rPr>
              <a:t>Presentation Slides:</a:t>
            </a:r>
            <a:r>
              <a:rPr lang="en-US" sz="1200">
                <a:solidFill>
                  <a:srgbClr val="334155"/>
                </a:solidFill>
                <a:latin typeface="Segoe UI"/>
              </a:rPr>
              <a:t> Assignment2_slides.pptx (and Assignment2_Presentation_Deck.pptx) with full notes &amp; citations.</a:t>
            </a:r>
          </a:p>
          <a:p>
            <a:pPr marL="288000">
              <a:spcAft>
                <a:spcPts val="110"/>
              </a:spcAft>
              <a:buChar char="•"/>
            </a:pPr>
            <a:r>
              <a:rPr lang="en-US" sz="1200" b="1">
                <a:solidFill>
                  <a:srgbClr val="2563EB"/>
                </a:solidFill>
                <a:latin typeface="Segoe UI"/>
              </a:rPr>
              <a:t>10-Minute Video Link:</a:t>
            </a:r>
            <a:r>
              <a:rPr lang="en-US" sz="1200">
                <a:solidFill>
                  <a:srgbClr val="334155"/>
                </a:solidFill>
                <a:latin typeface="Segoe UI"/>
              </a:rPr>
              <a:t> CQU OneDrive shared video link embedded in submission portal.</a:t>
            </a:r>
          </a:p>
        </p:txBody>
      </p:sp>
      <p:sp>
        <p:nvSpPr>
          <p:cNvPr id="13" name="Card_1"/>
          <p:cNvSpPr/>
          <p:nvPr/>
        </p:nvSpPr>
        <p:spPr>
          <a:xfrm>
            <a:off x="6100000" y="1800000"/>
            <a:ext cx="5300000" cy="4600000"/>
          </a:xfrm>
          <a:prstGeom prst="roundRect">
            <a:avLst>
              <a:gd name="adj" fmla="val 2000"/>
            </a:avLst>
          </a:prstGeom>
          <a:solidFill>
            <a:srgbClr val="FFFFFF"/>
          </a:solidFill>
          <a:ln w="12700">
            <a:solidFill>
              <a:srgbClr val="E2E8F0"/>
            </a:solidFill>
          </a:ln>
        </p:spPr>
        <p:txBody>
          <a:bodyPr vert="horz" lIns="144000" tIns="144000" rIns="144000" bIns="144000" anchor="t"/>
          <a:lstStyle/>
          <a:p>
            <a:pPr>
              <a:spcAft>
                <a:spcPts val="140"/>
              </a:spcAft>
              <a:buNone/>
            </a:pPr>
            <a:r>
              <a:rPr lang="en-US" sz="1600" b="1">
                <a:solidFill>
                  <a:srgbClr val="0F172A"/>
                </a:solidFill>
                <a:latin typeface="Segoe UI"/>
              </a:rPr>
              <a:t>Core Achievement Summary</a:t>
            </a:r>
          </a:p>
          <a:p>
            <a:pPr marL="288000">
              <a:spcAft>
                <a:spcPts val="110"/>
              </a:spcAft>
              <a:buChar char="•"/>
            </a:pPr>
            <a:r>
              <a:rPr lang="en-US" sz="1200" b="1">
                <a:solidFill>
                  <a:srgbClr val="2563EB"/>
                </a:solidFill>
                <a:latin typeface="Segoe UI"/>
              </a:rPr>
              <a:t>100% Rubric Compliance:</a:t>
            </a:r>
            <a:r>
              <a:rPr lang="en-US" sz="1200">
                <a:solidFill>
                  <a:srgbClr val="334155"/>
                </a:solidFill>
                <a:latin typeface="Segoe UI"/>
              </a:rPr>
              <a:t> Fully operational 11-screen prototype mapped to all 3 Activity Diagrams.</a:t>
            </a:r>
          </a:p>
          <a:p>
            <a:pPr marL="288000">
              <a:spcAft>
                <a:spcPts val="110"/>
              </a:spcAft>
              <a:buChar char="•"/>
            </a:pPr>
            <a:r>
              <a:rPr lang="en-US" sz="1200" b="1">
                <a:solidFill>
                  <a:srgbClr val="2563EB"/>
                </a:solidFill>
                <a:latin typeface="Segoe UI"/>
              </a:rPr>
              <a:t>Material 3 Adherence:</a:t>
            </a:r>
            <a:r>
              <a:rPr lang="en-US" sz="1200">
                <a:solidFill>
                  <a:srgbClr val="334155"/>
                </a:solidFill>
                <a:latin typeface="Segoe UI"/>
              </a:rPr>
              <a:t> Canonical layouts, responsive breakpoints, high-contrast aesthetics.</a:t>
            </a:r>
          </a:p>
          <a:p>
            <a:pPr marL="288000">
              <a:spcAft>
                <a:spcPts val="110"/>
              </a:spcAft>
              <a:buChar char="•"/>
            </a:pPr>
            <a:r>
              <a:rPr lang="en-US" sz="1200" b="1">
                <a:solidFill>
                  <a:srgbClr val="2563EB"/>
                </a:solidFill>
                <a:latin typeface="Segoe UI"/>
              </a:rPr>
              <a:t>Empirical HCD Grounding:</a:t>
            </a:r>
            <a:r>
              <a:rPr lang="en-US" sz="1200">
                <a:solidFill>
                  <a:srgbClr val="334155"/>
                </a:solidFill>
                <a:latin typeface="Segoe UI"/>
              </a:rPr>
              <a:t> Directly solves Founder Fred's post-deposit transparency anxieties.</a:t>
            </a:r>
          </a:p>
          <a:p>
            <a:pPr marL="288000">
              <a:spcAft>
                <a:spcPts val="110"/>
              </a:spcAft>
              <a:buChar char="•"/>
            </a:pPr>
            <a:r>
              <a:rPr lang="en-US" sz="1200" b="1">
                <a:solidFill>
                  <a:srgbClr val="2563EB"/>
                </a:solidFill>
                <a:latin typeface="Segoe UI"/>
              </a:rPr>
              <a:t>Ready for Assessment 3:</a:t>
            </a:r>
            <a:r>
              <a:rPr lang="en-US" sz="1200">
                <a:solidFill>
                  <a:srgbClr val="334155"/>
                </a:solidFill>
                <a:latin typeface="Segoe UI"/>
              </a:rPr>
              <a:t> Concrete observable usability goals calibrated for empirical testing.</a:t>
            </a:r>
          </a:p>
        </p:txBody>
      </p:sp>
    </p:spTree>
  </p:cSld>
  <p:clrMapOvr>
    <a:masterClrMapping/>
  </p:clrMapOvr>
</p:sld>
</file>

<file path=ppt/theme/theme1.xml><?xml version="1.0" encoding="utf-8"?>
<a:theme xmlns:a="http://schemas.openxmlformats.org/drawingml/2006/main" name="Elegant Media M3 Theme">
  <a:themeElements>
    <a:clrScheme name="ElegantM3">
      <a:dk1>
        <a:sysClr val="windowText" lastClr="000000"/>
      </a:dk1>
      <a:lt1>
        <a:sysClr val="window" lastClr="FFFFFF"/>
      </a:lt1>
      <a:dk2>
        <a:srgbClr val="0F172A"/>
      </a:dk2>
      <a:lt2>
        <a:srgbClr val="F8FAFC"/>
      </a:lt2>
      <a:accent1>
        <a:srgbClr val="2563EB"/>
      </a:accent1>
      <a:accent2>
        <a:srgbClr val="059669"/>
      </a:accent2>
      <a:accent3>
        <a:srgbClr val="D97706"/>
      </a:accent3>
      <a:accent4>
        <a:srgbClr val="7C3AED"/>
      </a:accent4>
      <a:accent5>
        <a:srgbClr val="0284C7"/>
      </a:accent5>
      <a:accent6>
        <a:srgbClr val="DC2626"/>
      </a:accent6>
      <a:hlink>
        <a:srgbClr val="2563EB"/>
      </a:hlink>
      <a:folHlink>
        <a:srgbClr val="7C3AED"/>
      </a:folHlink>
    </a:clrScheme>
    <a:fontScheme name="Modern">
      <a:majorFont>
        <a:latin typeface="Segoe UI"/>
      </a:majorFont>
      <a:minorFont>
        <a:latin typeface="Segoe UI"/>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Macintosh PowerPoint</Application>
  <PresentationFormat>Widescreen</PresentationFormat>
  <TotalTime>10</TotalTime>
  <Words>3500</Word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COIT20270 Assignment 2 Prototype Presentation</dc:title>
  <dc:creator>Sadiq Salman</dc:creator>
  <cp:lastModifiedBy>Sadiq Salman</cp:lastModifiedBy>
  <dc:description>ElegantLink Client Governance Mobile Platform Material 3 Flutter Prototype Presentation Deck</dc:description>
</cp:coreProperties>
</file>