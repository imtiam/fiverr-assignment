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Quattrocento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QuattrocentoSans-bold.fntdata"/><Relationship Id="rId23"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QuattrocentoSans-boldItalic.fntdata"/><Relationship Id="rId25" Type="http://schemas.openxmlformats.org/officeDocument/2006/relationships/font" Target="fonts/Quattrocento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"Hello and welcome. My name is Sadiq Salman, student ID 12284952, presenting Assignment 2 for COIT20270: App Development for Mobile Platforms at Central Queensland University. Today, I am proud to showcase the working prototype of ElegantLink, a client governance mobile platform custom-designed for Australian software development consultancy Elegant Media. Over the next ten minutes, I will demonstrate our fully responsive Material 3 Flutter prototype running live on DartPad, explain how our persona Founder Fred influenced every design choice, evaluate our adherence to canonical UI guidelines and mobile heuristics, and walk you through our privacy and ethical safeguards."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Assignment 2 Rubric: Integration of Persona, UCD, ADs 1-3, Usability Goals, APPs/CASFUD Privacy, M3 Guidelines, Responsive Layouts, and DartPad Execution.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4b47801887bbba32_3_125: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h4b47801887bbba32_3_125: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3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"Every screen in our prototype was shaped by our empirical persona, Founder Fred—standardized across our app as Fred R. Fred is a 42-year-old retail business founder who commissioned custom software. He checks his phone in 10-to-60 second micro-breaks while managing logistics and store operations. Wang and Yu (2024, p. 3) observed that 'technostress has a direct negative impact on user satisfaction and continuance intention to use mobile applications.' Exposing Fred to raw developer tools induces technostress. Furthermore, Punsongserm and Suvakunta (2025, p. 21) showed that mobile legibility collapses under outdoor illumination unless minimum contrast standards are met. We enforced WCAG 2.1 AA contrast and large touch targets throughout."</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Wang, X., &amp; Yu, X. (2024). Art students' technostress. SAGE Open, 14(3), p. 3. Quote: 'technostress has a direct negative impact on user satisfaction and continuance intention to use mobile applications.' | Punsongserm, R., &amp; Suvakunta, P. (2025). Legibility of Thai typefaces. Journal of Graphic Engineering and Design, 16(1), p. 21.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4: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4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4 presents our UML Use Case Diagram, which establishes the architectural system boundary. Following rubric instructions, this diagram is technology-agnostic and organized around actor goals rather than UI clicks. The system clearly delineates Client Fred R. from Project Manager James R. Fred interacts with four primary capabilities: viewing curated project status, reviewing uploaded artefacts and giving feedback, approving milestones or requesting revisions, and managing data privacy consent. On the agency side, James curates sanitized updates and records binding decisions. Notice that privacy management is elevated to a primary use case, upholding user data sovereignty."</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Assessment Rubric: Goal-oriented UML Use Case Diagram with appropriate abstraction and distinct external actor boundaries.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5: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5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"Activity Diagram 1 models how Fred inspects project status, implemented in Screens 2 and 3 of our Flutter app. The diagram utilizes distinct swimlanes for Client and ElegantLink Service. When Fred authenticates into the app or uses demo quick access, the system validates client credentials and renders the ambient dashboard. Fred is greeted with an ambient traffic-light badge—currently green for 'On Track'—the active SDLC stage at 65% completion, and a prominent 'Next Required Action' card. An alternative decision branch allows Fred to exit immediately after a ten-second glance, or tap into the 5-stage SDLC detail screen to view timestamped developer milestones."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Gatsou, C., Politis, A., &amp; Zevgolis, D. (2011). Text vs visual metaphor. Information Services &amp; Use, 31(4), p. 275. Quote: 'visual metaphors facilitate novice users' comprehension and engagement.'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6: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6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"Activity Diagram 2 models deliverable review and feedback submission, implemented in Screens 5 and 6. Fred receives a notification that a new UI mockup is ready, navigates to the Deliverables Gallery, and taps into the Mockup Viewer. Directly beneath the deliverable is an anchored discussion thread featuring previous messages from PM James R. Fred enters his notes into the contextual text field. Crucially, AD2 features verified discard logic: tapping Cancel discards the draft safely without false confirmations, while tapping Submit appends the comment to the live thread with an audit timestamp and triggers a non-intrusive confirmation SnackBar."</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Jakob, R., et al. (2022). Factors influencing adherence to mHealth apps. Journal of Medical Internet Research, 24(5), p. 8. Quote: 'user-tailored content and predictable technical behavior.'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7: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7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"Activity Diagram 3 governs commercial milestone acceptance, implemented across Screens 7, 8, and 9. Milestone approvals carry legally binding financial obligations, such as releasing progress invoices. To eliminate accidental commitments, our flow implements a strict two-step confirmation process. Fred reviews the acceptance checklist and billing liability of 12,500 dollars AUD. If unsatisfied, he selects 'Request Changes' and submits revision notes. If satisfied, selecting 'Approve' triggers a neutral confirmation dialog that explicitly summarizes invoice consequences. Once confirmed, the system writes an immutable audit record and renders a cryptographically signed Digital Certificate."</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Li, W., Flatla, D. R., &amp; Arndt, F. (2025). Divergent deceptions. Behaviour &amp; Information Technology, 44(2), p. 8. Quote: 'asymmetric button styling, hidden consequence disclosures, and false urgency.'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8: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8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compliance with Criterion 1, our prototype implements canonical Material 3 responsive layouts using Flutter's LayoutBuilder. We provide concrete proof of responsiveness across two target devices: the Samsung Galaxy A54 mobile phone and the Apple iPad 10th Gen tablet. On compact viewports under 640dp, the app renders a bottom NavigationBar with filled pill active indicators, placing navigation within Fred's natural thumb zone for one-handed operation. When the screen width expands to 640dp or wider on Fred's iPad or desktop browser, the navigation dynamically transforms into an adaptive left NavigationRail. The content surface reflows from a single column into width-bounded cards, preventing awkward horizontal stretching. This responsiveness is verified live on DartPad by dragging the preview splitter bar across 640dp, adapting seamlessly with zero layout overflow exceptions."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Material 3 Design Guidelines: Canonical Layouts (Compact &lt;640dp vs Medium 640-839dp &amp; Expanded &gt;=840dp); Flutter LayoutBuilder &amp; NavigationRail APIs.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9: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9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9 provides our detailed Material 3 component mapping matrix, demonstrating exhaustive adherence to every mandated widget in the unit rubric. Our AppBars feature centered titles with scroll surface elevation tints; our NavigationBar and NavigationRail employ filled active indicator pills with unbolded unselected states; our TabBars utilize primary pill tab styling; and our deliverable showcase uses a PageView Carousel with animated dot indicators. We strictly respect the Material 3 card specification by using outlined cards with 16dp rounded corners for discrete actions while avoiding antipatterns like nesting ListViews inside cards. Furthermore, our authentication and feedback flows implement Material 3 Forms and TextFormFields with RFC regex email validation, our AlertDialogs enforce neutral two-step confirmations without deceptive button asymmetry, and our FABs and SnackBars provide instantaneous, accessible feedback with minimum 48 by 48dp touch targets."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Material 3 Design Guidelines: Component Specifications for AppBar, NavigationBar, NavigationRail, Tab, Card, Carousel, Form/TextField, Dialog, FAB, and SnackBar.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10: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10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"Evaluating our static screens against mobile heuristics reveals strong alignment with Fred's working constraints. First, Quick Interaction and Micro-Usage: Fred operates in 10-to-60-second bursts. Our dashboard surfaces active stage progress, overall health, and the next required action immediately upon launch, allowing Fred to glance and exit in under ten seconds. Second, Readability and Cognitive Load: Ilany-Tzur and Fink (2023, p. 2446) established that dense data structures degrade mobile user performance. By translating internal Jira backlogs into commercial milestone summaries and visual traffic-light indicators, ElegantLink minimizes extraneous cognitive load."</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Ilany-Tzur, N., &amp; Fink, L. (2023). How is mobile task performance different? Behaviour &amp; Information Technology, 42(14), p. 2446. | Gatsou, C., Politis, A., &amp; Zevgolis, D. (2011). Text vs visual metaphor. Information Services &amp; Use, 31(4), p. 273.</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1: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11: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11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"Continuing our heuristic evaluation: Error Prevention is paramount. On mobile touchscreens, slips and accidental taps occur frequently. Milestone approvals trigger binding commercial invoices; accidental confirmation would destroy client trust. Our prototype enforces an explicit two-step confirmation dialog that clearly details the financial invoice amount before committing. Furthermore, Consistency and Accessibility are strictly upheld. All stakeholders follow a uniform First Name plus Last Initial format: Fred R. and James R. All typography meets WCAG 2.1 AA standards exceeding 4.5:1 contrast, ensuring complete legibility under bright Australian sunlight."</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Jakob, R., et al. (2022). Factors influencing adherence to mHealth apps. JMIR, 24(5), p. 8. | Punsongserm, R., &amp; Suvakunta, P. (2025). Legibility of Thai typefaces. JGED, 16(1), p. 21. | WCAG 2.1 Level AA Accessibility Standards.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2: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2: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12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12 maps our five usability goals from Assignment 1 to our working prototype and outlines the empirical testing protocols for Assessment 3. Goal 1, Learnability: cold app launch to verbal stage recognition in ten seconds or less. Goal 2, Efficiency: submitting contextual deliverable feedback in 60 seconds or less—representing an observable 40% speed improvement over email. Goal 3, Error Prevention: exactly zero accidental milestone approvals across 20 trials. Goal 4, Satisfaction: achieving an above-average SUS score of 68 or higher. And Goal 5, Accessibility: full layout stability at 200% text scaling and WCAG AA contrast."</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Usability Goals Framework: Learnability (&lt;=10s), Efficiency (&lt;=60s), Error Prevention (0% accidental approvals), Satisfaction (SUS &gt;=68), and Accessibility (WCAG AA &gt;=4.5:1).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h4b47801887bbba32_3_969: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h4b47801887bbba32_3_969: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13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13 illustrates our formal Data Flow Diagram, establishing our privacy architecture and data storage boundaries. External entities Client Fred R. and PM James R. interact through authenticated processes. Process 1.0 captures user consent preferences into Data Store 1. Process 3.0 sanitizes engineering backlogs into client-ready summaries stored in Data Store 2. All milestone approvals flow through Process 4.0, which generates immutable cryptographic timestamps saved to the Governance Log in Data Store 3. Crucially, Process 5.0 strips all Personally Identifiable Information from usage telemetry before it reaches analytical storage, preventing commercial surveillance."</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Australian Privacy Principles (APPs 1, 2, 3, 5, 6, 11, 12, 13) | CASFUD Framework: Consent, Anonymity, Security, Freedom &amp; User Data.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4b47801887bbba32_3_1062: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h4b47801887bbba32_3_1062: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14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"Our privacy model strictly operationalizes the Australian Privacy Principles and the CASFUD ethical framework. Regarding Consent, LaMonica et al. (2021, p. 5) proved that 'dense, legalistic policies undermine the user's capacity to provide genuinely informed consent.' We replaced opaque legal terms with layered, plain-English in-app consent sheets with unbundled toggles. On the Security front, Dahiya et al. (2024, p. 3) emphasized that 'mobile applications require defense-in-depth architectural safeguards against data interception.' We enforce TLS 1.3 encryption in transit, AES-256 at rest in Australian cloud facilities, and biometric authentication."</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LaMonica, H. M., et al. (2021). Privacy practices of health IT. JMIR, 23(9), p. 5. Quote: 'dense, legalistic policies undermine the user's capacity to provide genuinely informed consent.' | Dahiya, R., et al. (2024). Security in mobile network. EAI Endorsed Trans. IoT, p. 3.</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4b47801887bbba32_3_1154: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h4b47801887bbba32_3_1154: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15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15 addresses ethical interaction design and our active rejection of mobile dark patterns. Li et al. (2025, p. 8) documented that deceptive patterns such as 'asymmetric button styling, hidden consequence disclosures, and false urgency' routinely manipulate mobile users. ElegantLink prevents this: our 'Approve Milestone' and 'Request Changes' buttons feature identical visual weight, preventing asymmetric nudging. We prohibit artificial urgency countdowns, explicitly display commercial fee liabilities upfront, and optimize performance for mid-range Android devices over patchy cellular connections to uphold digital equity."</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Li, W., Flatla, D. R., &amp; Arndt, F. (2025). Divergent deceptions: Comparative analysis of deceptive patterns in iOS and Android apps. Behaviour &amp; Information Technology, 44(2), p. 8. Quote: 'asymmetric button styling, hidden consequence disclosures, and false urgency.'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6: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16: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16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16 details our code-level software architecture. In accordance with unit specifications, our prototype is packaged into a single, self-contained Dart file of 2,801 lines that compiles cleanly on dartpad.dev without external packages. We implemented a clean reactive architecture using AppStateModel—extending ChangeNotifier—and AppStateScope—extending InheritedNotifier. This provides O(1) state lookups and reactive widget rebuilds across all 11 screens, including our simulated authentication gate, without third-party dependencies. Our codebase is structured across six clear architectural tiers, from domain models up to dedicated screen widgets. Most importantly, complying with Criterion 3, our code contains rich design-level comments explaining architectural decisions, persona heuristics, and accessibility compliance, rather than trivial syntax descriptions."</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Code Quality Guidelines: Clean coding conventions, self-documenting variables, zero deprecated code, and insightful design-level comments.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4b47801887bbba32_3_1278: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h4b47801887bbba32_3_1278: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17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accordance with CQUniversity assessment policy, Slide 17 outlines our transparent use of Generative AI. AI tools were utilized to assist with initial widget scaffolding, OpenXML generation scripts, and benchmarking code against the assessment rubric. However, in compliance with academic integrity standards, I critically evaluated, refactored, and tested every line of code myself. All architectural flows, design-level comments, and literature citations were verified against full-text peer-reviewed articles from the Central Queensland University Library. AI was an assistive peer-review tool, not an authoritative source."</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CQUniversity Assessment Policy on Generative AI Collaboration: Critical Evaluation, Verification, and Transparent Disclosure.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4b47801887bbba32_3_1473: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h4b47801887bbba32_3_1473: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18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"Slide 18 provides our complete reference list of nine peer-reviewed journal articles, all retrieved full-text online from the Central Queensland University Library. In accordance with the 2027 unit requirements, every citation across the slide notes includes verified page numbers and verbatim quotations. These sources ground our persona, cognitive load management, mobile heuristics, privacy architecture, and anti-dark-pattern ethics in empirical academic research."</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Strictly 9 CQU Library Peer-Reviewed Research Papers supporting ULO 1, ULO 3, and ULO 5.</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9:notes"/>
          <p:cNvSpPr/>
          <p:nvPr>
            <p:ph idx="2" type="sldImg"/>
          </p:nvPr>
        </p:nvSpPr>
        <p:spPr>
          <a:xfrm>
            <a:off x="685800" y="6858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8" name="Google Shape;658;p19:notes"/>
          <p:cNvSpPr txBox="1"/>
          <p:nvPr>
            <p:ph idx="1" type="body"/>
          </p:nvPr>
        </p:nvSpPr>
        <p:spPr>
          <a:xfrm>
            <a:off x="685800" y="4000000"/>
            <a:ext cx="5486400" cy="45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F172A"/>
              </a:buClr>
              <a:buSzPts val="1100"/>
              <a:buFont typeface="Quattrocento Sans"/>
              <a:buNone/>
            </a:pPr>
            <a:r>
              <a:rPr b="1" i="0" lang="en-US" sz="1100" u="none" cap="none" strike="noStrike">
                <a:solidFill>
                  <a:srgbClr val="0F172A"/>
                </a:solidFill>
                <a:latin typeface="Quattrocento Sans"/>
                <a:ea typeface="Quattrocento Sans"/>
                <a:cs typeface="Quattrocento Sans"/>
                <a:sym typeface="Quattrocento Sans"/>
              </a:rPr>
              <a:t>SLIDE 19 SPOKEN SCRIPT (10-MINUTE VIDEO PRESENTATION):</a:t>
            </a:r>
            <a:endParaRPr/>
          </a:p>
          <a:p>
            <a:pPr indent="0" lvl="0" marL="0" marR="0" rtl="0" algn="l">
              <a:spcBef>
                <a:spcPts val="60"/>
              </a:spcBef>
              <a:spcAft>
                <a:spcPts val="0"/>
              </a:spcAft>
              <a:buClr>
                <a:srgbClr val="334155"/>
              </a:buClr>
              <a:buSzPts val="1000"/>
              <a:buFont typeface="Quattrocento Sans"/>
              <a:buNone/>
            </a:pPr>
            <a:r>
              <a:rPr b="0" i="0" lang="en-US" sz="1000" u="none" cap="none" strike="noStrike">
                <a:solidFill>
                  <a:srgbClr val="334155"/>
                </a:solidFill>
                <a:latin typeface="Quattrocento Sans"/>
                <a:ea typeface="Quattrocento Sans"/>
                <a:cs typeface="Quattrocento Sans"/>
                <a:sym typeface="Quattrocento Sans"/>
              </a:rPr>
              <a:t>"In conclusion, ElegantLink demonstrates a complete, robust Material 3 Flutter prototype that directly resolves the post-deposit communication void for Elegant Media and Founder Fred. Our prototype runs flawlessly on DartPad, adapts dynamically across mobile and tablet form factors, adheres strictly to canonical Material 3 guidelines, and upholds ethical privacy standards. All submission links—including the DartPad code, private GitHub repository, and shared video link—are provided here. Thank you for your time, and I welcome any feedback."</a:t>
            </a:r>
            <a:endParaRPr/>
          </a:p>
          <a:p>
            <a:pPr indent="0" lvl="0" marL="0" marR="0" rtl="0" algn="l">
              <a:spcBef>
                <a:spcPts val="12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SLIDE NOTES CITATIONS &amp; SCHOLARLY QUOTES (MANDATORY CQU RUBRIC):</a:t>
            </a:r>
            <a:endParaRPr/>
          </a:p>
          <a:p>
            <a:pPr indent="0" lvl="0" marL="0" marR="0" rtl="0" algn="l">
              <a:spcBef>
                <a:spcPts val="60"/>
              </a:spcBef>
              <a:spcAft>
                <a:spcPts val="0"/>
              </a:spcAft>
              <a:buClr>
                <a:srgbClr val="475569"/>
              </a:buClr>
              <a:buSzPts val="1000"/>
              <a:buFont typeface="Quattrocento Sans"/>
              <a:buNone/>
            </a:pPr>
            <a:r>
              <a:rPr b="0" i="0" lang="en-US" sz="1000" u="none" cap="none" strike="noStrike">
                <a:solidFill>
                  <a:srgbClr val="475569"/>
                </a:solidFill>
                <a:latin typeface="Quattrocento Sans"/>
                <a:ea typeface="Quattrocento Sans"/>
                <a:cs typeface="Quattrocento Sans"/>
                <a:sym typeface="Quattrocento Sans"/>
              </a:rPr>
              <a:t>COIT20270 Assignment 2 Final Submission Package | Central Queensland University Australia.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
        <p:nvSpPr>
          <p:cNvPr id="11" name="Google Shape;11;p3"/>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
          <p:cNvSpPr txBox="1"/>
          <p:nvPr/>
        </p:nvSpPr>
        <p:spPr>
          <a:xfrm>
            <a:off x="609600" y="457200"/>
            <a:ext cx="109728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Quattrocento Sans"/>
                <a:ea typeface="Quattrocento Sans"/>
                <a:cs typeface="Quattrocento Sans"/>
                <a:sym typeface="Quattrocento Sans"/>
              </a:rPr>
              <a:t>CQUNIVERSITY AUSTRALIA — COIT20270 APP DEVELOPMENT FOR MOBILE PLATFORMS</a:t>
            </a:r>
            <a:endParaRPr>
              <a:latin typeface="Quattrocento Sans"/>
              <a:ea typeface="Quattrocento Sans"/>
              <a:cs typeface="Quattrocento Sans"/>
              <a:sym typeface="Quattrocento Sans"/>
            </a:endParaRPr>
          </a:p>
          <a:p>
            <a:pPr indent="0" lvl="0" marL="0" rtl="0" algn="l">
              <a:spcBef>
                <a:spcPts val="600"/>
              </a:spcBef>
              <a:spcAft>
                <a:spcPts val="0"/>
              </a:spcAft>
              <a:buNone/>
            </a:pPr>
            <a:r>
              <a:rPr b="0" lang="en-US" sz="3000">
                <a:solidFill>
                  <a:srgbClr val="0F172A"/>
                </a:solidFill>
                <a:latin typeface="Quattrocento Sans"/>
                <a:ea typeface="Quattrocento Sans"/>
                <a:cs typeface="Quattrocento Sans"/>
                <a:sym typeface="Quattrocento Sans"/>
              </a:rPr>
              <a:t>ElegantLink: Client Governance Mobile Platform</a:t>
            </a:r>
            <a:endParaRPr b="0" sz="30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400">
                <a:solidFill>
                  <a:srgbClr val="475569"/>
                </a:solidFill>
                <a:latin typeface="Quattrocento Sans"/>
                <a:ea typeface="Quattrocento Sans"/>
                <a:cs typeface="Quattrocento Sans"/>
                <a:sym typeface="Quattrocento Sans"/>
              </a:rPr>
              <a:t>Assignment 2: Material 3 Prototype &amp; Architectural Evaluation</a:t>
            </a:r>
            <a:endParaRPr b="0" sz="1400">
              <a:solidFill>
                <a:srgbClr val="475569"/>
              </a:solidFill>
              <a:latin typeface="Quattrocento Sans"/>
              <a:ea typeface="Quattrocento Sans"/>
              <a:cs typeface="Quattrocento Sans"/>
              <a:sym typeface="Quattrocento Sans"/>
            </a:endParaRPr>
          </a:p>
        </p:txBody>
      </p:sp>
      <p:grpSp>
        <p:nvGrpSpPr>
          <p:cNvPr id="13" name="Google Shape;13;p3"/>
          <p:cNvGrpSpPr/>
          <p:nvPr/>
        </p:nvGrpSpPr>
        <p:grpSpPr>
          <a:xfrm>
            <a:off x="609600" y="1952625"/>
            <a:ext cx="5334000" cy="4429200"/>
            <a:chOff x="0" y="0"/>
            <a:chExt cx="5334000" cy="4429200"/>
          </a:xfrm>
        </p:grpSpPr>
        <p:sp>
          <p:nvSpPr>
            <p:cNvPr id="14" name="Google Shape;14;p3"/>
            <p:cNvSpPr/>
            <p:nvPr/>
          </p:nvSpPr>
          <p:spPr>
            <a:xfrm>
              <a:off x="0" y="0"/>
              <a:ext cx="5334000" cy="4429200"/>
            </a:xfrm>
            <a:prstGeom prst="roundRect">
              <a:avLst>
                <a:gd fmla="val 344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 name="Google Shape;15;p3"/>
            <p:cNvSpPr/>
            <p:nvPr/>
          </p:nvSpPr>
          <p:spPr>
            <a:xfrm>
              <a:off x="0" y="0"/>
              <a:ext cx="5334000" cy="609600"/>
            </a:xfrm>
            <a:prstGeom prst="roundRect">
              <a:avLst>
                <a:gd fmla="val 25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 name="Google Shape;16;p3"/>
            <p:cNvSpPr/>
            <p:nvPr/>
          </p:nvSpPr>
          <p:spPr>
            <a:xfrm>
              <a:off x="0" y="476250"/>
              <a:ext cx="5334000" cy="13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7" name="Google Shape;17;p3"/>
            <p:cNvCxnSpPr/>
            <p:nvPr/>
          </p:nvCxnSpPr>
          <p:spPr>
            <a:xfrm>
              <a:off x="0" y="609600"/>
              <a:ext cx="5334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8" name="Google Shape;18;p3"/>
            <p:cNvSpPr txBox="1"/>
            <p:nvPr/>
          </p:nvSpPr>
          <p:spPr>
            <a:xfrm>
              <a:off x="228600" y="171450"/>
              <a:ext cx="48768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0F172A"/>
                  </a:solidFill>
                  <a:latin typeface="Quattrocento Sans"/>
                  <a:ea typeface="Quattrocento Sans"/>
                  <a:cs typeface="Quattrocento Sans"/>
                  <a:sym typeface="Quattrocento Sans"/>
                </a:rPr>
                <a:t>Candidate &amp; Project Metadata</a:t>
              </a:r>
              <a:endParaRPr b="1" sz="1600">
                <a:solidFill>
                  <a:srgbClr val="0F172A"/>
                </a:solidFill>
                <a:latin typeface="Quattrocento Sans"/>
                <a:ea typeface="Quattrocento Sans"/>
                <a:cs typeface="Quattrocento Sans"/>
                <a:sym typeface="Quattrocento Sans"/>
              </a:endParaRPr>
            </a:p>
          </p:txBody>
        </p:sp>
        <p:sp>
          <p:nvSpPr>
            <p:cNvPr id="19" name="Google Shape;19;p3"/>
            <p:cNvSpPr txBox="1"/>
            <p:nvPr/>
          </p:nvSpPr>
          <p:spPr>
            <a:xfrm>
              <a:off x="228600" y="762000"/>
              <a:ext cx="4876800" cy="347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Student Author</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Sadiq Salman </a:t>
              </a:r>
              <a:r>
                <a:rPr b="0" lang="en-US" sz="1300">
                  <a:solidFill>
                    <a:srgbClr val="64748B"/>
                  </a:solidFill>
                  <a:latin typeface="Quattrocento Sans"/>
                  <a:ea typeface="Quattrocento Sans"/>
                  <a:cs typeface="Quattrocento Sans"/>
                  <a:sym typeface="Quattrocento Sans"/>
                </a:rPr>
                <a:t>(Student ID: 12284952)</a:t>
              </a:r>
              <a:endParaRPr b="0" sz="1300">
                <a:solidFill>
                  <a:srgbClr val="1E293B"/>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Target Organisation</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Elegant Media Australia </a:t>
              </a:r>
              <a:r>
                <a:rPr b="0" lang="en-US" sz="1300">
                  <a:solidFill>
                    <a:srgbClr val="64748B"/>
                  </a:solidFill>
                  <a:latin typeface="Quattrocento Sans"/>
                  <a:ea typeface="Quattrocento Sans"/>
                  <a:cs typeface="Quattrocento Sans"/>
                  <a:sym typeface="Quattrocento Sans"/>
                </a:rPr>
                <a:t>(Melbourne Head Office)</a:t>
              </a:r>
              <a:endParaRPr b="0" sz="1300">
                <a:solidFill>
                  <a:srgbClr val="1E293B"/>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Unit Learning Outcomes</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ULO 1 </a:t>
              </a:r>
              <a:r>
                <a:rPr b="0" lang="en-US" sz="1300">
                  <a:solidFill>
                    <a:srgbClr val="64748B"/>
                  </a:solidFill>
                  <a:latin typeface="Quattrocento Sans"/>
                  <a:ea typeface="Quattrocento Sans"/>
                  <a:cs typeface="Quattrocento Sans"/>
                  <a:sym typeface="Quattrocento Sans"/>
                </a:rPr>
                <a:t>(Native Apps)</a:t>
              </a:r>
              <a:r>
                <a:rPr b="0" lang="en-US" sz="1300">
                  <a:solidFill>
                    <a:srgbClr val="1E293B"/>
                  </a:solidFill>
                  <a:latin typeface="Quattrocento Sans"/>
                  <a:ea typeface="Quattrocento Sans"/>
                  <a:cs typeface="Quattrocento Sans"/>
                  <a:sym typeface="Quattrocento Sans"/>
                </a:rPr>
                <a:t> &amp; ULO 3 </a:t>
              </a:r>
              <a:r>
                <a:rPr b="0" lang="en-US" sz="1300">
                  <a:solidFill>
                    <a:srgbClr val="64748B"/>
                  </a:solidFill>
                  <a:latin typeface="Quattrocento Sans"/>
                  <a:ea typeface="Quattrocento Sans"/>
                  <a:cs typeface="Quattrocento Sans"/>
                  <a:sym typeface="Quattrocento Sans"/>
                </a:rPr>
                <a:t>(IDE &amp; Debugging)</a:t>
              </a:r>
              <a:endParaRPr b="0" sz="1300">
                <a:solidFill>
                  <a:srgbClr val="1E293B"/>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Assessment Weight</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1E293B"/>
                  </a:solidFill>
                  <a:latin typeface="Quattrocento Sans"/>
                  <a:ea typeface="Quattrocento Sans"/>
                  <a:cs typeface="Quattrocento Sans"/>
                  <a:sym typeface="Quattrocento Sans"/>
                </a:rPr>
                <a:t>30% </a:t>
              </a:r>
              <a:r>
                <a:rPr b="0" lang="en-US" sz="1300">
                  <a:solidFill>
                    <a:srgbClr val="64748B"/>
                  </a:solidFill>
                  <a:latin typeface="Quattrocento Sans"/>
                  <a:ea typeface="Quattrocento Sans"/>
                  <a:cs typeface="Quattrocento Sans"/>
                  <a:sym typeface="Quattrocento Sans"/>
                </a:rPr>
                <a:t>(Term 1, Week 6 Submission)</a:t>
              </a:r>
              <a:endParaRPr b="0" sz="1300">
                <a:solidFill>
                  <a:srgbClr val="1E293B"/>
                </a:solidFill>
                <a:latin typeface="Quattrocento Sans"/>
                <a:ea typeface="Quattrocento Sans"/>
                <a:cs typeface="Quattrocento Sans"/>
                <a:sym typeface="Quattrocento Sans"/>
              </a:endParaRPr>
            </a:p>
          </p:txBody>
        </p:sp>
      </p:grpSp>
      <p:grpSp>
        <p:nvGrpSpPr>
          <p:cNvPr id="20" name="Google Shape;20;p3"/>
          <p:cNvGrpSpPr/>
          <p:nvPr/>
        </p:nvGrpSpPr>
        <p:grpSpPr>
          <a:xfrm>
            <a:off x="6248400" y="1952625"/>
            <a:ext cx="5334000" cy="4429200"/>
            <a:chOff x="0" y="0"/>
            <a:chExt cx="5334000" cy="4429200"/>
          </a:xfrm>
        </p:grpSpPr>
        <p:sp>
          <p:nvSpPr>
            <p:cNvPr id="21" name="Google Shape;21;p3"/>
            <p:cNvSpPr/>
            <p:nvPr/>
          </p:nvSpPr>
          <p:spPr>
            <a:xfrm>
              <a:off x="0" y="0"/>
              <a:ext cx="5334000" cy="4429200"/>
            </a:xfrm>
            <a:prstGeom prst="roundRect">
              <a:avLst>
                <a:gd fmla="val 344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 name="Google Shape;22;p3"/>
            <p:cNvSpPr/>
            <p:nvPr/>
          </p:nvSpPr>
          <p:spPr>
            <a:xfrm>
              <a:off x="0" y="0"/>
              <a:ext cx="5334000" cy="609600"/>
            </a:xfrm>
            <a:prstGeom prst="roundRect">
              <a:avLst>
                <a:gd fmla="val 2500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 name="Google Shape;23;p3"/>
            <p:cNvSpPr/>
            <p:nvPr/>
          </p:nvSpPr>
          <p:spPr>
            <a:xfrm>
              <a:off x="0" y="476250"/>
              <a:ext cx="5334000" cy="13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4" name="Google Shape;24;p3"/>
            <p:cNvCxnSpPr/>
            <p:nvPr/>
          </p:nvCxnSpPr>
          <p:spPr>
            <a:xfrm>
              <a:off x="0" y="609600"/>
              <a:ext cx="5334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5" name="Google Shape;25;p3"/>
            <p:cNvSpPr txBox="1"/>
            <p:nvPr/>
          </p:nvSpPr>
          <p:spPr>
            <a:xfrm>
              <a:off x="228600" y="171450"/>
              <a:ext cx="4876800" cy="342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0F172A"/>
                  </a:solidFill>
                  <a:latin typeface="Quattrocento Sans"/>
                  <a:ea typeface="Quattrocento Sans"/>
                  <a:cs typeface="Quattrocento Sans"/>
                  <a:sym typeface="Quattrocento Sans"/>
                </a:rPr>
                <a:t>Submission Deliverables &amp; Access Links</a:t>
              </a:r>
              <a:endParaRPr b="1" sz="1600">
                <a:solidFill>
                  <a:srgbClr val="0F172A"/>
                </a:solidFill>
                <a:latin typeface="Quattrocento Sans"/>
                <a:ea typeface="Quattrocento Sans"/>
                <a:cs typeface="Quattrocento Sans"/>
                <a:sym typeface="Quattrocento Sans"/>
              </a:endParaRPr>
            </a:p>
          </p:txBody>
        </p:sp>
        <p:sp>
          <p:nvSpPr>
            <p:cNvPr id="26" name="Google Shape;26;p3"/>
            <p:cNvSpPr txBox="1"/>
            <p:nvPr/>
          </p:nvSpPr>
          <p:spPr>
            <a:xfrm>
              <a:off x="228600" y="762000"/>
              <a:ext cx="4876800" cy="3476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Interactive Prototype</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Single-file executable directly on </a:t>
              </a:r>
              <a:r>
                <a:rPr b="0" lang="en-US" sz="1300">
                  <a:solidFill>
                    <a:srgbClr val="1E293B"/>
                  </a:solidFill>
                  <a:latin typeface="Quattrocento Sans"/>
                  <a:ea typeface="Quattrocento Sans"/>
                  <a:cs typeface="Quattrocento Sans"/>
                  <a:sym typeface="Quattrocento Sans"/>
                </a:rPr>
                <a:t>dartpad.dev</a:t>
              </a:r>
              <a:endParaRPr b="0" sz="1300">
                <a:solidFill>
                  <a:srgbClr val="334155"/>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Private Code Repository</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GitHub repository shared with tutor &amp; unit coordinator</a:t>
              </a:r>
              <a:endParaRPr b="0" sz="1300">
                <a:solidFill>
                  <a:srgbClr val="334155"/>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Presentation Slides</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19-Slide PowerPoint Deck with full notes &amp; citations</a:t>
              </a:r>
              <a:endParaRPr b="0" sz="1300">
                <a:solidFill>
                  <a:srgbClr val="334155"/>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Video Presentation</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300">
                  <a:solidFill>
                    <a:srgbClr val="334155"/>
                  </a:solidFill>
                  <a:latin typeface="Quattrocento Sans"/>
                  <a:ea typeface="Quattrocento Sans"/>
                  <a:cs typeface="Quattrocento Sans"/>
                  <a:sym typeface="Quattrocento Sans"/>
                </a:rPr>
                <a:t>10-Minute Walkthrough shared via CQU OneDrive</a:t>
              </a:r>
              <a:endParaRPr b="0" sz="1300">
                <a:solidFill>
                  <a:srgbClr val="334155"/>
                </a:solidFill>
                <a:latin typeface="Quattrocento Sans"/>
                <a:ea typeface="Quattrocento Sans"/>
                <a:cs typeface="Quattrocento Sans"/>
                <a:sym typeface="Quattrocento Sa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4"/>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HUMAN-CENTERED DESIGN &amp; EMPIRICAL PERSONA</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Persona: Founder Fred (Fred R.)</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42-Year-Old Managing Director Requiring Glanceability, Error Prevention &amp; High Contrast</a:t>
            </a:r>
            <a:endParaRPr/>
          </a:p>
        </p:txBody>
      </p:sp>
      <p:grpSp>
        <p:nvGrpSpPr>
          <p:cNvPr id="33" name="Google Shape;33;p4"/>
          <p:cNvGrpSpPr/>
          <p:nvPr/>
        </p:nvGrpSpPr>
        <p:grpSpPr>
          <a:xfrm>
            <a:off x="600075" y="1714500"/>
            <a:ext cx="4953000" cy="4667400"/>
            <a:chOff x="0" y="0"/>
            <a:chExt cx="4953000" cy="4667400"/>
          </a:xfrm>
        </p:grpSpPr>
        <p:sp>
          <p:nvSpPr>
            <p:cNvPr id="34" name="Google Shape;34;p4"/>
            <p:cNvSpPr/>
            <p:nvPr/>
          </p:nvSpPr>
          <p:spPr>
            <a:xfrm>
              <a:off x="0" y="0"/>
              <a:ext cx="4953000" cy="4667400"/>
            </a:xfrm>
            <a:prstGeom prst="roundRect">
              <a:avLst>
                <a:gd fmla="val 285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 name="Google Shape;35;p4"/>
            <p:cNvSpPr/>
            <p:nvPr/>
          </p:nvSpPr>
          <p:spPr>
            <a:xfrm>
              <a:off x="0" y="0"/>
              <a:ext cx="4953000" cy="857400"/>
            </a:xfrm>
            <a:prstGeom prst="roundRect">
              <a:avLst>
                <a:gd fmla="val 15555"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 name="Google Shape;36;p4"/>
            <p:cNvSpPr/>
            <p:nvPr/>
          </p:nvSpPr>
          <p:spPr>
            <a:xfrm>
              <a:off x="0" y="723900"/>
              <a:ext cx="4953000" cy="1335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7" name="Google Shape;37;p4"/>
            <p:cNvCxnSpPr/>
            <p:nvPr/>
          </p:nvCxnSpPr>
          <p:spPr>
            <a:xfrm>
              <a:off x="0" y="857250"/>
              <a:ext cx="4953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38" name="Google Shape;38;p4"/>
            <p:cNvSpPr/>
            <p:nvPr/>
          </p:nvSpPr>
          <p:spPr>
            <a:xfrm>
              <a:off x="266700" y="180975"/>
              <a:ext cx="495300" cy="495300"/>
            </a:xfrm>
            <a:prstGeom prst="ellipse">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 name="Google Shape;39;p4"/>
            <p:cNvSpPr txBox="1"/>
            <p:nvPr/>
          </p:nvSpPr>
          <p:spPr>
            <a:xfrm>
              <a:off x="361950" y="308356"/>
              <a:ext cx="3048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200">
                  <a:solidFill>
                    <a:srgbClr val="2563EB"/>
                  </a:solidFill>
                  <a:latin typeface="Material Icons"/>
                  <a:ea typeface="Material Icons"/>
                  <a:cs typeface="Material Icons"/>
                  <a:sym typeface="Material Icons"/>
                </a:rPr>
                <a:t>person</a:t>
              </a:r>
              <a:endParaRPr sz="2200">
                <a:solidFill>
                  <a:srgbClr val="2563EB"/>
                </a:solidFill>
                <a:latin typeface="Material Icons"/>
                <a:ea typeface="Material Icons"/>
                <a:cs typeface="Material Icons"/>
                <a:sym typeface="Material Icons"/>
              </a:endParaRPr>
            </a:p>
          </p:txBody>
        </p:sp>
        <p:sp>
          <p:nvSpPr>
            <p:cNvPr id="40" name="Google Shape;40;p4"/>
            <p:cNvSpPr txBox="1"/>
            <p:nvPr/>
          </p:nvSpPr>
          <p:spPr>
            <a:xfrm>
              <a:off x="876300" y="209550"/>
              <a:ext cx="381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F172A"/>
                  </a:solidFill>
                  <a:latin typeface="Quattrocento Sans"/>
                  <a:ea typeface="Quattrocento Sans"/>
                  <a:cs typeface="Quattrocento Sans"/>
                  <a:sym typeface="Quattrocento Sans"/>
                </a:rPr>
                <a:t>Fred Rahman ('Fred R.')</a:t>
              </a:r>
              <a:endParaRPr b="1" sz="1600">
                <a:solidFill>
                  <a:srgbClr val="0F172A"/>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100">
                  <a:solidFill>
                    <a:srgbClr val="64748B"/>
                  </a:solidFill>
                  <a:latin typeface="Quattrocento Sans"/>
                  <a:ea typeface="Quattrocento Sans"/>
                  <a:cs typeface="Quattrocento Sans"/>
                  <a:sym typeface="Quattrocento Sans"/>
                </a:rPr>
                <a:t>Age 42 • Managing Director of Retail Venture</a:t>
              </a:r>
              <a:endParaRPr sz="1100">
                <a:solidFill>
                  <a:srgbClr val="64748B"/>
                </a:solidFill>
                <a:latin typeface="Quattrocento Sans"/>
                <a:ea typeface="Quattrocento Sans"/>
                <a:cs typeface="Quattrocento Sans"/>
                <a:sym typeface="Quattrocento Sans"/>
              </a:endParaRPr>
            </a:p>
          </p:txBody>
        </p:sp>
        <p:grpSp>
          <p:nvGrpSpPr>
            <p:cNvPr id="41" name="Google Shape;41;p4"/>
            <p:cNvGrpSpPr/>
            <p:nvPr/>
          </p:nvGrpSpPr>
          <p:grpSpPr>
            <a:xfrm>
              <a:off x="266700" y="1028700"/>
              <a:ext cx="4457850" cy="666900"/>
              <a:chOff x="38100" y="19050"/>
              <a:chExt cx="4457850" cy="666900"/>
            </a:xfrm>
          </p:grpSpPr>
          <p:sp>
            <p:nvSpPr>
              <p:cNvPr id="42" name="Google Shape;42;p4"/>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 name="Google Shape;43;p4"/>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psychology</a:t>
                </a:r>
                <a:endParaRPr sz="1105">
                  <a:solidFill>
                    <a:srgbClr val="2563EB"/>
                  </a:solidFill>
                  <a:latin typeface="Material Icons"/>
                  <a:ea typeface="Material Icons"/>
                  <a:cs typeface="Material Icons"/>
                  <a:sym typeface="Material Icons"/>
                </a:endParaRPr>
              </a:p>
            </p:txBody>
          </p:sp>
          <p:sp>
            <p:nvSpPr>
              <p:cNvPr id="44" name="Google Shape;44;p4"/>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Technical Literacy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Novice to Intermediate (frequent user of CommBank, Xero, WhatsApp).</a:t>
                </a:r>
                <a:endParaRPr sz="1050">
                  <a:solidFill>
                    <a:srgbClr val="334155"/>
                  </a:solidFill>
                  <a:latin typeface="Quattrocento Sans"/>
                  <a:ea typeface="Quattrocento Sans"/>
                  <a:cs typeface="Quattrocento Sans"/>
                  <a:sym typeface="Quattrocento Sans"/>
                </a:endParaRPr>
              </a:p>
            </p:txBody>
          </p:sp>
        </p:grpSp>
        <p:cxnSp>
          <p:nvCxnSpPr>
            <p:cNvPr id="45" name="Google Shape;45;p4"/>
            <p:cNvCxnSpPr/>
            <p:nvPr/>
          </p:nvCxnSpPr>
          <p:spPr>
            <a:xfrm>
              <a:off x="228600" y="1828800"/>
              <a:ext cx="44958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46" name="Google Shape;46;p4"/>
            <p:cNvGrpSpPr/>
            <p:nvPr/>
          </p:nvGrpSpPr>
          <p:grpSpPr>
            <a:xfrm>
              <a:off x="266700" y="1943100"/>
              <a:ext cx="4457850" cy="666900"/>
              <a:chOff x="38100" y="19050"/>
              <a:chExt cx="4457850" cy="666900"/>
            </a:xfrm>
          </p:grpSpPr>
          <p:sp>
            <p:nvSpPr>
              <p:cNvPr id="47" name="Google Shape;47;p4"/>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 name="Google Shape;48;p4"/>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devices</a:t>
                </a:r>
                <a:endParaRPr sz="1105">
                  <a:solidFill>
                    <a:srgbClr val="2563EB"/>
                  </a:solidFill>
                  <a:latin typeface="Material Icons"/>
                  <a:ea typeface="Material Icons"/>
                  <a:cs typeface="Material Icons"/>
                  <a:sym typeface="Material Icons"/>
                </a:endParaRPr>
              </a:p>
            </p:txBody>
          </p:sp>
          <p:sp>
            <p:nvSpPr>
              <p:cNvPr id="49" name="Google Shape;49;p4"/>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Hardware Ecosystem</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Samsung Galaxy A54 (Mid-range Android) &amp; Apple iPad (10th Gen).</a:t>
                </a:r>
                <a:endParaRPr sz="1050">
                  <a:solidFill>
                    <a:srgbClr val="334155"/>
                  </a:solidFill>
                  <a:latin typeface="Quattrocento Sans"/>
                  <a:ea typeface="Quattrocento Sans"/>
                  <a:cs typeface="Quattrocento Sans"/>
                  <a:sym typeface="Quattrocento Sans"/>
                </a:endParaRPr>
              </a:p>
            </p:txBody>
          </p:sp>
        </p:grpSp>
        <p:cxnSp>
          <p:nvCxnSpPr>
            <p:cNvPr id="50" name="Google Shape;50;p4"/>
            <p:cNvCxnSpPr/>
            <p:nvPr/>
          </p:nvCxnSpPr>
          <p:spPr>
            <a:xfrm>
              <a:off x="228600" y="2743200"/>
              <a:ext cx="44958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51" name="Google Shape;51;p4"/>
            <p:cNvGrpSpPr/>
            <p:nvPr/>
          </p:nvGrpSpPr>
          <p:grpSpPr>
            <a:xfrm>
              <a:off x="266700" y="2857500"/>
              <a:ext cx="4457850" cy="666900"/>
              <a:chOff x="38100" y="19050"/>
              <a:chExt cx="4457850" cy="666900"/>
            </a:xfrm>
          </p:grpSpPr>
          <p:sp>
            <p:nvSpPr>
              <p:cNvPr id="52" name="Google Shape;52;p4"/>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 name="Google Shape;53;p4"/>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wb_sunny</a:t>
                </a:r>
                <a:endParaRPr sz="1105">
                  <a:solidFill>
                    <a:srgbClr val="2563EB"/>
                  </a:solidFill>
                  <a:latin typeface="Material Icons"/>
                  <a:ea typeface="Material Icons"/>
                  <a:cs typeface="Material Icons"/>
                  <a:sym typeface="Material Icons"/>
                </a:endParaRPr>
              </a:p>
            </p:txBody>
          </p:sp>
          <p:sp>
            <p:nvSpPr>
              <p:cNvPr id="54" name="Google Shape;54;p4"/>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Physical Environment</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High-mobility, transit, on-site warehouses, and bright outdoor sunlight.</a:t>
                </a:r>
                <a:endParaRPr sz="1050">
                  <a:solidFill>
                    <a:srgbClr val="334155"/>
                  </a:solidFill>
                  <a:latin typeface="Quattrocento Sans"/>
                  <a:ea typeface="Quattrocento Sans"/>
                  <a:cs typeface="Quattrocento Sans"/>
                  <a:sym typeface="Quattrocento Sans"/>
                </a:endParaRPr>
              </a:p>
            </p:txBody>
          </p:sp>
        </p:grpSp>
        <p:cxnSp>
          <p:nvCxnSpPr>
            <p:cNvPr id="55" name="Google Shape;55;p4"/>
            <p:cNvCxnSpPr/>
            <p:nvPr/>
          </p:nvCxnSpPr>
          <p:spPr>
            <a:xfrm>
              <a:off x="228600" y="3657600"/>
              <a:ext cx="44958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56" name="Google Shape;56;p4"/>
            <p:cNvGrpSpPr/>
            <p:nvPr/>
          </p:nvGrpSpPr>
          <p:grpSpPr>
            <a:xfrm>
              <a:off x="266700" y="3771900"/>
              <a:ext cx="4457850" cy="666900"/>
              <a:chOff x="38100" y="19050"/>
              <a:chExt cx="4457850" cy="666900"/>
            </a:xfrm>
          </p:grpSpPr>
          <p:sp>
            <p:nvSpPr>
              <p:cNvPr id="57" name="Google Shape;57;p4"/>
              <p:cNvSpPr/>
              <p:nvPr/>
            </p:nvSpPr>
            <p:spPr>
              <a:xfrm>
                <a:off x="38100" y="38100"/>
                <a:ext cx="266700" cy="2667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4"/>
              <p:cNvSpPr txBox="1"/>
              <p:nvPr/>
            </p:nvSpPr>
            <p:spPr>
              <a:xfrm>
                <a:off x="76200" y="95187"/>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105">
                    <a:solidFill>
                      <a:srgbClr val="2563EB"/>
                    </a:solidFill>
                    <a:latin typeface="Material Icons"/>
                    <a:ea typeface="Material Icons"/>
                    <a:cs typeface="Material Icons"/>
                    <a:sym typeface="Material Icons"/>
                  </a:rPr>
                  <a:t>timer</a:t>
                </a:r>
                <a:endParaRPr sz="1105">
                  <a:solidFill>
                    <a:srgbClr val="2563EB"/>
                  </a:solidFill>
                  <a:latin typeface="Material Icons"/>
                  <a:ea typeface="Material Icons"/>
                  <a:cs typeface="Material Icons"/>
                  <a:sym typeface="Material Icons"/>
                </a:endParaRPr>
              </a:p>
            </p:txBody>
          </p:sp>
          <p:sp>
            <p:nvSpPr>
              <p:cNvPr id="59" name="Google Shape;59;p4"/>
              <p:cNvSpPr txBox="1"/>
              <p:nvPr/>
            </p:nvSpPr>
            <p:spPr>
              <a:xfrm>
                <a:off x="400050" y="19050"/>
                <a:ext cx="4095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Interaction Pattern</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lang="en-US" sz="1050">
                    <a:solidFill>
                      <a:srgbClr val="334155"/>
                    </a:solidFill>
                    <a:latin typeface="Quattrocento Sans"/>
                    <a:ea typeface="Quattrocento Sans"/>
                    <a:cs typeface="Quattrocento Sans"/>
                    <a:sym typeface="Quattrocento Sans"/>
                  </a:rPr>
                  <a:t>Micro-sessions lasting 10 to 60 seconds between managerial tasks.</a:t>
                </a:r>
                <a:endParaRPr sz="1050">
                  <a:solidFill>
                    <a:srgbClr val="334155"/>
                  </a:solidFill>
                  <a:latin typeface="Quattrocento Sans"/>
                  <a:ea typeface="Quattrocento Sans"/>
                  <a:cs typeface="Quattrocento Sans"/>
                  <a:sym typeface="Quattrocento Sans"/>
                </a:endParaRPr>
              </a:p>
            </p:txBody>
          </p:sp>
        </p:grpSp>
      </p:grpSp>
      <p:grpSp>
        <p:nvGrpSpPr>
          <p:cNvPr id="60" name="Google Shape;60;p4"/>
          <p:cNvGrpSpPr/>
          <p:nvPr/>
        </p:nvGrpSpPr>
        <p:grpSpPr>
          <a:xfrm>
            <a:off x="5791200" y="1714500"/>
            <a:ext cx="5800800" cy="4648350"/>
            <a:chOff x="0" y="0"/>
            <a:chExt cx="5800800" cy="4648350"/>
          </a:xfrm>
        </p:grpSpPr>
        <p:grpSp>
          <p:nvGrpSpPr>
            <p:cNvPr id="61" name="Google Shape;61;p4"/>
            <p:cNvGrpSpPr/>
            <p:nvPr/>
          </p:nvGrpSpPr>
          <p:grpSpPr>
            <a:xfrm>
              <a:off x="0" y="0"/>
              <a:ext cx="5800800" cy="1047900"/>
              <a:chOff x="0" y="0"/>
              <a:chExt cx="5800800" cy="1047900"/>
            </a:xfrm>
          </p:grpSpPr>
          <p:sp>
            <p:nvSpPr>
              <p:cNvPr id="62" name="Google Shape;62;p4"/>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4"/>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 name="Google Shape;64;p4"/>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4"/>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sentiment_satisfied</a:t>
                </a:r>
                <a:endParaRPr sz="1400">
                  <a:solidFill>
                    <a:srgbClr val="2563EB"/>
                  </a:solidFill>
                  <a:latin typeface="Material Icons"/>
                  <a:ea typeface="Material Icons"/>
                  <a:cs typeface="Material Icons"/>
                  <a:sym typeface="Material Icons"/>
                </a:endParaRPr>
              </a:p>
            </p:txBody>
          </p:sp>
          <p:sp>
            <p:nvSpPr>
              <p:cNvPr id="66" name="Google Shape;66;p4"/>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Technostress Mitigation</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Wang &amp; Yu (2024, p. 3) show technostress causes user disengagement; ElegantLink eliminates all engineering jargon from client screens.</a:t>
                </a:r>
                <a:endParaRPr sz="1050">
                  <a:solidFill>
                    <a:srgbClr val="334155"/>
                  </a:solidFill>
                  <a:latin typeface="Quattrocento Sans"/>
                  <a:ea typeface="Quattrocento Sans"/>
                  <a:cs typeface="Quattrocento Sans"/>
                  <a:sym typeface="Quattrocento Sans"/>
                </a:endParaRPr>
              </a:p>
            </p:txBody>
          </p:sp>
        </p:grpSp>
        <p:grpSp>
          <p:nvGrpSpPr>
            <p:cNvPr id="67" name="Google Shape;67;p4"/>
            <p:cNvGrpSpPr/>
            <p:nvPr/>
          </p:nvGrpSpPr>
          <p:grpSpPr>
            <a:xfrm>
              <a:off x="0" y="1200150"/>
              <a:ext cx="5800800" cy="1047900"/>
              <a:chOff x="0" y="0"/>
              <a:chExt cx="5800800" cy="1047900"/>
            </a:xfrm>
          </p:grpSpPr>
          <p:sp>
            <p:nvSpPr>
              <p:cNvPr id="68" name="Google Shape;68;p4"/>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 name="Google Shape;69;p4"/>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4"/>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4"/>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contrast</a:t>
                </a:r>
                <a:endParaRPr sz="1400">
                  <a:solidFill>
                    <a:srgbClr val="2563EB"/>
                  </a:solidFill>
                  <a:latin typeface="Material Icons"/>
                  <a:ea typeface="Material Icons"/>
                  <a:cs typeface="Material Icons"/>
                  <a:sym typeface="Material Icons"/>
                </a:endParaRPr>
              </a:p>
            </p:txBody>
          </p:sp>
          <p:sp>
            <p:nvSpPr>
              <p:cNvPr id="72" name="Google Shape;72;p4"/>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Outdoor Contrast Compliance</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Punsongserm &amp; Suvakunta (2025, p. 21) show mobile legibility collapses under field sunlight; our UI enforces strict WCAG AA &gt;=4.5:1 contrast.</a:t>
                </a:r>
                <a:endParaRPr sz="1050">
                  <a:solidFill>
                    <a:srgbClr val="334155"/>
                  </a:solidFill>
                  <a:latin typeface="Quattrocento Sans"/>
                  <a:ea typeface="Quattrocento Sans"/>
                  <a:cs typeface="Quattrocento Sans"/>
                  <a:sym typeface="Quattrocento Sans"/>
                </a:endParaRPr>
              </a:p>
            </p:txBody>
          </p:sp>
        </p:grpSp>
        <p:grpSp>
          <p:nvGrpSpPr>
            <p:cNvPr id="73" name="Google Shape;73;p4"/>
            <p:cNvGrpSpPr/>
            <p:nvPr/>
          </p:nvGrpSpPr>
          <p:grpSpPr>
            <a:xfrm>
              <a:off x="0" y="2400300"/>
              <a:ext cx="5800800" cy="1047900"/>
              <a:chOff x="0" y="0"/>
              <a:chExt cx="5800800" cy="1047900"/>
            </a:xfrm>
          </p:grpSpPr>
          <p:sp>
            <p:nvSpPr>
              <p:cNvPr id="74" name="Google Shape;74;p4"/>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 name="Google Shape;75;p4"/>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4"/>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4"/>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touch_app</a:t>
                </a:r>
                <a:endParaRPr sz="1400">
                  <a:solidFill>
                    <a:srgbClr val="2563EB"/>
                  </a:solidFill>
                  <a:latin typeface="Material Icons"/>
                  <a:ea typeface="Material Icons"/>
                  <a:cs typeface="Material Icons"/>
                  <a:sym typeface="Material Icons"/>
                </a:endParaRPr>
              </a:p>
            </p:txBody>
          </p:sp>
          <p:sp>
            <p:nvSpPr>
              <p:cNvPr id="78" name="Google Shape;78;p4"/>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Accidental Tap Prevention</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Fred fears committing binding funds unintentionally; milestone approval features a two-step neutral modal detailing exact billing amounts.</a:t>
                </a:r>
                <a:endParaRPr sz="1050">
                  <a:solidFill>
                    <a:srgbClr val="334155"/>
                  </a:solidFill>
                  <a:latin typeface="Quattrocento Sans"/>
                  <a:ea typeface="Quattrocento Sans"/>
                  <a:cs typeface="Quattrocento Sans"/>
                  <a:sym typeface="Quattrocento Sans"/>
                </a:endParaRPr>
              </a:p>
            </p:txBody>
          </p:sp>
        </p:grpSp>
        <p:grpSp>
          <p:nvGrpSpPr>
            <p:cNvPr id="79" name="Google Shape;79;p4"/>
            <p:cNvGrpSpPr/>
            <p:nvPr/>
          </p:nvGrpSpPr>
          <p:grpSpPr>
            <a:xfrm>
              <a:off x="0" y="3600450"/>
              <a:ext cx="5800800" cy="1047900"/>
              <a:chOff x="0" y="0"/>
              <a:chExt cx="5800800" cy="1047900"/>
            </a:xfrm>
          </p:grpSpPr>
          <p:sp>
            <p:nvSpPr>
              <p:cNvPr id="80" name="Google Shape;80;p4"/>
              <p:cNvSpPr/>
              <p:nvPr/>
            </p:nvSpPr>
            <p:spPr>
              <a:xfrm>
                <a:off x="0" y="0"/>
                <a:ext cx="5800800" cy="1047900"/>
              </a:xfrm>
              <a:prstGeom prst="roundRect">
                <a:avLst>
                  <a:gd fmla="val 10909"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4"/>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4"/>
              <p:cNvSpPr/>
              <p:nvPr/>
            </p:nvSpPr>
            <p:spPr>
              <a:xfrm>
                <a:off x="190500" y="152400"/>
                <a:ext cx="304800" cy="3048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 name="Google Shape;83;p4"/>
              <p:cNvSpPr txBox="1"/>
              <p:nvPr/>
            </p:nvSpPr>
            <p:spPr>
              <a:xfrm>
                <a:off x="228600" y="210947"/>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400">
                    <a:solidFill>
                      <a:srgbClr val="2563EB"/>
                    </a:solidFill>
                    <a:latin typeface="Material Icons"/>
                    <a:ea typeface="Material Icons"/>
                    <a:cs typeface="Material Icons"/>
                    <a:sym typeface="Material Icons"/>
                  </a:rPr>
                  <a:t>speed</a:t>
                </a:r>
                <a:endParaRPr sz="1400">
                  <a:solidFill>
                    <a:srgbClr val="2563EB"/>
                  </a:solidFill>
                  <a:latin typeface="Material Icons"/>
                  <a:ea typeface="Material Icons"/>
                  <a:cs typeface="Material Icons"/>
                  <a:sym typeface="Material Icons"/>
                </a:endParaRPr>
              </a:p>
            </p:txBody>
          </p:sp>
          <p:sp>
            <p:nvSpPr>
              <p:cNvPr id="84" name="Google Shape;84;p4"/>
              <p:cNvSpPr txBox="1"/>
              <p:nvPr/>
            </p:nvSpPr>
            <p:spPr>
              <a:xfrm>
                <a:off x="609600" y="133350"/>
                <a:ext cx="5000700" cy="8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Glanceable Micro-Usage</a:t>
                </a:r>
                <a:endParaRPr b="1" sz="120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50">
                    <a:solidFill>
                      <a:srgbClr val="334155"/>
                    </a:solidFill>
                    <a:latin typeface="Quattrocento Sans"/>
                    <a:ea typeface="Quattrocento Sans"/>
                    <a:cs typeface="Quattrocento Sans"/>
                    <a:sym typeface="Quattrocento Sans"/>
                  </a:rPr>
                  <a:t>Dashboard conveys overall project health in &lt;=10 seconds via ambient traffic-light badges (Green, Amber, Red).</a:t>
                </a:r>
                <a:endParaRPr sz="1050">
                  <a:solidFill>
                    <a:srgbClr val="334155"/>
                  </a:solidFill>
                  <a:latin typeface="Quattrocento Sans"/>
                  <a:ea typeface="Quattrocento Sans"/>
                  <a:cs typeface="Quattrocento Sans"/>
                  <a:sym typeface="Quattrocento Sans"/>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5"/>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UML SYSTEM ARCHITECTURE &amp; GOVERNANCE BOUNDARY</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Use Case Diagram (UCD) Specification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Technology-Agnostic Goal Abstraction Dividing Client Governance from Agency Project Management</a:t>
            </a:r>
            <a:endParaRPr/>
          </a:p>
        </p:txBody>
      </p:sp>
      <p:grpSp>
        <p:nvGrpSpPr>
          <p:cNvPr id="91" name="Google Shape;91;p5"/>
          <p:cNvGrpSpPr/>
          <p:nvPr/>
        </p:nvGrpSpPr>
        <p:grpSpPr>
          <a:xfrm>
            <a:off x="600075" y="1666875"/>
            <a:ext cx="5191200" cy="4762500"/>
            <a:chOff x="0" y="0"/>
            <a:chExt cx="5191200" cy="4762500"/>
          </a:xfrm>
        </p:grpSpPr>
        <p:sp>
          <p:nvSpPr>
            <p:cNvPr id="92" name="Google Shape;92;p5"/>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5"/>
            <p:cNvSpPr txBox="1"/>
            <p:nvPr/>
          </p:nvSpPr>
          <p:spPr>
            <a:xfrm>
              <a:off x="228600" y="190500"/>
              <a:ext cx="47340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Architectural Design Principles</a:t>
              </a:r>
              <a:endParaRPr b="1" sz="1500">
                <a:solidFill>
                  <a:srgbClr val="0F172A"/>
                </a:solidFill>
                <a:latin typeface="Quattrocento Sans"/>
                <a:ea typeface="Quattrocento Sans"/>
                <a:cs typeface="Quattrocento Sans"/>
                <a:sym typeface="Quattrocento Sans"/>
              </a:endParaRPr>
            </a:p>
          </p:txBody>
        </p:sp>
        <p:cxnSp>
          <p:nvCxnSpPr>
            <p:cNvPr id="94" name="Google Shape;94;p5"/>
            <p:cNvCxnSpPr/>
            <p:nvPr/>
          </p:nvCxnSpPr>
          <p:spPr>
            <a:xfrm>
              <a:off x="228600" y="5715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95" name="Google Shape;95;p5"/>
            <p:cNvGrpSpPr/>
            <p:nvPr/>
          </p:nvGrpSpPr>
          <p:grpSpPr>
            <a:xfrm>
              <a:off x="228600" y="685800"/>
              <a:ext cx="4734000" cy="666900"/>
              <a:chOff x="0" y="0"/>
              <a:chExt cx="4734000" cy="666900"/>
            </a:xfrm>
          </p:grpSpPr>
          <p:sp>
            <p:nvSpPr>
              <p:cNvPr id="96" name="Google Shape;96;p5"/>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5"/>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adjust</a:t>
                </a:r>
                <a:endParaRPr sz="1020">
                  <a:solidFill>
                    <a:srgbClr val="2563EB"/>
                  </a:solidFill>
                  <a:latin typeface="Material Icons"/>
                  <a:ea typeface="Material Icons"/>
                  <a:cs typeface="Material Icons"/>
                  <a:sym typeface="Material Icons"/>
                </a:endParaRPr>
              </a:p>
            </p:txBody>
          </p:sp>
          <p:sp>
            <p:nvSpPr>
              <p:cNvPr id="98" name="Google Shape;98;p5"/>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Goal-Oriented Abstraction</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Models business capabilities rather than procedural screen clicks.</a:t>
                </a:r>
                <a:endParaRPr b="0" sz="1000">
                  <a:solidFill>
                    <a:srgbClr val="334155"/>
                  </a:solidFill>
                  <a:latin typeface="Quattrocento Sans"/>
                  <a:ea typeface="Quattrocento Sans"/>
                  <a:cs typeface="Quattrocento Sans"/>
                  <a:sym typeface="Quattrocento Sans"/>
                </a:endParaRPr>
              </a:p>
            </p:txBody>
          </p:sp>
        </p:grpSp>
        <p:cxnSp>
          <p:nvCxnSpPr>
            <p:cNvPr id="99" name="Google Shape;99;p5"/>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00" name="Google Shape;100;p5"/>
            <p:cNvGrpSpPr/>
            <p:nvPr/>
          </p:nvGrpSpPr>
          <p:grpSpPr>
            <a:xfrm>
              <a:off x="228600" y="1543050"/>
              <a:ext cx="4734000" cy="666900"/>
              <a:chOff x="0" y="0"/>
              <a:chExt cx="4734000" cy="666900"/>
            </a:xfrm>
          </p:grpSpPr>
          <p:sp>
            <p:nvSpPr>
              <p:cNvPr id="101" name="Google Shape;101;p5"/>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5"/>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crop_free</a:t>
                </a:r>
                <a:endParaRPr sz="1020">
                  <a:solidFill>
                    <a:srgbClr val="2563EB"/>
                  </a:solidFill>
                  <a:latin typeface="Material Icons"/>
                  <a:ea typeface="Material Icons"/>
                  <a:cs typeface="Material Icons"/>
                  <a:sym typeface="Material Icons"/>
                </a:endParaRPr>
              </a:p>
            </p:txBody>
          </p:sp>
          <p:sp>
            <p:nvSpPr>
              <p:cNvPr id="103" name="Google Shape;103;p5"/>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Strict System Boundary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Separates external actors (Client Fred R. vs Project Manager James R.).</a:t>
                </a:r>
                <a:endParaRPr b="0" sz="1000">
                  <a:solidFill>
                    <a:srgbClr val="334155"/>
                  </a:solidFill>
                  <a:latin typeface="Quattrocento Sans"/>
                  <a:ea typeface="Quattrocento Sans"/>
                  <a:cs typeface="Quattrocento Sans"/>
                  <a:sym typeface="Quattrocento Sans"/>
                </a:endParaRPr>
              </a:p>
            </p:txBody>
          </p:sp>
        </p:grpSp>
        <p:cxnSp>
          <p:nvCxnSpPr>
            <p:cNvPr id="104" name="Google Shape;104;p5"/>
            <p:cNvCxnSpPr/>
            <p:nvPr/>
          </p:nvCxnSpPr>
          <p:spPr>
            <a:xfrm>
              <a:off x="228600" y="230505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05" name="Google Shape;105;p5"/>
            <p:cNvGrpSpPr/>
            <p:nvPr/>
          </p:nvGrpSpPr>
          <p:grpSpPr>
            <a:xfrm>
              <a:off x="228600" y="2400300"/>
              <a:ext cx="4734000" cy="666900"/>
              <a:chOff x="0" y="0"/>
              <a:chExt cx="4734000" cy="666900"/>
            </a:xfrm>
          </p:grpSpPr>
          <p:sp>
            <p:nvSpPr>
              <p:cNvPr id="106" name="Google Shape;106;p5"/>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5"/>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person_outline</a:t>
                </a:r>
                <a:endParaRPr sz="1020">
                  <a:solidFill>
                    <a:srgbClr val="2563EB"/>
                  </a:solidFill>
                  <a:latin typeface="Material Icons"/>
                  <a:ea typeface="Material Icons"/>
                  <a:cs typeface="Material Icons"/>
                  <a:sym typeface="Material Icons"/>
                </a:endParaRPr>
              </a:p>
            </p:txBody>
          </p:sp>
          <p:sp>
            <p:nvSpPr>
              <p:cNvPr id="108" name="Google Shape;108;p5"/>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Client Goal Cases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UC1 (View Status), UC2 (Review Artefact), UC3 (Approve Milestone), UC4 (Manage Privacy &amp; Data).</a:t>
                </a:r>
                <a:endParaRPr b="0" sz="1000">
                  <a:solidFill>
                    <a:srgbClr val="334155"/>
                  </a:solidFill>
                  <a:latin typeface="Quattrocento Sans"/>
                  <a:ea typeface="Quattrocento Sans"/>
                  <a:cs typeface="Quattrocento Sans"/>
                  <a:sym typeface="Quattrocento Sans"/>
                </a:endParaRPr>
              </a:p>
            </p:txBody>
          </p:sp>
        </p:grpSp>
        <p:cxnSp>
          <p:nvCxnSpPr>
            <p:cNvPr id="109" name="Google Shape;109;p5"/>
            <p:cNvCxnSpPr/>
            <p:nvPr/>
          </p:nvCxnSpPr>
          <p:spPr>
            <a:xfrm>
              <a:off x="228600" y="31623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10" name="Google Shape;110;p5"/>
            <p:cNvGrpSpPr/>
            <p:nvPr/>
          </p:nvGrpSpPr>
          <p:grpSpPr>
            <a:xfrm>
              <a:off x="228600" y="3257550"/>
              <a:ext cx="4734000" cy="666900"/>
              <a:chOff x="0" y="0"/>
              <a:chExt cx="4734000" cy="666900"/>
            </a:xfrm>
          </p:grpSpPr>
          <p:sp>
            <p:nvSpPr>
              <p:cNvPr id="111" name="Google Shape;111;p5"/>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5"/>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admin_panel_settings</a:t>
                </a:r>
                <a:endParaRPr sz="1020">
                  <a:solidFill>
                    <a:srgbClr val="2563EB"/>
                  </a:solidFill>
                  <a:latin typeface="Material Icons"/>
                  <a:ea typeface="Material Icons"/>
                  <a:cs typeface="Material Icons"/>
                  <a:sym typeface="Material Icons"/>
                </a:endParaRPr>
              </a:p>
            </p:txBody>
          </p:sp>
          <p:sp>
            <p:nvSpPr>
              <p:cNvPr id="113" name="Google Shape;113;p5"/>
              <p:cNvSpPr txBox="1"/>
              <p:nvPr/>
            </p:nvSpPr>
            <p:spPr>
              <a:xfrm>
                <a:off x="381000" y="0"/>
                <a:ext cx="4353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Agency Management Cases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UC5 (Publish Updates), UC6 (Upload Artefacts), UC7 (Respond to Feedback), UC8 (Record Governance Decision).</a:t>
                </a:r>
                <a:endParaRPr b="0" sz="1000">
                  <a:solidFill>
                    <a:srgbClr val="334155"/>
                  </a:solidFill>
                  <a:latin typeface="Quattrocento Sans"/>
                  <a:ea typeface="Quattrocento Sans"/>
                  <a:cs typeface="Quattrocento Sans"/>
                  <a:sym typeface="Quattrocento Sans"/>
                </a:endParaRPr>
              </a:p>
            </p:txBody>
          </p:sp>
        </p:grpSp>
        <p:cxnSp>
          <p:nvCxnSpPr>
            <p:cNvPr id="114" name="Google Shape;114;p5"/>
            <p:cNvCxnSpPr/>
            <p:nvPr/>
          </p:nvCxnSpPr>
          <p:spPr>
            <a:xfrm>
              <a:off x="228600" y="401955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15" name="Google Shape;115;p5"/>
            <p:cNvGrpSpPr/>
            <p:nvPr/>
          </p:nvGrpSpPr>
          <p:grpSpPr>
            <a:xfrm>
              <a:off x="228600" y="4114800"/>
              <a:ext cx="4734000" cy="571500"/>
              <a:chOff x="0" y="0"/>
              <a:chExt cx="4734000" cy="571500"/>
            </a:xfrm>
          </p:grpSpPr>
          <p:sp>
            <p:nvSpPr>
              <p:cNvPr id="116" name="Google Shape;116;p5"/>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5"/>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security</a:t>
                </a:r>
                <a:endParaRPr sz="1020">
                  <a:solidFill>
                    <a:srgbClr val="2563EB"/>
                  </a:solidFill>
                  <a:latin typeface="Material Icons"/>
                  <a:ea typeface="Material Icons"/>
                  <a:cs typeface="Material Icons"/>
                  <a:sym typeface="Material Icons"/>
                </a:endParaRPr>
              </a:p>
            </p:txBody>
          </p:sp>
          <p:sp>
            <p:nvSpPr>
              <p:cNvPr id="118" name="Google Shape;118;p5"/>
              <p:cNvSpPr txBox="1"/>
              <p:nvPr/>
            </p:nvSpPr>
            <p:spPr>
              <a:xfrm>
                <a:off x="381000" y="0"/>
                <a:ext cx="43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Privacy Sovereignty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Privacy management is elevated as a primary first-class use case (UC4).</a:t>
                </a:r>
                <a:endParaRPr b="0" sz="1000">
                  <a:solidFill>
                    <a:srgbClr val="334155"/>
                  </a:solidFill>
                  <a:latin typeface="Quattrocento Sans"/>
                  <a:ea typeface="Quattrocento Sans"/>
                  <a:cs typeface="Quattrocento Sans"/>
                  <a:sym typeface="Quattrocento Sans"/>
                </a:endParaRPr>
              </a:p>
            </p:txBody>
          </p:sp>
        </p:grpSp>
      </p:grpSp>
      <p:grpSp>
        <p:nvGrpSpPr>
          <p:cNvPr id="119" name="Google Shape;119;p5"/>
          <p:cNvGrpSpPr/>
          <p:nvPr/>
        </p:nvGrpSpPr>
        <p:grpSpPr>
          <a:xfrm>
            <a:off x="6019800" y="1666875"/>
            <a:ext cx="5572200" cy="4762500"/>
            <a:chOff x="0" y="0"/>
            <a:chExt cx="5572200" cy="4762500"/>
          </a:xfrm>
        </p:grpSpPr>
        <p:sp>
          <p:nvSpPr>
            <p:cNvPr id="120" name="Google Shape;120;p5"/>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5"/>
            <p:cNvSpPr/>
            <p:nvPr/>
          </p:nvSpPr>
          <p:spPr>
            <a:xfrm>
              <a:off x="0" y="0"/>
              <a:ext cx="5572200" cy="400200"/>
            </a:xfrm>
            <a:prstGeom prst="roundRect">
              <a:avLst>
                <a:gd fmla="val 28571"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5"/>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23" name="Google Shape;123;p5"/>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24" name="Google Shape;124;p5"/>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Architecture Diagram &amp; Boundary Model</a:t>
              </a:r>
              <a:endParaRPr b="1" sz="1000">
                <a:solidFill>
                  <a:srgbClr val="64748B"/>
                </a:solidFill>
                <a:latin typeface="Quattrocento Sans"/>
                <a:ea typeface="Quattrocento Sans"/>
                <a:cs typeface="Quattrocento Sans"/>
                <a:sym typeface="Quattrocento Sans"/>
              </a:endParaRPr>
            </a:p>
          </p:txBody>
        </p:sp>
        <p:pic>
          <p:nvPicPr>
            <p:cNvPr id="125" name="Google Shape;125;p5"/>
            <p:cNvPicPr preferRelativeResize="0"/>
            <p:nvPr/>
          </p:nvPicPr>
          <p:blipFill rotWithShape="1">
            <a:blip r:embed="rId3">
              <a:alphaModFix/>
            </a:blip>
            <a:srcRect b="21718" l="0" r="0" t="744"/>
            <a:stretch/>
          </p:blipFill>
          <p:spPr>
            <a:xfrm>
              <a:off x="114300" y="504825"/>
              <a:ext cx="5343600" cy="4143300"/>
            </a:xfrm>
            <a:prstGeom prst="roundRect">
              <a:avLst>
                <a:gd fmla="val 4886" name="adj"/>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USE CASE 1 WALKTHROUGH &amp; ACTIVITY DIAGRAM 1</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View Project Status (AD1 &amp; Dashboard)</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Ambient Traffic-Light Health, Curated SDLC Stage Progress &amp; Quick Detail Branching</a:t>
            </a:r>
            <a:endParaRPr/>
          </a:p>
        </p:txBody>
      </p:sp>
      <p:grpSp>
        <p:nvGrpSpPr>
          <p:cNvPr id="132" name="Google Shape;132;p6"/>
          <p:cNvGrpSpPr/>
          <p:nvPr/>
        </p:nvGrpSpPr>
        <p:grpSpPr>
          <a:xfrm>
            <a:off x="600075" y="1666875"/>
            <a:ext cx="5191200" cy="4762500"/>
            <a:chOff x="0" y="0"/>
            <a:chExt cx="5191200" cy="4762500"/>
          </a:xfrm>
        </p:grpSpPr>
        <p:sp>
          <p:nvSpPr>
            <p:cNvPr id="133" name="Google Shape;133;p6"/>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4" name="Google Shape;134;p6"/>
            <p:cNvGrpSpPr/>
            <p:nvPr/>
          </p:nvGrpSpPr>
          <p:grpSpPr>
            <a:xfrm>
              <a:off x="228600" y="171450"/>
              <a:ext cx="4734000" cy="304800"/>
              <a:chOff x="0" y="0"/>
              <a:chExt cx="4734000" cy="304800"/>
            </a:xfrm>
          </p:grpSpPr>
          <p:sp>
            <p:nvSpPr>
              <p:cNvPr id="135" name="Google Shape;135;p6"/>
              <p:cNvSpPr/>
              <p:nvPr/>
            </p:nvSpPr>
            <p:spPr>
              <a:xfrm>
                <a:off x="0" y="0"/>
                <a:ext cx="47340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6"/>
              <p:cNvSpPr txBox="1"/>
              <p:nvPr/>
            </p:nvSpPr>
            <p:spPr>
              <a:xfrm>
                <a:off x="0" y="0"/>
                <a:ext cx="4734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Prototype Implementation (Screens 2 &amp; 3)</a:t>
                </a:r>
                <a:endParaRPr b="1" sz="1500">
                  <a:solidFill>
                    <a:srgbClr val="0F172A"/>
                  </a:solidFill>
                  <a:latin typeface="Quattrocento Sans"/>
                  <a:ea typeface="Quattrocento Sans"/>
                  <a:cs typeface="Quattrocento Sans"/>
                  <a:sym typeface="Quattrocento Sans"/>
                </a:endParaRPr>
              </a:p>
            </p:txBody>
          </p:sp>
        </p:grpSp>
        <p:cxnSp>
          <p:nvCxnSpPr>
            <p:cNvPr id="137" name="Google Shape;137;p6"/>
            <p:cNvCxnSpPr/>
            <p:nvPr/>
          </p:nvCxnSpPr>
          <p:spPr>
            <a:xfrm>
              <a:off x="228600" y="5334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38" name="Google Shape;138;p6"/>
            <p:cNvGrpSpPr/>
            <p:nvPr/>
          </p:nvGrpSpPr>
          <p:grpSpPr>
            <a:xfrm>
              <a:off x="228600" y="647700"/>
              <a:ext cx="4733850" cy="647700"/>
              <a:chOff x="0" y="0"/>
              <a:chExt cx="4733850" cy="647700"/>
            </a:xfrm>
          </p:grpSpPr>
          <p:sp>
            <p:nvSpPr>
              <p:cNvPr id="139" name="Google Shape;139;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 name="Google Shape;140;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monitor_heart</a:t>
                </a:r>
                <a:endParaRPr sz="1020">
                  <a:solidFill>
                    <a:srgbClr val="2563EB"/>
                  </a:solidFill>
                  <a:latin typeface="Material Icons"/>
                  <a:ea typeface="Material Icons"/>
                  <a:cs typeface="Material Icons"/>
                  <a:sym typeface="Material Icons"/>
                </a:endParaRPr>
              </a:p>
            </p:txBody>
          </p:sp>
          <p:sp>
            <p:nvSpPr>
              <p:cNvPr id="141" name="Google Shape;141;p6"/>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Ambient Health Card</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Displays active health status ('On Track' - Green, Amber, Red) with plain-English summary.</a:t>
                </a:r>
                <a:endParaRPr b="0" sz="1000">
                  <a:solidFill>
                    <a:srgbClr val="334155"/>
                  </a:solidFill>
                  <a:latin typeface="Quattrocento Sans"/>
                  <a:ea typeface="Quattrocento Sans"/>
                  <a:cs typeface="Quattrocento Sans"/>
                  <a:sym typeface="Quattrocento Sans"/>
                </a:endParaRPr>
              </a:p>
            </p:txBody>
          </p:sp>
        </p:grpSp>
        <p:cxnSp>
          <p:nvCxnSpPr>
            <p:cNvPr id="142" name="Google Shape;142;p6"/>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43" name="Google Shape;143;p6"/>
            <p:cNvGrpSpPr/>
            <p:nvPr/>
          </p:nvGrpSpPr>
          <p:grpSpPr>
            <a:xfrm>
              <a:off x="228600" y="1562100"/>
              <a:ext cx="4733850" cy="647700"/>
              <a:chOff x="0" y="0"/>
              <a:chExt cx="4733850" cy="647700"/>
            </a:xfrm>
          </p:grpSpPr>
          <p:sp>
            <p:nvSpPr>
              <p:cNvPr id="144" name="Google Shape;144;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layers</a:t>
                </a:r>
                <a:endParaRPr sz="1020">
                  <a:solidFill>
                    <a:srgbClr val="2563EB"/>
                  </a:solidFill>
                  <a:latin typeface="Material Icons"/>
                  <a:ea typeface="Material Icons"/>
                  <a:cs typeface="Material Icons"/>
                  <a:sym typeface="Material Icons"/>
                </a:endParaRPr>
              </a:p>
            </p:txBody>
          </p:sp>
          <p:sp>
            <p:nvSpPr>
              <p:cNvPr id="146" name="Google Shape;146;p6"/>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Active SDLC Stage</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Highlights Stage 3 (Core UI Screens) at 65% completion with target delivery date.</a:t>
                </a:r>
                <a:endParaRPr b="0" sz="1000">
                  <a:solidFill>
                    <a:srgbClr val="334155"/>
                  </a:solidFill>
                  <a:latin typeface="Quattrocento Sans"/>
                  <a:ea typeface="Quattrocento Sans"/>
                  <a:cs typeface="Quattrocento Sans"/>
                  <a:sym typeface="Quattrocento Sans"/>
                </a:endParaRPr>
              </a:p>
            </p:txBody>
          </p:sp>
        </p:grpSp>
        <p:cxnSp>
          <p:nvCxnSpPr>
            <p:cNvPr id="147" name="Google Shape;147;p6"/>
            <p:cNvCxnSpPr/>
            <p:nvPr/>
          </p:nvCxnSpPr>
          <p:spPr>
            <a:xfrm>
              <a:off x="228600" y="23622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48" name="Google Shape;148;p6"/>
            <p:cNvGrpSpPr/>
            <p:nvPr/>
          </p:nvGrpSpPr>
          <p:grpSpPr>
            <a:xfrm>
              <a:off x="228600" y="2476500"/>
              <a:ext cx="4733850" cy="647700"/>
              <a:chOff x="0" y="0"/>
              <a:chExt cx="4733850" cy="647700"/>
            </a:xfrm>
          </p:grpSpPr>
          <p:sp>
            <p:nvSpPr>
              <p:cNvPr id="149" name="Google Shape;149;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notifications_active</a:t>
                </a:r>
                <a:endParaRPr sz="1020">
                  <a:solidFill>
                    <a:srgbClr val="2563EB"/>
                  </a:solidFill>
                  <a:latin typeface="Material Icons"/>
                  <a:ea typeface="Material Icons"/>
                  <a:cs typeface="Material Icons"/>
                  <a:sym typeface="Material Icons"/>
                </a:endParaRPr>
              </a:p>
            </p:txBody>
          </p:sp>
          <p:sp>
            <p:nvSpPr>
              <p:cNvPr id="151" name="Google Shape;151;p6"/>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Next Action Callout</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Prominent banner alerting Fred to pending deliverable review, eliminating guessing.</a:t>
                </a:r>
                <a:endParaRPr b="0" sz="1000">
                  <a:solidFill>
                    <a:srgbClr val="334155"/>
                  </a:solidFill>
                  <a:latin typeface="Quattrocento Sans"/>
                  <a:ea typeface="Quattrocento Sans"/>
                  <a:cs typeface="Quattrocento Sans"/>
                  <a:sym typeface="Quattrocento Sans"/>
                </a:endParaRPr>
              </a:p>
            </p:txBody>
          </p:sp>
        </p:grpSp>
        <p:cxnSp>
          <p:nvCxnSpPr>
            <p:cNvPr id="152" name="Google Shape;152;p6"/>
            <p:cNvCxnSpPr/>
            <p:nvPr/>
          </p:nvCxnSpPr>
          <p:spPr>
            <a:xfrm>
              <a:off x="228600" y="32766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53" name="Google Shape;153;p6"/>
            <p:cNvGrpSpPr/>
            <p:nvPr/>
          </p:nvGrpSpPr>
          <p:grpSpPr>
            <a:xfrm>
              <a:off x="228600" y="3390900"/>
              <a:ext cx="4733850" cy="647700"/>
              <a:chOff x="0" y="0"/>
              <a:chExt cx="4733850" cy="647700"/>
            </a:xfrm>
          </p:grpSpPr>
          <p:sp>
            <p:nvSpPr>
              <p:cNvPr id="154" name="Google Shape;154;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schema</a:t>
                </a:r>
                <a:endParaRPr sz="1020">
                  <a:solidFill>
                    <a:srgbClr val="2563EB"/>
                  </a:solidFill>
                  <a:latin typeface="Material Icons"/>
                  <a:ea typeface="Material Icons"/>
                  <a:cs typeface="Material Icons"/>
                  <a:sym typeface="Material Icons"/>
                </a:endParaRPr>
              </a:p>
            </p:txBody>
          </p:sp>
          <p:sp>
            <p:nvSpPr>
              <p:cNvPr id="156" name="Google Shape;156;p6"/>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Multi-Entity Swimlanes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AD1 separates Client actions from ElegantLink Service validation in the background.</a:t>
                </a:r>
                <a:endParaRPr b="0" sz="1000">
                  <a:solidFill>
                    <a:srgbClr val="334155"/>
                  </a:solidFill>
                  <a:latin typeface="Quattrocento Sans"/>
                  <a:ea typeface="Quattrocento Sans"/>
                  <a:cs typeface="Quattrocento Sans"/>
                  <a:sym typeface="Quattrocento Sans"/>
                </a:endParaRPr>
              </a:p>
            </p:txBody>
          </p:sp>
        </p:grpSp>
        <p:cxnSp>
          <p:nvCxnSpPr>
            <p:cNvPr id="157" name="Google Shape;157;p6"/>
            <p:cNvCxnSpPr/>
            <p:nvPr/>
          </p:nvCxnSpPr>
          <p:spPr>
            <a:xfrm>
              <a:off x="228600" y="40767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58" name="Google Shape;158;p6"/>
            <p:cNvGrpSpPr/>
            <p:nvPr/>
          </p:nvGrpSpPr>
          <p:grpSpPr>
            <a:xfrm>
              <a:off x="228600" y="4152900"/>
              <a:ext cx="4733850" cy="571500"/>
              <a:chOff x="0" y="0"/>
              <a:chExt cx="4733850" cy="571500"/>
            </a:xfrm>
          </p:grpSpPr>
          <p:sp>
            <p:nvSpPr>
              <p:cNvPr id="159" name="Google Shape;159;p6"/>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6"/>
              <p:cNvSpPr txBox="1"/>
              <p:nvPr/>
            </p:nvSpPr>
            <p:spPr>
              <a:xfrm>
                <a:off x="47625" y="6515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020">
                    <a:solidFill>
                      <a:srgbClr val="2563EB"/>
                    </a:solidFill>
                    <a:latin typeface="Material Icons"/>
                    <a:ea typeface="Material Icons"/>
                    <a:cs typeface="Material Icons"/>
                    <a:sym typeface="Material Icons"/>
                  </a:rPr>
                  <a:t>call_split</a:t>
                </a:r>
                <a:endParaRPr sz="1020">
                  <a:solidFill>
                    <a:srgbClr val="2563EB"/>
                  </a:solidFill>
                  <a:latin typeface="Material Icons"/>
                  <a:ea typeface="Material Icons"/>
                  <a:cs typeface="Material Icons"/>
                  <a:sym typeface="Material Icons"/>
                </a:endParaRPr>
              </a:p>
            </p:txBody>
          </p:sp>
          <p:sp>
            <p:nvSpPr>
              <p:cNvPr id="161" name="Google Shape;161;p6"/>
              <p:cNvSpPr txBox="1"/>
              <p:nvPr/>
            </p:nvSpPr>
            <p:spPr>
              <a:xfrm>
                <a:off x="400050" y="0"/>
                <a:ext cx="4333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Alternative Decision Branch</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Fred can glance and immediately exit in 10s, or tap to inspect the 5-stage SDLC breakdown.</a:t>
                </a:r>
                <a:endParaRPr b="0" sz="1000">
                  <a:solidFill>
                    <a:srgbClr val="334155"/>
                  </a:solidFill>
                  <a:latin typeface="Quattrocento Sans"/>
                  <a:ea typeface="Quattrocento Sans"/>
                  <a:cs typeface="Quattrocento Sans"/>
                  <a:sym typeface="Quattrocento Sans"/>
                </a:endParaRPr>
              </a:p>
            </p:txBody>
          </p:sp>
        </p:grpSp>
      </p:grpSp>
      <p:grpSp>
        <p:nvGrpSpPr>
          <p:cNvPr id="162" name="Google Shape;162;p6"/>
          <p:cNvGrpSpPr/>
          <p:nvPr/>
        </p:nvGrpSpPr>
        <p:grpSpPr>
          <a:xfrm>
            <a:off x="6019800" y="1666875"/>
            <a:ext cx="5572200" cy="4762500"/>
            <a:chOff x="0" y="0"/>
            <a:chExt cx="5572200" cy="4762500"/>
          </a:xfrm>
        </p:grpSpPr>
        <p:sp>
          <p:nvSpPr>
            <p:cNvPr id="163" name="Google Shape;163;p6"/>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6"/>
            <p:cNvSpPr/>
            <p:nvPr/>
          </p:nvSpPr>
          <p:spPr>
            <a:xfrm>
              <a:off x="0" y="0"/>
              <a:ext cx="5572200" cy="400200"/>
            </a:xfrm>
            <a:prstGeom prst="roundRect">
              <a:avLst>
                <a:gd fmla="val 28571"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6"/>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66" name="Google Shape;166;p6"/>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67" name="Google Shape;167;p6"/>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Activity Diagram (AD1) &amp; Swimlane Workflow</a:t>
              </a:r>
              <a:endParaRPr b="1" sz="1000">
                <a:solidFill>
                  <a:srgbClr val="64748B"/>
                </a:solidFill>
                <a:latin typeface="Quattrocento Sans"/>
                <a:ea typeface="Quattrocento Sans"/>
                <a:cs typeface="Quattrocento Sans"/>
                <a:sym typeface="Quattrocento Sans"/>
              </a:endParaRPr>
            </a:p>
          </p:txBody>
        </p:sp>
        <p:pic>
          <p:nvPicPr>
            <p:cNvPr id="168" name="Google Shape;168;p6"/>
            <p:cNvPicPr preferRelativeResize="0"/>
            <p:nvPr/>
          </p:nvPicPr>
          <p:blipFill rotWithShape="1">
            <a:blip r:embed="rId3">
              <a:alphaModFix/>
            </a:blip>
            <a:srcRect b="26898" l="0" r="0" t="-4435"/>
            <a:stretch/>
          </p:blipFill>
          <p:spPr>
            <a:xfrm>
              <a:off x="114300" y="504825"/>
              <a:ext cx="5343600" cy="4143300"/>
            </a:xfrm>
            <a:prstGeom prst="roundRect">
              <a:avLst>
                <a:gd fmla="val 1839" name="adj"/>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USE CASE 2 WALKTHROUGH &amp; ACTIVITY DIAGRAM 2</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Review Artefact &amp; Feedback Loop (AD2)</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Contextual Deliverable Gallery, High-Fidelity Mockup Viewer &amp; Verified Discard Logic</a:t>
            </a:r>
            <a:endParaRPr/>
          </a:p>
        </p:txBody>
      </p:sp>
      <p:grpSp>
        <p:nvGrpSpPr>
          <p:cNvPr id="175" name="Google Shape;175;p7"/>
          <p:cNvGrpSpPr/>
          <p:nvPr/>
        </p:nvGrpSpPr>
        <p:grpSpPr>
          <a:xfrm>
            <a:off x="600075" y="1666875"/>
            <a:ext cx="5191200" cy="4762500"/>
            <a:chOff x="0" y="0"/>
            <a:chExt cx="5191200" cy="4762500"/>
          </a:xfrm>
        </p:grpSpPr>
        <p:sp>
          <p:nvSpPr>
            <p:cNvPr id="176" name="Google Shape;176;p7"/>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7"/>
            <p:cNvSpPr txBox="1"/>
            <p:nvPr/>
          </p:nvSpPr>
          <p:spPr>
            <a:xfrm>
              <a:off x="228600" y="171450"/>
              <a:ext cx="4734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Prototype Implementation (Screens 5 &amp; 6)</a:t>
              </a:r>
              <a:endParaRPr b="1" sz="1500">
                <a:solidFill>
                  <a:srgbClr val="0F172A"/>
                </a:solidFill>
                <a:latin typeface="Quattrocento Sans"/>
                <a:ea typeface="Quattrocento Sans"/>
                <a:cs typeface="Quattrocento Sans"/>
                <a:sym typeface="Quattrocento Sans"/>
              </a:endParaRPr>
            </a:p>
          </p:txBody>
        </p:sp>
        <p:cxnSp>
          <p:nvCxnSpPr>
            <p:cNvPr id="178" name="Google Shape;178;p7"/>
            <p:cNvCxnSpPr/>
            <p:nvPr/>
          </p:nvCxnSpPr>
          <p:spPr>
            <a:xfrm>
              <a:off x="228600" y="5334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79" name="Google Shape;179;p7"/>
            <p:cNvGrpSpPr/>
            <p:nvPr/>
          </p:nvGrpSpPr>
          <p:grpSpPr>
            <a:xfrm>
              <a:off x="228600" y="647700"/>
              <a:ext cx="4733850" cy="647700"/>
              <a:chOff x="0" y="0"/>
              <a:chExt cx="4733850" cy="647700"/>
            </a:xfrm>
          </p:grpSpPr>
          <p:sp>
            <p:nvSpPr>
              <p:cNvPr id="180" name="Google Shape;180;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7"/>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grid_view</a:t>
                </a:r>
                <a:endParaRPr sz="867">
                  <a:solidFill>
                    <a:srgbClr val="2563EB"/>
                  </a:solidFill>
                  <a:latin typeface="Material Icons"/>
                  <a:ea typeface="Material Icons"/>
                  <a:cs typeface="Material Icons"/>
                  <a:sym typeface="Material Icons"/>
                </a:endParaRPr>
              </a:p>
            </p:txBody>
          </p:sp>
          <p:sp>
            <p:nvSpPr>
              <p:cNvPr id="182" name="Google Shape;182;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Deliverables Gallery</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Filterable grid of review items categorized by UI Screens, Specifications, and APIs.</a:t>
                </a:r>
                <a:endParaRPr b="0" sz="1000">
                  <a:solidFill>
                    <a:srgbClr val="334155"/>
                  </a:solidFill>
                  <a:latin typeface="Quattrocento Sans"/>
                  <a:ea typeface="Quattrocento Sans"/>
                  <a:cs typeface="Quattrocento Sans"/>
                  <a:sym typeface="Quattrocento Sans"/>
                </a:endParaRPr>
              </a:p>
            </p:txBody>
          </p:sp>
        </p:grpSp>
        <p:cxnSp>
          <p:nvCxnSpPr>
            <p:cNvPr id="183" name="Google Shape;183;p7"/>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84" name="Google Shape;184;p7"/>
            <p:cNvGrpSpPr/>
            <p:nvPr/>
          </p:nvGrpSpPr>
          <p:grpSpPr>
            <a:xfrm>
              <a:off x="228600" y="1562100"/>
              <a:ext cx="4733850" cy="647700"/>
              <a:chOff x="0" y="0"/>
              <a:chExt cx="4733850" cy="647700"/>
            </a:xfrm>
          </p:grpSpPr>
          <p:sp>
            <p:nvSpPr>
              <p:cNvPr id="185" name="Google Shape;185;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7"/>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preview</a:t>
                </a:r>
                <a:endParaRPr sz="867">
                  <a:solidFill>
                    <a:srgbClr val="2563EB"/>
                  </a:solidFill>
                  <a:latin typeface="Material Icons"/>
                  <a:ea typeface="Material Icons"/>
                  <a:cs typeface="Material Icons"/>
                  <a:sym typeface="Material Icons"/>
                </a:endParaRPr>
              </a:p>
            </p:txBody>
          </p:sp>
          <p:sp>
            <p:nvSpPr>
              <p:cNvPr id="187" name="Google Shape;187;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Contextual Mockup Viewer</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Full-screen deliverable inspection with version tag (v2.1) and approval status pill.</a:t>
                </a:r>
                <a:endParaRPr b="0" sz="1000">
                  <a:solidFill>
                    <a:srgbClr val="334155"/>
                  </a:solidFill>
                  <a:latin typeface="Quattrocento Sans"/>
                  <a:ea typeface="Quattrocento Sans"/>
                  <a:cs typeface="Quattrocento Sans"/>
                  <a:sym typeface="Quattrocento Sans"/>
                </a:endParaRPr>
              </a:p>
            </p:txBody>
          </p:sp>
        </p:grpSp>
        <p:cxnSp>
          <p:nvCxnSpPr>
            <p:cNvPr id="188" name="Google Shape;188;p7"/>
            <p:cNvCxnSpPr/>
            <p:nvPr/>
          </p:nvCxnSpPr>
          <p:spPr>
            <a:xfrm>
              <a:off x="228600" y="23622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89" name="Google Shape;189;p7"/>
            <p:cNvGrpSpPr/>
            <p:nvPr/>
          </p:nvGrpSpPr>
          <p:grpSpPr>
            <a:xfrm>
              <a:off x="228600" y="2476500"/>
              <a:ext cx="4733850" cy="647700"/>
              <a:chOff x="0" y="0"/>
              <a:chExt cx="4733850" cy="647700"/>
            </a:xfrm>
          </p:grpSpPr>
          <p:sp>
            <p:nvSpPr>
              <p:cNvPr id="190" name="Google Shape;190;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7"/>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forum</a:t>
                </a:r>
                <a:endParaRPr sz="867">
                  <a:solidFill>
                    <a:srgbClr val="2563EB"/>
                  </a:solidFill>
                  <a:latin typeface="Material Icons"/>
                  <a:ea typeface="Material Icons"/>
                  <a:cs typeface="Material Icons"/>
                  <a:sym typeface="Material Icons"/>
                </a:endParaRPr>
              </a:p>
            </p:txBody>
          </p:sp>
          <p:sp>
            <p:nvSpPr>
              <p:cNvPr id="192" name="Google Shape;192;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Anchored Discussion Thread</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Chronological chat history displaying messages from James R. (PM) and Fred R. (Client).</a:t>
                </a:r>
                <a:endParaRPr b="0" sz="1000">
                  <a:solidFill>
                    <a:srgbClr val="334155"/>
                  </a:solidFill>
                  <a:latin typeface="Quattrocento Sans"/>
                  <a:ea typeface="Quattrocento Sans"/>
                  <a:cs typeface="Quattrocento Sans"/>
                  <a:sym typeface="Quattrocento Sans"/>
                </a:endParaRPr>
              </a:p>
            </p:txBody>
          </p:sp>
        </p:grpSp>
        <p:cxnSp>
          <p:nvCxnSpPr>
            <p:cNvPr id="193" name="Google Shape;193;p7"/>
            <p:cNvCxnSpPr/>
            <p:nvPr/>
          </p:nvCxnSpPr>
          <p:spPr>
            <a:xfrm>
              <a:off x="228600" y="32766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94" name="Google Shape;194;p7"/>
            <p:cNvGrpSpPr/>
            <p:nvPr/>
          </p:nvGrpSpPr>
          <p:grpSpPr>
            <a:xfrm>
              <a:off x="228600" y="3390900"/>
              <a:ext cx="4733850" cy="647700"/>
              <a:chOff x="0" y="0"/>
              <a:chExt cx="4733850" cy="647700"/>
            </a:xfrm>
          </p:grpSpPr>
          <p:sp>
            <p:nvSpPr>
              <p:cNvPr id="195" name="Google Shape;195;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7"/>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fact_check</a:t>
                </a:r>
                <a:endParaRPr sz="867">
                  <a:solidFill>
                    <a:srgbClr val="2563EB"/>
                  </a:solidFill>
                  <a:latin typeface="Material Icons"/>
                  <a:ea typeface="Material Icons"/>
                  <a:cs typeface="Material Icons"/>
                  <a:sym typeface="Material Icons"/>
                </a:endParaRPr>
              </a:p>
            </p:txBody>
          </p:sp>
          <p:sp>
            <p:nvSpPr>
              <p:cNvPr id="197" name="Google Shape;197;p7"/>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Verified Discard Logic</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AD2 decision gate ('Submit Feedback?'): Cancel clears draft safely with SnackBar; Submit logs audit timestamp and updates thread.</a:t>
                </a:r>
                <a:endParaRPr b="0" sz="1000">
                  <a:solidFill>
                    <a:srgbClr val="334155"/>
                  </a:solidFill>
                  <a:latin typeface="Quattrocento Sans"/>
                  <a:ea typeface="Quattrocento Sans"/>
                  <a:cs typeface="Quattrocento Sans"/>
                  <a:sym typeface="Quattrocento Sans"/>
                </a:endParaRPr>
              </a:p>
            </p:txBody>
          </p:sp>
        </p:grpSp>
        <p:cxnSp>
          <p:nvCxnSpPr>
            <p:cNvPr id="198" name="Google Shape;198;p7"/>
            <p:cNvCxnSpPr/>
            <p:nvPr/>
          </p:nvCxnSpPr>
          <p:spPr>
            <a:xfrm>
              <a:off x="228600" y="40767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199" name="Google Shape;199;p7"/>
            <p:cNvGrpSpPr/>
            <p:nvPr/>
          </p:nvGrpSpPr>
          <p:grpSpPr>
            <a:xfrm>
              <a:off x="228600" y="4152900"/>
              <a:ext cx="4733850" cy="571500"/>
              <a:chOff x="0" y="0"/>
              <a:chExt cx="4733850" cy="571500"/>
            </a:xfrm>
          </p:grpSpPr>
          <p:sp>
            <p:nvSpPr>
              <p:cNvPr id="200" name="Google Shape;200;p7"/>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7"/>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bolt</a:t>
                </a:r>
                <a:endParaRPr sz="867">
                  <a:solidFill>
                    <a:srgbClr val="2563EB"/>
                  </a:solidFill>
                  <a:latin typeface="Material Icons"/>
                  <a:ea typeface="Material Icons"/>
                  <a:cs typeface="Material Icons"/>
                  <a:sym typeface="Material Icons"/>
                </a:endParaRPr>
              </a:p>
            </p:txBody>
          </p:sp>
          <p:sp>
            <p:nvSpPr>
              <p:cNvPr id="202" name="Google Shape;202;p7"/>
              <p:cNvSpPr txBox="1"/>
              <p:nvPr/>
            </p:nvSpPr>
            <p:spPr>
              <a:xfrm>
                <a:off x="400050" y="0"/>
                <a:ext cx="4333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Frictionless Submission</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Task completed in under 60 seconds directly below the image, eliminating fragmented emails.</a:t>
                </a:r>
                <a:endParaRPr b="0" sz="1000">
                  <a:solidFill>
                    <a:srgbClr val="334155"/>
                  </a:solidFill>
                  <a:latin typeface="Quattrocento Sans"/>
                  <a:ea typeface="Quattrocento Sans"/>
                  <a:cs typeface="Quattrocento Sans"/>
                  <a:sym typeface="Quattrocento Sans"/>
                </a:endParaRPr>
              </a:p>
            </p:txBody>
          </p:sp>
        </p:grpSp>
      </p:grpSp>
      <p:grpSp>
        <p:nvGrpSpPr>
          <p:cNvPr id="203" name="Google Shape;203;p7"/>
          <p:cNvGrpSpPr/>
          <p:nvPr/>
        </p:nvGrpSpPr>
        <p:grpSpPr>
          <a:xfrm>
            <a:off x="6019800" y="1666875"/>
            <a:ext cx="5572200" cy="4762500"/>
            <a:chOff x="0" y="0"/>
            <a:chExt cx="5572200" cy="4762500"/>
          </a:xfrm>
        </p:grpSpPr>
        <p:sp>
          <p:nvSpPr>
            <p:cNvPr id="204" name="Google Shape;204;p7"/>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7"/>
            <p:cNvSpPr/>
            <p:nvPr/>
          </p:nvSpPr>
          <p:spPr>
            <a:xfrm>
              <a:off x="0" y="0"/>
              <a:ext cx="5572200" cy="400200"/>
            </a:xfrm>
            <a:prstGeom prst="roundRect">
              <a:avLst>
                <a:gd fmla="val 2856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7"/>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07" name="Google Shape;207;p7"/>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08" name="Google Shape;208;p7"/>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Activity Diagram (AD2) &amp; Swimlane Workflow</a:t>
              </a:r>
              <a:endParaRPr b="1" sz="1000">
                <a:solidFill>
                  <a:srgbClr val="64748B"/>
                </a:solidFill>
                <a:latin typeface="Quattrocento Sans"/>
                <a:ea typeface="Quattrocento Sans"/>
                <a:cs typeface="Quattrocento Sans"/>
                <a:sym typeface="Quattrocento Sans"/>
              </a:endParaRPr>
            </a:p>
          </p:txBody>
        </p:sp>
        <p:pic>
          <p:nvPicPr>
            <p:cNvPr id="209" name="Google Shape;209;p7"/>
            <p:cNvPicPr preferRelativeResize="0"/>
            <p:nvPr/>
          </p:nvPicPr>
          <p:blipFill rotWithShape="1">
            <a:blip r:embed="rId3">
              <a:alphaModFix/>
            </a:blip>
            <a:srcRect b="21210" l="1428" r="1428" t="0"/>
            <a:stretch/>
          </p:blipFill>
          <p:spPr>
            <a:xfrm>
              <a:off x="190500" y="435975"/>
              <a:ext cx="5191200" cy="4210500"/>
            </a:xfrm>
            <a:prstGeom prst="roundRect">
              <a:avLst>
                <a:gd fmla="val 1839" name="adj"/>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8"/>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USE CASE 3 WALKTHROUGH &amp; ACTIVITY DIAGRAM 3</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Milestone Governance &amp; Sign-Off (AD3)</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Two-Step Neutral Confirmation, Scope Checklist, Revision Form &amp; Digital Certificate</a:t>
            </a:r>
            <a:endParaRPr/>
          </a:p>
        </p:txBody>
      </p:sp>
      <p:grpSp>
        <p:nvGrpSpPr>
          <p:cNvPr id="216" name="Google Shape;216;p8"/>
          <p:cNvGrpSpPr/>
          <p:nvPr/>
        </p:nvGrpSpPr>
        <p:grpSpPr>
          <a:xfrm>
            <a:off x="600075" y="1666875"/>
            <a:ext cx="5191200" cy="4762500"/>
            <a:chOff x="0" y="0"/>
            <a:chExt cx="5191200" cy="4762500"/>
          </a:xfrm>
        </p:grpSpPr>
        <p:sp>
          <p:nvSpPr>
            <p:cNvPr id="217" name="Google Shape;217;p8"/>
            <p:cNvSpPr/>
            <p:nvPr/>
          </p:nvSpPr>
          <p:spPr>
            <a:xfrm>
              <a:off x="0" y="0"/>
              <a:ext cx="5191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8"/>
            <p:cNvSpPr txBox="1"/>
            <p:nvPr/>
          </p:nvSpPr>
          <p:spPr>
            <a:xfrm>
              <a:off x="228600" y="171450"/>
              <a:ext cx="47340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500">
                  <a:solidFill>
                    <a:srgbClr val="0F172A"/>
                  </a:solidFill>
                  <a:latin typeface="Quattrocento Sans"/>
                  <a:ea typeface="Quattrocento Sans"/>
                  <a:cs typeface="Quattrocento Sans"/>
                  <a:sym typeface="Quattrocento Sans"/>
                </a:rPr>
                <a:t>Prototype Implementation (Screens 7, 8 &amp; 9)</a:t>
              </a:r>
              <a:endParaRPr b="1" sz="1500">
                <a:solidFill>
                  <a:srgbClr val="0F172A"/>
                </a:solidFill>
                <a:latin typeface="Quattrocento Sans"/>
                <a:ea typeface="Quattrocento Sans"/>
                <a:cs typeface="Quattrocento Sans"/>
                <a:sym typeface="Quattrocento Sans"/>
              </a:endParaRPr>
            </a:p>
          </p:txBody>
        </p:sp>
        <p:cxnSp>
          <p:nvCxnSpPr>
            <p:cNvPr id="219" name="Google Shape;219;p8"/>
            <p:cNvCxnSpPr/>
            <p:nvPr/>
          </p:nvCxnSpPr>
          <p:spPr>
            <a:xfrm>
              <a:off x="228600" y="5334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20" name="Google Shape;220;p8"/>
            <p:cNvGrpSpPr/>
            <p:nvPr/>
          </p:nvGrpSpPr>
          <p:grpSpPr>
            <a:xfrm>
              <a:off x="228600" y="647700"/>
              <a:ext cx="4733850" cy="647700"/>
              <a:chOff x="0" y="0"/>
              <a:chExt cx="4733850" cy="647700"/>
            </a:xfrm>
          </p:grpSpPr>
          <p:sp>
            <p:nvSpPr>
              <p:cNvPr id="221" name="Google Shape;221;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fact_check</a:t>
                </a:r>
                <a:endParaRPr sz="867">
                  <a:solidFill>
                    <a:srgbClr val="2563EB"/>
                  </a:solidFill>
                  <a:latin typeface="Material Icons"/>
                  <a:ea typeface="Material Icons"/>
                  <a:cs typeface="Material Icons"/>
                  <a:sym typeface="Material Icons"/>
                </a:endParaRPr>
              </a:p>
            </p:txBody>
          </p:sp>
          <p:sp>
            <p:nvSpPr>
              <p:cNvPr id="223" name="Google Shape;223;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Commercial Scope Review</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Acceptance criteria checklist detailing exact deliverable completion and financial fee ($12,500 AUD).</a:t>
                </a:r>
                <a:endParaRPr b="0" sz="1000">
                  <a:solidFill>
                    <a:srgbClr val="334155"/>
                  </a:solidFill>
                  <a:latin typeface="Quattrocento Sans"/>
                  <a:ea typeface="Quattrocento Sans"/>
                  <a:cs typeface="Quattrocento Sans"/>
                  <a:sym typeface="Quattrocento Sans"/>
                </a:endParaRPr>
              </a:p>
            </p:txBody>
          </p:sp>
        </p:grpSp>
        <p:cxnSp>
          <p:nvCxnSpPr>
            <p:cNvPr id="224" name="Google Shape;224;p8"/>
            <p:cNvCxnSpPr/>
            <p:nvPr/>
          </p:nvCxnSpPr>
          <p:spPr>
            <a:xfrm>
              <a:off x="228600" y="14478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25" name="Google Shape;225;p8"/>
            <p:cNvGrpSpPr/>
            <p:nvPr/>
          </p:nvGrpSpPr>
          <p:grpSpPr>
            <a:xfrm>
              <a:off x="228600" y="1562100"/>
              <a:ext cx="4733850" cy="647700"/>
              <a:chOff x="0" y="0"/>
              <a:chExt cx="4733850" cy="647700"/>
            </a:xfrm>
          </p:grpSpPr>
          <p:sp>
            <p:nvSpPr>
              <p:cNvPr id="226" name="Google Shape;226;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balance</a:t>
                </a:r>
                <a:endParaRPr sz="867">
                  <a:solidFill>
                    <a:srgbClr val="2563EB"/>
                  </a:solidFill>
                  <a:latin typeface="Material Icons"/>
                  <a:ea typeface="Material Icons"/>
                  <a:cs typeface="Material Icons"/>
                  <a:sym typeface="Material Icons"/>
                </a:endParaRPr>
              </a:p>
            </p:txBody>
          </p:sp>
          <p:sp>
            <p:nvSpPr>
              <p:cNvPr id="228" name="Google Shape;228;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Equal-Weight Action Gates</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'Approve Milestone' and 'Request Changes' buttons feature identical visual prominence.</a:t>
                </a:r>
                <a:endParaRPr b="0" sz="1000">
                  <a:solidFill>
                    <a:srgbClr val="334155"/>
                  </a:solidFill>
                  <a:latin typeface="Quattrocento Sans"/>
                  <a:ea typeface="Quattrocento Sans"/>
                  <a:cs typeface="Quattrocento Sans"/>
                  <a:sym typeface="Quattrocento Sans"/>
                </a:endParaRPr>
              </a:p>
            </p:txBody>
          </p:sp>
        </p:grpSp>
        <p:cxnSp>
          <p:nvCxnSpPr>
            <p:cNvPr id="229" name="Google Shape;229;p8"/>
            <p:cNvCxnSpPr/>
            <p:nvPr/>
          </p:nvCxnSpPr>
          <p:spPr>
            <a:xfrm>
              <a:off x="228600" y="23622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30" name="Google Shape;230;p8"/>
            <p:cNvGrpSpPr/>
            <p:nvPr/>
          </p:nvGrpSpPr>
          <p:grpSpPr>
            <a:xfrm>
              <a:off x="228600" y="2476500"/>
              <a:ext cx="4733850" cy="647700"/>
              <a:chOff x="0" y="0"/>
              <a:chExt cx="4733850" cy="647700"/>
            </a:xfrm>
          </p:grpSpPr>
          <p:sp>
            <p:nvSpPr>
              <p:cNvPr id="231" name="Google Shape;231;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gavel</a:t>
                </a:r>
                <a:endParaRPr sz="867">
                  <a:solidFill>
                    <a:srgbClr val="2563EB"/>
                  </a:solidFill>
                  <a:latin typeface="Material Icons"/>
                  <a:ea typeface="Material Icons"/>
                  <a:cs typeface="Material Icons"/>
                  <a:sym typeface="Material Icons"/>
                </a:endParaRPr>
              </a:p>
            </p:txBody>
          </p:sp>
          <p:sp>
            <p:nvSpPr>
              <p:cNvPr id="233" name="Google Shape;233;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Two-Step Error Prevention Modal</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Tapping Approve triggers a neutral dialog explicitly detailing legally binding invoice liabilities.</a:t>
                </a:r>
                <a:endParaRPr b="0" sz="1000">
                  <a:solidFill>
                    <a:srgbClr val="334155"/>
                  </a:solidFill>
                  <a:latin typeface="Quattrocento Sans"/>
                  <a:ea typeface="Quattrocento Sans"/>
                  <a:cs typeface="Quattrocento Sans"/>
                  <a:sym typeface="Quattrocento Sans"/>
                </a:endParaRPr>
              </a:p>
            </p:txBody>
          </p:sp>
        </p:grpSp>
        <p:cxnSp>
          <p:nvCxnSpPr>
            <p:cNvPr id="234" name="Google Shape;234;p8"/>
            <p:cNvCxnSpPr/>
            <p:nvPr/>
          </p:nvCxnSpPr>
          <p:spPr>
            <a:xfrm>
              <a:off x="228600" y="32766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35" name="Google Shape;235;p8"/>
            <p:cNvGrpSpPr/>
            <p:nvPr/>
          </p:nvGrpSpPr>
          <p:grpSpPr>
            <a:xfrm>
              <a:off x="228600" y="3390900"/>
              <a:ext cx="4733850" cy="647700"/>
              <a:chOff x="0" y="0"/>
              <a:chExt cx="4733850" cy="647700"/>
            </a:xfrm>
          </p:grpSpPr>
          <p:sp>
            <p:nvSpPr>
              <p:cNvPr id="236" name="Google Shape;236;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alt_route</a:t>
                </a:r>
                <a:endParaRPr sz="867">
                  <a:solidFill>
                    <a:srgbClr val="2563EB"/>
                  </a:solidFill>
                  <a:latin typeface="Material Icons"/>
                  <a:ea typeface="Material Icons"/>
                  <a:cs typeface="Material Icons"/>
                  <a:sym typeface="Material Icons"/>
                </a:endParaRPr>
              </a:p>
            </p:txBody>
          </p:sp>
          <p:sp>
            <p:nvSpPr>
              <p:cNvPr id="238" name="Google Shape;238;p8"/>
              <p:cNvSpPr txBox="1"/>
              <p:nvPr/>
            </p:nvSpPr>
            <p:spPr>
              <a:xfrm>
                <a:off x="400050" y="0"/>
                <a:ext cx="4333800" cy="647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Revision Branch (Screen 8)</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Tapping Request Changes routes to a structured revision form with specific change categories.</a:t>
                </a:r>
                <a:endParaRPr b="0" sz="1000">
                  <a:solidFill>
                    <a:srgbClr val="334155"/>
                  </a:solidFill>
                  <a:latin typeface="Quattrocento Sans"/>
                  <a:ea typeface="Quattrocento Sans"/>
                  <a:cs typeface="Quattrocento Sans"/>
                  <a:sym typeface="Quattrocento Sans"/>
                </a:endParaRPr>
              </a:p>
            </p:txBody>
          </p:sp>
        </p:grpSp>
        <p:cxnSp>
          <p:nvCxnSpPr>
            <p:cNvPr id="239" name="Google Shape;239;p8"/>
            <p:cNvCxnSpPr/>
            <p:nvPr/>
          </p:nvCxnSpPr>
          <p:spPr>
            <a:xfrm>
              <a:off x="228600" y="4076700"/>
              <a:ext cx="4734000" cy="0"/>
            </a:xfrm>
            <a:prstGeom prst="straightConnector1">
              <a:avLst/>
            </a:prstGeom>
            <a:solidFill>
              <a:srgbClr val="FFFFFF"/>
            </a:solidFill>
            <a:ln cap="flat" cmpd="sng" w="9525">
              <a:solidFill>
                <a:srgbClr val="F1F5F9"/>
              </a:solidFill>
              <a:prstDash val="solid"/>
              <a:round/>
              <a:headEnd len="sm" w="sm" type="none"/>
              <a:tailEnd len="sm" w="sm" type="none"/>
            </a:ln>
          </p:spPr>
        </p:cxnSp>
        <p:grpSp>
          <p:nvGrpSpPr>
            <p:cNvPr id="240" name="Google Shape;240;p8"/>
            <p:cNvGrpSpPr/>
            <p:nvPr/>
          </p:nvGrpSpPr>
          <p:grpSpPr>
            <a:xfrm>
              <a:off x="228600" y="4152900"/>
              <a:ext cx="4733850" cy="571500"/>
              <a:chOff x="0" y="0"/>
              <a:chExt cx="4733850" cy="571500"/>
            </a:xfrm>
          </p:grpSpPr>
          <p:sp>
            <p:nvSpPr>
              <p:cNvPr id="241" name="Google Shape;241;p8"/>
              <p:cNvSpPr/>
              <p:nvPr/>
            </p:nvSpPr>
            <p:spPr>
              <a:xfrm>
                <a:off x="0" y="0"/>
                <a:ext cx="285900" cy="285900"/>
              </a:xfrm>
              <a:prstGeom prst="ellipse">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8"/>
              <p:cNvSpPr txBox="1"/>
              <p:nvPr/>
            </p:nvSpPr>
            <p:spPr>
              <a:xfrm>
                <a:off x="47625" y="80048"/>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67">
                    <a:solidFill>
                      <a:srgbClr val="2563EB"/>
                    </a:solidFill>
                    <a:latin typeface="Material Icons"/>
                    <a:ea typeface="Material Icons"/>
                    <a:cs typeface="Material Icons"/>
                    <a:sym typeface="Material Icons"/>
                  </a:rPr>
                  <a:t>verified</a:t>
                </a:r>
                <a:endParaRPr sz="867">
                  <a:solidFill>
                    <a:srgbClr val="2563EB"/>
                  </a:solidFill>
                  <a:latin typeface="Material Icons"/>
                  <a:ea typeface="Material Icons"/>
                  <a:cs typeface="Material Icons"/>
                  <a:sym typeface="Material Icons"/>
                </a:endParaRPr>
              </a:p>
            </p:txBody>
          </p:sp>
          <p:sp>
            <p:nvSpPr>
              <p:cNvPr id="243" name="Google Shape;243;p8"/>
              <p:cNvSpPr txBox="1"/>
              <p:nvPr/>
            </p:nvSpPr>
            <p:spPr>
              <a:xfrm>
                <a:off x="400050" y="0"/>
                <a:ext cx="43338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Digital Certificate (Screen 9)</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00">
                    <a:solidFill>
                      <a:srgbClr val="334155"/>
                    </a:solidFill>
                    <a:latin typeface="Quattrocento Sans"/>
                    <a:ea typeface="Quattrocento Sans"/>
                    <a:cs typeface="Quattrocento Sans"/>
                    <a:sym typeface="Quattrocento Sans"/>
                  </a:rPr>
                  <a:t>Confirmed sign-off generates an immutable receipt with SHA-256 hash, User ID, and timestamp.</a:t>
                </a:r>
                <a:endParaRPr b="0" sz="1000">
                  <a:solidFill>
                    <a:srgbClr val="334155"/>
                  </a:solidFill>
                  <a:latin typeface="Quattrocento Sans"/>
                  <a:ea typeface="Quattrocento Sans"/>
                  <a:cs typeface="Quattrocento Sans"/>
                  <a:sym typeface="Quattrocento Sans"/>
                </a:endParaRPr>
              </a:p>
            </p:txBody>
          </p:sp>
        </p:grpSp>
      </p:grpSp>
      <p:grpSp>
        <p:nvGrpSpPr>
          <p:cNvPr id="244" name="Google Shape;244;p8"/>
          <p:cNvGrpSpPr/>
          <p:nvPr/>
        </p:nvGrpSpPr>
        <p:grpSpPr>
          <a:xfrm>
            <a:off x="6019800" y="1666875"/>
            <a:ext cx="5572200" cy="4762500"/>
            <a:chOff x="0" y="0"/>
            <a:chExt cx="5572200" cy="4762500"/>
          </a:xfrm>
        </p:grpSpPr>
        <p:sp>
          <p:nvSpPr>
            <p:cNvPr id="245" name="Google Shape;245;p8"/>
            <p:cNvSpPr/>
            <p:nvPr/>
          </p:nvSpPr>
          <p:spPr>
            <a:xfrm>
              <a:off x="0" y="0"/>
              <a:ext cx="5572200" cy="4762500"/>
            </a:xfrm>
            <a:prstGeom prst="roundRect">
              <a:avLst>
                <a:gd fmla="val 24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8"/>
            <p:cNvSpPr/>
            <p:nvPr/>
          </p:nvSpPr>
          <p:spPr>
            <a:xfrm>
              <a:off x="0" y="0"/>
              <a:ext cx="5572200" cy="400200"/>
            </a:xfrm>
            <a:prstGeom prst="roundRect">
              <a:avLst>
                <a:gd fmla="val 28560" name="adj"/>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7" name="Google Shape;247;p8"/>
            <p:cNvSpPr/>
            <p:nvPr/>
          </p:nvSpPr>
          <p:spPr>
            <a:xfrm>
              <a:off x="0" y="285750"/>
              <a:ext cx="5572200" cy="1143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48" name="Google Shape;248;p8"/>
            <p:cNvCxnSpPr/>
            <p:nvPr/>
          </p:nvCxnSpPr>
          <p:spPr>
            <a:xfrm>
              <a:off x="0" y="400050"/>
              <a:ext cx="55722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249" name="Google Shape;249;p8"/>
            <p:cNvSpPr txBox="1"/>
            <p:nvPr/>
          </p:nvSpPr>
          <p:spPr>
            <a:xfrm>
              <a:off x="190500" y="95250"/>
              <a:ext cx="5191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64748B"/>
                  </a:solidFill>
                  <a:latin typeface="Quattrocento Sans"/>
                  <a:ea typeface="Quattrocento Sans"/>
                  <a:cs typeface="Quattrocento Sans"/>
                  <a:sym typeface="Quattrocento Sans"/>
                </a:rPr>
                <a:t>Activity Diagram (AD3) &amp; Swimlane Workflow</a:t>
              </a:r>
              <a:endParaRPr b="1" sz="1000">
                <a:solidFill>
                  <a:srgbClr val="64748B"/>
                </a:solidFill>
                <a:latin typeface="Quattrocento Sans"/>
                <a:ea typeface="Quattrocento Sans"/>
                <a:cs typeface="Quattrocento Sans"/>
                <a:sym typeface="Quattrocento Sans"/>
              </a:endParaRPr>
            </a:p>
          </p:txBody>
        </p:sp>
        <p:pic>
          <p:nvPicPr>
            <p:cNvPr id="250" name="Google Shape;250;p8"/>
            <p:cNvPicPr preferRelativeResize="0"/>
            <p:nvPr/>
          </p:nvPicPr>
          <p:blipFill rotWithShape="1">
            <a:blip r:embed="rId3">
              <a:alphaModFix/>
            </a:blip>
            <a:srcRect b="9248" l="0" r="0" t="0"/>
            <a:stretch/>
          </p:blipFill>
          <p:spPr>
            <a:xfrm>
              <a:off x="190500" y="435975"/>
              <a:ext cx="5191200" cy="4264800"/>
            </a:xfrm>
            <a:prstGeom prst="roundRect">
              <a:avLst>
                <a:gd fmla="val 1838" name="adj"/>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9"/>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RESPONSIVE &amp; ADAPTIVE SCREEN ARCHITECTURE</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Canonical Material 3 Responsiveness Proof</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Dynamic Breakpoint Switching: Bottom NavigationBar (&lt;640dp) to Left NavigationRail (&gt;=640dp)</a:t>
            </a:r>
            <a:endParaRPr/>
          </a:p>
        </p:txBody>
      </p:sp>
      <p:sp>
        <p:nvSpPr>
          <p:cNvPr id="257" name="Google Shape;257;p9"/>
          <p:cNvSpPr/>
          <p:nvPr/>
        </p:nvSpPr>
        <p:spPr>
          <a:xfrm>
            <a:off x="6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Compact Viewport (&lt;640dp Phone)</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Hardware Target: </a:t>
            </a:r>
            <a:r>
              <a:rPr b="0" i="0" lang="en-US" sz="1100">
                <a:solidFill>
                  <a:srgbClr val="334155"/>
                </a:solidFill>
                <a:latin typeface="Quattrocento Sans"/>
                <a:ea typeface="Quattrocento Sans"/>
                <a:cs typeface="Quattrocento Sans"/>
                <a:sym typeface="Quattrocento Sans"/>
              </a:rPr>
              <a:t>Smartphones (Samsung Galaxy A54, iPhone 15) in portrait orientation.</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Navigation Paradigm: </a:t>
            </a:r>
            <a:r>
              <a:rPr b="0" i="0" lang="en-US" sz="1100">
                <a:solidFill>
                  <a:srgbClr val="334155"/>
                </a:solidFill>
                <a:latin typeface="Quattrocento Sans"/>
                <a:ea typeface="Quattrocento Sans"/>
                <a:cs typeface="Quattrocento Sans"/>
                <a:sym typeface="Quattrocento Sans"/>
              </a:rPr>
              <a:t>Canonical Material 3 Bottom NavigationBar with 4 primary destinations (Dashboard, Projects, Governance, Alerts).</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Ergonomic Thumb Zone: </a:t>
            </a:r>
            <a:r>
              <a:rPr b="0" i="0" lang="en-US" sz="1100">
                <a:solidFill>
                  <a:srgbClr val="334155"/>
                </a:solidFill>
                <a:latin typeface="Quattrocento Sans"/>
                <a:ea typeface="Quattrocento Sans"/>
                <a:cs typeface="Quattrocento Sans"/>
                <a:sym typeface="Quattrocento Sans"/>
              </a:rPr>
              <a:t>All major navigational touch points reside in bottom 30% of screen for one-handed reach.</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Single-Column Flow: </a:t>
            </a:r>
            <a:r>
              <a:rPr b="0" i="0" lang="en-US" sz="1100">
                <a:solidFill>
                  <a:srgbClr val="334155"/>
                </a:solidFill>
                <a:latin typeface="Quattrocento Sans"/>
                <a:ea typeface="Quattrocento Sans"/>
                <a:cs typeface="Quattrocento Sans"/>
                <a:sym typeface="Quattrocento Sans"/>
              </a:rPr>
              <a:t>Outlined cards stacked vertically with 16dp horizontal edge margins and dynamic vertical scrolling.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75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Touch Target Standards: </a:t>
            </a:r>
            <a:r>
              <a:rPr b="0" i="0" lang="en-US" sz="1100">
                <a:solidFill>
                  <a:srgbClr val="334155"/>
                </a:solidFill>
                <a:latin typeface="Quattrocento Sans"/>
                <a:ea typeface="Quattrocento Sans"/>
                <a:cs typeface="Quattrocento Sans"/>
                <a:sym typeface="Quattrocento Sans"/>
              </a:rPr>
              <a:t>All buttons and tappable chips meet or exceed 48x48dp minimum touch target.</a:t>
            </a:r>
            <a:endParaRPr b="1" i="0" sz="1500">
              <a:solidFill>
                <a:srgbClr val="0F172A"/>
              </a:solidFill>
              <a:latin typeface="Quattrocento Sans"/>
              <a:ea typeface="Quattrocento Sans"/>
              <a:cs typeface="Quattrocento Sans"/>
              <a:sym typeface="Quattrocento Sans"/>
            </a:endParaRPr>
          </a:p>
        </p:txBody>
      </p:sp>
      <p:sp>
        <p:nvSpPr>
          <p:cNvPr id="258" name="Google Shape;258;p9"/>
          <p:cNvSpPr/>
          <p:nvPr/>
        </p:nvSpPr>
        <p:spPr>
          <a:xfrm>
            <a:off x="4300004"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Medium / Expanded (&gt;=640dp Tablet)</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Hardware Target: </a:t>
            </a:r>
            <a:r>
              <a:rPr b="0" i="0" lang="en-US" sz="1100">
                <a:solidFill>
                  <a:srgbClr val="334155"/>
                </a:solidFill>
                <a:latin typeface="Quattrocento Sans"/>
                <a:ea typeface="Quattrocento Sans"/>
                <a:cs typeface="Quattrocento Sans"/>
                <a:sym typeface="Quattrocento Sans"/>
              </a:rPr>
              <a:t>Tablets (Apple iPad 10th Gen), foldable devices, and desktop web browsers.</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Navigation Paradigm: </a:t>
            </a:r>
            <a:r>
              <a:rPr b="0" i="0" lang="en-US" sz="1100">
                <a:solidFill>
                  <a:srgbClr val="334155"/>
                </a:solidFill>
                <a:latin typeface="Quattrocento Sans"/>
                <a:ea typeface="Quattrocento Sans"/>
                <a:cs typeface="Quattrocento Sans"/>
                <a:sym typeface="Quattrocento Sans"/>
              </a:rPr>
              <a:t>Adaptive Left NavigationRail featuring permanent brand header, extended labels, and zero elevation.</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Screen Real Estate: </a:t>
            </a:r>
            <a:r>
              <a:rPr b="0" i="0" lang="en-US" sz="1100">
                <a:solidFill>
                  <a:srgbClr val="334155"/>
                </a:solidFill>
                <a:latin typeface="Quattrocento Sans"/>
                <a:ea typeface="Quattrocento Sans"/>
                <a:cs typeface="Quattrocento Sans"/>
                <a:sym typeface="Quattrocento Sans"/>
              </a:rPr>
              <a:t>Preserves vertical reading height while utilizing horizontal tablet landscape width.</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Width-Bounded Cards: </a:t>
            </a:r>
            <a:r>
              <a:rPr b="0" i="0" lang="en-US" sz="1100">
                <a:solidFill>
                  <a:srgbClr val="334155"/>
                </a:solidFill>
                <a:latin typeface="Quattrocento Sans"/>
                <a:ea typeface="Quattrocento Sans"/>
                <a:cs typeface="Quattrocento Sans"/>
                <a:sym typeface="Quattrocento Sans"/>
              </a:rPr>
              <a:t>Uses ConstrainedBox(maxWidth: 800) to prevent awkward full-width card stretching.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75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Reflow Mechanics: </a:t>
            </a:r>
            <a:r>
              <a:rPr b="0" i="0" lang="en-US" sz="1100">
                <a:solidFill>
                  <a:srgbClr val="334155"/>
                </a:solidFill>
                <a:latin typeface="Quattrocento Sans"/>
                <a:ea typeface="Quattrocento Sans"/>
                <a:cs typeface="Quattrocento Sans"/>
                <a:sym typeface="Quattrocento Sans"/>
              </a:rPr>
              <a:t>Multi-column responsive grid layout for metrics and deliverable cards via LayoutBuilder.</a:t>
            </a:r>
            <a:endParaRPr b="1" i="0" sz="1500">
              <a:solidFill>
                <a:srgbClr val="0F172A"/>
              </a:solidFill>
              <a:latin typeface="Quattrocento Sans"/>
              <a:ea typeface="Quattrocento Sans"/>
              <a:cs typeface="Quattrocento Sans"/>
              <a:sym typeface="Quattrocento Sans"/>
            </a:endParaRPr>
          </a:p>
        </p:txBody>
      </p:sp>
      <p:sp>
        <p:nvSpPr>
          <p:cNvPr id="259" name="Google Shape;259;p9"/>
          <p:cNvSpPr/>
          <p:nvPr/>
        </p:nvSpPr>
        <p:spPr>
          <a:xfrm>
            <a:off x="80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DartPad Live Split-Pane Proof</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Live Verification: </a:t>
            </a:r>
            <a:r>
              <a:rPr b="0" i="0" lang="en-US" sz="1100">
                <a:solidFill>
                  <a:srgbClr val="334155"/>
                </a:solidFill>
                <a:latin typeface="Quattrocento Sans"/>
                <a:ea typeface="Quattrocento Sans"/>
                <a:cs typeface="Quattrocento Sans"/>
                <a:sym typeface="Quattrocento Sans"/>
              </a:rPr>
              <a:t>Interactive split-pane divider in dartpad.dev dragged live between &lt;640dp and &gt;=640dp.</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LayoutBuilder Rebuild: </a:t>
            </a:r>
            <a:r>
              <a:rPr b="0" i="0" lang="en-US" sz="1100">
                <a:solidFill>
                  <a:srgbClr val="334155"/>
                </a:solidFill>
                <a:latin typeface="Quattrocento Sans"/>
                <a:ea typeface="Quattrocento Sans"/>
                <a:cs typeface="Quattrocento Sans"/>
                <a:sym typeface="Quattrocento Sans"/>
              </a:rPr>
              <a:t>LayoutBuilder(builder: (context, constraints) =&gt; ...) recalculates constraints in real time.</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Zero Page Reloads: </a:t>
            </a:r>
            <a:r>
              <a:rPr b="0" i="0" lang="en-US" sz="1100">
                <a:solidFill>
                  <a:srgbClr val="334155"/>
                </a:solidFill>
                <a:latin typeface="Quattrocento Sans"/>
                <a:ea typeface="Quattrocento Sans"/>
                <a:cs typeface="Quattrocento Sans"/>
                <a:sym typeface="Quattrocento Sans"/>
              </a:rPr>
              <a:t>Preserves navigation state, tab selection, and form inputs during viewport resizing.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Zero Layout Overflows: </a:t>
            </a:r>
            <a:r>
              <a:rPr b="0" i="0" lang="en-US" sz="1100">
                <a:solidFill>
                  <a:srgbClr val="334155"/>
                </a:solidFill>
                <a:latin typeface="Quattrocento Sans"/>
                <a:ea typeface="Quattrocento Sans"/>
                <a:cs typeface="Quattrocento Sans"/>
                <a:sym typeface="Quattrocento Sans"/>
              </a:rPr>
              <a:t>100% verified layout stability with zero RenderFlex overflow errors across all 11 screens.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750"/>
              </a:spcBef>
              <a:spcAft>
                <a:spcPts val="75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200% Font Scale Stability: </a:t>
            </a:r>
            <a:r>
              <a:rPr b="0" i="0" lang="en-US" sz="1100">
                <a:solidFill>
                  <a:srgbClr val="334155"/>
                </a:solidFill>
                <a:latin typeface="Quattrocento Sans"/>
                <a:ea typeface="Quattrocento Sans"/>
                <a:cs typeface="Quattrocento Sans"/>
                <a:sym typeface="Quattrocento Sans"/>
              </a:rPr>
              <a:t>Layout structures remain stable and legible at up to 200% operating system text scaling.</a:t>
            </a:r>
            <a:endParaRPr b="1" i="0" sz="15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0"/>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571500" y="381000"/>
            <a:ext cx="11049000" cy="1047900"/>
          </a:xfrm>
          <a:prstGeom prst="roundRect">
            <a:avLst>
              <a:gd fmla="val 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Quattrocento Sans"/>
                <a:ea typeface="Quattrocento Sans"/>
                <a:cs typeface="Quattrocento Sans"/>
                <a:sym typeface="Quattrocento Sans"/>
              </a:rPr>
              <a:t>MATERIAL 3 COMPONENT MAPPING &amp; GUIDELINES ADHERENCE</a:t>
            </a:r>
            <a:endParaRPr b="1" sz="10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2600">
                <a:solidFill>
                  <a:srgbClr val="0F172A"/>
                </a:solidFill>
                <a:latin typeface="Quattrocento Sans"/>
                <a:ea typeface="Quattrocento Sans"/>
                <a:cs typeface="Quattrocento Sans"/>
                <a:sym typeface="Quattrocento Sans"/>
              </a:rPr>
              <a:t>Material 3 Component Mapping Matrix</a:t>
            </a:r>
            <a:endParaRPr b="1" sz="26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200">
                <a:solidFill>
                  <a:srgbClr val="475569"/>
                </a:solidFill>
                <a:latin typeface="Quattrocento Sans"/>
                <a:ea typeface="Quattrocento Sans"/>
                <a:cs typeface="Quattrocento Sans"/>
                <a:sym typeface="Quattrocento Sans"/>
              </a:rPr>
              <a:t>Exhaustive Implementation of Mandated Widgets Aligned with Official Flutter &amp; M3 Guidelines</a:t>
            </a:r>
            <a:endParaRPr b="0" sz="1200">
              <a:solidFill>
                <a:srgbClr val="475569"/>
              </a:solidFill>
              <a:latin typeface="Quattrocento Sans"/>
              <a:ea typeface="Quattrocento Sans"/>
              <a:cs typeface="Quattrocento Sans"/>
              <a:sym typeface="Quattrocento Sans"/>
            </a:endParaRPr>
          </a:p>
        </p:txBody>
      </p:sp>
      <p:sp>
        <p:nvSpPr>
          <p:cNvPr id="266" name="Google Shape;266;p10"/>
          <p:cNvSpPr/>
          <p:nvPr/>
        </p:nvSpPr>
        <p:spPr>
          <a:xfrm>
            <a:off x="6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Navigation &amp; Structure</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AppBar: </a:t>
            </a:r>
            <a:r>
              <a:rPr b="0" i="0" lang="en-US" sz="1100">
                <a:solidFill>
                  <a:srgbClr val="334155"/>
                </a:solidFill>
                <a:latin typeface="Quattrocento Sans"/>
                <a:ea typeface="Quattrocento Sans"/>
                <a:cs typeface="Quattrocento Sans"/>
                <a:sym typeface="Quattrocento Sans"/>
              </a:rPr>
              <a:t>Centered title (centerTitle: true), surface elevation tint, profile action, and uniform back navigation (Screens 1–11).</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NavBar (NavigationBar): </a:t>
            </a:r>
            <a:r>
              <a:rPr b="0" i="0" lang="en-US" sz="1100">
                <a:solidFill>
                  <a:srgbClr val="334155"/>
                </a:solidFill>
                <a:latin typeface="Quattrocento Sans"/>
                <a:ea typeface="Quattrocento Sans"/>
                <a:cs typeface="Quattrocento Sans"/>
                <a:sym typeface="Quattrocento Sans"/>
              </a:rPr>
              <a:t>Bottom bar on Compact (&lt;640dp), 4 destinations, filled pill indicators, semantic labels, unbolded inactive state.</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NavigationRail: </a:t>
            </a:r>
            <a:r>
              <a:rPr b="0" i="0" lang="en-US" sz="1100">
                <a:solidFill>
                  <a:srgbClr val="334155"/>
                </a:solidFill>
                <a:latin typeface="Quattrocento Sans"/>
                <a:ea typeface="Quattrocento Sans"/>
                <a:cs typeface="Quattrocento Sans"/>
                <a:sym typeface="Quattrocento Sans"/>
              </a:rPr>
              <a:t>Left rail on Medium/Expanded (&gt;=640dp), brand logo header, extended labels on tablet, vertical divider, elevation 0.</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Tab (TabBar / TabBarView): </a:t>
            </a:r>
            <a:r>
              <a:rPr b="0" i="0" lang="en-US" sz="1100">
                <a:solidFill>
                  <a:srgbClr val="334155"/>
                </a:solidFill>
                <a:latin typeface="Quattrocento Sans"/>
                <a:ea typeface="Quattrocento Sans"/>
                <a:cs typeface="Quattrocento Sans"/>
                <a:sym typeface="Quattrocento Sans"/>
              </a:rPr>
              <a:t>Primary pill tabs with smooth animation and nested scroll syncing across project categories (All, Active, Review).</a:t>
            </a:r>
            <a:endParaRPr b="1" i="0" sz="1500">
              <a:solidFill>
                <a:srgbClr val="0F172A"/>
              </a:solidFill>
              <a:latin typeface="Quattrocento Sans"/>
              <a:ea typeface="Quattrocento Sans"/>
              <a:cs typeface="Quattrocento Sans"/>
              <a:sym typeface="Quattrocento Sans"/>
            </a:endParaRPr>
          </a:p>
        </p:txBody>
      </p:sp>
      <p:sp>
        <p:nvSpPr>
          <p:cNvPr id="267" name="Google Shape;267;p10"/>
          <p:cNvSpPr/>
          <p:nvPr/>
        </p:nvSpPr>
        <p:spPr>
          <a:xfrm>
            <a:off x="4300004"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Content, Cards &amp; Lists</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Card: </a:t>
            </a:r>
            <a:r>
              <a:rPr b="0" i="0" lang="en-US" sz="1100">
                <a:solidFill>
                  <a:srgbClr val="334155"/>
                </a:solidFill>
                <a:latin typeface="Quattrocento Sans"/>
                <a:ea typeface="Quattrocento Sans"/>
                <a:cs typeface="Quattrocento Sans"/>
                <a:sym typeface="Quattrocento Sans"/>
              </a:rPr>
              <a:t>Outlined M3 cards with subtle 1dp border, 16dp radius, strictly zero nested ListViews to avoid double-scroll antipatterns.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List (ListView / ListTile): </a:t>
            </a:r>
            <a:r>
              <a:rPr b="0" i="0" lang="en-US" sz="1100">
                <a:solidFill>
                  <a:srgbClr val="334155"/>
                </a:solidFill>
                <a:latin typeface="Quattrocento Sans"/>
                <a:ea typeface="Quattrocento Sans"/>
                <a:cs typeface="Quattrocento Sans"/>
                <a:sym typeface="Quattrocento Sans"/>
              </a:rPr>
              <a:t>Uniform 48dp leading avatars, two-line subtitles, and trailing status pills across backlog and audit logs.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Carousel (PageView): </a:t>
            </a:r>
            <a:r>
              <a:rPr b="0" i="0" lang="en-US" sz="1100">
                <a:solidFill>
                  <a:srgbClr val="334155"/>
                </a:solidFill>
                <a:latin typeface="Quattrocento Sans"/>
                <a:ea typeface="Quattrocento Sans"/>
                <a:cs typeface="Quattrocento Sans"/>
                <a:sym typeface="Quattrocento Sans"/>
              </a:rPr>
              <a:t>Swipeable deliverable review cards in Screens 4/5, PageController physics, active dot indicators, page badge.</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Chips &amp; Badges: </a:t>
            </a:r>
            <a:r>
              <a:rPr b="0" i="0" lang="en-US" sz="1100">
                <a:solidFill>
                  <a:srgbClr val="334155"/>
                </a:solidFill>
                <a:latin typeface="Quattrocento Sans"/>
                <a:ea typeface="Quattrocento Sans"/>
                <a:cs typeface="Quattrocento Sans"/>
                <a:sym typeface="Quattrocento Sans"/>
              </a:rPr>
              <a:t>M3 ActionChip, ChoiceChip, and notification Badge for fast filtering, stage tagging, and unread alert counts.</a:t>
            </a:r>
            <a:endParaRPr b="1" i="0" sz="1500">
              <a:solidFill>
                <a:srgbClr val="0F172A"/>
              </a:solidFill>
              <a:latin typeface="Quattrocento Sans"/>
              <a:ea typeface="Quattrocento Sans"/>
              <a:cs typeface="Quattrocento Sans"/>
              <a:sym typeface="Quattrocento Sans"/>
            </a:endParaRPr>
          </a:p>
        </p:txBody>
      </p:sp>
      <p:sp>
        <p:nvSpPr>
          <p:cNvPr id="268" name="Google Shape;268;p10"/>
          <p:cNvSpPr/>
          <p:nvPr/>
        </p:nvSpPr>
        <p:spPr>
          <a:xfrm>
            <a:off x="80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Input, Dialogs &amp; Actions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105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Form &amp; TextFields: </a:t>
            </a:r>
            <a:r>
              <a:rPr b="0" i="0" lang="en-US" sz="1100">
                <a:solidFill>
                  <a:srgbClr val="334155"/>
                </a:solidFill>
                <a:latin typeface="Quattrocento Sans"/>
                <a:ea typeface="Quattrocento Sans"/>
                <a:cs typeface="Quattrocento Sans"/>
                <a:sym typeface="Quattrocento Sans"/>
              </a:rPr>
              <a:t>M3 Form with GlobalKey validation, RFC regex email validator, password obscure toggle, and 48dp touch targets.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AlertDialog: </a:t>
            </a:r>
            <a:r>
              <a:rPr b="0" i="0" lang="en-US" sz="1100">
                <a:solidFill>
                  <a:srgbClr val="334155"/>
                </a:solidFill>
                <a:latin typeface="Quattrocento Sans"/>
                <a:ea typeface="Quattrocento Sans"/>
                <a:cs typeface="Quattrocento Sans"/>
                <a:sym typeface="Quattrocento Sans"/>
              </a:rPr>
              <a:t>Neutral title, two-step confirmation for commercial approvals ($12,500 AUD liability), equal-weight action buttons.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FAB &amp; SnackBar: </a:t>
            </a:r>
            <a:r>
              <a:rPr b="0" i="0" lang="en-US" sz="1100">
                <a:solidFill>
                  <a:srgbClr val="334155"/>
                </a:solidFill>
                <a:latin typeface="Quattrocento Sans"/>
                <a:ea typeface="Quattrocento Sans"/>
                <a:cs typeface="Quattrocento Sans"/>
                <a:sym typeface="Quattrocento Sans"/>
              </a:rPr>
              <a:t>Extended FAB for rapid feedback; non-intrusive floating SnackBars with contextual action triggers ('Undo Discard').</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Progress Indicators: </a:t>
            </a:r>
            <a:r>
              <a:rPr b="0" i="0" lang="en-US" sz="1100">
                <a:solidFill>
                  <a:srgbClr val="334155"/>
                </a:solidFill>
                <a:latin typeface="Quattrocento Sans"/>
                <a:ea typeface="Quattrocento Sans"/>
                <a:cs typeface="Quattrocento Sans"/>
                <a:sym typeface="Quattrocento Sans"/>
              </a:rPr>
              <a:t>LinearProgressIndicator for milestone budget tracking and CircularProgressIndicator for SDLC stage rings.</a:t>
            </a:r>
            <a:endParaRPr b="1" i="0" sz="15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1"/>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571500" y="381000"/>
            <a:ext cx="11049000" cy="1047900"/>
          </a:xfrm>
          <a:prstGeom prst="roundRect">
            <a:avLst>
              <a:gd fmla="val 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Quattrocento Sans"/>
                <a:ea typeface="Quattrocento Sans"/>
                <a:cs typeface="Quattrocento Sans"/>
                <a:sym typeface="Quattrocento Sans"/>
              </a:rPr>
              <a:t>MOBILE USABILITY HEURISTIC EVALUATION — PART 1</a:t>
            </a:r>
            <a:endParaRPr b="1" sz="10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2600">
                <a:solidFill>
                  <a:srgbClr val="0F172A"/>
                </a:solidFill>
                <a:latin typeface="Quattrocento Sans"/>
                <a:ea typeface="Quattrocento Sans"/>
                <a:cs typeface="Quattrocento Sans"/>
                <a:sym typeface="Quattrocento Sans"/>
              </a:rPr>
              <a:t>Heuristics: Micro-Usage &amp; Glanceability</a:t>
            </a:r>
            <a:endParaRPr b="1" sz="100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200">
                <a:solidFill>
                  <a:srgbClr val="475569"/>
                </a:solidFill>
                <a:latin typeface="Quattrocento Sans"/>
                <a:ea typeface="Quattrocento Sans"/>
                <a:cs typeface="Quattrocento Sans"/>
                <a:sym typeface="Quattrocento Sans"/>
              </a:rPr>
              <a:t>Designing for High-Mobility Environments, Low Cognitive Load &amp; Instant Comprehension</a:t>
            </a:r>
            <a:endParaRPr b="1" sz="1000">
              <a:solidFill>
                <a:srgbClr val="2563EB"/>
              </a:solidFill>
              <a:latin typeface="Quattrocento Sans"/>
              <a:ea typeface="Quattrocento Sans"/>
              <a:cs typeface="Quattrocento Sans"/>
              <a:sym typeface="Quattrocento Sans"/>
            </a:endParaRPr>
          </a:p>
        </p:txBody>
      </p:sp>
      <p:grpSp>
        <p:nvGrpSpPr>
          <p:cNvPr id="275" name="Google Shape;275;p11"/>
          <p:cNvGrpSpPr/>
          <p:nvPr/>
        </p:nvGrpSpPr>
        <p:grpSpPr>
          <a:xfrm>
            <a:off x="571500" y="1524000"/>
            <a:ext cx="5334000" cy="342900"/>
            <a:chOff x="0" y="0"/>
            <a:chExt cx="5334000" cy="342900"/>
          </a:xfrm>
        </p:grpSpPr>
        <p:sp>
          <p:nvSpPr>
            <p:cNvPr id="276" name="Google Shape;276;p11"/>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1"/>
            <p:cNvSpPr txBox="1"/>
            <p:nvPr/>
          </p:nvSpPr>
          <p:spPr>
            <a:xfrm>
              <a:off x="114300" y="0"/>
              <a:ext cx="51054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01 / QUICK &amp; EASY INTERACTION (MICRO-USAGE)</a:t>
              </a:r>
              <a:endParaRPr b="1" sz="1100">
                <a:solidFill>
                  <a:srgbClr val="1E40AF"/>
                </a:solidFill>
                <a:latin typeface="Quattrocento Sans"/>
                <a:ea typeface="Quattrocento Sans"/>
                <a:cs typeface="Quattrocento Sans"/>
                <a:sym typeface="Quattrocento Sans"/>
              </a:endParaRPr>
            </a:p>
          </p:txBody>
        </p:sp>
      </p:grpSp>
      <p:grpSp>
        <p:nvGrpSpPr>
          <p:cNvPr id="278" name="Google Shape;278;p11"/>
          <p:cNvGrpSpPr/>
          <p:nvPr/>
        </p:nvGrpSpPr>
        <p:grpSpPr>
          <a:xfrm>
            <a:off x="571500" y="2000250"/>
            <a:ext cx="2571900" cy="2047800"/>
            <a:chOff x="0" y="0"/>
            <a:chExt cx="2571900" cy="2047800"/>
          </a:xfrm>
        </p:grpSpPr>
        <p:sp>
          <p:nvSpPr>
            <p:cNvPr id="279" name="Google Shape;279;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timer</a:t>
              </a:r>
              <a:endParaRPr sz="1800">
                <a:solidFill>
                  <a:srgbClr val="2563EB"/>
                </a:solidFill>
                <a:latin typeface="Material Icons"/>
                <a:ea typeface="Material Icons"/>
                <a:cs typeface="Material Icons"/>
                <a:sym typeface="Material Icons"/>
              </a:endParaRPr>
            </a:p>
          </p:txBody>
        </p:sp>
        <p:sp>
          <p:nvSpPr>
            <p:cNvPr id="282" name="Google Shape;282;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10 to 60s Sessions</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Architecture engineered for rapid in-and-out tasks during busy warehouse checks.</a:t>
              </a:r>
              <a:endParaRPr b="0" sz="1050">
                <a:solidFill>
                  <a:srgbClr val="475569"/>
                </a:solidFill>
                <a:latin typeface="Quattrocento Sans"/>
                <a:ea typeface="Quattrocento Sans"/>
                <a:cs typeface="Quattrocento Sans"/>
                <a:sym typeface="Quattrocento Sans"/>
              </a:endParaRPr>
            </a:p>
          </p:txBody>
        </p:sp>
      </p:grpSp>
      <p:grpSp>
        <p:nvGrpSpPr>
          <p:cNvPr id="283" name="Google Shape;283;p11"/>
          <p:cNvGrpSpPr/>
          <p:nvPr/>
        </p:nvGrpSpPr>
        <p:grpSpPr>
          <a:xfrm>
            <a:off x="3333750" y="2000250"/>
            <a:ext cx="2571900" cy="2047800"/>
            <a:chOff x="0" y="0"/>
            <a:chExt cx="2571900" cy="2047800"/>
          </a:xfrm>
        </p:grpSpPr>
        <p:sp>
          <p:nvSpPr>
            <p:cNvPr id="284" name="Google Shape;284;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touch_app</a:t>
              </a:r>
              <a:endParaRPr sz="1800">
                <a:solidFill>
                  <a:srgbClr val="2563EB"/>
                </a:solidFill>
                <a:latin typeface="Material Icons"/>
                <a:ea typeface="Material Icons"/>
                <a:cs typeface="Material Icons"/>
                <a:sym typeface="Material Icons"/>
              </a:endParaRPr>
            </a:p>
          </p:txBody>
        </p:sp>
        <p:sp>
          <p:nvSpPr>
            <p:cNvPr id="287" name="Google Shape;287;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One-Tap Primary Actions</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Direct navigation to pending deliverables via high-visibility dashboard callout banners.</a:t>
              </a:r>
              <a:endParaRPr b="0" sz="1050">
                <a:solidFill>
                  <a:srgbClr val="475569"/>
                </a:solidFill>
                <a:latin typeface="Quattrocento Sans"/>
                <a:ea typeface="Quattrocento Sans"/>
                <a:cs typeface="Quattrocento Sans"/>
                <a:sym typeface="Quattrocento Sans"/>
              </a:endParaRPr>
            </a:p>
          </p:txBody>
        </p:sp>
      </p:grpSp>
      <p:grpSp>
        <p:nvGrpSpPr>
          <p:cNvPr id="288" name="Google Shape;288;p11"/>
          <p:cNvGrpSpPr/>
          <p:nvPr/>
        </p:nvGrpSpPr>
        <p:grpSpPr>
          <a:xfrm>
            <a:off x="571500" y="4191000"/>
            <a:ext cx="2571900" cy="2047800"/>
            <a:chOff x="0" y="0"/>
            <a:chExt cx="2571900" cy="2047800"/>
          </a:xfrm>
        </p:grpSpPr>
        <p:sp>
          <p:nvSpPr>
            <p:cNvPr id="289" name="Google Shape;289;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visibility</a:t>
              </a:r>
              <a:endParaRPr sz="1800">
                <a:solidFill>
                  <a:srgbClr val="2563EB"/>
                </a:solidFill>
                <a:latin typeface="Material Icons"/>
                <a:ea typeface="Material Icons"/>
                <a:cs typeface="Material Icons"/>
                <a:sym typeface="Material Icons"/>
              </a:endParaRPr>
            </a:p>
          </p:txBody>
        </p:sp>
        <p:sp>
          <p:nvSpPr>
            <p:cNvPr id="292" name="Google Shape;292;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Glanceable Project Status</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High-level health conveyed immediately without scrolling or opening nested submenus.</a:t>
              </a:r>
              <a:endParaRPr b="0" sz="1050">
                <a:solidFill>
                  <a:srgbClr val="475569"/>
                </a:solidFill>
                <a:latin typeface="Quattrocento Sans"/>
                <a:ea typeface="Quattrocento Sans"/>
                <a:cs typeface="Quattrocento Sans"/>
                <a:sym typeface="Quattrocento Sans"/>
              </a:endParaRPr>
            </a:p>
          </p:txBody>
        </p:sp>
      </p:grpSp>
      <p:grpSp>
        <p:nvGrpSpPr>
          <p:cNvPr id="293" name="Google Shape;293;p11"/>
          <p:cNvGrpSpPr/>
          <p:nvPr/>
        </p:nvGrpSpPr>
        <p:grpSpPr>
          <a:xfrm>
            <a:off x="3333750" y="4191000"/>
            <a:ext cx="2571900" cy="2047800"/>
            <a:chOff x="0" y="0"/>
            <a:chExt cx="2571900" cy="2047800"/>
          </a:xfrm>
        </p:grpSpPr>
        <p:sp>
          <p:nvSpPr>
            <p:cNvPr id="294" name="Google Shape;294;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verified_user</a:t>
              </a:r>
              <a:endParaRPr sz="1800">
                <a:solidFill>
                  <a:srgbClr val="2563EB"/>
                </a:solidFill>
                <a:latin typeface="Material Icons"/>
                <a:ea typeface="Material Icons"/>
                <a:cs typeface="Material Icons"/>
                <a:sym typeface="Material Icons"/>
              </a:endParaRPr>
            </a:p>
          </p:txBody>
        </p:sp>
        <p:sp>
          <p:nvSpPr>
            <p:cNvPr id="297" name="Google Shape;297;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Zero Intrusive Onboarding</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Intuitive visual hierarchy eliminates the need for mandatory multi-step tutorials.</a:t>
              </a:r>
              <a:endParaRPr b="0" sz="1050">
                <a:solidFill>
                  <a:srgbClr val="475569"/>
                </a:solidFill>
                <a:latin typeface="Quattrocento Sans"/>
                <a:ea typeface="Quattrocento Sans"/>
                <a:cs typeface="Quattrocento Sans"/>
                <a:sym typeface="Quattrocento Sans"/>
              </a:endParaRPr>
            </a:p>
          </p:txBody>
        </p:sp>
      </p:grpSp>
      <p:grpSp>
        <p:nvGrpSpPr>
          <p:cNvPr id="298" name="Google Shape;298;p11"/>
          <p:cNvGrpSpPr/>
          <p:nvPr/>
        </p:nvGrpSpPr>
        <p:grpSpPr>
          <a:xfrm>
            <a:off x="6286500" y="1524000"/>
            <a:ext cx="5334000" cy="342900"/>
            <a:chOff x="0" y="0"/>
            <a:chExt cx="5334000" cy="342900"/>
          </a:xfrm>
        </p:grpSpPr>
        <p:sp>
          <p:nvSpPr>
            <p:cNvPr id="299" name="Google Shape;299;p11"/>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1"/>
            <p:cNvSpPr txBox="1"/>
            <p:nvPr/>
          </p:nvSpPr>
          <p:spPr>
            <a:xfrm>
              <a:off x="114300" y="0"/>
              <a:ext cx="5105400" cy="34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02 / READABILITY &amp; COGNITIVE LOAD REDUCTION</a:t>
              </a:r>
              <a:endParaRPr b="1" sz="1100">
                <a:solidFill>
                  <a:srgbClr val="1E40AF"/>
                </a:solidFill>
                <a:latin typeface="Quattrocento Sans"/>
                <a:ea typeface="Quattrocento Sans"/>
                <a:cs typeface="Quattrocento Sans"/>
                <a:sym typeface="Quattrocento Sans"/>
              </a:endParaRPr>
            </a:p>
          </p:txBody>
        </p:sp>
      </p:grpSp>
      <p:grpSp>
        <p:nvGrpSpPr>
          <p:cNvPr id="301" name="Google Shape;301;p11"/>
          <p:cNvGrpSpPr/>
          <p:nvPr/>
        </p:nvGrpSpPr>
        <p:grpSpPr>
          <a:xfrm>
            <a:off x="6286500" y="2000250"/>
            <a:ext cx="2571900" cy="2047800"/>
            <a:chOff x="0" y="0"/>
            <a:chExt cx="2571900" cy="2047800"/>
          </a:xfrm>
        </p:grpSpPr>
        <p:sp>
          <p:nvSpPr>
            <p:cNvPr id="302" name="Google Shape;302;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4" name="Google Shape;304;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translate</a:t>
              </a:r>
              <a:endParaRPr sz="1800">
                <a:solidFill>
                  <a:srgbClr val="2563EB"/>
                </a:solidFill>
                <a:latin typeface="Material Icons"/>
                <a:ea typeface="Material Icons"/>
                <a:cs typeface="Material Icons"/>
                <a:sym typeface="Material Icons"/>
              </a:endParaRPr>
            </a:p>
          </p:txBody>
        </p:sp>
        <p:sp>
          <p:nvSpPr>
            <p:cNvPr id="305" name="Google Shape;305;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Plain-Language Translation</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Internal developer jargon (e.g. Git hashes, staging builds) is translated into commercial milestones.</a:t>
              </a:r>
              <a:endParaRPr b="0" sz="1050">
                <a:solidFill>
                  <a:srgbClr val="475569"/>
                </a:solidFill>
                <a:latin typeface="Quattrocento Sans"/>
                <a:ea typeface="Quattrocento Sans"/>
                <a:cs typeface="Quattrocento Sans"/>
                <a:sym typeface="Quattrocento Sans"/>
              </a:endParaRPr>
            </a:p>
          </p:txBody>
        </p:sp>
      </p:grpSp>
      <p:grpSp>
        <p:nvGrpSpPr>
          <p:cNvPr id="306" name="Google Shape;306;p11"/>
          <p:cNvGrpSpPr/>
          <p:nvPr/>
        </p:nvGrpSpPr>
        <p:grpSpPr>
          <a:xfrm>
            <a:off x="9048750" y="2000250"/>
            <a:ext cx="2571900" cy="2047800"/>
            <a:chOff x="0" y="0"/>
            <a:chExt cx="2571900" cy="2047800"/>
          </a:xfrm>
        </p:grpSpPr>
        <p:sp>
          <p:nvSpPr>
            <p:cNvPr id="307" name="Google Shape;307;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psychology</a:t>
              </a:r>
              <a:endParaRPr sz="1800">
                <a:solidFill>
                  <a:srgbClr val="2563EB"/>
                </a:solidFill>
                <a:latin typeface="Material Icons"/>
                <a:ea typeface="Material Icons"/>
                <a:cs typeface="Material Icons"/>
                <a:sym typeface="Material Icons"/>
              </a:endParaRPr>
            </a:p>
          </p:txBody>
        </p:sp>
        <p:sp>
          <p:nvSpPr>
            <p:cNvPr id="310" name="Google Shape;310;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Extraneous Load Elimination</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Shields users from developer churn under high cognitive load (Ilany-Tzur &amp; Fink, 2023).</a:t>
              </a:r>
              <a:endParaRPr b="0" sz="1050">
                <a:solidFill>
                  <a:srgbClr val="475569"/>
                </a:solidFill>
                <a:latin typeface="Quattrocento Sans"/>
                <a:ea typeface="Quattrocento Sans"/>
                <a:cs typeface="Quattrocento Sans"/>
                <a:sym typeface="Quattrocento Sans"/>
              </a:endParaRPr>
            </a:p>
          </p:txBody>
        </p:sp>
      </p:grpSp>
      <p:grpSp>
        <p:nvGrpSpPr>
          <p:cNvPr id="311" name="Google Shape;311;p11"/>
          <p:cNvGrpSpPr/>
          <p:nvPr/>
        </p:nvGrpSpPr>
        <p:grpSpPr>
          <a:xfrm>
            <a:off x="6286500" y="4191000"/>
            <a:ext cx="2571900" cy="2047800"/>
            <a:chOff x="0" y="0"/>
            <a:chExt cx="2571900" cy="2047800"/>
          </a:xfrm>
        </p:grpSpPr>
        <p:sp>
          <p:nvSpPr>
            <p:cNvPr id="312" name="Google Shape;312;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speed</a:t>
              </a:r>
              <a:endParaRPr sz="1800">
                <a:solidFill>
                  <a:srgbClr val="2563EB"/>
                </a:solidFill>
                <a:latin typeface="Material Icons"/>
                <a:ea typeface="Material Icons"/>
                <a:cs typeface="Material Icons"/>
                <a:sym typeface="Material Icons"/>
              </a:endParaRPr>
            </a:p>
          </p:txBody>
        </p:sp>
        <p:sp>
          <p:nvSpPr>
            <p:cNvPr id="315" name="Google Shape;315;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Visual Metaphor Acceleration</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Traffic-light icons and progress rings accelerate novice recognition (Gatsou et al., 2011).</a:t>
              </a:r>
              <a:endParaRPr b="0" sz="1050">
                <a:solidFill>
                  <a:srgbClr val="475569"/>
                </a:solidFill>
                <a:latin typeface="Quattrocento Sans"/>
                <a:ea typeface="Quattrocento Sans"/>
                <a:cs typeface="Quattrocento Sans"/>
                <a:sym typeface="Quattrocento Sans"/>
              </a:endParaRPr>
            </a:p>
          </p:txBody>
        </p:sp>
      </p:grpSp>
      <p:grpSp>
        <p:nvGrpSpPr>
          <p:cNvPr id="316" name="Google Shape;316;p11"/>
          <p:cNvGrpSpPr/>
          <p:nvPr/>
        </p:nvGrpSpPr>
        <p:grpSpPr>
          <a:xfrm>
            <a:off x="9048750" y="4191000"/>
            <a:ext cx="2571900" cy="2047800"/>
            <a:chOff x="0" y="0"/>
            <a:chExt cx="2571900" cy="2047800"/>
          </a:xfrm>
        </p:grpSpPr>
        <p:sp>
          <p:nvSpPr>
            <p:cNvPr id="317" name="Google Shape;317;p11"/>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11"/>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11"/>
            <p:cNvSpPr txBox="1"/>
            <p:nvPr/>
          </p:nvSpPr>
          <p:spPr>
            <a:xfrm>
              <a:off x="152400" y="1786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layers</a:t>
              </a:r>
              <a:endParaRPr sz="1800">
                <a:solidFill>
                  <a:srgbClr val="2563EB"/>
                </a:solidFill>
                <a:latin typeface="Material Icons"/>
                <a:ea typeface="Material Icons"/>
                <a:cs typeface="Material Icons"/>
                <a:sym typeface="Material Icons"/>
              </a:endParaRPr>
            </a:p>
          </p:txBody>
        </p:sp>
        <p:sp>
          <p:nvSpPr>
            <p:cNvPr id="320" name="Google Shape;320;p11"/>
            <p:cNvSpPr txBox="1"/>
            <p:nvPr/>
          </p:nvSpPr>
          <p:spPr>
            <a:xfrm>
              <a:off x="152400" y="59055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F172A"/>
                  </a:solidFill>
                  <a:latin typeface="Quattrocento Sans"/>
                  <a:ea typeface="Quattrocento Sans"/>
                  <a:cs typeface="Quattrocento Sans"/>
                  <a:sym typeface="Quattrocento Sans"/>
                </a:rPr>
                <a:t>Progressive Disclosure</a:t>
              </a:r>
              <a:endParaRPr b="1" sz="120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50">
                  <a:solidFill>
                    <a:srgbClr val="475569"/>
                  </a:solidFill>
                  <a:latin typeface="Quattrocento Sans"/>
                  <a:ea typeface="Quattrocento Sans"/>
                  <a:cs typeface="Quattrocento Sans"/>
                  <a:sym typeface="Quattrocento Sans"/>
                </a:rPr>
                <a:t>Overview presented first; detailed developer notes accessible on demand.</a:t>
              </a:r>
              <a:endParaRPr b="0" sz="1050">
                <a:solidFill>
                  <a:srgbClr val="475569"/>
                </a:solidFill>
                <a:latin typeface="Quattrocento Sans"/>
                <a:ea typeface="Quattrocento Sans"/>
                <a:cs typeface="Quattrocento Sans"/>
                <a:sym typeface="Quattrocento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12"/>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MOBILE USABILITY HEURISTIC EVALUATION — PART 2</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Heuristics: Error Prevention &amp; Consistency</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Two-Step Commercial Confirmations, Uniform Naming &amp; Outdoor WCAG AA Contrast</a:t>
            </a:r>
            <a:endParaRPr/>
          </a:p>
        </p:txBody>
      </p:sp>
      <p:grpSp>
        <p:nvGrpSpPr>
          <p:cNvPr id="327" name="Google Shape;327;p12"/>
          <p:cNvGrpSpPr/>
          <p:nvPr/>
        </p:nvGrpSpPr>
        <p:grpSpPr>
          <a:xfrm>
            <a:off x="571500" y="1524000"/>
            <a:ext cx="5334000" cy="342900"/>
            <a:chOff x="0" y="0"/>
            <a:chExt cx="5334000" cy="342900"/>
          </a:xfrm>
        </p:grpSpPr>
        <p:sp>
          <p:nvSpPr>
            <p:cNvPr id="328" name="Google Shape;328;p12"/>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9" name="Google Shape;329;p12"/>
            <p:cNvGrpSpPr/>
            <p:nvPr/>
          </p:nvGrpSpPr>
          <p:grpSpPr>
            <a:xfrm>
              <a:off x="114300" y="0"/>
              <a:ext cx="5105400" cy="342900"/>
              <a:chOff x="0" y="0"/>
              <a:chExt cx="5105400" cy="342900"/>
            </a:xfrm>
          </p:grpSpPr>
          <p:sp>
            <p:nvSpPr>
              <p:cNvPr id="330" name="Google Shape;330;p12"/>
              <p:cNvSpPr/>
              <p:nvPr/>
            </p:nvSpPr>
            <p:spPr>
              <a:xfrm>
                <a:off x="0" y="0"/>
                <a:ext cx="51054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2"/>
              <p:cNvSpPr txBox="1"/>
              <p:nvPr/>
            </p:nvSpPr>
            <p:spPr>
              <a:xfrm>
                <a:off x="0" y="0"/>
                <a:ext cx="51054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01 / ERROR PREVENTION &amp; REVERSIBILITY</a:t>
                </a:r>
                <a:endParaRPr b="1" sz="1100">
                  <a:solidFill>
                    <a:srgbClr val="1E40AF"/>
                  </a:solidFill>
                  <a:latin typeface="Quattrocento Sans"/>
                  <a:ea typeface="Quattrocento Sans"/>
                  <a:cs typeface="Quattrocento Sans"/>
                  <a:sym typeface="Quattrocento Sans"/>
                </a:endParaRPr>
              </a:p>
            </p:txBody>
          </p:sp>
        </p:grpSp>
      </p:grpSp>
      <p:grpSp>
        <p:nvGrpSpPr>
          <p:cNvPr id="332" name="Google Shape;332;p12"/>
          <p:cNvGrpSpPr/>
          <p:nvPr/>
        </p:nvGrpSpPr>
        <p:grpSpPr>
          <a:xfrm>
            <a:off x="571500" y="2000250"/>
            <a:ext cx="2571900" cy="2047800"/>
            <a:chOff x="0" y="0"/>
            <a:chExt cx="2571900" cy="2047800"/>
          </a:xfrm>
        </p:grpSpPr>
        <p:sp>
          <p:nvSpPr>
            <p:cNvPr id="333" name="Google Shape;333;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5" name="Google Shape;335;p12"/>
            <p:cNvGrpSpPr/>
            <p:nvPr/>
          </p:nvGrpSpPr>
          <p:grpSpPr>
            <a:xfrm>
              <a:off x="152400" y="152400"/>
              <a:ext cx="342900" cy="369189"/>
              <a:chOff x="0" y="0"/>
              <a:chExt cx="342900" cy="369189"/>
            </a:xfrm>
          </p:grpSpPr>
          <p:sp>
            <p:nvSpPr>
              <p:cNvPr id="336" name="Google Shape;336;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verified</a:t>
                </a:r>
                <a:endParaRPr b="0" sz="1800">
                  <a:solidFill>
                    <a:srgbClr val="2563EB"/>
                  </a:solidFill>
                  <a:latin typeface="Material Icons"/>
                  <a:ea typeface="Material Icons"/>
                  <a:cs typeface="Material Icons"/>
                  <a:sym typeface="Material Icons"/>
                </a:endParaRPr>
              </a:p>
            </p:txBody>
          </p:sp>
        </p:grpSp>
        <p:grpSp>
          <p:nvGrpSpPr>
            <p:cNvPr id="338" name="Google Shape;338;p12"/>
            <p:cNvGrpSpPr/>
            <p:nvPr/>
          </p:nvGrpSpPr>
          <p:grpSpPr>
            <a:xfrm>
              <a:off x="152400" y="590550"/>
              <a:ext cx="2267100" cy="1305000"/>
              <a:chOff x="0" y="0"/>
              <a:chExt cx="2267100" cy="1305000"/>
            </a:xfrm>
          </p:grpSpPr>
          <p:sp>
            <p:nvSpPr>
              <p:cNvPr id="339" name="Google Shape;339;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Deliberate Milestone Confirmation</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Accidental touchscreen taps cannot trigger binding commercial approvals or financial invoicing.</a:t>
                </a:r>
                <a:endParaRPr b="0" sz="1000">
                  <a:solidFill>
                    <a:srgbClr val="475569"/>
                  </a:solidFill>
                  <a:latin typeface="Quattrocento Sans"/>
                  <a:ea typeface="Quattrocento Sans"/>
                  <a:cs typeface="Quattrocento Sans"/>
                  <a:sym typeface="Quattrocento Sans"/>
                </a:endParaRPr>
              </a:p>
            </p:txBody>
          </p:sp>
        </p:grpSp>
      </p:grpSp>
      <p:grpSp>
        <p:nvGrpSpPr>
          <p:cNvPr id="341" name="Google Shape;341;p12"/>
          <p:cNvGrpSpPr/>
          <p:nvPr/>
        </p:nvGrpSpPr>
        <p:grpSpPr>
          <a:xfrm>
            <a:off x="3333750" y="2000250"/>
            <a:ext cx="2571900" cy="2047800"/>
            <a:chOff x="0" y="0"/>
            <a:chExt cx="2571900" cy="2047800"/>
          </a:xfrm>
        </p:grpSpPr>
        <p:sp>
          <p:nvSpPr>
            <p:cNvPr id="342" name="Google Shape;342;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3" name="Google Shape;343;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4" name="Google Shape;344;p12"/>
            <p:cNvGrpSpPr/>
            <p:nvPr/>
          </p:nvGrpSpPr>
          <p:grpSpPr>
            <a:xfrm>
              <a:off x="152400" y="152400"/>
              <a:ext cx="342900" cy="369189"/>
              <a:chOff x="0" y="0"/>
              <a:chExt cx="342900" cy="369189"/>
            </a:xfrm>
          </p:grpSpPr>
          <p:sp>
            <p:nvSpPr>
              <p:cNvPr id="345" name="Google Shape;345;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warning</a:t>
                </a:r>
                <a:endParaRPr b="0" sz="1800">
                  <a:solidFill>
                    <a:srgbClr val="2563EB"/>
                  </a:solidFill>
                  <a:latin typeface="Material Icons"/>
                  <a:ea typeface="Material Icons"/>
                  <a:cs typeface="Material Icons"/>
                  <a:sym typeface="Material Icons"/>
                </a:endParaRPr>
              </a:p>
            </p:txBody>
          </p:sp>
        </p:grpSp>
        <p:grpSp>
          <p:nvGrpSpPr>
            <p:cNvPr id="347" name="Google Shape;347;p12"/>
            <p:cNvGrpSpPr/>
            <p:nvPr/>
          </p:nvGrpSpPr>
          <p:grpSpPr>
            <a:xfrm>
              <a:off x="152400" y="590550"/>
              <a:ext cx="2267100" cy="1305000"/>
              <a:chOff x="0" y="0"/>
              <a:chExt cx="2267100" cy="1305000"/>
            </a:xfrm>
          </p:grpSpPr>
          <p:sp>
            <p:nvSpPr>
              <p:cNvPr id="348" name="Google Shape;348;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Two-Step Consequence Dialog</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Secondary modal explicitly displays invoice liability ($12,500 AUD) with neutral confirmation choices.</a:t>
                </a:r>
                <a:endParaRPr b="0" sz="1000">
                  <a:solidFill>
                    <a:srgbClr val="475569"/>
                  </a:solidFill>
                  <a:latin typeface="Quattrocento Sans"/>
                  <a:ea typeface="Quattrocento Sans"/>
                  <a:cs typeface="Quattrocento Sans"/>
                  <a:sym typeface="Quattrocento Sans"/>
                </a:endParaRPr>
              </a:p>
            </p:txBody>
          </p:sp>
        </p:grpSp>
      </p:grpSp>
      <p:grpSp>
        <p:nvGrpSpPr>
          <p:cNvPr id="350" name="Google Shape;350;p12"/>
          <p:cNvGrpSpPr/>
          <p:nvPr/>
        </p:nvGrpSpPr>
        <p:grpSpPr>
          <a:xfrm>
            <a:off x="571500" y="4191000"/>
            <a:ext cx="2571900" cy="2047800"/>
            <a:chOff x="0" y="0"/>
            <a:chExt cx="2571900" cy="2047800"/>
          </a:xfrm>
        </p:grpSpPr>
        <p:sp>
          <p:nvSpPr>
            <p:cNvPr id="351" name="Google Shape;351;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3" name="Google Shape;353;p12"/>
            <p:cNvGrpSpPr/>
            <p:nvPr/>
          </p:nvGrpSpPr>
          <p:grpSpPr>
            <a:xfrm>
              <a:off x="152400" y="152400"/>
              <a:ext cx="342900" cy="369189"/>
              <a:chOff x="0" y="0"/>
              <a:chExt cx="342900" cy="369189"/>
            </a:xfrm>
          </p:grpSpPr>
          <p:sp>
            <p:nvSpPr>
              <p:cNvPr id="354" name="Google Shape;354;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restore_from_trash</a:t>
                </a:r>
                <a:endParaRPr b="0" sz="1800">
                  <a:solidFill>
                    <a:srgbClr val="2563EB"/>
                  </a:solidFill>
                  <a:latin typeface="Material Icons"/>
                  <a:ea typeface="Material Icons"/>
                  <a:cs typeface="Material Icons"/>
                  <a:sym typeface="Material Icons"/>
                </a:endParaRPr>
              </a:p>
            </p:txBody>
          </p:sp>
        </p:grpSp>
        <p:grpSp>
          <p:nvGrpSpPr>
            <p:cNvPr id="356" name="Google Shape;356;p12"/>
            <p:cNvGrpSpPr/>
            <p:nvPr/>
          </p:nvGrpSpPr>
          <p:grpSpPr>
            <a:xfrm>
              <a:off x="152400" y="590550"/>
              <a:ext cx="2267100" cy="1305000"/>
              <a:chOff x="0" y="0"/>
              <a:chExt cx="2267100" cy="1305000"/>
            </a:xfrm>
          </p:grpSpPr>
          <p:sp>
            <p:nvSpPr>
              <p:cNvPr id="357" name="Google Shape;357;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8" name="Google Shape;358;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Discard Draft Protection</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AD2 review thread includes explicit confirmation when cancelling draft feedback to prevent lost input.</a:t>
                </a:r>
                <a:endParaRPr b="0" sz="1000">
                  <a:solidFill>
                    <a:srgbClr val="475569"/>
                  </a:solidFill>
                  <a:latin typeface="Quattrocento Sans"/>
                  <a:ea typeface="Quattrocento Sans"/>
                  <a:cs typeface="Quattrocento Sans"/>
                  <a:sym typeface="Quattrocento Sans"/>
                </a:endParaRPr>
              </a:p>
            </p:txBody>
          </p:sp>
        </p:grpSp>
      </p:grpSp>
      <p:grpSp>
        <p:nvGrpSpPr>
          <p:cNvPr id="359" name="Google Shape;359;p12"/>
          <p:cNvGrpSpPr/>
          <p:nvPr/>
        </p:nvGrpSpPr>
        <p:grpSpPr>
          <a:xfrm>
            <a:off x="3333750" y="4191000"/>
            <a:ext cx="2571900" cy="2047800"/>
            <a:chOff x="0" y="0"/>
            <a:chExt cx="2571900" cy="2047800"/>
          </a:xfrm>
        </p:grpSpPr>
        <p:sp>
          <p:nvSpPr>
            <p:cNvPr id="360" name="Google Shape;360;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2" name="Google Shape;362;p12"/>
            <p:cNvGrpSpPr/>
            <p:nvPr/>
          </p:nvGrpSpPr>
          <p:grpSpPr>
            <a:xfrm>
              <a:off x="152400" y="152400"/>
              <a:ext cx="342900" cy="369189"/>
              <a:chOff x="0" y="0"/>
              <a:chExt cx="342900" cy="369189"/>
            </a:xfrm>
          </p:grpSpPr>
          <p:sp>
            <p:nvSpPr>
              <p:cNvPr id="363" name="Google Shape;363;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psychology</a:t>
                </a:r>
                <a:endParaRPr b="0" sz="1800">
                  <a:solidFill>
                    <a:srgbClr val="2563EB"/>
                  </a:solidFill>
                  <a:latin typeface="Material Icons"/>
                  <a:ea typeface="Material Icons"/>
                  <a:cs typeface="Material Icons"/>
                  <a:sym typeface="Material Icons"/>
                </a:endParaRPr>
              </a:p>
            </p:txBody>
          </p:sp>
        </p:grpSp>
        <p:grpSp>
          <p:nvGrpSpPr>
            <p:cNvPr id="365" name="Google Shape;365;p12"/>
            <p:cNvGrpSpPr/>
            <p:nvPr/>
          </p:nvGrpSpPr>
          <p:grpSpPr>
            <a:xfrm>
              <a:off x="152400" y="590550"/>
              <a:ext cx="2267100" cy="1305000"/>
              <a:chOff x="0" y="0"/>
              <a:chExt cx="2267100" cy="1305000"/>
            </a:xfrm>
          </p:grpSpPr>
          <p:sp>
            <p:nvSpPr>
              <p:cNvPr id="366" name="Google Shape;366;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Predictable Technical Behavior</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Jakob et al. (2022, p. 8) found user retention requires predictable behavior; our app enforces clear confirmation boundaries.</a:t>
                </a:r>
                <a:endParaRPr b="0" sz="1000">
                  <a:solidFill>
                    <a:srgbClr val="475569"/>
                  </a:solidFill>
                  <a:latin typeface="Quattrocento Sans"/>
                  <a:ea typeface="Quattrocento Sans"/>
                  <a:cs typeface="Quattrocento Sans"/>
                  <a:sym typeface="Quattrocento Sans"/>
                </a:endParaRPr>
              </a:p>
            </p:txBody>
          </p:sp>
        </p:grpSp>
      </p:grpSp>
      <p:grpSp>
        <p:nvGrpSpPr>
          <p:cNvPr id="368" name="Google Shape;368;p12"/>
          <p:cNvGrpSpPr/>
          <p:nvPr/>
        </p:nvGrpSpPr>
        <p:grpSpPr>
          <a:xfrm>
            <a:off x="6286500" y="1524000"/>
            <a:ext cx="5334000" cy="342900"/>
            <a:chOff x="0" y="0"/>
            <a:chExt cx="5334000" cy="342900"/>
          </a:xfrm>
        </p:grpSpPr>
        <p:sp>
          <p:nvSpPr>
            <p:cNvPr id="369" name="Google Shape;369;p12"/>
            <p:cNvSpPr/>
            <p:nvPr/>
          </p:nvSpPr>
          <p:spPr>
            <a:xfrm>
              <a:off x="0" y="0"/>
              <a:ext cx="5334000" cy="342900"/>
            </a:xfrm>
            <a:prstGeom prst="roundRect">
              <a:avLst>
                <a:gd fmla="val 16666"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0" name="Google Shape;370;p12"/>
            <p:cNvGrpSpPr/>
            <p:nvPr/>
          </p:nvGrpSpPr>
          <p:grpSpPr>
            <a:xfrm>
              <a:off x="114300" y="0"/>
              <a:ext cx="5105400" cy="342900"/>
              <a:chOff x="0" y="0"/>
              <a:chExt cx="5105400" cy="342900"/>
            </a:xfrm>
          </p:grpSpPr>
          <p:sp>
            <p:nvSpPr>
              <p:cNvPr id="371" name="Google Shape;371;p12"/>
              <p:cNvSpPr/>
              <p:nvPr/>
            </p:nvSpPr>
            <p:spPr>
              <a:xfrm>
                <a:off x="0" y="0"/>
                <a:ext cx="51054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12"/>
              <p:cNvSpPr txBox="1"/>
              <p:nvPr/>
            </p:nvSpPr>
            <p:spPr>
              <a:xfrm>
                <a:off x="0" y="0"/>
                <a:ext cx="51054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02 / CONSISTENCY, STANDARDS &amp; ACCESSIBILITY</a:t>
                </a:r>
                <a:endParaRPr b="1" sz="1100">
                  <a:solidFill>
                    <a:srgbClr val="1E40AF"/>
                  </a:solidFill>
                  <a:latin typeface="Quattrocento Sans"/>
                  <a:ea typeface="Quattrocento Sans"/>
                  <a:cs typeface="Quattrocento Sans"/>
                  <a:sym typeface="Quattrocento Sans"/>
                </a:endParaRPr>
              </a:p>
            </p:txBody>
          </p:sp>
        </p:grpSp>
      </p:grpSp>
      <p:grpSp>
        <p:nvGrpSpPr>
          <p:cNvPr id="373" name="Google Shape;373;p12"/>
          <p:cNvGrpSpPr/>
          <p:nvPr/>
        </p:nvGrpSpPr>
        <p:grpSpPr>
          <a:xfrm>
            <a:off x="6286500" y="2000250"/>
            <a:ext cx="2571900" cy="2047800"/>
            <a:chOff x="0" y="0"/>
            <a:chExt cx="2571900" cy="2047800"/>
          </a:xfrm>
        </p:grpSpPr>
        <p:sp>
          <p:nvSpPr>
            <p:cNvPr id="374" name="Google Shape;374;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6" name="Google Shape;376;p12"/>
            <p:cNvGrpSpPr/>
            <p:nvPr/>
          </p:nvGrpSpPr>
          <p:grpSpPr>
            <a:xfrm>
              <a:off x="152400" y="152400"/>
              <a:ext cx="342900" cy="369189"/>
              <a:chOff x="0" y="0"/>
              <a:chExt cx="342900" cy="369189"/>
            </a:xfrm>
          </p:grpSpPr>
          <p:sp>
            <p:nvSpPr>
              <p:cNvPr id="377" name="Google Shape;377;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badge</a:t>
                </a:r>
                <a:endParaRPr b="0" sz="1800">
                  <a:solidFill>
                    <a:srgbClr val="2563EB"/>
                  </a:solidFill>
                  <a:latin typeface="Material Icons"/>
                  <a:ea typeface="Material Icons"/>
                  <a:cs typeface="Material Icons"/>
                  <a:sym typeface="Material Icons"/>
                </a:endParaRPr>
              </a:p>
            </p:txBody>
          </p:sp>
        </p:grpSp>
        <p:grpSp>
          <p:nvGrpSpPr>
            <p:cNvPr id="379" name="Google Shape;379;p12"/>
            <p:cNvGrpSpPr/>
            <p:nvPr/>
          </p:nvGrpSpPr>
          <p:grpSpPr>
            <a:xfrm>
              <a:off x="152400" y="590550"/>
              <a:ext cx="2267100" cy="1305000"/>
              <a:chOff x="0" y="0"/>
              <a:chExt cx="2267100" cy="1305000"/>
            </a:xfrm>
          </p:grpSpPr>
          <p:sp>
            <p:nvSpPr>
              <p:cNvPr id="380" name="Google Shape;380;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Uniform Stakeholder Naming</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Consistent First Name + Last Initial format applied across the app (Client: Fred R. [FR], PM: James R. [JR]).</a:t>
                </a:r>
                <a:endParaRPr b="0" sz="1000">
                  <a:solidFill>
                    <a:srgbClr val="475569"/>
                  </a:solidFill>
                  <a:latin typeface="Quattrocento Sans"/>
                  <a:ea typeface="Quattrocento Sans"/>
                  <a:cs typeface="Quattrocento Sans"/>
                  <a:sym typeface="Quattrocento Sans"/>
                </a:endParaRPr>
              </a:p>
            </p:txBody>
          </p:sp>
        </p:grpSp>
      </p:grpSp>
      <p:grpSp>
        <p:nvGrpSpPr>
          <p:cNvPr id="382" name="Google Shape;382;p12"/>
          <p:cNvGrpSpPr/>
          <p:nvPr/>
        </p:nvGrpSpPr>
        <p:grpSpPr>
          <a:xfrm>
            <a:off x="9048750" y="2000250"/>
            <a:ext cx="2571900" cy="2047800"/>
            <a:chOff x="0" y="0"/>
            <a:chExt cx="2571900" cy="2047800"/>
          </a:xfrm>
        </p:grpSpPr>
        <p:sp>
          <p:nvSpPr>
            <p:cNvPr id="383" name="Google Shape;383;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5" name="Google Shape;385;p12"/>
            <p:cNvGrpSpPr/>
            <p:nvPr/>
          </p:nvGrpSpPr>
          <p:grpSpPr>
            <a:xfrm>
              <a:off x="152400" y="152400"/>
              <a:ext cx="342900" cy="369189"/>
              <a:chOff x="0" y="0"/>
              <a:chExt cx="342900" cy="369189"/>
            </a:xfrm>
          </p:grpSpPr>
          <p:sp>
            <p:nvSpPr>
              <p:cNvPr id="386" name="Google Shape;386;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contrast</a:t>
                </a:r>
                <a:endParaRPr b="0" sz="1800">
                  <a:solidFill>
                    <a:srgbClr val="2563EB"/>
                  </a:solidFill>
                  <a:latin typeface="Material Icons"/>
                  <a:ea typeface="Material Icons"/>
                  <a:cs typeface="Material Icons"/>
                  <a:sym typeface="Material Icons"/>
                </a:endParaRPr>
              </a:p>
            </p:txBody>
          </p:sp>
        </p:grpSp>
        <p:grpSp>
          <p:nvGrpSpPr>
            <p:cNvPr id="388" name="Google Shape;388;p12"/>
            <p:cNvGrpSpPr/>
            <p:nvPr/>
          </p:nvGrpSpPr>
          <p:grpSpPr>
            <a:xfrm>
              <a:off x="152400" y="590550"/>
              <a:ext cx="2267100" cy="1305000"/>
              <a:chOff x="0" y="0"/>
              <a:chExt cx="2267100" cy="1305000"/>
            </a:xfrm>
          </p:grpSpPr>
          <p:sp>
            <p:nvSpPr>
              <p:cNvPr id="389" name="Google Shape;389;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WCAG 2.1 AA Contrast (&gt;=4.5:1)</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Punsongserm &amp; Suvakunta (2025, p. 21) proved low contrast causes outdoor legibility failure; all body copy exceeds 4.5:1 contrast.</a:t>
                </a:r>
                <a:endParaRPr b="0" sz="1000">
                  <a:solidFill>
                    <a:srgbClr val="475569"/>
                  </a:solidFill>
                  <a:latin typeface="Quattrocento Sans"/>
                  <a:ea typeface="Quattrocento Sans"/>
                  <a:cs typeface="Quattrocento Sans"/>
                  <a:sym typeface="Quattrocento Sans"/>
                </a:endParaRPr>
              </a:p>
            </p:txBody>
          </p:sp>
        </p:grpSp>
      </p:grpSp>
      <p:grpSp>
        <p:nvGrpSpPr>
          <p:cNvPr id="391" name="Google Shape;391;p12"/>
          <p:cNvGrpSpPr/>
          <p:nvPr/>
        </p:nvGrpSpPr>
        <p:grpSpPr>
          <a:xfrm>
            <a:off x="6286500" y="4191000"/>
            <a:ext cx="2571900" cy="2047800"/>
            <a:chOff x="0" y="0"/>
            <a:chExt cx="2571900" cy="2047800"/>
          </a:xfrm>
        </p:grpSpPr>
        <p:sp>
          <p:nvSpPr>
            <p:cNvPr id="392" name="Google Shape;392;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4" name="Google Shape;394;p12"/>
            <p:cNvGrpSpPr/>
            <p:nvPr/>
          </p:nvGrpSpPr>
          <p:grpSpPr>
            <a:xfrm>
              <a:off x="152400" y="152400"/>
              <a:ext cx="342900" cy="369189"/>
              <a:chOff x="0" y="0"/>
              <a:chExt cx="342900" cy="369189"/>
            </a:xfrm>
          </p:grpSpPr>
          <p:sp>
            <p:nvSpPr>
              <p:cNvPr id="395" name="Google Shape;395;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touch_app</a:t>
                </a:r>
                <a:endParaRPr b="0" sz="1800">
                  <a:solidFill>
                    <a:srgbClr val="2563EB"/>
                  </a:solidFill>
                  <a:latin typeface="Material Icons"/>
                  <a:ea typeface="Material Icons"/>
                  <a:cs typeface="Material Icons"/>
                  <a:sym typeface="Material Icons"/>
                </a:endParaRPr>
              </a:p>
            </p:txBody>
          </p:sp>
        </p:grpSp>
        <p:grpSp>
          <p:nvGrpSpPr>
            <p:cNvPr id="397" name="Google Shape;397;p12"/>
            <p:cNvGrpSpPr/>
            <p:nvPr/>
          </p:nvGrpSpPr>
          <p:grpSpPr>
            <a:xfrm>
              <a:off x="152400" y="590550"/>
              <a:ext cx="2267100" cy="1305000"/>
              <a:chOff x="0" y="0"/>
              <a:chExt cx="2267100" cy="1305000"/>
            </a:xfrm>
          </p:grpSpPr>
          <p:sp>
            <p:nvSpPr>
              <p:cNvPr id="398" name="Google Shape;398;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Ergonomic Touch Targets</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Every tappable control meets or exceeds the canonical 48x48dp minimum touch target.</a:t>
                </a:r>
                <a:endParaRPr b="0" sz="1000">
                  <a:solidFill>
                    <a:srgbClr val="475569"/>
                  </a:solidFill>
                  <a:latin typeface="Quattrocento Sans"/>
                  <a:ea typeface="Quattrocento Sans"/>
                  <a:cs typeface="Quattrocento Sans"/>
                  <a:sym typeface="Quattrocento Sans"/>
                </a:endParaRPr>
              </a:p>
            </p:txBody>
          </p:sp>
        </p:grpSp>
      </p:grpSp>
      <p:grpSp>
        <p:nvGrpSpPr>
          <p:cNvPr id="400" name="Google Shape;400;p12"/>
          <p:cNvGrpSpPr/>
          <p:nvPr/>
        </p:nvGrpSpPr>
        <p:grpSpPr>
          <a:xfrm>
            <a:off x="9048750" y="4191000"/>
            <a:ext cx="2571900" cy="2047800"/>
            <a:chOff x="0" y="0"/>
            <a:chExt cx="2571900" cy="2047800"/>
          </a:xfrm>
        </p:grpSpPr>
        <p:sp>
          <p:nvSpPr>
            <p:cNvPr id="401" name="Google Shape;401;p12"/>
            <p:cNvSpPr/>
            <p:nvPr/>
          </p:nvSpPr>
          <p:spPr>
            <a:xfrm>
              <a:off x="0" y="0"/>
              <a:ext cx="2571900" cy="2047800"/>
            </a:xfrm>
            <a:prstGeom prst="roundRect">
              <a:avLst>
                <a:gd fmla="val 465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12"/>
            <p:cNvSpPr/>
            <p:nvPr/>
          </p:nvSpPr>
          <p:spPr>
            <a:xfrm>
              <a:off x="152400" y="152400"/>
              <a:ext cx="342900" cy="342900"/>
            </a:xfrm>
            <a:prstGeom prst="roundRect">
              <a:avLst>
                <a:gd fmla="val 22222"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03" name="Google Shape;403;p12"/>
            <p:cNvGrpSpPr/>
            <p:nvPr/>
          </p:nvGrpSpPr>
          <p:grpSpPr>
            <a:xfrm>
              <a:off x="152400" y="152400"/>
              <a:ext cx="342900" cy="369189"/>
              <a:chOff x="0" y="0"/>
              <a:chExt cx="342900" cy="369189"/>
            </a:xfrm>
          </p:grpSpPr>
          <p:sp>
            <p:nvSpPr>
              <p:cNvPr id="404" name="Google Shape;404;p12"/>
              <p:cNvSpPr/>
              <p:nvPr/>
            </p:nvSpPr>
            <p:spPr>
              <a:xfrm>
                <a:off x="0" y="0"/>
                <a:ext cx="3429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12"/>
              <p:cNvSpPr txBox="1"/>
              <p:nvPr/>
            </p:nvSpPr>
            <p:spPr>
              <a:xfrm>
                <a:off x="0" y="26289"/>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format_size</a:t>
                </a:r>
                <a:endParaRPr b="0" sz="1800">
                  <a:solidFill>
                    <a:srgbClr val="2563EB"/>
                  </a:solidFill>
                  <a:latin typeface="Material Icons"/>
                  <a:ea typeface="Material Icons"/>
                  <a:cs typeface="Material Icons"/>
                  <a:sym typeface="Material Icons"/>
                </a:endParaRPr>
              </a:p>
            </p:txBody>
          </p:sp>
        </p:grpSp>
        <p:grpSp>
          <p:nvGrpSpPr>
            <p:cNvPr id="406" name="Google Shape;406;p12"/>
            <p:cNvGrpSpPr/>
            <p:nvPr/>
          </p:nvGrpSpPr>
          <p:grpSpPr>
            <a:xfrm>
              <a:off x="152400" y="590550"/>
              <a:ext cx="2267100" cy="1305000"/>
              <a:chOff x="0" y="0"/>
              <a:chExt cx="2267100" cy="1305000"/>
            </a:xfrm>
          </p:grpSpPr>
          <p:sp>
            <p:nvSpPr>
              <p:cNvPr id="407" name="Google Shape;407;p12"/>
              <p:cNvSpPr/>
              <p:nvPr/>
            </p:nvSpPr>
            <p:spPr>
              <a:xfrm>
                <a:off x="0" y="0"/>
                <a:ext cx="2267100" cy="1305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12"/>
              <p:cNvSpPr txBox="1"/>
              <p:nvPr/>
            </p:nvSpPr>
            <p:spPr>
              <a:xfrm>
                <a:off x="0" y="0"/>
                <a:ext cx="2267100" cy="13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Quattrocento Sans"/>
                    <a:ea typeface="Quattrocento Sans"/>
                    <a:cs typeface="Quattrocento Sans"/>
                    <a:sym typeface="Quattrocento Sans"/>
                  </a:rPr>
                  <a:t>Dynamic Font Scaling</a:t>
                </a:r>
                <a:endParaRPr b="1" sz="1150">
                  <a:solidFill>
                    <a:srgbClr val="0F172A"/>
                  </a:solidFill>
                  <a:latin typeface="Quattrocento Sans"/>
                  <a:ea typeface="Quattrocento Sans"/>
                  <a:cs typeface="Quattrocento Sans"/>
                  <a:sym typeface="Quattrocento Sans"/>
                </a:endParaRPr>
              </a:p>
              <a:p>
                <a:pPr indent="0" lvl="0" marL="0" rtl="0" algn="l">
                  <a:spcBef>
                    <a:spcPts val="450"/>
                  </a:spcBef>
                  <a:spcAft>
                    <a:spcPts val="0"/>
                  </a:spcAft>
                  <a:buNone/>
                </a:pPr>
                <a:r>
                  <a:rPr b="0" lang="en-US" sz="1000">
                    <a:solidFill>
                      <a:srgbClr val="475569"/>
                    </a:solidFill>
                    <a:latin typeface="Quattrocento Sans"/>
                    <a:ea typeface="Quattrocento Sans"/>
                    <a:cs typeface="Quattrocento Sans"/>
                    <a:sym typeface="Quattrocento Sans"/>
                  </a:rPr>
                  <a:t>Layout structures use flexible wrappers that remain stable up to 200% operating system text scaling.</a:t>
                </a:r>
                <a:endParaRPr b="0" sz="1000">
                  <a:solidFill>
                    <a:srgbClr val="475569"/>
                  </a:solidFill>
                  <a:latin typeface="Quattrocento Sans"/>
                  <a:ea typeface="Quattrocento Sans"/>
                  <a:cs typeface="Quattrocento Sans"/>
                  <a:sym typeface="Quattrocento Sans"/>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3"/>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USABILITY GOALS &amp; EMPIRICAL BENCHMARKS</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Usability Goals &amp; Observable Behaviors</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Mapping Usability Goals to Working Prototype Capabilities and Evaluation Protocols</a:t>
            </a:r>
            <a:endParaRPr/>
          </a:p>
        </p:txBody>
      </p:sp>
      <p:sp>
        <p:nvSpPr>
          <p:cNvPr id="415" name="Google Shape;415;p13"/>
          <p:cNvSpPr/>
          <p:nvPr/>
        </p:nvSpPr>
        <p:spPr>
          <a:xfrm>
            <a:off x="600000" y="1799996"/>
            <a:ext cx="35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Goal 1: Learnability</a:t>
            </a:r>
            <a:endParaRPr b="1" i="0" sz="1500">
              <a:solidFill>
                <a:srgbClr val="0F172A"/>
              </a:solidFill>
              <a:latin typeface="Quattrocento Sans"/>
              <a:ea typeface="Quattrocento Sans"/>
              <a:cs typeface="Quattrocento Sans"/>
              <a:sym typeface="Quattrocento Sans"/>
            </a:endParaRPr>
          </a:p>
          <a:p>
            <a:pPr indent="-323850" lvl="0" marL="457200" rtl="0" algn="l">
              <a:spcBef>
                <a:spcPts val="12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Target Benchmark: </a:t>
            </a:r>
            <a:r>
              <a:rPr b="0" i="0" lang="en-US" sz="1100">
                <a:solidFill>
                  <a:srgbClr val="334155"/>
                </a:solidFill>
                <a:latin typeface="Quattrocento Sans"/>
                <a:ea typeface="Quattrocento Sans"/>
                <a:cs typeface="Quattrocento Sans"/>
                <a:sym typeface="Quattrocento Sans"/>
              </a:rPr>
              <a:t>Active project stage and next required action identified in &lt;= 10 seconds without instructions.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Persona Rationale: </a:t>
            </a:r>
            <a:r>
              <a:rPr b="0" i="0" lang="en-US" sz="1100">
                <a:solidFill>
                  <a:srgbClr val="334155"/>
                </a:solidFill>
                <a:latin typeface="Quattrocento Sans"/>
                <a:ea typeface="Quattrocento Sans"/>
                <a:cs typeface="Quattrocento Sans"/>
                <a:sym typeface="Quattrocento Sans"/>
              </a:rPr>
              <a:t>Fred operates under time pressure and avoids lengthy help manuals.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Evaluation Protocol: </a:t>
            </a:r>
            <a:r>
              <a:rPr b="0" i="0" lang="en-US" sz="1100">
                <a:solidFill>
                  <a:srgbClr val="334155"/>
                </a:solidFill>
                <a:latin typeface="Quattrocento Sans"/>
                <a:ea typeface="Quattrocento Sans"/>
                <a:cs typeface="Quattrocento Sans"/>
                <a:sym typeface="Quattrocento Sans"/>
              </a:rPr>
              <a:t>Cold app launch to correct verbal description across 5 test participants; pass target &gt;= 90% accuracy.</a:t>
            </a:r>
            <a:endParaRPr b="1" i="0" sz="1500">
              <a:solidFill>
                <a:srgbClr val="0F172A"/>
              </a:solidFill>
              <a:latin typeface="Quattrocento Sans"/>
              <a:ea typeface="Quattrocento Sans"/>
              <a:cs typeface="Quattrocento Sans"/>
              <a:sym typeface="Quattrocento Sans"/>
            </a:endParaRPr>
          </a:p>
        </p:txBody>
      </p:sp>
      <p:sp>
        <p:nvSpPr>
          <p:cNvPr id="416" name="Google Shape;416;p13"/>
          <p:cNvSpPr/>
          <p:nvPr/>
        </p:nvSpPr>
        <p:spPr>
          <a:xfrm>
            <a:off x="4300004" y="1799996"/>
            <a:ext cx="35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Goals 2 &amp; 3: Efficiency &amp; Error</a:t>
            </a:r>
            <a:endParaRPr b="1" i="0" sz="1500">
              <a:solidFill>
                <a:srgbClr val="0F172A"/>
              </a:solidFill>
              <a:latin typeface="Quattrocento Sans"/>
              <a:ea typeface="Quattrocento Sans"/>
              <a:cs typeface="Quattrocento Sans"/>
              <a:sym typeface="Quattrocento Sans"/>
            </a:endParaRPr>
          </a:p>
          <a:p>
            <a:pPr indent="-323850" lvl="0" marL="457200" rtl="0" algn="l">
              <a:spcBef>
                <a:spcPts val="12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2 (Efficiency): </a:t>
            </a:r>
            <a:r>
              <a:rPr b="0" i="0" lang="en-US" sz="1100">
                <a:solidFill>
                  <a:srgbClr val="334155"/>
                </a:solidFill>
                <a:latin typeface="Quattrocento Sans"/>
                <a:ea typeface="Quattrocento Sans"/>
                <a:cs typeface="Quattrocento Sans"/>
                <a:sym typeface="Quattrocento Sans"/>
              </a:rPr>
              <a:t>Contextual feedback submitted in &lt;= 60 seconds (&gt;= 40% faster than email chains).</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Evaluation Protocol: </a:t>
            </a:r>
            <a:r>
              <a:rPr b="0" i="0" lang="en-US" sz="1100">
                <a:solidFill>
                  <a:srgbClr val="334155"/>
                </a:solidFill>
                <a:latin typeface="Quattrocento Sans"/>
                <a:ea typeface="Quattrocento Sans"/>
                <a:cs typeface="Quattrocento Sans"/>
                <a:sym typeface="Quattrocento Sans"/>
              </a:rPr>
              <a:t>Timed comparative benchmark (Email vs ElegantLink) logging elapsed seconds and tap count.</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3 (Error Prevention): </a:t>
            </a:r>
            <a:r>
              <a:rPr b="0" i="0" lang="en-US" sz="1100">
                <a:solidFill>
                  <a:srgbClr val="334155"/>
                </a:solidFill>
                <a:latin typeface="Quattrocento Sans"/>
                <a:ea typeface="Quattrocento Sans"/>
                <a:cs typeface="Quattrocento Sans"/>
                <a:sym typeface="Quattrocento Sans"/>
              </a:rPr>
              <a:t>Exactly zero unintended milestone approvals (0% accidental error rate across 20 trials).</a:t>
            </a:r>
            <a:endParaRPr b="1" i="0" sz="1500">
              <a:solidFill>
                <a:srgbClr val="0F172A"/>
              </a:solidFill>
              <a:latin typeface="Quattrocento Sans"/>
              <a:ea typeface="Quattrocento Sans"/>
              <a:cs typeface="Quattrocento Sans"/>
              <a:sym typeface="Quattrocento Sans"/>
            </a:endParaRPr>
          </a:p>
        </p:txBody>
      </p:sp>
      <p:sp>
        <p:nvSpPr>
          <p:cNvPr id="417" name="Google Shape;417;p13"/>
          <p:cNvSpPr/>
          <p:nvPr/>
        </p:nvSpPr>
        <p:spPr>
          <a:xfrm>
            <a:off x="8000000" y="1799996"/>
            <a:ext cx="3500100" cy="45999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i="0" lang="en-US" sz="1500">
                <a:solidFill>
                  <a:srgbClr val="0F172A"/>
                </a:solidFill>
                <a:latin typeface="Quattrocento Sans"/>
                <a:ea typeface="Quattrocento Sans"/>
                <a:cs typeface="Quattrocento Sans"/>
                <a:sym typeface="Quattrocento Sans"/>
              </a:rPr>
              <a:t>Goals 4 &amp; 5: SUS &amp; Access</a:t>
            </a:r>
            <a:endParaRPr b="1" i="0" sz="1500">
              <a:solidFill>
                <a:srgbClr val="0F172A"/>
              </a:solidFill>
              <a:latin typeface="Quattrocento Sans"/>
              <a:ea typeface="Quattrocento Sans"/>
              <a:cs typeface="Quattrocento Sans"/>
              <a:sym typeface="Quattrocento Sans"/>
            </a:endParaRPr>
          </a:p>
          <a:p>
            <a:pPr indent="-323850" lvl="0" marL="457200" rtl="0" algn="l">
              <a:spcBef>
                <a:spcPts val="12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4 (Satisfaction): </a:t>
            </a:r>
            <a:r>
              <a:rPr b="0" i="0" lang="en-US" sz="1100">
                <a:solidFill>
                  <a:srgbClr val="334155"/>
                </a:solidFill>
                <a:latin typeface="Quattrocento Sans"/>
                <a:ea typeface="Quattrocento Sans"/>
                <a:cs typeface="Quattrocento Sans"/>
                <a:sym typeface="Quattrocento Sans"/>
              </a:rPr>
              <a:t>Mean System Usability Scale (SUS) score &gt;= 68 (Above Average); &gt;= 80% transparency rating.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Goal 5 (Accessibility): </a:t>
            </a:r>
            <a:r>
              <a:rPr b="0" i="0" lang="en-US" sz="1100">
                <a:solidFill>
                  <a:srgbClr val="334155"/>
                </a:solidFill>
                <a:latin typeface="Quattrocento Sans"/>
                <a:ea typeface="Quattrocento Sans"/>
                <a:cs typeface="Quattrocento Sans"/>
                <a:sym typeface="Quattrocento Sans"/>
              </a:rPr>
              <a:t>Strict WCAG 2.1 AA contrast (&gt;=4.5:1) and layout integrity maintained at 200% font scaling.</a:t>
            </a:r>
            <a:endParaRPr b="1" i="0" sz="1500">
              <a:solidFill>
                <a:srgbClr val="0F172A"/>
              </a:solidFill>
              <a:latin typeface="Quattrocento Sans"/>
              <a:ea typeface="Quattrocento Sans"/>
              <a:cs typeface="Quattrocento Sans"/>
              <a:sym typeface="Quattrocento Sans"/>
            </a:endParaRPr>
          </a:p>
          <a:p>
            <a:pPr indent="-323850" lvl="0" marL="457200" rtl="0" algn="l">
              <a:spcBef>
                <a:spcPts val="900"/>
              </a:spcBef>
              <a:spcAft>
                <a:spcPts val="900"/>
              </a:spcAft>
              <a:buClr>
                <a:srgbClr val="0F172A"/>
              </a:buClr>
              <a:buSzPts val="1500"/>
              <a:buFont typeface="Quattrocento Sans"/>
              <a:buChar char="●"/>
            </a:pPr>
            <a:r>
              <a:rPr b="1" i="0" lang="en-US" sz="1100">
                <a:solidFill>
                  <a:srgbClr val="2563EB"/>
                </a:solidFill>
                <a:latin typeface="Quattrocento Sans"/>
                <a:ea typeface="Quattrocento Sans"/>
                <a:cs typeface="Quattrocento Sans"/>
                <a:sym typeface="Quattrocento Sans"/>
              </a:rPr>
              <a:t>Evaluation Protocol: </a:t>
            </a:r>
            <a:r>
              <a:rPr b="0" i="0" lang="en-US" sz="1100">
                <a:solidFill>
                  <a:srgbClr val="334155"/>
                </a:solidFill>
                <a:latin typeface="Quattrocento Sans"/>
                <a:ea typeface="Quattrocento Sans"/>
                <a:cs typeface="Quattrocento Sans"/>
                <a:sym typeface="Quattrocento Sans"/>
              </a:rPr>
              <a:t>Automated contrast scanner and think-aloud usability testing under simulated glare.</a:t>
            </a:r>
            <a:endParaRPr b="1" i="0" sz="1500">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4"/>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4"/>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DATA GOVERNANCE &amp; PRIVACY ARCHITECTURE</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Data Flow Diagram (DFD) Specification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Architectural Privacy Boundaries, Role Validation &amp; Australian Sovereign Encrypted Stores</a:t>
            </a:r>
            <a:endParaRPr/>
          </a:p>
        </p:txBody>
      </p:sp>
      <p:grpSp>
        <p:nvGrpSpPr>
          <p:cNvPr id="424" name="Google Shape;424;p14"/>
          <p:cNvGrpSpPr/>
          <p:nvPr/>
        </p:nvGrpSpPr>
        <p:grpSpPr>
          <a:xfrm>
            <a:off x="600075" y="1800225"/>
            <a:ext cx="5600700" cy="324000"/>
            <a:chOff x="0" y="0"/>
            <a:chExt cx="5600700" cy="324000"/>
          </a:xfrm>
        </p:grpSpPr>
        <p:sp>
          <p:nvSpPr>
            <p:cNvPr id="425" name="Google Shape;425;p14"/>
            <p:cNvSpPr/>
            <p:nvPr/>
          </p:nvSpPr>
          <p:spPr>
            <a:xfrm>
              <a:off x="0" y="0"/>
              <a:ext cx="5600700" cy="324000"/>
            </a:xfrm>
            <a:prstGeom prst="roundRect">
              <a:avLst>
                <a:gd fmla="val 17647"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14"/>
            <p:cNvSpPr txBox="1"/>
            <p:nvPr/>
          </p:nvSpPr>
          <p:spPr>
            <a:xfrm>
              <a:off x="114300" y="0"/>
              <a:ext cx="5372100" cy="324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1E40AF"/>
                  </a:solidFill>
                  <a:latin typeface="Quattrocento Sans"/>
                  <a:ea typeface="Quattrocento Sans"/>
                  <a:cs typeface="Quattrocento Sans"/>
                  <a:sym typeface="Quattrocento Sans"/>
                </a:rPr>
                <a:t>01 / ARCHITECTURAL DATA PROCESSES</a:t>
              </a:r>
              <a:endParaRPr b="1" sz="1100">
                <a:solidFill>
                  <a:srgbClr val="1E40AF"/>
                </a:solidFill>
                <a:latin typeface="Quattrocento Sans"/>
                <a:ea typeface="Quattrocento Sans"/>
                <a:cs typeface="Quattrocento Sans"/>
                <a:sym typeface="Quattrocento Sans"/>
              </a:endParaRPr>
            </a:p>
          </p:txBody>
        </p:sp>
      </p:grpSp>
      <p:grpSp>
        <p:nvGrpSpPr>
          <p:cNvPr id="427" name="Google Shape;427;p14"/>
          <p:cNvGrpSpPr/>
          <p:nvPr/>
        </p:nvGrpSpPr>
        <p:grpSpPr>
          <a:xfrm>
            <a:off x="600075" y="2219325"/>
            <a:ext cx="5600700" cy="628800"/>
            <a:chOff x="0" y="0"/>
            <a:chExt cx="5600700" cy="628800"/>
          </a:xfrm>
        </p:grpSpPr>
        <p:sp>
          <p:nvSpPr>
            <p:cNvPr id="428" name="Google Shape;428;p14"/>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9" name="Google Shape;429;p14"/>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14"/>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fact_check</a:t>
              </a:r>
              <a:endParaRPr sz="1800">
                <a:solidFill>
                  <a:srgbClr val="2563EB"/>
                </a:solidFill>
                <a:latin typeface="Material Icons"/>
                <a:ea typeface="Material Icons"/>
                <a:cs typeface="Material Icons"/>
                <a:sym typeface="Material Icons"/>
              </a:endParaRPr>
            </a:p>
          </p:txBody>
        </p:sp>
        <p:sp>
          <p:nvSpPr>
            <p:cNvPr id="431" name="Google Shape;431;p14"/>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P1.0 Consent Management</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Captures granular, unbundled opt-in preferences for telemetry and notifications.</a:t>
              </a:r>
              <a:endParaRPr b="0" sz="950">
                <a:solidFill>
                  <a:srgbClr val="475569"/>
                </a:solidFill>
                <a:latin typeface="Quattrocento Sans"/>
                <a:ea typeface="Quattrocento Sans"/>
                <a:cs typeface="Quattrocento Sans"/>
                <a:sym typeface="Quattrocento Sans"/>
              </a:endParaRPr>
            </a:p>
          </p:txBody>
        </p:sp>
      </p:grpSp>
      <p:grpSp>
        <p:nvGrpSpPr>
          <p:cNvPr id="432" name="Google Shape;432;p14"/>
          <p:cNvGrpSpPr/>
          <p:nvPr/>
        </p:nvGrpSpPr>
        <p:grpSpPr>
          <a:xfrm>
            <a:off x="600075" y="2924175"/>
            <a:ext cx="5600700" cy="628800"/>
            <a:chOff x="0" y="0"/>
            <a:chExt cx="5600700" cy="628800"/>
          </a:xfrm>
        </p:grpSpPr>
        <p:sp>
          <p:nvSpPr>
            <p:cNvPr id="433" name="Google Shape;433;p14"/>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14"/>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14"/>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admin_panel_settings</a:t>
              </a:r>
              <a:endParaRPr sz="1800">
                <a:solidFill>
                  <a:srgbClr val="2563EB"/>
                </a:solidFill>
                <a:latin typeface="Material Icons"/>
                <a:ea typeface="Material Icons"/>
                <a:cs typeface="Material Icons"/>
                <a:sym typeface="Material Icons"/>
              </a:endParaRPr>
            </a:p>
          </p:txBody>
        </p:sp>
        <p:sp>
          <p:nvSpPr>
            <p:cNvPr id="436" name="Google Shape;436;p14"/>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P2.0 Access Control</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Enforces multi-factor authentication and token-based role verification.</a:t>
              </a:r>
              <a:endParaRPr b="0" sz="950">
                <a:solidFill>
                  <a:srgbClr val="475569"/>
                </a:solidFill>
                <a:latin typeface="Quattrocento Sans"/>
                <a:ea typeface="Quattrocento Sans"/>
                <a:cs typeface="Quattrocento Sans"/>
                <a:sym typeface="Quattrocento Sans"/>
              </a:endParaRPr>
            </a:p>
          </p:txBody>
        </p:sp>
      </p:grpSp>
      <p:grpSp>
        <p:nvGrpSpPr>
          <p:cNvPr id="437" name="Google Shape;437;p14"/>
          <p:cNvGrpSpPr/>
          <p:nvPr/>
        </p:nvGrpSpPr>
        <p:grpSpPr>
          <a:xfrm>
            <a:off x="600075" y="3629025"/>
            <a:ext cx="5600700" cy="628800"/>
            <a:chOff x="0" y="0"/>
            <a:chExt cx="5600700" cy="628800"/>
          </a:xfrm>
        </p:grpSpPr>
        <p:sp>
          <p:nvSpPr>
            <p:cNvPr id="438" name="Google Shape;438;p14"/>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14"/>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14"/>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sanitizer</a:t>
              </a:r>
              <a:endParaRPr sz="1800">
                <a:solidFill>
                  <a:srgbClr val="2563EB"/>
                </a:solidFill>
                <a:latin typeface="Material Icons"/>
                <a:ea typeface="Material Icons"/>
                <a:cs typeface="Material Icons"/>
                <a:sym typeface="Material Icons"/>
              </a:endParaRPr>
            </a:p>
          </p:txBody>
        </p:sp>
        <p:sp>
          <p:nvSpPr>
            <p:cNvPr id="441" name="Google Shape;441;p14"/>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P3.0 Curated Status Processing</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Sanitizes raw internal developer data before serving to client devices.</a:t>
              </a:r>
              <a:endParaRPr b="0" sz="950">
                <a:solidFill>
                  <a:srgbClr val="475569"/>
                </a:solidFill>
                <a:latin typeface="Quattrocento Sans"/>
                <a:ea typeface="Quattrocento Sans"/>
                <a:cs typeface="Quattrocento Sans"/>
                <a:sym typeface="Quattrocento Sans"/>
              </a:endParaRPr>
            </a:p>
          </p:txBody>
        </p:sp>
      </p:grpSp>
      <p:grpSp>
        <p:nvGrpSpPr>
          <p:cNvPr id="442" name="Google Shape;442;p14"/>
          <p:cNvGrpSpPr/>
          <p:nvPr/>
        </p:nvGrpSpPr>
        <p:grpSpPr>
          <a:xfrm>
            <a:off x="600075" y="4333875"/>
            <a:ext cx="5600700" cy="628800"/>
            <a:chOff x="0" y="0"/>
            <a:chExt cx="5600700" cy="628800"/>
          </a:xfrm>
        </p:grpSpPr>
        <p:sp>
          <p:nvSpPr>
            <p:cNvPr id="443" name="Google Shape;443;p14"/>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14"/>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14"/>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history_edu</a:t>
              </a:r>
              <a:endParaRPr sz="1800">
                <a:solidFill>
                  <a:srgbClr val="2563EB"/>
                </a:solidFill>
                <a:latin typeface="Material Icons"/>
                <a:ea typeface="Material Icons"/>
                <a:cs typeface="Material Icons"/>
                <a:sym typeface="Material Icons"/>
              </a:endParaRPr>
            </a:p>
          </p:txBody>
        </p:sp>
        <p:sp>
          <p:nvSpPr>
            <p:cNvPr id="446" name="Google Shape;446;p14"/>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P4.0 Governance Processing</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Attaches immutable cryptographic audit timestamps to approvals and feedback.</a:t>
              </a:r>
              <a:endParaRPr b="0" sz="950">
                <a:solidFill>
                  <a:srgbClr val="475569"/>
                </a:solidFill>
                <a:latin typeface="Quattrocento Sans"/>
                <a:ea typeface="Quattrocento Sans"/>
                <a:cs typeface="Quattrocento Sans"/>
                <a:sym typeface="Quattrocento Sans"/>
              </a:endParaRPr>
            </a:p>
          </p:txBody>
        </p:sp>
      </p:grpSp>
      <p:grpSp>
        <p:nvGrpSpPr>
          <p:cNvPr id="447" name="Google Shape;447;p14"/>
          <p:cNvGrpSpPr/>
          <p:nvPr/>
        </p:nvGrpSpPr>
        <p:grpSpPr>
          <a:xfrm>
            <a:off x="600075" y="5038725"/>
            <a:ext cx="5600700" cy="628800"/>
            <a:chOff x="0" y="0"/>
            <a:chExt cx="5600700" cy="628800"/>
          </a:xfrm>
        </p:grpSpPr>
        <p:sp>
          <p:nvSpPr>
            <p:cNvPr id="448" name="Google Shape;448;p14"/>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9" name="Google Shape;449;p14"/>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14"/>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visibility_off</a:t>
              </a:r>
              <a:endParaRPr sz="1800">
                <a:solidFill>
                  <a:srgbClr val="2563EB"/>
                </a:solidFill>
                <a:latin typeface="Material Icons"/>
                <a:ea typeface="Material Icons"/>
                <a:cs typeface="Material Icons"/>
                <a:sym typeface="Material Icons"/>
              </a:endParaRPr>
            </a:p>
          </p:txBody>
        </p:sp>
        <p:sp>
          <p:nvSpPr>
            <p:cNvPr id="451" name="Google Shape;451;p14"/>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P5.0 De-identification Pipeline</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Strips all PII from raw diagnostic events before passing to analytical stores.</a:t>
              </a:r>
              <a:endParaRPr b="0" sz="950">
                <a:solidFill>
                  <a:srgbClr val="475569"/>
                </a:solidFill>
                <a:latin typeface="Quattrocento Sans"/>
                <a:ea typeface="Quattrocento Sans"/>
                <a:cs typeface="Quattrocento Sans"/>
                <a:sym typeface="Quattrocento Sans"/>
              </a:endParaRPr>
            </a:p>
          </p:txBody>
        </p:sp>
      </p:grpSp>
      <p:grpSp>
        <p:nvGrpSpPr>
          <p:cNvPr id="452" name="Google Shape;452;p14"/>
          <p:cNvGrpSpPr/>
          <p:nvPr/>
        </p:nvGrpSpPr>
        <p:grpSpPr>
          <a:xfrm>
            <a:off x="600075" y="5743575"/>
            <a:ext cx="5600700" cy="628800"/>
            <a:chOff x="0" y="0"/>
            <a:chExt cx="5600700" cy="628800"/>
          </a:xfrm>
        </p:grpSpPr>
        <p:sp>
          <p:nvSpPr>
            <p:cNvPr id="453" name="Google Shape;453;p14"/>
            <p:cNvSpPr/>
            <p:nvPr/>
          </p:nvSpPr>
          <p:spPr>
            <a:xfrm>
              <a:off x="0" y="0"/>
              <a:ext cx="5600700" cy="628800"/>
            </a:xfrm>
            <a:prstGeom prst="roundRect">
              <a:avLst>
                <a:gd fmla="val 12121"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14"/>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14"/>
            <p:cNvSpPr txBox="1"/>
            <p:nvPr/>
          </p:nvSpPr>
          <p:spPr>
            <a:xfrm>
              <a:off x="114300" y="15963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2563EB"/>
                  </a:solidFill>
                  <a:latin typeface="Material Icons"/>
                  <a:ea typeface="Material Icons"/>
                  <a:cs typeface="Material Icons"/>
                  <a:sym typeface="Material Icons"/>
                </a:rPr>
                <a:t>lock</a:t>
              </a:r>
              <a:endParaRPr sz="1800">
                <a:solidFill>
                  <a:srgbClr val="2563EB"/>
                </a:solidFill>
                <a:latin typeface="Material Icons"/>
                <a:ea typeface="Material Icons"/>
                <a:cs typeface="Material Icons"/>
                <a:sym typeface="Material Icons"/>
              </a:endParaRPr>
            </a:p>
          </p:txBody>
        </p:sp>
        <p:sp>
          <p:nvSpPr>
            <p:cNvPr id="456" name="Google Shape;456;p14"/>
            <p:cNvSpPr txBox="1"/>
            <p:nvPr/>
          </p:nvSpPr>
          <p:spPr>
            <a:xfrm>
              <a:off x="590550" y="76200"/>
              <a:ext cx="4896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Encrypted Stores (AES-256)</a:t>
              </a:r>
              <a:endParaRPr b="1" sz="110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50">
                  <a:solidFill>
                    <a:srgbClr val="475569"/>
                  </a:solidFill>
                  <a:latin typeface="Quattrocento Sans"/>
                  <a:ea typeface="Quattrocento Sans"/>
                  <a:cs typeface="Quattrocento Sans"/>
                  <a:sym typeface="Quattrocento Sans"/>
                </a:rPr>
                <a:t>D1 (Consent), D2 (Milestones), D3 (Audit Log), D4 (De-identified Analytics).</a:t>
              </a:r>
              <a:endParaRPr b="0" sz="950">
                <a:solidFill>
                  <a:srgbClr val="475569"/>
                </a:solidFill>
                <a:latin typeface="Quattrocento Sans"/>
                <a:ea typeface="Quattrocento Sans"/>
                <a:cs typeface="Quattrocento Sans"/>
                <a:sym typeface="Quattrocento Sans"/>
              </a:endParaRPr>
            </a:p>
          </p:txBody>
        </p:sp>
      </p:grpSp>
      <p:pic>
        <p:nvPicPr>
          <p:cNvPr id="457" name="Google Shape;457;p14"/>
          <p:cNvPicPr preferRelativeResize="0"/>
          <p:nvPr/>
        </p:nvPicPr>
        <p:blipFill rotWithShape="1">
          <a:blip r:embed="rId3">
            <a:alphaModFix/>
          </a:blip>
          <a:srcRect b="9893" l="0" r="-2291" t="-1745"/>
          <a:stretch/>
        </p:blipFill>
        <p:spPr>
          <a:xfrm>
            <a:off x="6557153" y="1857146"/>
            <a:ext cx="5091900" cy="4572300"/>
          </a:xfrm>
          <a:prstGeom prst="roundRect">
            <a:avLst>
              <a:gd fmla="val 1999"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5"/>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5"/>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ETHICAL COMPLIANCE &amp; PRIVACY PRINCIPLES</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Australian Privacy Principles &amp; CASFUD</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Informed Consent, Anonymity, Defense-in-Depth Security &amp; Client Data Sovereignty</a:t>
            </a:r>
            <a:endParaRPr/>
          </a:p>
        </p:txBody>
      </p:sp>
      <p:grpSp>
        <p:nvGrpSpPr>
          <p:cNvPr id="464" name="Google Shape;464;p15"/>
          <p:cNvGrpSpPr/>
          <p:nvPr/>
        </p:nvGrpSpPr>
        <p:grpSpPr>
          <a:xfrm>
            <a:off x="600075" y="1800225"/>
            <a:ext cx="2619300" cy="4619700"/>
            <a:chOff x="0" y="0"/>
            <a:chExt cx="2619300" cy="4619700"/>
          </a:xfrm>
        </p:grpSpPr>
        <p:sp>
          <p:nvSpPr>
            <p:cNvPr id="465" name="Google Shape;465;p15"/>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15"/>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15"/>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01 / C — CONSENT</a:t>
              </a:r>
              <a:endParaRPr b="1" sz="1000">
                <a:solidFill>
                  <a:srgbClr val="1E40AF"/>
                </a:solidFill>
                <a:latin typeface="Quattrocento Sans"/>
                <a:ea typeface="Quattrocento Sans"/>
                <a:cs typeface="Quattrocento Sans"/>
                <a:sym typeface="Quattrocento Sans"/>
              </a:endParaRPr>
            </a:p>
          </p:txBody>
        </p:sp>
        <p:sp>
          <p:nvSpPr>
            <p:cNvPr id="468" name="Google Shape;468;p15"/>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15"/>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fact_check</a:t>
              </a:r>
              <a:endParaRPr sz="2000">
                <a:solidFill>
                  <a:srgbClr val="2563EB"/>
                </a:solidFill>
                <a:latin typeface="Material Icons"/>
                <a:ea typeface="Material Icons"/>
                <a:cs typeface="Material Icons"/>
                <a:sym typeface="Material Icons"/>
              </a:endParaRPr>
            </a:p>
          </p:txBody>
        </p:sp>
        <p:sp>
          <p:nvSpPr>
            <p:cNvPr id="470" name="Google Shape;470;p15"/>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Informed Consent</a:t>
              </a:r>
              <a:endParaRPr b="1" sz="1300">
                <a:solidFill>
                  <a:srgbClr val="0F172A"/>
                </a:solidFill>
                <a:latin typeface="Quattrocento Sans"/>
                <a:ea typeface="Quattrocento Sans"/>
                <a:cs typeface="Quattrocento Sans"/>
                <a:sym typeface="Quattrocento Sans"/>
              </a:endParaRPr>
            </a:p>
          </p:txBody>
        </p:sp>
        <p:sp>
          <p:nvSpPr>
            <p:cNvPr id="471" name="Google Shape;471;p15"/>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1 &amp; APP 5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Plain-language in-app consent sheets replace dense legalistic policies (LaMonica et al. 2021).</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Unbundled Opt-In Controls:</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Granular toggles allow approving critical governance alerts while declining secondary telemetry.</a:t>
              </a:r>
              <a:endParaRPr>
                <a:latin typeface="Quattrocento Sans"/>
                <a:ea typeface="Quattrocento Sans"/>
                <a:cs typeface="Quattrocento Sans"/>
                <a:sym typeface="Quattrocento Sans"/>
              </a:endParaRPr>
            </a:p>
          </p:txBody>
        </p:sp>
      </p:grpSp>
      <p:grpSp>
        <p:nvGrpSpPr>
          <p:cNvPr id="472" name="Google Shape;472;p15"/>
          <p:cNvGrpSpPr/>
          <p:nvPr/>
        </p:nvGrpSpPr>
        <p:grpSpPr>
          <a:xfrm>
            <a:off x="3390900" y="1800225"/>
            <a:ext cx="2619300" cy="4619700"/>
            <a:chOff x="0" y="0"/>
            <a:chExt cx="2619300" cy="4619700"/>
          </a:xfrm>
        </p:grpSpPr>
        <p:sp>
          <p:nvSpPr>
            <p:cNvPr id="473" name="Google Shape;473;p15"/>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15"/>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5" name="Google Shape;475;p15"/>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02 / A — ANONYMITY</a:t>
              </a:r>
              <a:endParaRPr b="1" sz="1000">
                <a:solidFill>
                  <a:srgbClr val="1E40AF"/>
                </a:solidFill>
                <a:latin typeface="Quattrocento Sans"/>
                <a:ea typeface="Quattrocento Sans"/>
                <a:cs typeface="Quattrocento Sans"/>
                <a:sym typeface="Quattrocento Sans"/>
              </a:endParaRPr>
            </a:p>
          </p:txBody>
        </p:sp>
        <p:sp>
          <p:nvSpPr>
            <p:cNvPr id="476" name="Google Shape;476;p15"/>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15"/>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visibility_off</a:t>
              </a:r>
              <a:endParaRPr sz="2000">
                <a:solidFill>
                  <a:srgbClr val="2563EB"/>
                </a:solidFill>
                <a:latin typeface="Material Icons"/>
                <a:ea typeface="Material Icons"/>
                <a:cs typeface="Material Icons"/>
                <a:sym typeface="Material Icons"/>
              </a:endParaRPr>
            </a:p>
          </p:txBody>
        </p:sp>
        <p:sp>
          <p:nvSpPr>
            <p:cNvPr id="478" name="Google Shape;478;p15"/>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Pseudonymity</a:t>
              </a:r>
              <a:endParaRPr b="1" sz="1300">
                <a:solidFill>
                  <a:srgbClr val="0F172A"/>
                </a:solidFill>
                <a:latin typeface="Quattrocento Sans"/>
                <a:ea typeface="Quattrocento Sans"/>
                <a:cs typeface="Quattrocento Sans"/>
                <a:sym typeface="Quattrocento Sans"/>
              </a:endParaRPr>
            </a:p>
          </p:txBody>
        </p:sp>
        <p:sp>
          <p:nvSpPr>
            <p:cNvPr id="479" name="Google Shape;479;p15"/>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2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While formal contracts require verified identity, all diagnostic analytics are irreversibly anonymized.</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Zero Commercial Tracking:</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Third-party tracking SDKs and cross-app advertising identifiers are strictly banned.</a:t>
              </a:r>
              <a:endParaRPr>
                <a:latin typeface="Quattrocento Sans"/>
                <a:ea typeface="Quattrocento Sans"/>
                <a:cs typeface="Quattrocento Sans"/>
                <a:sym typeface="Quattrocento Sans"/>
              </a:endParaRPr>
            </a:p>
          </p:txBody>
        </p:sp>
      </p:grpSp>
      <p:grpSp>
        <p:nvGrpSpPr>
          <p:cNvPr id="480" name="Google Shape;480;p15"/>
          <p:cNvGrpSpPr/>
          <p:nvPr/>
        </p:nvGrpSpPr>
        <p:grpSpPr>
          <a:xfrm>
            <a:off x="6181725" y="1800225"/>
            <a:ext cx="2619300" cy="4619700"/>
            <a:chOff x="0" y="0"/>
            <a:chExt cx="2619300" cy="4619700"/>
          </a:xfrm>
        </p:grpSpPr>
        <p:sp>
          <p:nvSpPr>
            <p:cNvPr id="481" name="Google Shape;481;p15"/>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15"/>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15"/>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03 / S — SECURITY</a:t>
              </a:r>
              <a:endParaRPr b="1" sz="1000">
                <a:solidFill>
                  <a:srgbClr val="1E40AF"/>
                </a:solidFill>
                <a:latin typeface="Quattrocento Sans"/>
                <a:ea typeface="Quattrocento Sans"/>
                <a:cs typeface="Quattrocento Sans"/>
                <a:sym typeface="Quattrocento Sans"/>
              </a:endParaRPr>
            </a:p>
          </p:txBody>
        </p:sp>
        <p:sp>
          <p:nvSpPr>
            <p:cNvPr id="484" name="Google Shape;484;p15"/>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15"/>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lock</a:t>
              </a:r>
              <a:endParaRPr sz="2000">
                <a:solidFill>
                  <a:srgbClr val="2563EB"/>
                </a:solidFill>
                <a:latin typeface="Material Icons"/>
                <a:ea typeface="Material Icons"/>
                <a:cs typeface="Material Icons"/>
                <a:sym typeface="Material Icons"/>
              </a:endParaRPr>
            </a:p>
          </p:txBody>
        </p:sp>
        <p:sp>
          <p:nvSpPr>
            <p:cNvPr id="486" name="Google Shape;486;p15"/>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Data Security</a:t>
              </a:r>
              <a:endParaRPr b="1" sz="1300">
                <a:solidFill>
                  <a:srgbClr val="0F172A"/>
                </a:solidFill>
                <a:latin typeface="Quattrocento Sans"/>
                <a:ea typeface="Quattrocento Sans"/>
                <a:cs typeface="Quattrocento Sans"/>
                <a:sym typeface="Quattrocento Sans"/>
              </a:endParaRPr>
            </a:p>
          </p:txBody>
        </p:sp>
        <p:sp>
          <p:nvSpPr>
            <p:cNvPr id="487" name="Google Shape;487;p15"/>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11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Defense-in-depth (Dahiya et al. 2024); TLS 1.3 in transit and AES-256 at rest in AU sovereign clouds.</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Biometric Auth:</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Secure hardware enclave integration (Face ID / Fingerprint) protects unauthorized access.</a:t>
              </a:r>
              <a:endParaRPr>
                <a:latin typeface="Quattrocento Sans"/>
                <a:ea typeface="Quattrocento Sans"/>
                <a:cs typeface="Quattrocento Sans"/>
                <a:sym typeface="Quattrocento Sans"/>
              </a:endParaRPr>
            </a:p>
          </p:txBody>
        </p:sp>
      </p:grpSp>
      <p:grpSp>
        <p:nvGrpSpPr>
          <p:cNvPr id="488" name="Google Shape;488;p15"/>
          <p:cNvGrpSpPr/>
          <p:nvPr/>
        </p:nvGrpSpPr>
        <p:grpSpPr>
          <a:xfrm>
            <a:off x="8972550" y="1800225"/>
            <a:ext cx="2619300" cy="4619700"/>
            <a:chOff x="0" y="0"/>
            <a:chExt cx="2619300" cy="4619700"/>
          </a:xfrm>
        </p:grpSpPr>
        <p:sp>
          <p:nvSpPr>
            <p:cNvPr id="489" name="Google Shape;489;p15"/>
            <p:cNvSpPr/>
            <p:nvPr/>
          </p:nvSpPr>
          <p:spPr>
            <a:xfrm>
              <a:off x="0" y="0"/>
              <a:ext cx="2619300" cy="4619700"/>
            </a:xfrm>
            <a:prstGeom prst="roundRect">
              <a:avLst>
                <a:gd fmla="val 2909"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15"/>
            <p:cNvSpPr/>
            <p:nvPr/>
          </p:nvSpPr>
          <p:spPr>
            <a:xfrm>
              <a:off x="152400" y="152400"/>
              <a:ext cx="23145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15"/>
            <p:cNvSpPr txBox="1"/>
            <p:nvPr/>
          </p:nvSpPr>
          <p:spPr>
            <a:xfrm>
              <a:off x="152400" y="152400"/>
              <a:ext cx="23145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1E40AF"/>
                  </a:solidFill>
                  <a:latin typeface="Quattrocento Sans"/>
                  <a:ea typeface="Quattrocento Sans"/>
                  <a:cs typeface="Quattrocento Sans"/>
                  <a:sym typeface="Quattrocento Sans"/>
                </a:rPr>
                <a:t>04 / F / UD — CONTROL</a:t>
              </a:r>
              <a:endParaRPr b="1" sz="1000">
                <a:solidFill>
                  <a:srgbClr val="1E40AF"/>
                </a:solidFill>
                <a:latin typeface="Quattrocento Sans"/>
                <a:ea typeface="Quattrocento Sans"/>
                <a:cs typeface="Quattrocento Sans"/>
                <a:sym typeface="Quattrocento Sans"/>
              </a:endParaRPr>
            </a:p>
          </p:txBody>
        </p:sp>
        <p:sp>
          <p:nvSpPr>
            <p:cNvPr id="492" name="Google Shape;492;p15"/>
            <p:cNvSpPr/>
            <p:nvPr/>
          </p:nvSpPr>
          <p:spPr>
            <a:xfrm>
              <a:off x="152400" y="571500"/>
              <a:ext cx="381000" cy="381000"/>
            </a:xfrm>
            <a:prstGeom prst="roundRect">
              <a:avLst>
                <a:gd fmla="val 2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15"/>
            <p:cNvSpPr txBox="1"/>
            <p:nvPr/>
          </p:nvSpPr>
          <p:spPr>
            <a:xfrm>
              <a:off x="152400" y="60071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admin_panel_settings</a:t>
              </a:r>
              <a:endParaRPr sz="2000">
                <a:solidFill>
                  <a:srgbClr val="2563EB"/>
                </a:solidFill>
                <a:latin typeface="Material Icons"/>
                <a:ea typeface="Material Icons"/>
                <a:cs typeface="Material Icons"/>
                <a:sym typeface="Material Icons"/>
              </a:endParaRPr>
            </a:p>
          </p:txBody>
        </p:sp>
        <p:sp>
          <p:nvSpPr>
            <p:cNvPr id="494" name="Google Shape;494;p15"/>
            <p:cNvSpPr txBox="1"/>
            <p:nvPr/>
          </p:nvSpPr>
          <p:spPr>
            <a:xfrm>
              <a:off x="628650" y="571500"/>
              <a:ext cx="1838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F172A"/>
                  </a:solidFill>
                  <a:latin typeface="Quattrocento Sans"/>
                  <a:ea typeface="Quattrocento Sans"/>
                  <a:cs typeface="Quattrocento Sans"/>
                  <a:sym typeface="Quattrocento Sans"/>
                </a:rPr>
                <a:t>Data Sovereignty</a:t>
              </a:r>
              <a:endParaRPr b="1" sz="1300">
                <a:solidFill>
                  <a:srgbClr val="0F172A"/>
                </a:solidFill>
                <a:latin typeface="Quattrocento Sans"/>
                <a:ea typeface="Quattrocento Sans"/>
                <a:cs typeface="Quattrocento Sans"/>
                <a:sym typeface="Quattrocento Sans"/>
              </a:endParaRPr>
            </a:p>
          </p:txBody>
        </p:sp>
        <p:sp>
          <p:nvSpPr>
            <p:cNvPr id="495" name="Google Shape;495;p15"/>
            <p:cNvSpPr txBox="1"/>
            <p:nvPr/>
          </p:nvSpPr>
          <p:spPr>
            <a:xfrm>
              <a:off x="152400" y="1066800"/>
              <a:ext cx="2314500" cy="33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APP 12 &amp; 13 Compliance:</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In-app Privacy Sheet allows Fred to review data, export signed certificates, and request deletion.</a:t>
              </a:r>
              <a:endParaRPr>
                <a:latin typeface="Quattrocento Sans"/>
                <a:ea typeface="Quattrocento Sans"/>
                <a:cs typeface="Quattrocento Sans"/>
                <a:sym typeface="Quattrocento Sans"/>
              </a:endParaRPr>
            </a:p>
            <a:p>
              <a:pPr indent="0" lvl="0" marL="0" rtl="0" algn="l">
                <a:spcBef>
                  <a:spcPts val="1050"/>
                </a:spcBef>
                <a:spcAft>
                  <a:spcPts val="1050"/>
                </a:spcAft>
                <a:buNone/>
              </a:pPr>
              <a:r>
                <a:rPr b="1" lang="en-US" sz="1050">
                  <a:solidFill>
                    <a:srgbClr val="2563EB"/>
                  </a:solidFill>
                  <a:latin typeface="Quattrocento Sans"/>
                  <a:ea typeface="Quattrocento Sans"/>
                  <a:cs typeface="Quattrocento Sans"/>
                  <a:sym typeface="Quattrocento Sans"/>
                </a:rPr>
                <a:t>Full Transparency:</a:t>
              </a:r>
              <a:br>
                <a:rPr lang="en-US">
                  <a:latin typeface="Quattrocento Sans"/>
                  <a:ea typeface="Quattrocento Sans"/>
                  <a:cs typeface="Quattrocento Sans"/>
                  <a:sym typeface="Quattrocento Sans"/>
                </a:rPr>
              </a:br>
              <a:r>
                <a:rPr b="0" lang="en-US" sz="1000">
                  <a:solidFill>
                    <a:srgbClr val="334155"/>
                  </a:solidFill>
                  <a:latin typeface="Quattrocento Sans"/>
                  <a:ea typeface="Quattrocento Sans"/>
                  <a:cs typeface="Quattrocento Sans"/>
                  <a:sym typeface="Quattrocento Sans"/>
                </a:rPr>
                <a:t>Full immutable audit log accessible directly from the app's Governance tab.</a:t>
              </a:r>
              <a:endParaRPr>
                <a:latin typeface="Quattrocento Sans"/>
                <a:ea typeface="Quattrocento Sans"/>
                <a:cs typeface="Quattrocento Sans"/>
                <a:sym typeface="Quattrocento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16"/>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ETHICAL DESIGN &amp; AUTONOMY PRESERVATION</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Rejecting Mobile Dark Patterns</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Neutral Choice Architecture, Equal-Weight Actions, Financial Transparency &amp; Digital Equity</a:t>
            </a:r>
            <a:endParaRPr/>
          </a:p>
        </p:txBody>
      </p:sp>
      <p:grpSp>
        <p:nvGrpSpPr>
          <p:cNvPr id="502" name="Google Shape;502;p16"/>
          <p:cNvGrpSpPr/>
          <p:nvPr/>
        </p:nvGrpSpPr>
        <p:grpSpPr>
          <a:xfrm>
            <a:off x="600075" y="1743075"/>
            <a:ext cx="4953000" cy="285750"/>
            <a:chOff x="0" y="-19050"/>
            <a:chExt cx="4953000" cy="285750"/>
          </a:xfrm>
        </p:grpSpPr>
        <p:sp>
          <p:nvSpPr>
            <p:cNvPr id="503" name="Google Shape;503;p16"/>
            <p:cNvSpPr/>
            <p:nvPr/>
          </p:nvSpPr>
          <p:spPr>
            <a:xfrm>
              <a:off x="0" y="0"/>
              <a:ext cx="4953000" cy="266700"/>
            </a:xfrm>
            <a:prstGeom prst="roundRect">
              <a:avLst>
                <a:gd fmla="val 21428"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16"/>
            <p:cNvSpPr txBox="1"/>
            <p:nvPr/>
          </p:nvSpPr>
          <p:spPr>
            <a:xfrm>
              <a:off x="114300" y="-19050"/>
              <a:ext cx="4724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REJECTING DECEPTIVE PATTERNS</a:t>
              </a:r>
              <a:endParaRPr b="1" sz="1000">
                <a:solidFill>
                  <a:srgbClr val="1E40AF"/>
                </a:solidFill>
                <a:latin typeface="Quattrocento Sans"/>
                <a:ea typeface="Quattrocento Sans"/>
                <a:cs typeface="Quattrocento Sans"/>
                <a:sym typeface="Quattrocento Sans"/>
              </a:endParaRPr>
            </a:p>
          </p:txBody>
        </p:sp>
      </p:grpSp>
      <p:grpSp>
        <p:nvGrpSpPr>
          <p:cNvPr id="505" name="Google Shape;505;p16"/>
          <p:cNvGrpSpPr/>
          <p:nvPr/>
        </p:nvGrpSpPr>
        <p:grpSpPr>
          <a:xfrm>
            <a:off x="600075" y="2162175"/>
            <a:ext cx="4953000" cy="781200"/>
            <a:chOff x="0" y="0"/>
            <a:chExt cx="4953000" cy="781200"/>
          </a:xfrm>
        </p:grpSpPr>
        <p:sp>
          <p:nvSpPr>
            <p:cNvPr id="506" name="Google Shape;506;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7" name="Google Shape;507;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8" name="Google Shape;508;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balance</a:t>
              </a:r>
              <a:endParaRPr b="0" sz="1600">
                <a:solidFill>
                  <a:srgbClr val="2563EB"/>
                </a:solidFill>
                <a:latin typeface="Material Icons"/>
                <a:ea typeface="Material Icons"/>
                <a:cs typeface="Material Icons"/>
                <a:sym typeface="Material Icons"/>
              </a:endParaRPr>
            </a:p>
          </p:txBody>
        </p:sp>
        <p:sp>
          <p:nvSpPr>
            <p:cNvPr id="509" name="Google Shape;509;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Equal Visual Weight</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'Approve Milestone' and 'Request Changes' feature identical button dimensions, stroke weights, and neutral styling.</a:t>
              </a:r>
              <a:endParaRPr b="1" sz="900">
                <a:solidFill>
                  <a:srgbClr val="2563EB"/>
                </a:solidFill>
                <a:latin typeface="Quattrocento Sans"/>
                <a:ea typeface="Quattrocento Sans"/>
                <a:cs typeface="Quattrocento Sans"/>
                <a:sym typeface="Quattrocento Sans"/>
              </a:endParaRPr>
            </a:p>
          </p:txBody>
        </p:sp>
      </p:grpSp>
      <p:grpSp>
        <p:nvGrpSpPr>
          <p:cNvPr id="510" name="Google Shape;510;p16"/>
          <p:cNvGrpSpPr/>
          <p:nvPr/>
        </p:nvGrpSpPr>
        <p:grpSpPr>
          <a:xfrm>
            <a:off x="600075" y="3228975"/>
            <a:ext cx="4953000" cy="781200"/>
            <a:chOff x="0" y="0"/>
            <a:chExt cx="4953000" cy="781200"/>
          </a:xfrm>
        </p:grpSpPr>
        <p:sp>
          <p:nvSpPr>
            <p:cNvPr id="511" name="Google Shape;511;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2" name="Google Shape;512;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3" name="Google Shape;513;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block</a:t>
              </a:r>
              <a:endParaRPr b="0" sz="1600">
                <a:solidFill>
                  <a:srgbClr val="2563EB"/>
                </a:solidFill>
                <a:latin typeface="Material Icons"/>
                <a:ea typeface="Material Icons"/>
                <a:cs typeface="Material Icons"/>
                <a:sym typeface="Material Icons"/>
              </a:endParaRPr>
            </a:p>
          </p:txBody>
        </p:sp>
        <p:sp>
          <p:nvSpPr>
            <p:cNvPr id="514" name="Google Shape;514;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Zero Asymmetric Nudging</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Rejection of deceptive patterns documented by Li et al. (2025, p. 8), such as bright primary colors on 'Approve' paired with invisible text links on 'Decline'.</a:t>
              </a:r>
              <a:endParaRPr b="1" sz="900">
                <a:solidFill>
                  <a:srgbClr val="2563EB"/>
                </a:solidFill>
                <a:latin typeface="Quattrocento Sans"/>
                <a:ea typeface="Quattrocento Sans"/>
                <a:cs typeface="Quattrocento Sans"/>
                <a:sym typeface="Quattrocento Sans"/>
              </a:endParaRPr>
            </a:p>
          </p:txBody>
        </p:sp>
      </p:grpSp>
      <p:grpSp>
        <p:nvGrpSpPr>
          <p:cNvPr id="515" name="Google Shape;515;p16"/>
          <p:cNvGrpSpPr/>
          <p:nvPr/>
        </p:nvGrpSpPr>
        <p:grpSpPr>
          <a:xfrm>
            <a:off x="600075" y="4295775"/>
            <a:ext cx="4953000" cy="781200"/>
            <a:chOff x="0" y="0"/>
            <a:chExt cx="4953000" cy="781200"/>
          </a:xfrm>
        </p:grpSpPr>
        <p:sp>
          <p:nvSpPr>
            <p:cNvPr id="516" name="Google Shape;516;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7" name="Google Shape;517;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8" name="Google Shape;518;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hourglass_disabled</a:t>
              </a:r>
              <a:endParaRPr b="0" sz="1600">
                <a:solidFill>
                  <a:srgbClr val="2563EB"/>
                </a:solidFill>
                <a:latin typeface="Material Icons"/>
                <a:ea typeface="Material Icons"/>
                <a:cs typeface="Material Icons"/>
                <a:sym typeface="Material Icons"/>
              </a:endParaRPr>
            </a:p>
          </p:txBody>
        </p:sp>
        <p:sp>
          <p:nvSpPr>
            <p:cNvPr id="519" name="Google Shape;519;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No Artificial Urgency</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Completely eliminates countdown clocks, fake deadlines, and coercive scarcity banners.</a:t>
              </a:r>
              <a:endParaRPr b="1" sz="900">
                <a:solidFill>
                  <a:srgbClr val="2563EB"/>
                </a:solidFill>
                <a:latin typeface="Quattrocento Sans"/>
                <a:ea typeface="Quattrocento Sans"/>
                <a:cs typeface="Quattrocento Sans"/>
                <a:sym typeface="Quattrocento Sans"/>
              </a:endParaRPr>
            </a:p>
          </p:txBody>
        </p:sp>
      </p:grpSp>
      <p:grpSp>
        <p:nvGrpSpPr>
          <p:cNvPr id="520" name="Google Shape;520;p16"/>
          <p:cNvGrpSpPr/>
          <p:nvPr/>
        </p:nvGrpSpPr>
        <p:grpSpPr>
          <a:xfrm>
            <a:off x="600075" y="5362575"/>
            <a:ext cx="4953000" cy="781200"/>
            <a:chOff x="0" y="0"/>
            <a:chExt cx="4953000" cy="781200"/>
          </a:xfrm>
        </p:grpSpPr>
        <p:sp>
          <p:nvSpPr>
            <p:cNvPr id="521" name="Google Shape;521;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2" name="Google Shape;522;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payments</a:t>
              </a:r>
              <a:endParaRPr b="0" sz="1600">
                <a:solidFill>
                  <a:srgbClr val="2563EB"/>
                </a:solidFill>
                <a:latin typeface="Material Icons"/>
                <a:ea typeface="Material Icons"/>
                <a:cs typeface="Material Icons"/>
                <a:sym typeface="Material Icons"/>
              </a:endParaRPr>
            </a:p>
          </p:txBody>
        </p:sp>
        <p:sp>
          <p:nvSpPr>
            <p:cNvPr id="524" name="Google Shape;524;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Upfront Financial Liability</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Invoicing liabilities ($12,500 AUD) are explicitly disclosed before triggering sign-off modals.</a:t>
              </a:r>
              <a:endParaRPr b="1" sz="900">
                <a:solidFill>
                  <a:srgbClr val="2563EB"/>
                </a:solidFill>
                <a:latin typeface="Quattrocento Sans"/>
                <a:ea typeface="Quattrocento Sans"/>
                <a:cs typeface="Quattrocento Sans"/>
                <a:sym typeface="Quattrocento Sans"/>
              </a:endParaRPr>
            </a:p>
          </p:txBody>
        </p:sp>
      </p:grpSp>
      <p:grpSp>
        <p:nvGrpSpPr>
          <p:cNvPr id="525" name="Google Shape;525;p16"/>
          <p:cNvGrpSpPr/>
          <p:nvPr/>
        </p:nvGrpSpPr>
        <p:grpSpPr>
          <a:xfrm>
            <a:off x="6334125" y="1743075"/>
            <a:ext cx="4953000" cy="285750"/>
            <a:chOff x="0" y="-19050"/>
            <a:chExt cx="4953000" cy="285750"/>
          </a:xfrm>
        </p:grpSpPr>
        <p:sp>
          <p:nvSpPr>
            <p:cNvPr id="526" name="Google Shape;526;p16"/>
            <p:cNvSpPr/>
            <p:nvPr/>
          </p:nvSpPr>
          <p:spPr>
            <a:xfrm>
              <a:off x="0" y="0"/>
              <a:ext cx="4953000" cy="266700"/>
            </a:xfrm>
            <a:prstGeom prst="roundRect">
              <a:avLst>
                <a:gd fmla="val 21428"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16"/>
            <p:cNvSpPr txBox="1"/>
            <p:nvPr/>
          </p:nvSpPr>
          <p:spPr>
            <a:xfrm>
              <a:off x="114300" y="-19050"/>
              <a:ext cx="4724400" cy="2667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DIGITAL EQUITY &amp; HARDWARE INCLUSIVITY</a:t>
              </a:r>
              <a:endParaRPr b="1" sz="1000">
                <a:solidFill>
                  <a:srgbClr val="1E40AF"/>
                </a:solidFill>
                <a:latin typeface="Quattrocento Sans"/>
                <a:ea typeface="Quattrocento Sans"/>
                <a:cs typeface="Quattrocento Sans"/>
                <a:sym typeface="Quattrocento Sans"/>
              </a:endParaRPr>
            </a:p>
          </p:txBody>
        </p:sp>
      </p:grpSp>
      <p:grpSp>
        <p:nvGrpSpPr>
          <p:cNvPr id="528" name="Google Shape;528;p16"/>
          <p:cNvGrpSpPr/>
          <p:nvPr/>
        </p:nvGrpSpPr>
        <p:grpSpPr>
          <a:xfrm>
            <a:off x="6334125" y="2162175"/>
            <a:ext cx="4953000" cy="781200"/>
            <a:chOff x="0" y="0"/>
            <a:chExt cx="4953000" cy="781200"/>
          </a:xfrm>
        </p:grpSpPr>
        <p:sp>
          <p:nvSpPr>
            <p:cNvPr id="529" name="Google Shape;529;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smartphone</a:t>
              </a:r>
              <a:endParaRPr b="0" sz="1600">
                <a:solidFill>
                  <a:srgbClr val="2563EB"/>
                </a:solidFill>
                <a:latin typeface="Material Icons"/>
                <a:ea typeface="Material Icons"/>
                <a:cs typeface="Material Icons"/>
                <a:sym typeface="Material Icons"/>
              </a:endParaRPr>
            </a:p>
          </p:txBody>
        </p:sp>
        <p:sp>
          <p:nvSpPr>
            <p:cNvPr id="532" name="Google Shape;532;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Mid-Range Device Optimization</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Engineered and tested to run smoothly on affordable Android devices (e.g. Samsung Galaxy A54).</a:t>
              </a:r>
              <a:endParaRPr b="1" sz="900">
                <a:solidFill>
                  <a:srgbClr val="2563EB"/>
                </a:solidFill>
                <a:latin typeface="Quattrocento Sans"/>
                <a:ea typeface="Quattrocento Sans"/>
                <a:cs typeface="Quattrocento Sans"/>
                <a:sym typeface="Quattrocento Sans"/>
              </a:endParaRPr>
            </a:p>
          </p:txBody>
        </p:sp>
      </p:grpSp>
      <p:grpSp>
        <p:nvGrpSpPr>
          <p:cNvPr id="533" name="Google Shape;533;p16"/>
          <p:cNvGrpSpPr/>
          <p:nvPr/>
        </p:nvGrpSpPr>
        <p:grpSpPr>
          <a:xfrm>
            <a:off x="6334125" y="3228975"/>
            <a:ext cx="4953000" cy="781200"/>
            <a:chOff x="0" y="0"/>
            <a:chExt cx="4953000" cy="781200"/>
          </a:xfrm>
        </p:grpSpPr>
        <p:sp>
          <p:nvSpPr>
            <p:cNvPr id="534" name="Google Shape;534;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5" name="Google Shape;535;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6" name="Google Shape;536;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wifi_off</a:t>
              </a:r>
              <a:endParaRPr b="0" sz="1600">
                <a:solidFill>
                  <a:srgbClr val="2563EB"/>
                </a:solidFill>
                <a:latin typeface="Material Icons"/>
                <a:ea typeface="Material Icons"/>
                <a:cs typeface="Material Icons"/>
                <a:sym typeface="Material Icons"/>
              </a:endParaRPr>
            </a:p>
          </p:txBody>
        </p:sp>
        <p:sp>
          <p:nvSpPr>
            <p:cNvPr id="537" name="Google Shape;537;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Offline-Resilient Architecture</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Clean cached data loading prevents white-screen crashes on patchy warehouse 4G connections.</a:t>
              </a:r>
              <a:endParaRPr b="1" sz="900">
                <a:solidFill>
                  <a:srgbClr val="2563EB"/>
                </a:solidFill>
                <a:latin typeface="Quattrocento Sans"/>
                <a:ea typeface="Quattrocento Sans"/>
                <a:cs typeface="Quattrocento Sans"/>
                <a:sym typeface="Quattrocento Sans"/>
              </a:endParaRPr>
            </a:p>
          </p:txBody>
        </p:sp>
      </p:grpSp>
      <p:grpSp>
        <p:nvGrpSpPr>
          <p:cNvPr id="538" name="Google Shape;538;p16"/>
          <p:cNvGrpSpPr/>
          <p:nvPr/>
        </p:nvGrpSpPr>
        <p:grpSpPr>
          <a:xfrm>
            <a:off x="6334125" y="4295775"/>
            <a:ext cx="4953000" cy="781200"/>
            <a:chOff x="0" y="0"/>
            <a:chExt cx="4953000" cy="781200"/>
          </a:xfrm>
        </p:grpSpPr>
        <p:sp>
          <p:nvSpPr>
            <p:cNvPr id="539" name="Google Shape;539;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0" name="Google Shape;540;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1" name="Google Shape;541;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support_agent</a:t>
              </a:r>
              <a:endParaRPr b="0" sz="1600">
                <a:solidFill>
                  <a:srgbClr val="2563EB"/>
                </a:solidFill>
                <a:latin typeface="Material Icons"/>
                <a:ea typeface="Material Icons"/>
                <a:cs typeface="Material Icons"/>
                <a:sym typeface="Material Icons"/>
              </a:endParaRPr>
            </a:p>
          </p:txBody>
        </p:sp>
        <p:sp>
          <p:nvSpPr>
            <p:cNvPr id="542" name="Google Shape;542;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Multi-Modal Alternatives</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Telephone-assisted sign-off remains supported to guarantee full accessibility for non-digital clients.</a:t>
              </a:r>
              <a:endParaRPr b="1" sz="900">
                <a:solidFill>
                  <a:srgbClr val="2563EB"/>
                </a:solidFill>
                <a:latin typeface="Quattrocento Sans"/>
                <a:ea typeface="Quattrocento Sans"/>
                <a:cs typeface="Quattrocento Sans"/>
                <a:sym typeface="Quattrocento Sans"/>
              </a:endParaRPr>
            </a:p>
          </p:txBody>
        </p:sp>
      </p:grpSp>
      <p:grpSp>
        <p:nvGrpSpPr>
          <p:cNvPr id="543" name="Google Shape;543;p16"/>
          <p:cNvGrpSpPr/>
          <p:nvPr/>
        </p:nvGrpSpPr>
        <p:grpSpPr>
          <a:xfrm>
            <a:off x="6334125" y="5362575"/>
            <a:ext cx="4953000" cy="781200"/>
            <a:chOff x="0" y="0"/>
            <a:chExt cx="4953000" cy="781200"/>
          </a:xfrm>
        </p:grpSpPr>
        <p:sp>
          <p:nvSpPr>
            <p:cNvPr id="544" name="Google Shape;544;p16"/>
            <p:cNvSpPr/>
            <p:nvPr/>
          </p:nvSpPr>
          <p:spPr>
            <a:xfrm>
              <a:off x="0" y="0"/>
              <a:ext cx="4953000" cy="781200"/>
            </a:xfrm>
            <a:prstGeom prst="roundRect">
              <a:avLst>
                <a:gd fmla="val 9756"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5" name="Google Shape;545;p16"/>
            <p:cNvSpPr/>
            <p:nvPr/>
          </p:nvSpPr>
          <p:spPr>
            <a:xfrm>
              <a:off x="114300" y="114300"/>
              <a:ext cx="324000" cy="324000"/>
            </a:xfrm>
            <a:prstGeom prst="roundRect">
              <a:avLst>
                <a:gd fmla="val 176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6" name="Google Shape;546;p16"/>
            <p:cNvSpPr txBox="1"/>
            <p:nvPr/>
          </p:nvSpPr>
          <p:spPr>
            <a:xfrm>
              <a:off x="114300" y="137668"/>
              <a:ext cx="3240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600">
                  <a:solidFill>
                    <a:srgbClr val="2563EB"/>
                  </a:solidFill>
                  <a:latin typeface="Material Icons"/>
                  <a:ea typeface="Material Icons"/>
                  <a:cs typeface="Material Icons"/>
                  <a:sym typeface="Material Icons"/>
                </a:rPr>
                <a:t>verified_user</a:t>
              </a:r>
              <a:endParaRPr b="0" sz="1600">
                <a:solidFill>
                  <a:srgbClr val="2563EB"/>
                </a:solidFill>
                <a:latin typeface="Material Icons"/>
                <a:ea typeface="Material Icons"/>
                <a:cs typeface="Material Icons"/>
                <a:sym typeface="Material Icons"/>
              </a:endParaRPr>
            </a:p>
          </p:txBody>
        </p:sp>
        <p:sp>
          <p:nvSpPr>
            <p:cNvPr id="547" name="Google Shape;547;p16"/>
            <p:cNvSpPr txBox="1"/>
            <p:nvPr/>
          </p:nvSpPr>
          <p:spPr>
            <a:xfrm>
              <a:off x="533400" y="76200"/>
              <a:ext cx="4305300" cy="628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2563EB"/>
                  </a:solidFill>
                  <a:latin typeface="Quattrocento Sans"/>
                  <a:ea typeface="Quattrocento Sans"/>
                  <a:cs typeface="Quattrocento Sans"/>
                  <a:sym typeface="Quattrocento Sans"/>
                </a:rPr>
                <a:t>Respect for User Autonomy</a:t>
              </a:r>
              <a:endParaRPr b="1" sz="1050">
                <a:solidFill>
                  <a:srgbClr val="2563EB"/>
                </a:solidFill>
                <a:latin typeface="Quattrocento Sans"/>
                <a:ea typeface="Quattrocento Sans"/>
                <a:cs typeface="Quattrocento Sans"/>
                <a:sym typeface="Quattrocento Sans"/>
              </a:endParaRPr>
            </a:p>
            <a:p>
              <a:pPr indent="0" lvl="0" marL="0" rtl="0" algn="l">
                <a:spcBef>
                  <a:spcPts val="0"/>
                </a:spcBef>
                <a:spcAft>
                  <a:spcPts val="0"/>
                </a:spcAft>
                <a:buNone/>
              </a:pPr>
              <a:r>
                <a:rPr b="0" lang="en-US" sz="900">
                  <a:solidFill>
                    <a:srgbClr val="334155"/>
                  </a:solidFill>
                  <a:latin typeface="Quattrocento Sans"/>
                  <a:ea typeface="Quattrocento Sans"/>
                  <a:cs typeface="Quattrocento Sans"/>
                  <a:sym typeface="Quattrocento Sans"/>
                </a:rPr>
                <a:t>Fred retains absolute commercial discretion without algorithmic coercion.</a:t>
              </a:r>
              <a:endParaRPr b="1" sz="900">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7"/>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7"/>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FLUTTER SOFTWARE ENGINEERING &amp; ARCHITECTURE</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Code Architecture &amp; Design-Level Quality</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Single-File DartPad Portability, Native Reactive State Store &amp; Extensive Design Comments</a:t>
            </a:r>
            <a:endParaRPr/>
          </a:p>
        </p:txBody>
      </p:sp>
      <p:sp>
        <p:nvSpPr>
          <p:cNvPr id="554" name="Google Shape;554;p17"/>
          <p:cNvSpPr/>
          <p:nvPr/>
        </p:nvSpPr>
        <p:spPr>
          <a:xfrm>
            <a:off x="6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500" u="none" strike="noStrike">
                <a:solidFill>
                  <a:srgbClr val="0F172A"/>
                </a:solidFill>
                <a:latin typeface="Quattrocento Sans"/>
                <a:ea typeface="Quattrocento Sans"/>
                <a:cs typeface="Quattrocento Sans"/>
                <a:sym typeface="Quattrocento Sans"/>
              </a:rPr>
              <a:t>Portability &amp; State Store</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Single-File DartPad Portability:</a:t>
            </a:r>
            <a:r>
              <a:rPr b="0" i="0" lang="en-US" sz="1100" u="none" strike="noStrike">
                <a:solidFill>
                  <a:srgbClr val="334155"/>
                </a:solidFill>
                <a:latin typeface="Quattrocento Sans"/>
                <a:ea typeface="Quattrocento Sans"/>
                <a:cs typeface="Quattrocento Sans"/>
                <a:sym typeface="Quattrocento Sans"/>
              </a:rPr>
              <a:t> 2,801 lines in main.dart running natively out-of-the-box on dartpad.dev with zero external package dependencies.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Reactive State (AppStateModel):</a:t>
            </a:r>
            <a:r>
              <a:rPr b="0" i="0" lang="en-US" sz="1100" u="none" strike="noStrike">
                <a:solidFill>
                  <a:srgbClr val="334155"/>
                </a:solidFill>
                <a:latin typeface="Quattrocento Sans"/>
                <a:ea typeface="Quattrocento Sans"/>
                <a:cs typeface="Quattrocento Sans"/>
                <a:sym typeface="Quattrocento Sans"/>
              </a:rPr>
              <a:t> Extends ChangeNotifier, centralizing auth session (isLoggedIn, currentUserEmail), navigation index, SDLC phase, deliverables, and milestones.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Inherited Scope (AppStateScope):</a:t>
            </a:r>
            <a:r>
              <a:rPr b="0" i="0" lang="en-US" sz="1100" u="none" strike="noStrike">
                <a:solidFill>
                  <a:srgbClr val="334155"/>
                </a:solidFill>
                <a:latin typeface="Quattrocento Sans"/>
                <a:ea typeface="Quattrocento Sans"/>
                <a:cs typeface="Quattrocento Sans"/>
                <a:sym typeface="Quattrocento Sans"/>
              </a:rPr>
              <a:t> Extends InheritedNotifier&lt;AppStateModel&gt;, providing O(1) state lookup via AppStateScope.of(context) with pure reactive rebuilds.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Zero Third-Party State Overhead:</a:t>
            </a:r>
            <a:r>
              <a:rPr b="0" i="0" lang="en-US" sz="1100" u="none" strike="noStrike">
                <a:solidFill>
                  <a:srgbClr val="334155"/>
                </a:solidFill>
                <a:latin typeface="Quattrocento Sans"/>
                <a:ea typeface="Quattrocento Sans"/>
                <a:cs typeface="Quattrocento Sans"/>
                <a:sym typeface="Quattrocento Sans"/>
              </a:rPr>
              <a:t> No Bloc, Riverpod, or Provider needed; uses 100% core Flutter primitives for guaranteed long-term stability.</a:t>
            </a:r>
            <a:endParaRPr b="1" i="0" sz="1500" u="none" strike="noStrike">
              <a:solidFill>
                <a:srgbClr val="0F172A"/>
              </a:solidFill>
              <a:latin typeface="Quattrocento Sans"/>
              <a:ea typeface="Quattrocento Sans"/>
              <a:cs typeface="Quattrocento Sans"/>
              <a:sym typeface="Quattrocento Sans"/>
            </a:endParaRPr>
          </a:p>
        </p:txBody>
      </p:sp>
      <p:sp>
        <p:nvSpPr>
          <p:cNvPr id="555" name="Google Shape;555;p17"/>
          <p:cNvSpPr/>
          <p:nvPr/>
        </p:nvSpPr>
        <p:spPr>
          <a:xfrm>
            <a:off x="4300004"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388" u="none" strike="noStrike">
                <a:solidFill>
                  <a:srgbClr val="0F172A"/>
                </a:solidFill>
                <a:latin typeface="Quattrocento Sans"/>
                <a:ea typeface="Quattrocento Sans"/>
                <a:cs typeface="Quattrocento Sans"/>
                <a:sym typeface="Quattrocento Sans"/>
              </a:rPr>
              <a:t>6-Tier Layered Architecture</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1 (Domain Models):</a:t>
            </a:r>
            <a:r>
              <a:rPr b="0" i="0" lang="en-US" sz="1018" u="none" strike="noStrike">
                <a:solidFill>
                  <a:srgbClr val="334155"/>
                </a:solidFill>
                <a:latin typeface="Quattrocento Sans"/>
                <a:ea typeface="Quattrocento Sans"/>
                <a:cs typeface="Quattrocento Sans"/>
                <a:sym typeface="Quattrocento Sans"/>
              </a:rPr>
              <a:t> Immutable models for ProjectStage, DeliverableItem, MilestoneSignOff, AuditCertificate, and ConsentSettings.</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2 (Global State Store):</a:t>
            </a:r>
            <a:r>
              <a:rPr b="0" i="0" lang="en-US" sz="1018" u="none" strike="noStrike">
                <a:solidFill>
                  <a:srgbClr val="334155"/>
                </a:solidFill>
                <a:latin typeface="Quattrocento Sans"/>
                <a:ea typeface="Quattrocento Sans"/>
                <a:cs typeface="Quattrocento Sans"/>
                <a:sym typeface="Quattrocento Sans"/>
              </a:rPr>
              <a:t> AppStateModel encapsulating auth session state (login/logout), approval logic, feedback submission, change requests, and consent toggles.</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3 (Scope Provider):</a:t>
            </a:r>
            <a:r>
              <a:rPr b="0" i="0" lang="en-US" sz="1018" u="none" strike="noStrike">
                <a:solidFill>
                  <a:srgbClr val="334155"/>
                </a:solidFill>
                <a:latin typeface="Quattrocento Sans"/>
                <a:ea typeface="Quattrocento Sans"/>
                <a:cs typeface="Quattrocento Sans"/>
                <a:sym typeface="Quattrocento Sans"/>
              </a:rPr>
              <a:t> AppStateScope binding model to Flutter element tree.</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4 (Theme &amp; App Root):</a:t>
            </a:r>
            <a:r>
              <a:rPr b="0" i="0" lang="en-US" sz="1018" u="none" strike="noStrike">
                <a:solidFill>
                  <a:srgbClr val="334155"/>
                </a:solidFill>
                <a:latin typeface="Quattrocento Sans"/>
                <a:ea typeface="Quattrocento Sans"/>
                <a:cs typeface="Quattrocento Sans"/>
                <a:sym typeface="Quattrocento Sans"/>
              </a:rPr>
              <a:t> ElegantLinkApp configuring ThemeData(useMaterial3: true) and custom seed palette (#1E3A8A).</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5 (Responsive Shell):</a:t>
            </a:r>
            <a:r>
              <a:rPr b="0" i="0" lang="en-US" sz="1018" u="none" strike="noStrike">
                <a:solidFill>
                  <a:srgbClr val="334155"/>
                </a:solidFill>
                <a:latin typeface="Quattrocento Sans"/>
                <a:ea typeface="Quattrocento Sans"/>
                <a:cs typeface="Quattrocento Sans"/>
                <a:sym typeface="Quattrocento Sans"/>
              </a:rPr>
              <a:t> MainPortalShell with LayoutBuilder dynamically switching bottom bar and left rail.</a:t>
            </a:r>
            <a:endParaRPr b="1" i="0" sz="1388" u="none" strike="noStrike">
              <a:solidFill>
                <a:srgbClr val="0F172A"/>
              </a:solidFill>
              <a:latin typeface="Quattrocento Sans"/>
              <a:ea typeface="Quattrocento Sans"/>
              <a:cs typeface="Quattrocento Sans"/>
              <a:sym typeface="Quattrocento Sans"/>
            </a:endParaRPr>
          </a:p>
          <a:p>
            <a:pPr indent="-316706" lvl="0" marL="457200" rtl="0" algn="l">
              <a:spcBef>
                <a:spcPts val="400"/>
              </a:spcBef>
              <a:spcAft>
                <a:spcPts val="0"/>
              </a:spcAft>
              <a:buClr>
                <a:srgbClr val="0F172A"/>
              </a:buClr>
              <a:buSzPts val="1388"/>
              <a:buFont typeface="Quattrocento Sans"/>
              <a:buChar char="●"/>
            </a:pPr>
            <a:r>
              <a:rPr b="1" i="0" lang="en-US" sz="1018" u="none" strike="noStrike">
                <a:solidFill>
                  <a:srgbClr val="2563EB"/>
                </a:solidFill>
                <a:latin typeface="Quattrocento Sans"/>
                <a:ea typeface="Quattrocento Sans"/>
                <a:cs typeface="Quattrocento Sans"/>
                <a:sym typeface="Quattrocento Sans"/>
              </a:rPr>
              <a:t>Tier 6 (11 Dedicated Screens):</a:t>
            </a:r>
            <a:r>
              <a:rPr b="0" i="0" lang="en-US" sz="1018" u="none" strike="noStrike">
                <a:solidFill>
                  <a:srgbClr val="334155"/>
                </a:solidFill>
                <a:latin typeface="Quattrocento Sans"/>
                <a:ea typeface="Quattrocento Sans"/>
                <a:cs typeface="Quattrocento Sans"/>
                <a:sym typeface="Quattrocento Sans"/>
              </a:rPr>
              <a:t> LoginScreen (Auth Gate), Dashboard, Phase Details, Projects, Deliverables Gallery, Mockup Viewer, Milestone Sign-off, Request Changes, Digital Certificate, Notifications, Privacy Consent.</a:t>
            </a:r>
            <a:endParaRPr b="1" i="0" sz="1388" u="none" strike="noStrike">
              <a:solidFill>
                <a:srgbClr val="0F172A"/>
              </a:solidFill>
              <a:latin typeface="Quattrocento Sans"/>
              <a:ea typeface="Quattrocento Sans"/>
              <a:cs typeface="Quattrocento Sans"/>
              <a:sym typeface="Quattrocento Sans"/>
            </a:endParaRPr>
          </a:p>
        </p:txBody>
      </p:sp>
      <p:sp>
        <p:nvSpPr>
          <p:cNvPr id="556" name="Google Shape;556;p17"/>
          <p:cNvSpPr/>
          <p:nvPr/>
        </p:nvSpPr>
        <p:spPr>
          <a:xfrm>
            <a:off x="8000000" y="1799996"/>
            <a:ext cx="3500100" cy="4599900"/>
          </a:xfrm>
          <a:prstGeom prst="roundRect">
            <a:avLst>
              <a:gd fmla="val 1999"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500" u="none" strike="noStrike">
                <a:solidFill>
                  <a:srgbClr val="0F172A"/>
                </a:solidFill>
                <a:latin typeface="Quattrocento Sans"/>
                <a:ea typeface="Quattrocento Sans"/>
                <a:cs typeface="Quattrocento Sans"/>
                <a:sym typeface="Quattrocento Sans"/>
              </a:rPr>
              <a:t>Criterion 3 Code Quality</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Rich Design-Level Comments:</a:t>
            </a:r>
            <a:r>
              <a:rPr b="0" i="0" lang="en-US" sz="1100" u="none" strike="noStrike">
                <a:solidFill>
                  <a:srgbClr val="334155"/>
                </a:solidFill>
                <a:latin typeface="Quattrocento Sans"/>
                <a:ea typeface="Quattrocento Sans"/>
                <a:cs typeface="Quattrocento Sans"/>
                <a:sym typeface="Quattrocento Sans"/>
              </a:rPr>
              <a:t> Code contains extensive docstrings explaining widget rationale, persona cognitive load reduction, and mobile heuristics.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Non-Trivial Architectural Notes:</a:t>
            </a:r>
            <a:r>
              <a:rPr b="0" i="0" lang="en-US" sz="1100" u="none" strike="noStrike">
                <a:solidFill>
                  <a:srgbClr val="334155"/>
                </a:solidFill>
                <a:latin typeface="Quattrocento Sans"/>
                <a:ea typeface="Quattrocento Sans"/>
                <a:cs typeface="Quattrocento Sans"/>
                <a:sym typeface="Quattrocento Sans"/>
              </a:rPr>
              <a:t> Documents why specific M3 widgets were selected rather than trivial syntax descriptions.</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Zero Deprecated APIs:</a:t>
            </a:r>
            <a:r>
              <a:rPr b="0" i="0" lang="en-US" sz="1100" u="none" strike="noStrike">
                <a:solidFill>
                  <a:srgbClr val="334155"/>
                </a:solidFill>
                <a:latin typeface="Quattrocento Sans"/>
                <a:ea typeface="Quattrocento Sans"/>
                <a:cs typeface="Quattrocento Sans"/>
                <a:sym typeface="Quattrocento Sans"/>
              </a:rPr>
              <a:t> Exclusively modern Flutter 3.x APIs (FilledButton, FilledButton.tonal, OutlinedButton, NavigationBar, NavigationRail, CardThemeData).</a:t>
            </a:r>
            <a:endParaRPr b="1" i="0" sz="1500" u="none" strike="noStrike">
              <a:solidFill>
                <a:srgbClr val="0F172A"/>
              </a:solidFill>
              <a:latin typeface="Quattrocento Sans"/>
              <a:ea typeface="Quattrocento Sans"/>
              <a:cs typeface="Quattrocento Sans"/>
              <a:sym typeface="Quattrocento Sans"/>
            </a:endParaRPr>
          </a:p>
          <a:p>
            <a:pPr indent="-323850" lvl="0" marL="457200" rtl="0" algn="l">
              <a:spcBef>
                <a:spcPts val="600"/>
              </a:spcBef>
              <a:spcAft>
                <a:spcPts val="0"/>
              </a:spcAft>
              <a:buClr>
                <a:srgbClr val="0F172A"/>
              </a:buClr>
              <a:buSzPts val="1500"/>
              <a:buFont typeface="Quattrocento Sans"/>
              <a:buChar char="●"/>
            </a:pPr>
            <a:r>
              <a:rPr b="1" i="0" lang="en-US" sz="1100" u="none" strike="noStrike">
                <a:solidFill>
                  <a:srgbClr val="2563EB"/>
                </a:solidFill>
                <a:latin typeface="Quattrocento Sans"/>
                <a:ea typeface="Quattrocento Sans"/>
                <a:cs typeface="Quattrocento Sans"/>
                <a:sym typeface="Quattrocento Sans"/>
              </a:rPr>
              <a:t>Self-Documenting Naming:</a:t>
            </a:r>
            <a:r>
              <a:rPr b="0" i="0" lang="en-US" sz="1100" u="none" strike="noStrike">
                <a:solidFill>
                  <a:srgbClr val="334155"/>
                </a:solidFill>
                <a:latin typeface="Quattrocento Sans"/>
                <a:ea typeface="Quattrocento Sans"/>
                <a:cs typeface="Quattrocento Sans"/>
                <a:sym typeface="Quattrocento Sans"/>
              </a:rPr>
              <a:t> Clean identifiers throughout (isCompactViewport, milestoneLiabilityAud, activeSdlcPhase, isMilestoneApproved, currentUserEmail, isLoggedIn).</a:t>
            </a:r>
            <a:endParaRPr b="1" i="0" sz="1500" u="none" strike="noStrike">
              <a:solidFill>
                <a:srgbClr val="0F172A"/>
              </a:solidFill>
              <a:latin typeface="Quattrocento Sans"/>
              <a:ea typeface="Quattrocento Sans"/>
              <a:cs typeface="Quattrocento Sans"/>
              <a:sym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8"/>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ACADEMIC INTEGRITY &amp; AI COLLABORATION</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Summary of AI Collaboration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Transparent AI Tool Usage, Critical Student Evaluation &amp; CQU Scholarly Validation</a:t>
            </a:r>
            <a:endParaRPr/>
          </a:p>
        </p:txBody>
      </p:sp>
      <p:grpSp>
        <p:nvGrpSpPr>
          <p:cNvPr id="563" name="Google Shape;563;p18"/>
          <p:cNvGrpSpPr/>
          <p:nvPr/>
        </p:nvGrpSpPr>
        <p:grpSpPr>
          <a:xfrm>
            <a:off x="600075" y="1762125"/>
            <a:ext cx="5257800" cy="304800"/>
            <a:chOff x="0" y="0"/>
            <a:chExt cx="5257800" cy="304800"/>
          </a:xfrm>
        </p:grpSpPr>
        <p:sp>
          <p:nvSpPr>
            <p:cNvPr id="564" name="Google Shape;564;p18"/>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18"/>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GENERATIVE AI TOOL USAGE</a:t>
              </a:r>
              <a:endParaRPr b="1" sz="1000">
                <a:solidFill>
                  <a:srgbClr val="1E40AF"/>
                </a:solidFill>
                <a:latin typeface="Quattrocento Sans"/>
                <a:ea typeface="Quattrocento Sans"/>
                <a:cs typeface="Quattrocento Sans"/>
                <a:sym typeface="Quattrocento Sans"/>
              </a:endParaRPr>
            </a:p>
          </p:txBody>
        </p:sp>
      </p:grpSp>
      <p:grpSp>
        <p:nvGrpSpPr>
          <p:cNvPr id="566" name="Google Shape;566;p18"/>
          <p:cNvGrpSpPr/>
          <p:nvPr/>
        </p:nvGrpSpPr>
        <p:grpSpPr>
          <a:xfrm>
            <a:off x="600075" y="2162175"/>
            <a:ext cx="5257800" cy="904800"/>
            <a:chOff x="0" y="0"/>
            <a:chExt cx="5257800" cy="904800"/>
          </a:xfrm>
        </p:grpSpPr>
        <p:sp>
          <p:nvSpPr>
            <p:cNvPr id="567" name="Google Shape;567;p18"/>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8" name="Google Shape;568;p18"/>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9" name="Google Shape;569;p18"/>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smart_toy</a:t>
              </a:r>
              <a:endParaRPr sz="2000">
                <a:solidFill>
                  <a:srgbClr val="2563EB"/>
                </a:solidFill>
                <a:latin typeface="Material Icons"/>
                <a:ea typeface="Material Icons"/>
                <a:cs typeface="Material Icons"/>
                <a:sym typeface="Material Icons"/>
              </a:endParaRPr>
            </a:p>
          </p:txBody>
        </p:sp>
        <p:sp>
          <p:nvSpPr>
            <p:cNvPr id="570" name="Google Shape;570;p18"/>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AI Environment</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Google Gemini 3.8 / Antigravity Agentic Coding Assistant.</a:t>
              </a:r>
              <a:endParaRPr b="1" i="0" sz="1000" u="none" strike="noStrike">
                <a:solidFill>
                  <a:srgbClr val="2563EB"/>
                </a:solidFill>
                <a:latin typeface="Quattrocento Sans"/>
                <a:ea typeface="Quattrocento Sans"/>
                <a:cs typeface="Quattrocento Sans"/>
                <a:sym typeface="Quattrocento Sans"/>
              </a:endParaRPr>
            </a:p>
          </p:txBody>
        </p:sp>
      </p:grpSp>
      <p:grpSp>
        <p:nvGrpSpPr>
          <p:cNvPr id="571" name="Google Shape;571;p18"/>
          <p:cNvGrpSpPr/>
          <p:nvPr/>
        </p:nvGrpSpPr>
        <p:grpSpPr>
          <a:xfrm>
            <a:off x="600075" y="3514725"/>
            <a:ext cx="5257800" cy="904800"/>
            <a:chOff x="0" y="0"/>
            <a:chExt cx="5257800" cy="904800"/>
          </a:xfrm>
        </p:grpSpPr>
        <p:sp>
          <p:nvSpPr>
            <p:cNvPr id="572" name="Google Shape;572;p18"/>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18"/>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4" name="Google Shape;574;p18"/>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code</a:t>
              </a:r>
              <a:endParaRPr sz="2000">
                <a:solidFill>
                  <a:srgbClr val="2563EB"/>
                </a:solidFill>
                <a:latin typeface="Material Icons"/>
                <a:ea typeface="Material Icons"/>
                <a:cs typeface="Material Icons"/>
                <a:sym typeface="Material Icons"/>
              </a:endParaRPr>
            </a:p>
          </p:txBody>
        </p:sp>
        <p:sp>
          <p:nvSpPr>
            <p:cNvPr id="575" name="Google Shape;575;p18"/>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Assistance Scope</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Assisted in scaffolding repetitive Flutter widget templates, drafting OpenXML build scripts, and formatting PlantUML/Mermaid syntax.</a:t>
              </a:r>
              <a:endParaRPr b="1" i="0" sz="1000" u="none" strike="noStrike">
                <a:solidFill>
                  <a:srgbClr val="2563EB"/>
                </a:solidFill>
                <a:latin typeface="Quattrocento Sans"/>
                <a:ea typeface="Quattrocento Sans"/>
                <a:cs typeface="Quattrocento Sans"/>
                <a:sym typeface="Quattrocento Sans"/>
              </a:endParaRPr>
            </a:p>
          </p:txBody>
        </p:sp>
      </p:grpSp>
      <p:grpSp>
        <p:nvGrpSpPr>
          <p:cNvPr id="576" name="Google Shape;576;p18"/>
          <p:cNvGrpSpPr/>
          <p:nvPr/>
        </p:nvGrpSpPr>
        <p:grpSpPr>
          <a:xfrm>
            <a:off x="600075" y="4867275"/>
            <a:ext cx="5257800" cy="904800"/>
            <a:chOff x="0" y="0"/>
            <a:chExt cx="5257800" cy="904800"/>
          </a:xfrm>
        </p:grpSpPr>
        <p:sp>
          <p:nvSpPr>
            <p:cNvPr id="577" name="Google Shape;577;p18"/>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18"/>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18"/>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fact_check</a:t>
              </a:r>
              <a:endParaRPr sz="2000">
                <a:solidFill>
                  <a:srgbClr val="2563EB"/>
                </a:solidFill>
                <a:latin typeface="Material Icons"/>
                <a:ea typeface="Material Icons"/>
                <a:cs typeface="Material Icons"/>
                <a:sym typeface="Material Icons"/>
              </a:endParaRPr>
            </a:p>
          </p:txBody>
        </p:sp>
        <p:sp>
          <p:nvSpPr>
            <p:cNvPr id="580" name="Google Shape;580;p18"/>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Rubric Benchmarking</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Employed AI prompts to cross-examine screen designs against COIT20270 marking criteria.</a:t>
              </a:r>
              <a:endParaRPr b="1" i="0" sz="1000" u="none" strike="noStrike">
                <a:solidFill>
                  <a:srgbClr val="2563EB"/>
                </a:solidFill>
                <a:latin typeface="Quattrocento Sans"/>
                <a:ea typeface="Quattrocento Sans"/>
                <a:cs typeface="Quattrocento Sans"/>
                <a:sym typeface="Quattrocento Sans"/>
              </a:endParaRPr>
            </a:p>
          </p:txBody>
        </p:sp>
      </p:grpSp>
      <p:grpSp>
        <p:nvGrpSpPr>
          <p:cNvPr id="581" name="Google Shape;581;p18"/>
          <p:cNvGrpSpPr/>
          <p:nvPr/>
        </p:nvGrpSpPr>
        <p:grpSpPr>
          <a:xfrm>
            <a:off x="6334125" y="1762125"/>
            <a:ext cx="5257800" cy="304800"/>
            <a:chOff x="0" y="0"/>
            <a:chExt cx="5257800" cy="304800"/>
          </a:xfrm>
        </p:grpSpPr>
        <p:sp>
          <p:nvSpPr>
            <p:cNvPr id="582" name="Google Shape;582;p18"/>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18"/>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CRITICAL STUDENT EVALUATION &amp; ACCOUNTABILITY</a:t>
              </a:r>
              <a:endParaRPr b="1" sz="1000">
                <a:solidFill>
                  <a:srgbClr val="1E40AF"/>
                </a:solidFill>
                <a:latin typeface="Quattrocento Sans"/>
                <a:ea typeface="Quattrocento Sans"/>
                <a:cs typeface="Quattrocento Sans"/>
                <a:sym typeface="Quattrocento Sans"/>
              </a:endParaRPr>
            </a:p>
          </p:txBody>
        </p:sp>
      </p:grpSp>
      <p:grpSp>
        <p:nvGrpSpPr>
          <p:cNvPr id="584" name="Google Shape;584;p18"/>
          <p:cNvGrpSpPr/>
          <p:nvPr/>
        </p:nvGrpSpPr>
        <p:grpSpPr>
          <a:xfrm>
            <a:off x="6334125" y="2162175"/>
            <a:ext cx="5257800" cy="904800"/>
            <a:chOff x="0" y="0"/>
            <a:chExt cx="5257800" cy="904800"/>
          </a:xfrm>
        </p:grpSpPr>
        <p:sp>
          <p:nvSpPr>
            <p:cNvPr id="585" name="Google Shape;585;p18"/>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p18"/>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18"/>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verified</a:t>
              </a:r>
              <a:endParaRPr sz="2000">
                <a:solidFill>
                  <a:srgbClr val="2563EB"/>
                </a:solidFill>
                <a:latin typeface="Material Icons"/>
                <a:ea typeface="Material Icons"/>
                <a:cs typeface="Material Icons"/>
                <a:sym typeface="Material Icons"/>
              </a:endParaRPr>
            </a:p>
          </p:txBody>
        </p:sp>
        <p:sp>
          <p:nvSpPr>
            <p:cNvPr id="588" name="Google Shape;588;p18"/>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Manual Validation</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The student critically reviewed, debugged, and refined every line of generated Flutter code.</a:t>
              </a:r>
              <a:endParaRPr b="1" i="0" sz="1000" u="none" strike="noStrike">
                <a:solidFill>
                  <a:srgbClr val="2563EB"/>
                </a:solidFill>
                <a:latin typeface="Quattrocento Sans"/>
                <a:ea typeface="Quattrocento Sans"/>
                <a:cs typeface="Quattrocento Sans"/>
                <a:sym typeface="Quattrocento Sans"/>
              </a:endParaRPr>
            </a:p>
          </p:txBody>
        </p:sp>
      </p:grpSp>
      <p:grpSp>
        <p:nvGrpSpPr>
          <p:cNvPr id="589" name="Google Shape;589;p18"/>
          <p:cNvGrpSpPr/>
          <p:nvPr/>
        </p:nvGrpSpPr>
        <p:grpSpPr>
          <a:xfrm>
            <a:off x="6334125" y="3514725"/>
            <a:ext cx="5257800" cy="904800"/>
            <a:chOff x="0" y="0"/>
            <a:chExt cx="5257800" cy="904800"/>
          </a:xfrm>
        </p:grpSpPr>
        <p:sp>
          <p:nvSpPr>
            <p:cNvPr id="590" name="Google Shape;590;p18"/>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18"/>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2" name="Google Shape;592;p18"/>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menu_book</a:t>
              </a:r>
              <a:endParaRPr sz="2000">
                <a:solidFill>
                  <a:srgbClr val="2563EB"/>
                </a:solidFill>
                <a:latin typeface="Material Icons"/>
                <a:ea typeface="Material Icons"/>
                <a:cs typeface="Material Icons"/>
                <a:sym typeface="Material Icons"/>
              </a:endParaRPr>
            </a:p>
          </p:txBody>
        </p:sp>
        <p:sp>
          <p:nvSpPr>
            <p:cNvPr id="593" name="Google Shape;593;p18"/>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CQU Library Verification</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All 9 academic literature citations, page numbers, and verbatim quotes were verified using full-text CQU library articles.</a:t>
              </a:r>
              <a:endParaRPr b="1" i="0" sz="1000" u="none" strike="noStrike">
                <a:solidFill>
                  <a:srgbClr val="2563EB"/>
                </a:solidFill>
                <a:latin typeface="Quattrocento Sans"/>
                <a:ea typeface="Quattrocento Sans"/>
                <a:cs typeface="Quattrocento Sans"/>
                <a:sym typeface="Quattrocento Sans"/>
              </a:endParaRPr>
            </a:p>
          </p:txBody>
        </p:sp>
      </p:grpSp>
      <p:grpSp>
        <p:nvGrpSpPr>
          <p:cNvPr id="594" name="Google Shape;594;p18"/>
          <p:cNvGrpSpPr/>
          <p:nvPr/>
        </p:nvGrpSpPr>
        <p:grpSpPr>
          <a:xfrm>
            <a:off x="6334125" y="4867275"/>
            <a:ext cx="5257800" cy="904800"/>
            <a:chOff x="0" y="0"/>
            <a:chExt cx="5257800" cy="904800"/>
          </a:xfrm>
        </p:grpSpPr>
        <p:sp>
          <p:nvSpPr>
            <p:cNvPr id="595" name="Google Shape;595;p18"/>
            <p:cNvSpPr/>
            <p:nvPr/>
          </p:nvSpPr>
          <p:spPr>
            <a:xfrm>
              <a:off x="0" y="0"/>
              <a:ext cx="5257800" cy="904800"/>
            </a:xfrm>
            <a:prstGeom prst="roundRect">
              <a:avLst>
                <a:gd fmla="val 842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6" name="Google Shape;596;p18"/>
            <p:cNvSpPr/>
            <p:nvPr/>
          </p:nvSpPr>
          <p:spPr>
            <a:xfrm>
              <a:off x="133350" y="133350"/>
              <a:ext cx="400200" cy="400200"/>
            </a:xfrm>
            <a:prstGeom prst="roundRect">
              <a:avLst>
                <a:gd fmla="val 19047"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18"/>
            <p:cNvSpPr txBox="1"/>
            <p:nvPr/>
          </p:nvSpPr>
          <p:spPr>
            <a:xfrm>
              <a:off x="133350" y="162560"/>
              <a:ext cx="400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account_tree</a:t>
              </a:r>
              <a:endParaRPr sz="2000">
                <a:solidFill>
                  <a:srgbClr val="2563EB"/>
                </a:solidFill>
                <a:latin typeface="Material Icons"/>
                <a:ea typeface="Material Icons"/>
                <a:cs typeface="Material Icons"/>
                <a:sym typeface="Material Icons"/>
              </a:endParaRPr>
            </a:p>
          </p:txBody>
        </p:sp>
        <p:sp>
          <p:nvSpPr>
            <p:cNvPr id="598" name="Google Shape;598;p18"/>
            <p:cNvSpPr txBox="1"/>
            <p:nvPr/>
          </p:nvSpPr>
          <p:spPr>
            <a:xfrm>
              <a:off x="647700" y="133350"/>
              <a:ext cx="4476900" cy="676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00" u="none" strike="noStrike">
                  <a:solidFill>
                    <a:srgbClr val="2563EB"/>
                  </a:solidFill>
                  <a:latin typeface="Quattrocento Sans"/>
                  <a:ea typeface="Quattrocento Sans"/>
                  <a:cs typeface="Quattrocento Sans"/>
                  <a:sym typeface="Quattrocento Sans"/>
                </a:rPr>
                <a:t>Architectural Sovereignty</a:t>
              </a:r>
              <a:endParaRPr b="1" i="0" sz="1200" u="none" strike="noStrike">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i="0" lang="en-US" sz="1000" u="none" strike="noStrike">
                  <a:solidFill>
                    <a:srgbClr val="334155"/>
                  </a:solidFill>
                  <a:latin typeface="Quattrocento Sans"/>
                  <a:ea typeface="Quattrocento Sans"/>
                  <a:cs typeface="Quattrocento Sans"/>
                  <a:sym typeface="Quattrocento Sans"/>
                </a:rPr>
                <a:t>All user flows, design decisions, and persona alignments were conceived, guided, and validated by the student.</a:t>
              </a:r>
              <a:endParaRPr b="1" i="0" sz="1000" u="none" strike="noStrike">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9"/>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9"/>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SCHOLARLY LITERATURE &amp; RESEARCH SOURCES</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Scholarly References (APA 7th Edition)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Strictly 9 Peer-Reviewed Journal Articles Available Full-Text Online via the CQU Library</a:t>
            </a:r>
            <a:endParaRPr/>
          </a:p>
        </p:txBody>
      </p:sp>
      <p:grpSp>
        <p:nvGrpSpPr>
          <p:cNvPr id="605" name="Google Shape;605;p19"/>
          <p:cNvGrpSpPr/>
          <p:nvPr/>
        </p:nvGrpSpPr>
        <p:grpSpPr>
          <a:xfrm>
            <a:off x="600075" y="1762125"/>
            <a:ext cx="5257800" cy="304800"/>
            <a:chOff x="0" y="0"/>
            <a:chExt cx="5257800" cy="304800"/>
          </a:xfrm>
        </p:grpSpPr>
        <p:sp>
          <p:nvSpPr>
            <p:cNvPr id="606" name="Google Shape;606;p19"/>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19"/>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REFERENCES 1 TO 5 (APA 7TH)</a:t>
              </a:r>
              <a:endParaRPr b="1" sz="1000">
                <a:solidFill>
                  <a:srgbClr val="1E40AF"/>
                </a:solidFill>
                <a:latin typeface="Quattrocento Sans"/>
                <a:ea typeface="Quattrocento Sans"/>
                <a:cs typeface="Quattrocento Sans"/>
                <a:sym typeface="Quattrocento Sans"/>
              </a:endParaRPr>
            </a:p>
          </p:txBody>
        </p:sp>
      </p:grpSp>
      <p:grpSp>
        <p:nvGrpSpPr>
          <p:cNvPr id="608" name="Google Shape;608;p19"/>
          <p:cNvGrpSpPr/>
          <p:nvPr/>
        </p:nvGrpSpPr>
        <p:grpSpPr>
          <a:xfrm>
            <a:off x="600075" y="2143125"/>
            <a:ext cx="5257800" cy="705000"/>
            <a:chOff x="0" y="0"/>
            <a:chExt cx="5257800" cy="705000"/>
          </a:xfrm>
        </p:grpSpPr>
        <p:sp>
          <p:nvSpPr>
            <p:cNvPr id="609" name="Google Shape;609;p19"/>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1" name="Google Shape;611;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01</a:t>
              </a:r>
              <a:endParaRPr b="1" sz="1100">
                <a:solidFill>
                  <a:srgbClr val="2563EB"/>
                </a:solidFill>
                <a:latin typeface="Quattrocento Sans"/>
                <a:ea typeface="Quattrocento Sans"/>
                <a:cs typeface="Quattrocento Sans"/>
                <a:sym typeface="Quattrocento Sans"/>
              </a:endParaRPr>
            </a:p>
          </p:txBody>
        </p:sp>
        <p:sp>
          <p:nvSpPr>
            <p:cNvPr id="612" name="Google Shape;612;p19"/>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Dahiya et al. (2024)</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Security in mobile network: Issues, challenges, solutions. EAI Endorsed Trans. IoT, 10, e5.</a:t>
              </a:r>
              <a:endParaRPr b="0" sz="950">
                <a:solidFill>
                  <a:srgbClr val="334155"/>
                </a:solidFill>
                <a:latin typeface="Quattrocento Sans"/>
                <a:ea typeface="Quattrocento Sans"/>
                <a:cs typeface="Quattrocento Sans"/>
                <a:sym typeface="Quattrocento Sans"/>
              </a:endParaRPr>
            </a:p>
          </p:txBody>
        </p:sp>
      </p:grpSp>
      <p:grpSp>
        <p:nvGrpSpPr>
          <p:cNvPr id="613" name="Google Shape;613;p19"/>
          <p:cNvGrpSpPr/>
          <p:nvPr/>
        </p:nvGrpSpPr>
        <p:grpSpPr>
          <a:xfrm>
            <a:off x="600075" y="2924175"/>
            <a:ext cx="5257800" cy="705000"/>
            <a:chOff x="0" y="0"/>
            <a:chExt cx="5257800" cy="705000"/>
          </a:xfrm>
        </p:grpSpPr>
        <p:sp>
          <p:nvSpPr>
            <p:cNvPr id="614" name="Google Shape;614;p19"/>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02</a:t>
              </a:r>
              <a:endParaRPr b="1" sz="1100">
                <a:solidFill>
                  <a:srgbClr val="2563EB"/>
                </a:solidFill>
                <a:latin typeface="Quattrocento Sans"/>
                <a:ea typeface="Quattrocento Sans"/>
                <a:cs typeface="Quattrocento Sans"/>
                <a:sym typeface="Quattrocento Sans"/>
              </a:endParaRPr>
            </a:p>
          </p:txBody>
        </p:sp>
        <p:sp>
          <p:nvSpPr>
            <p:cNvPr id="617" name="Google Shape;617;p19"/>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Gatsou et al. (2011)</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Text vs visual metaphor in mobile interfaces for novice user interaction. Information Services &amp; Use, 31(4), 271–279.</a:t>
              </a:r>
              <a:endParaRPr b="0" sz="950">
                <a:solidFill>
                  <a:srgbClr val="334155"/>
                </a:solidFill>
                <a:latin typeface="Quattrocento Sans"/>
                <a:ea typeface="Quattrocento Sans"/>
                <a:cs typeface="Quattrocento Sans"/>
                <a:sym typeface="Quattrocento Sans"/>
              </a:endParaRPr>
            </a:p>
          </p:txBody>
        </p:sp>
      </p:grpSp>
      <p:grpSp>
        <p:nvGrpSpPr>
          <p:cNvPr id="618" name="Google Shape;618;p19"/>
          <p:cNvGrpSpPr/>
          <p:nvPr/>
        </p:nvGrpSpPr>
        <p:grpSpPr>
          <a:xfrm>
            <a:off x="600075" y="3705225"/>
            <a:ext cx="5257800" cy="705000"/>
            <a:chOff x="0" y="0"/>
            <a:chExt cx="5257800" cy="705000"/>
          </a:xfrm>
        </p:grpSpPr>
        <p:sp>
          <p:nvSpPr>
            <p:cNvPr id="619" name="Google Shape;619;p19"/>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1" name="Google Shape;621;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03</a:t>
              </a:r>
              <a:endParaRPr b="1" sz="1100">
                <a:solidFill>
                  <a:srgbClr val="2563EB"/>
                </a:solidFill>
                <a:latin typeface="Quattrocento Sans"/>
                <a:ea typeface="Quattrocento Sans"/>
                <a:cs typeface="Quattrocento Sans"/>
                <a:sym typeface="Quattrocento Sans"/>
              </a:endParaRPr>
            </a:p>
          </p:txBody>
        </p:sp>
        <p:sp>
          <p:nvSpPr>
            <p:cNvPr id="622" name="Google Shape;622;p19"/>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Ilany-Tzur &amp; Fink (2023)</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How is mobile task performance different? The case of information processing. Behaviour &amp; IT, 42(14), 2445–2460.</a:t>
              </a:r>
              <a:endParaRPr b="0" sz="950">
                <a:solidFill>
                  <a:srgbClr val="334155"/>
                </a:solidFill>
                <a:latin typeface="Quattrocento Sans"/>
                <a:ea typeface="Quattrocento Sans"/>
                <a:cs typeface="Quattrocento Sans"/>
                <a:sym typeface="Quattrocento Sans"/>
              </a:endParaRPr>
            </a:p>
          </p:txBody>
        </p:sp>
      </p:grpSp>
      <p:grpSp>
        <p:nvGrpSpPr>
          <p:cNvPr id="623" name="Google Shape;623;p19"/>
          <p:cNvGrpSpPr/>
          <p:nvPr/>
        </p:nvGrpSpPr>
        <p:grpSpPr>
          <a:xfrm>
            <a:off x="600075" y="4486275"/>
            <a:ext cx="5257800" cy="705000"/>
            <a:chOff x="0" y="0"/>
            <a:chExt cx="5257800" cy="705000"/>
          </a:xfrm>
        </p:grpSpPr>
        <p:sp>
          <p:nvSpPr>
            <p:cNvPr id="624" name="Google Shape;624;p19"/>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5" name="Google Shape;625;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6" name="Google Shape;626;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04</a:t>
              </a:r>
              <a:endParaRPr b="1" sz="1100">
                <a:solidFill>
                  <a:srgbClr val="2563EB"/>
                </a:solidFill>
                <a:latin typeface="Quattrocento Sans"/>
                <a:ea typeface="Quattrocento Sans"/>
                <a:cs typeface="Quattrocento Sans"/>
                <a:sym typeface="Quattrocento Sans"/>
              </a:endParaRPr>
            </a:p>
          </p:txBody>
        </p:sp>
        <p:sp>
          <p:nvSpPr>
            <p:cNvPr id="627" name="Google Shape;627;p19"/>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Jakob et al. (2022)</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Factors influencing adherence to mHealth apps. Journal of Medical Internet Research, 24(5), e36371.</a:t>
              </a:r>
              <a:endParaRPr b="0" sz="950">
                <a:solidFill>
                  <a:srgbClr val="334155"/>
                </a:solidFill>
                <a:latin typeface="Quattrocento Sans"/>
                <a:ea typeface="Quattrocento Sans"/>
                <a:cs typeface="Quattrocento Sans"/>
                <a:sym typeface="Quattrocento Sans"/>
              </a:endParaRPr>
            </a:p>
          </p:txBody>
        </p:sp>
      </p:grpSp>
      <p:grpSp>
        <p:nvGrpSpPr>
          <p:cNvPr id="628" name="Google Shape;628;p19"/>
          <p:cNvGrpSpPr/>
          <p:nvPr/>
        </p:nvGrpSpPr>
        <p:grpSpPr>
          <a:xfrm>
            <a:off x="600075" y="5267325"/>
            <a:ext cx="5257800" cy="705000"/>
            <a:chOff x="0" y="0"/>
            <a:chExt cx="5257800" cy="705000"/>
          </a:xfrm>
        </p:grpSpPr>
        <p:sp>
          <p:nvSpPr>
            <p:cNvPr id="629" name="Google Shape;629;p19"/>
            <p:cNvSpPr/>
            <p:nvPr/>
          </p:nvSpPr>
          <p:spPr>
            <a:xfrm>
              <a:off x="0" y="0"/>
              <a:ext cx="5257800" cy="705000"/>
            </a:xfrm>
            <a:prstGeom prst="roundRect">
              <a:avLst>
                <a:gd fmla="val 1081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0" name="Google Shape;630;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05</a:t>
              </a:r>
              <a:endParaRPr b="1" sz="1100">
                <a:solidFill>
                  <a:srgbClr val="2563EB"/>
                </a:solidFill>
                <a:latin typeface="Quattrocento Sans"/>
                <a:ea typeface="Quattrocento Sans"/>
                <a:cs typeface="Quattrocento Sans"/>
                <a:sym typeface="Quattrocento Sans"/>
              </a:endParaRPr>
            </a:p>
          </p:txBody>
        </p:sp>
        <p:sp>
          <p:nvSpPr>
            <p:cNvPr id="632" name="Google Shape;632;p19"/>
            <p:cNvSpPr txBox="1"/>
            <p:nvPr/>
          </p:nvSpPr>
          <p:spPr>
            <a:xfrm>
              <a:off x="552450" y="95250"/>
              <a:ext cx="4572000" cy="5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LaMonica et al. (2021)</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Privacy practices of health information technologies. Journal of Medical Internet Research, 23(9), e26317.</a:t>
              </a:r>
              <a:endParaRPr b="0" sz="950">
                <a:solidFill>
                  <a:srgbClr val="334155"/>
                </a:solidFill>
                <a:latin typeface="Quattrocento Sans"/>
                <a:ea typeface="Quattrocento Sans"/>
                <a:cs typeface="Quattrocento Sans"/>
                <a:sym typeface="Quattrocento Sans"/>
              </a:endParaRPr>
            </a:p>
          </p:txBody>
        </p:sp>
      </p:grpSp>
      <p:grpSp>
        <p:nvGrpSpPr>
          <p:cNvPr id="633" name="Google Shape;633;p19"/>
          <p:cNvGrpSpPr/>
          <p:nvPr/>
        </p:nvGrpSpPr>
        <p:grpSpPr>
          <a:xfrm>
            <a:off x="6334125" y="1762125"/>
            <a:ext cx="5257800" cy="304800"/>
            <a:chOff x="0" y="0"/>
            <a:chExt cx="5257800" cy="304800"/>
          </a:xfrm>
        </p:grpSpPr>
        <p:sp>
          <p:nvSpPr>
            <p:cNvPr id="634" name="Google Shape;634;p19"/>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19"/>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REFERENCES 6 TO 9 (APA 7TH)</a:t>
              </a:r>
              <a:endParaRPr b="1" sz="1000">
                <a:solidFill>
                  <a:srgbClr val="1E40AF"/>
                </a:solidFill>
                <a:latin typeface="Quattrocento Sans"/>
                <a:ea typeface="Quattrocento Sans"/>
                <a:cs typeface="Quattrocento Sans"/>
                <a:sym typeface="Quattrocento Sans"/>
              </a:endParaRPr>
            </a:p>
          </p:txBody>
        </p:sp>
      </p:grpSp>
      <p:grpSp>
        <p:nvGrpSpPr>
          <p:cNvPr id="636" name="Google Shape;636;p19"/>
          <p:cNvGrpSpPr/>
          <p:nvPr/>
        </p:nvGrpSpPr>
        <p:grpSpPr>
          <a:xfrm>
            <a:off x="6334125" y="2143125"/>
            <a:ext cx="5257800" cy="876300"/>
            <a:chOff x="0" y="0"/>
            <a:chExt cx="5257800" cy="876300"/>
          </a:xfrm>
        </p:grpSpPr>
        <p:sp>
          <p:nvSpPr>
            <p:cNvPr id="637" name="Google Shape;637;p19"/>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06</a:t>
              </a:r>
              <a:endParaRPr b="1" sz="1100">
                <a:solidFill>
                  <a:srgbClr val="2563EB"/>
                </a:solidFill>
                <a:latin typeface="Quattrocento Sans"/>
                <a:ea typeface="Quattrocento Sans"/>
                <a:cs typeface="Quattrocento Sans"/>
                <a:sym typeface="Quattrocento Sans"/>
              </a:endParaRPr>
            </a:p>
          </p:txBody>
        </p:sp>
        <p:sp>
          <p:nvSpPr>
            <p:cNvPr id="640" name="Google Shape;640;p19"/>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Li, Flatla, &amp; Arndt (2025)</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Divergent deceptions: Comparative analysis of deceptive patterns in iOS and Android apps. Behaviour &amp; IT, 44(2), 185–204.</a:t>
              </a:r>
              <a:endParaRPr b="0" sz="950">
                <a:solidFill>
                  <a:srgbClr val="334155"/>
                </a:solidFill>
                <a:latin typeface="Quattrocento Sans"/>
                <a:ea typeface="Quattrocento Sans"/>
                <a:cs typeface="Quattrocento Sans"/>
                <a:sym typeface="Quattrocento Sans"/>
              </a:endParaRPr>
            </a:p>
          </p:txBody>
        </p:sp>
      </p:grpSp>
      <p:grpSp>
        <p:nvGrpSpPr>
          <p:cNvPr id="641" name="Google Shape;641;p19"/>
          <p:cNvGrpSpPr/>
          <p:nvPr/>
        </p:nvGrpSpPr>
        <p:grpSpPr>
          <a:xfrm>
            <a:off x="6334125" y="3095625"/>
            <a:ext cx="5257800" cy="876300"/>
            <a:chOff x="0" y="0"/>
            <a:chExt cx="5257800" cy="876300"/>
          </a:xfrm>
        </p:grpSpPr>
        <p:sp>
          <p:nvSpPr>
            <p:cNvPr id="642" name="Google Shape;642;p19"/>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4" name="Google Shape;644;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07</a:t>
              </a:r>
              <a:endParaRPr b="1" sz="1100">
                <a:solidFill>
                  <a:srgbClr val="2563EB"/>
                </a:solidFill>
                <a:latin typeface="Quattrocento Sans"/>
                <a:ea typeface="Quattrocento Sans"/>
                <a:cs typeface="Quattrocento Sans"/>
                <a:sym typeface="Quattrocento Sans"/>
              </a:endParaRPr>
            </a:p>
          </p:txBody>
        </p:sp>
        <p:sp>
          <p:nvSpPr>
            <p:cNvPr id="645" name="Google Shape;645;p19"/>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Punsongserm &amp; Suvakunta (2025)</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Legibility of Thai typefaces and colour contrast in mobile applications. Journal of Graphic Engineering and Design, 16(1), 17–28.</a:t>
              </a:r>
              <a:endParaRPr b="0" sz="950">
                <a:solidFill>
                  <a:srgbClr val="334155"/>
                </a:solidFill>
                <a:latin typeface="Quattrocento Sans"/>
                <a:ea typeface="Quattrocento Sans"/>
                <a:cs typeface="Quattrocento Sans"/>
                <a:sym typeface="Quattrocento Sans"/>
              </a:endParaRPr>
            </a:p>
          </p:txBody>
        </p:sp>
      </p:grpSp>
      <p:grpSp>
        <p:nvGrpSpPr>
          <p:cNvPr id="646" name="Google Shape;646;p19"/>
          <p:cNvGrpSpPr/>
          <p:nvPr/>
        </p:nvGrpSpPr>
        <p:grpSpPr>
          <a:xfrm>
            <a:off x="6334125" y="4048125"/>
            <a:ext cx="5257800" cy="876300"/>
            <a:chOff x="0" y="0"/>
            <a:chExt cx="5257800" cy="876300"/>
          </a:xfrm>
        </p:grpSpPr>
        <p:sp>
          <p:nvSpPr>
            <p:cNvPr id="647" name="Google Shape;647;p19"/>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8" name="Google Shape;648;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9" name="Google Shape;649;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08</a:t>
              </a:r>
              <a:endParaRPr b="1" sz="1100">
                <a:solidFill>
                  <a:srgbClr val="2563EB"/>
                </a:solidFill>
                <a:latin typeface="Quattrocento Sans"/>
                <a:ea typeface="Quattrocento Sans"/>
                <a:cs typeface="Quattrocento Sans"/>
                <a:sym typeface="Quattrocento Sans"/>
              </a:endParaRPr>
            </a:p>
          </p:txBody>
        </p:sp>
        <p:sp>
          <p:nvSpPr>
            <p:cNvPr id="650" name="Google Shape;650;p19"/>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Wang &amp; Yu (2024)</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Art students' technostress, perceived usefulness, and continuance intention. SAGE Open, 14(3), 1–14.</a:t>
              </a:r>
              <a:endParaRPr b="0" sz="950">
                <a:solidFill>
                  <a:srgbClr val="334155"/>
                </a:solidFill>
                <a:latin typeface="Quattrocento Sans"/>
                <a:ea typeface="Quattrocento Sans"/>
                <a:cs typeface="Quattrocento Sans"/>
                <a:sym typeface="Quattrocento Sans"/>
              </a:endParaRPr>
            </a:p>
          </p:txBody>
        </p:sp>
      </p:grpSp>
      <p:grpSp>
        <p:nvGrpSpPr>
          <p:cNvPr id="651" name="Google Shape;651;p19"/>
          <p:cNvGrpSpPr/>
          <p:nvPr/>
        </p:nvGrpSpPr>
        <p:grpSpPr>
          <a:xfrm>
            <a:off x="6334125" y="5000625"/>
            <a:ext cx="5257800" cy="876300"/>
            <a:chOff x="0" y="0"/>
            <a:chExt cx="5257800" cy="876300"/>
          </a:xfrm>
        </p:grpSpPr>
        <p:sp>
          <p:nvSpPr>
            <p:cNvPr id="652" name="Google Shape;652;p19"/>
            <p:cNvSpPr/>
            <p:nvPr/>
          </p:nvSpPr>
          <p:spPr>
            <a:xfrm>
              <a:off x="0" y="0"/>
              <a:ext cx="5257800" cy="876300"/>
            </a:xfrm>
            <a:prstGeom prst="roundRect">
              <a:avLst>
                <a:gd fmla="val 8695"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3" name="Google Shape;653;p19"/>
            <p:cNvSpPr/>
            <p:nvPr/>
          </p:nvSpPr>
          <p:spPr>
            <a:xfrm>
              <a:off x="114300" y="114300"/>
              <a:ext cx="342900" cy="3429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4" name="Google Shape;654;p19"/>
            <p:cNvSpPr txBox="1"/>
            <p:nvPr/>
          </p:nvSpPr>
          <p:spPr>
            <a:xfrm>
              <a:off x="114300" y="114300"/>
              <a:ext cx="342900" cy="342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2563EB"/>
                  </a:solidFill>
                  <a:latin typeface="Quattrocento Sans"/>
                  <a:ea typeface="Quattrocento Sans"/>
                  <a:cs typeface="Quattrocento Sans"/>
                  <a:sym typeface="Quattrocento Sans"/>
                </a:rPr>
                <a:t>09</a:t>
              </a:r>
              <a:endParaRPr b="1" sz="1100">
                <a:solidFill>
                  <a:srgbClr val="2563EB"/>
                </a:solidFill>
                <a:latin typeface="Quattrocento Sans"/>
                <a:ea typeface="Quattrocento Sans"/>
                <a:cs typeface="Quattrocento Sans"/>
                <a:sym typeface="Quattrocento Sans"/>
              </a:endParaRPr>
            </a:p>
          </p:txBody>
        </p:sp>
        <p:sp>
          <p:nvSpPr>
            <p:cNvPr id="655" name="Google Shape;655;p19"/>
            <p:cNvSpPr txBox="1"/>
            <p:nvPr/>
          </p:nvSpPr>
          <p:spPr>
            <a:xfrm>
              <a:off x="552450" y="95250"/>
              <a:ext cx="45720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Zhao et al. (2024)</a:t>
              </a:r>
              <a:endParaRPr b="1"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950">
                  <a:solidFill>
                    <a:srgbClr val="334155"/>
                  </a:solidFill>
                  <a:latin typeface="Quattrocento Sans"/>
                  <a:ea typeface="Quattrocento Sans"/>
                  <a:cs typeface="Quattrocento Sans"/>
                  <a:sym typeface="Quattrocento Sans"/>
                </a:rPr>
                <a:t>Software project measurement based on the 5P model. Soft Computing, 28(3), 2083–2105.</a:t>
              </a:r>
              <a:endParaRPr b="0" sz="950">
                <a:solidFill>
                  <a:srgbClr val="334155"/>
                </a:solidFill>
                <a:latin typeface="Quattrocento Sans"/>
                <a:ea typeface="Quattrocento Sans"/>
                <a:cs typeface="Quattrocento Sans"/>
                <a:sym typeface="Quattrocento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20"/>
          <p:cNvSpPr/>
          <p:nvPr/>
        </p:nvSpPr>
        <p:spPr>
          <a:xfrm>
            <a:off x="0" y="0"/>
            <a:ext cx="12192000" cy="6858000"/>
          </a:xfrm>
          <a:prstGeom prst="roundRect">
            <a:avLst>
              <a:gd fmla="val 2000" name="adj"/>
            </a:avLst>
          </a:prstGeom>
          <a:solidFill>
            <a:srgbClr val="FA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600000" y="450000"/>
            <a:ext cx="11000100" cy="12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1100"/>
              <a:buFont typeface="Quattrocento Sans"/>
              <a:buNone/>
            </a:pPr>
            <a:r>
              <a:rPr b="1" i="0" lang="en-US" sz="1100" u="none" cap="none" strike="noStrike">
                <a:solidFill>
                  <a:srgbClr val="2563EB"/>
                </a:solidFill>
                <a:latin typeface="Quattrocento Sans"/>
                <a:ea typeface="Quattrocento Sans"/>
                <a:cs typeface="Quattrocento Sans"/>
                <a:sym typeface="Quattrocento Sans"/>
              </a:rPr>
              <a:t>SUBMISSION LINKS &amp; CONCLUSION</a:t>
            </a:r>
            <a:endParaRPr/>
          </a:p>
          <a:p>
            <a:pPr indent="0" lvl="0" marL="0" marR="0" rtl="0" algn="l">
              <a:spcBef>
                <a:spcPts val="30"/>
              </a:spcBef>
              <a:spcAft>
                <a:spcPts val="0"/>
              </a:spcAft>
              <a:buClr>
                <a:srgbClr val="0F172A"/>
              </a:buClr>
              <a:buSzPts val="2600"/>
              <a:buFont typeface="Quattrocento Sans"/>
              <a:buNone/>
            </a:pPr>
            <a:r>
              <a:rPr b="1" i="0" lang="en-US" sz="2600" u="none" cap="none" strike="noStrike">
                <a:solidFill>
                  <a:srgbClr val="0F172A"/>
                </a:solidFill>
                <a:latin typeface="Quattrocento Sans"/>
                <a:ea typeface="Quattrocento Sans"/>
                <a:cs typeface="Quattrocento Sans"/>
                <a:sym typeface="Quattrocento Sans"/>
              </a:rPr>
              <a:t>Submission Links &amp; Project Conclusion</a:t>
            </a:r>
            <a:endParaRPr/>
          </a:p>
          <a:p>
            <a:pPr indent="0" lvl="0" marL="0" marR="0" rtl="0" algn="l">
              <a:spcBef>
                <a:spcPts val="40"/>
              </a:spcBef>
              <a:spcAft>
                <a:spcPts val="0"/>
              </a:spcAft>
              <a:buClr>
                <a:srgbClr val="475569"/>
              </a:buClr>
              <a:buSzPts val="1300"/>
              <a:buFont typeface="Quattrocento Sans"/>
              <a:buNone/>
            </a:pPr>
            <a:r>
              <a:rPr b="0" i="0" lang="en-US" sz="1300" u="none" cap="none" strike="noStrike">
                <a:solidFill>
                  <a:srgbClr val="475569"/>
                </a:solidFill>
                <a:latin typeface="Quattrocento Sans"/>
                <a:ea typeface="Quattrocento Sans"/>
                <a:cs typeface="Quattrocento Sans"/>
                <a:sym typeface="Quattrocento Sans"/>
              </a:rPr>
              <a:t>Complete Working Prototype, Source Repository &amp; Video Presentation Package</a:t>
            </a:r>
            <a:endParaRPr/>
          </a:p>
        </p:txBody>
      </p:sp>
      <p:grpSp>
        <p:nvGrpSpPr>
          <p:cNvPr id="662" name="Google Shape;662;p20"/>
          <p:cNvGrpSpPr/>
          <p:nvPr/>
        </p:nvGrpSpPr>
        <p:grpSpPr>
          <a:xfrm>
            <a:off x="600075" y="1762125"/>
            <a:ext cx="5257800" cy="304800"/>
            <a:chOff x="0" y="0"/>
            <a:chExt cx="5257800" cy="304800"/>
          </a:xfrm>
        </p:grpSpPr>
        <p:sp>
          <p:nvSpPr>
            <p:cNvPr id="663" name="Google Shape;663;p20"/>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4" name="Google Shape;664;p20"/>
            <p:cNvGrpSpPr/>
            <p:nvPr/>
          </p:nvGrpSpPr>
          <p:grpSpPr>
            <a:xfrm>
              <a:off x="114300" y="0"/>
              <a:ext cx="5029200" cy="304800"/>
              <a:chOff x="114300" y="0"/>
              <a:chExt cx="5029200" cy="304800"/>
            </a:xfrm>
          </p:grpSpPr>
          <p:sp>
            <p:nvSpPr>
              <p:cNvPr id="665" name="Google Shape;665;p20"/>
              <p:cNvSpPr/>
              <p:nvPr/>
            </p:nvSpPr>
            <p:spPr>
              <a:xfrm>
                <a:off x="114300" y="0"/>
                <a:ext cx="5029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6" name="Google Shape;666;p20"/>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01 / PROJECT SUBMISSION ARTIFACTS</a:t>
                </a:r>
                <a:endParaRPr b="1" sz="1000">
                  <a:solidFill>
                    <a:srgbClr val="1E40AF"/>
                  </a:solidFill>
                  <a:latin typeface="Quattrocento Sans"/>
                  <a:ea typeface="Quattrocento Sans"/>
                  <a:cs typeface="Quattrocento Sans"/>
                  <a:sym typeface="Quattrocento Sans"/>
                </a:endParaRPr>
              </a:p>
            </p:txBody>
          </p:sp>
        </p:grpSp>
      </p:grpSp>
      <p:grpSp>
        <p:nvGrpSpPr>
          <p:cNvPr id="667" name="Google Shape;667;p20"/>
          <p:cNvGrpSpPr/>
          <p:nvPr/>
        </p:nvGrpSpPr>
        <p:grpSpPr>
          <a:xfrm>
            <a:off x="600075" y="2162175"/>
            <a:ext cx="5257800" cy="876300"/>
            <a:chOff x="0" y="0"/>
            <a:chExt cx="5257800" cy="876300"/>
          </a:xfrm>
        </p:grpSpPr>
        <p:sp>
          <p:nvSpPr>
            <p:cNvPr id="668" name="Google Shape;668;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9" name="Google Shape;669;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0" name="Google Shape;670;p20"/>
            <p:cNvGrpSpPr/>
            <p:nvPr/>
          </p:nvGrpSpPr>
          <p:grpSpPr>
            <a:xfrm>
              <a:off x="114300" y="159639"/>
              <a:ext cx="362100" cy="388389"/>
              <a:chOff x="0" y="0"/>
              <a:chExt cx="362100" cy="388389"/>
            </a:xfrm>
          </p:grpSpPr>
          <p:sp>
            <p:nvSpPr>
              <p:cNvPr id="671" name="Google Shape;671;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2" name="Google Shape;672;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code</a:t>
                </a:r>
                <a:endParaRPr b="0" sz="1800">
                  <a:solidFill>
                    <a:srgbClr val="2563EB"/>
                  </a:solidFill>
                  <a:latin typeface="Material Icons"/>
                  <a:ea typeface="Material Icons"/>
                  <a:cs typeface="Material Icons"/>
                  <a:sym typeface="Material Icons"/>
                </a:endParaRPr>
              </a:p>
            </p:txBody>
          </p:sp>
        </p:grpSp>
        <p:grpSp>
          <p:nvGrpSpPr>
            <p:cNvPr id="673" name="Google Shape;673;p20"/>
            <p:cNvGrpSpPr/>
            <p:nvPr/>
          </p:nvGrpSpPr>
          <p:grpSpPr>
            <a:xfrm>
              <a:off x="571500" y="76200"/>
              <a:ext cx="4572000" cy="800100"/>
              <a:chOff x="0" y="0"/>
              <a:chExt cx="4572000" cy="800100"/>
            </a:xfrm>
          </p:grpSpPr>
          <p:sp>
            <p:nvSpPr>
              <p:cNvPr id="674" name="Google Shape;674;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5" name="Google Shape;675;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DartPad Executable App</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https://dartpad.dev (Paste single-file main.dart and run instantly).</a:t>
                </a:r>
                <a:endParaRPr b="1" i="0" sz="950">
                  <a:solidFill>
                    <a:srgbClr val="2563EB"/>
                  </a:solidFill>
                  <a:latin typeface="Quattrocento Sans"/>
                  <a:ea typeface="Quattrocento Sans"/>
                  <a:cs typeface="Quattrocento Sans"/>
                  <a:sym typeface="Quattrocento Sans"/>
                </a:endParaRPr>
              </a:p>
            </p:txBody>
          </p:sp>
        </p:grpSp>
      </p:grpSp>
      <p:grpSp>
        <p:nvGrpSpPr>
          <p:cNvPr id="676" name="Google Shape;676;p20"/>
          <p:cNvGrpSpPr/>
          <p:nvPr/>
        </p:nvGrpSpPr>
        <p:grpSpPr>
          <a:xfrm>
            <a:off x="600075" y="3228975"/>
            <a:ext cx="5257800" cy="876300"/>
            <a:chOff x="0" y="0"/>
            <a:chExt cx="5257800" cy="876300"/>
          </a:xfrm>
        </p:grpSpPr>
        <p:sp>
          <p:nvSpPr>
            <p:cNvPr id="677" name="Google Shape;677;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79" name="Google Shape;679;p20"/>
            <p:cNvGrpSpPr/>
            <p:nvPr/>
          </p:nvGrpSpPr>
          <p:grpSpPr>
            <a:xfrm>
              <a:off x="114300" y="159639"/>
              <a:ext cx="362100" cy="388389"/>
              <a:chOff x="0" y="0"/>
              <a:chExt cx="362100" cy="388389"/>
            </a:xfrm>
          </p:grpSpPr>
          <p:sp>
            <p:nvSpPr>
              <p:cNvPr id="680" name="Google Shape;680;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1" name="Google Shape;681;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folder_open</a:t>
                </a:r>
                <a:endParaRPr b="0" sz="1800">
                  <a:solidFill>
                    <a:srgbClr val="2563EB"/>
                  </a:solidFill>
                  <a:latin typeface="Material Icons"/>
                  <a:ea typeface="Material Icons"/>
                  <a:cs typeface="Material Icons"/>
                  <a:sym typeface="Material Icons"/>
                </a:endParaRPr>
              </a:p>
            </p:txBody>
          </p:sp>
        </p:grpSp>
        <p:grpSp>
          <p:nvGrpSpPr>
            <p:cNvPr id="682" name="Google Shape;682;p20"/>
            <p:cNvGrpSpPr/>
            <p:nvPr/>
          </p:nvGrpSpPr>
          <p:grpSpPr>
            <a:xfrm>
              <a:off x="571500" y="76200"/>
              <a:ext cx="4572000" cy="800100"/>
              <a:chOff x="0" y="0"/>
              <a:chExt cx="4572000" cy="800100"/>
            </a:xfrm>
          </p:grpSpPr>
          <p:sp>
            <p:nvSpPr>
              <p:cNvPr id="683" name="Google Shape;683;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Private GitHub Repository</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Shared with Unit Coordinator &amp; Tutor (Full git history &amp; documentation).</a:t>
                </a:r>
                <a:endParaRPr b="1" i="0" sz="950">
                  <a:solidFill>
                    <a:srgbClr val="2563EB"/>
                  </a:solidFill>
                  <a:latin typeface="Quattrocento Sans"/>
                  <a:ea typeface="Quattrocento Sans"/>
                  <a:cs typeface="Quattrocento Sans"/>
                  <a:sym typeface="Quattrocento Sans"/>
                </a:endParaRPr>
              </a:p>
            </p:txBody>
          </p:sp>
        </p:grpSp>
      </p:grpSp>
      <p:grpSp>
        <p:nvGrpSpPr>
          <p:cNvPr id="685" name="Google Shape;685;p20"/>
          <p:cNvGrpSpPr/>
          <p:nvPr/>
        </p:nvGrpSpPr>
        <p:grpSpPr>
          <a:xfrm>
            <a:off x="600075" y="4295775"/>
            <a:ext cx="5257800" cy="876300"/>
            <a:chOff x="0" y="0"/>
            <a:chExt cx="5257800" cy="876300"/>
          </a:xfrm>
        </p:grpSpPr>
        <p:sp>
          <p:nvSpPr>
            <p:cNvPr id="686" name="Google Shape;686;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7" name="Google Shape;687;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88" name="Google Shape;688;p20"/>
            <p:cNvGrpSpPr/>
            <p:nvPr/>
          </p:nvGrpSpPr>
          <p:grpSpPr>
            <a:xfrm>
              <a:off x="114300" y="159639"/>
              <a:ext cx="362100" cy="388389"/>
              <a:chOff x="0" y="0"/>
              <a:chExt cx="362100" cy="388389"/>
            </a:xfrm>
          </p:grpSpPr>
          <p:sp>
            <p:nvSpPr>
              <p:cNvPr id="689" name="Google Shape;689;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0" name="Google Shape;690;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slideshow</a:t>
                </a:r>
                <a:endParaRPr b="0" sz="1800">
                  <a:solidFill>
                    <a:srgbClr val="2563EB"/>
                  </a:solidFill>
                  <a:latin typeface="Material Icons"/>
                  <a:ea typeface="Material Icons"/>
                  <a:cs typeface="Material Icons"/>
                  <a:sym typeface="Material Icons"/>
                </a:endParaRPr>
              </a:p>
            </p:txBody>
          </p:sp>
        </p:grpSp>
        <p:grpSp>
          <p:nvGrpSpPr>
            <p:cNvPr id="691" name="Google Shape;691;p20"/>
            <p:cNvGrpSpPr/>
            <p:nvPr/>
          </p:nvGrpSpPr>
          <p:grpSpPr>
            <a:xfrm>
              <a:off x="571500" y="76200"/>
              <a:ext cx="4572000" cy="800100"/>
              <a:chOff x="0" y="0"/>
              <a:chExt cx="4572000" cy="800100"/>
            </a:xfrm>
          </p:grpSpPr>
          <p:sp>
            <p:nvSpPr>
              <p:cNvPr id="692" name="Google Shape;692;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3" name="Google Shape;693;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Presentation Slides</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Assignment2_slides.pptx (and Assignment2_Presentation_Deck.pptx) with full notes &amp; citations.</a:t>
                </a:r>
                <a:endParaRPr b="1" i="0" sz="950">
                  <a:solidFill>
                    <a:srgbClr val="2563EB"/>
                  </a:solidFill>
                  <a:latin typeface="Quattrocento Sans"/>
                  <a:ea typeface="Quattrocento Sans"/>
                  <a:cs typeface="Quattrocento Sans"/>
                  <a:sym typeface="Quattrocento Sans"/>
                </a:endParaRPr>
              </a:p>
            </p:txBody>
          </p:sp>
        </p:grpSp>
      </p:grpSp>
      <p:grpSp>
        <p:nvGrpSpPr>
          <p:cNvPr id="694" name="Google Shape;694;p20"/>
          <p:cNvGrpSpPr/>
          <p:nvPr/>
        </p:nvGrpSpPr>
        <p:grpSpPr>
          <a:xfrm>
            <a:off x="600075" y="5362575"/>
            <a:ext cx="5257800" cy="876300"/>
            <a:chOff x="0" y="0"/>
            <a:chExt cx="5257800" cy="876300"/>
          </a:xfrm>
        </p:grpSpPr>
        <p:sp>
          <p:nvSpPr>
            <p:cNvPr id="695" name="Google Shape;695;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97" name="Google Shape;697;p20"/>
            <p:cNvGrpSpPr/>
            <p:nvPr/>
          </p:nvGrpSpPr>
          <p:grpSpPr>
            <a:xfrm>
              <a:off x="114300" y="159639"/>
              <a:ext cx="362100" cy="388389"/>
              <a:chOff x="0" y="0"/>
              <a:chExt cx="362100" cy="388389"/>
            </a:xfrm>
          </p:grpSpPr>
          <p:sp>
            <p:nvSpPr>
              <p:cNvPr id="698" name="Google Shape;698;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9" name="Google Shape;699;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videocam</a:t>
                </a:r>
                <a:endParaRPr b="0" sz="1800">
                  <a:solidFill>
                    <a:srgbClr val="2563EB"/>
                  </a:solidFill>
                  <a:latin typeface="Material Icons"/>
                  <a:ea typeface="Material Icons"/>
                  <a:cs typeface="Material Icons"/>
                  <a:sym typeface="Material Icons"/>
                </a:endParaRPr>
              </a:p>
            </p:txBody>
          </p:sp>
        </p:grpSp>
        <p:grpSp>
          <p:nvGrpSpPr>
            <p:cNvPr id="700" name="Google Shape;700;p20"/>
            <p:cNvGrpSpPr/>
            <p:nvPr/>
          </p:nvGrpSpPr>
          <p:grpSpPr>
            <a:xfrm>
              <a:off x="571500" y="76200"/>
              <a:ext cx="4572000" cy="800100"/>
              <a:chOff x="0" y="0"/>
              <a:chExt cx="4572000" cy="800100"/>
            </a:xfrm>
          </p:grpSpPr>
          <p:sp>
            <p:nvSpPr>
              <p:cNvPr id="701" name="Google Shape;701;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10-Minute Video Link</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CQU OneDrive shared video link embedded in submission portal.</a:t>
                </a:r>
                <a:endParaRPr b="1" i="0" sz="950">
                  <a:solidFill>
                    <a:srgbClr val="2563EB"/>
                  </a:solidFill>
                  <a:latin typeface="Quattrocento Sans"/>
                  <a:ea typeface="Quattrocento Sans"/>
                  <a:cs typeface="Quattrocento Sans"/>
                  <a:sym typeface="Quattrocento Sans"/>
                </a:endParaRPr>
              </a:p>
            </p:txBody>
          </p:sp>
        </p:grpSp>
      </p:grpSp>
      <p:grpSp>
        <p:nvGrpSpPr>
          <p:cNvPr id="703" name="Google Shape;703;p20"/>
          <p:cNvGrpSpPr/>
          <p:nvPr/>
        </p:nvGrpSpPr>
        <p:grpSpPr>
          <a:xfrm>
            <a:off x="6334125" y="1762125"/>
            <a:ext cx="5257800" cy="304800"/>
            <a:chOff x="0" y="0"/>
            <a:chExt cx="5257800" cy="304800"/>
          </a:xfrm>
        </p:grpSpPr>
        <p:sp>
          <p:nvSpPr>
            <p:cNvPr id="704" name="Google Shape;704;p20"/>
            <p:cNvSpPr/>
            <p:nvPr/>
          </p:nvSpPr>
          <p:spPr>
            <a:xfrm>
              <a:off x="0" y="0"/>
              <a:ext cx="5257800" cy="304800"/>
            </a:xfrm>
            <a:prstGeom prst="roundRect">
              <a:avLst>
                <a:gd fmla="val 1875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05" name="Google Shape;705;p20"/>
            <p:cNvGrpSpPr/>
            <p:nvPr/>
          </p:nvGrpSpPr>
          <p:grpSpPr>
            <a:xfrm>
              <a:off x="114300" y="0"/>
              <a:ext cx="5029200" cy="304800"/>
              <a:chOff x="114300" y="0"/>
              <a:chExt cx="5029200" cy="304800"/>
            </a:xfrm>
          </p:grpSpPr>
          <p:sp>
            <p:nvSpPr>
              <p:cNvPr id="706" name="Google Shape;706;p20"/>
              <p:cNvSpPr/>
              <p:nvPr/>
            </p:nvSpPr>
            <p:spPr>
              <a:xfrm>
                <a:off x="114300" y="0"/>
                <a:ext cx="5029200" cy="3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7" name="Google Shape;707;p20"/>
              <p:cNvSpPr txBox="1"/>
              <p:nvPr/>
            </p:nvSpPr>
            <p:spPr>
              <a:xfrm>
                <a:off x="114300" y="0"/>
                <a:ext cx="5029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02 / CORE ACHIEVEMENT SUMMARY</a:t>
                </a:r>
                <a:endParaRPr b="1" sz="1000">
                  <a:solidFill>
                    <a:srgbClr val="1E40AF"/>
                  </a:solidFill>
                  <a:latin typeface="Quattrocento Sans"/>
                  <a:ea typeface="Quattrocento Sans"/>
                  <a:cs typeface="Quattrocento Sans"/>
                  <a:sym typeface="Quattrocento Sans"/>
                </a:endParaRPr>
              </a:p>
            </p:txBody>
          </p:sp>
        </p:grpSp>
      </p:grpSp>
      <p:grpSp>
        <p:nvGrpSpPr>
          <p:cNvPr id="708" name="Google Shape;708;p20"/>
          <p:cNvGrpSpPr/>
          <p:nvPr/>
        </p:nvGrpSpPr>
        <p:grpSpPr>
          <a:xfrm>
            <a:off x="6334125" y="2162175"/>
            <a:ext cx="5257800" cy="876300"/>
            <a:chOff x="0" y="0"/>
            <a:chExt cx="5257800" cy="876300"/>
          </a:xfrm>
        </p:grpSpPr>
        <p:sp>
          <p:nvSpPr>
            <p:cNvPr id="709" name="Google Shape;709;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11" name="Google Shape;711;p20"/>
            <p:cNvGrpSpPr/>
            <p:nvPr/>
          </p:nvGrpSpPr>
          <p:grpSpPr>
            <a:xfrm>
              <a:off x="114300" y="159639"/>
              <a:ext cx="362100" cy="388389"/>
              <a:chOff x="0" y="0"/>
              <a:chExt cx="362100" cy="388389"/>
            </a:xfrm>
          </p:grpSpPr>
          <p:sp>
            <p:nvSpPr>
              <p:cNvPr id="712" name="Google Shape;712;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verified</a:t>
                </a:r>
                <a:endParaRPr b="0" sz="1800">
                  <a:solidFill>
                    <a:srgbClr val="2563EB"/>
                  </a:solidFill>
                  <a:latin typeface="Material Icons"/>
                  <a:ea typeface="Material Icons"/>
                  <a:cs typeface="Material Icons"/>
                  <a:sym typeface="Material Icons"/>
                </a:endParaRPr>
              </a:p>
            </p:txBody>
          </p:sp>
        </p:grpSp>
        <p:grpSp>
          <p:nvGrpSpPr>
            <p:cNvPr id="714" name="Google Shape;714;p20"/>
            <p:cNvGrpSpPr/>
            <p:nvPr/>
          </p:nvGrpSpPr>
          <p:grpSpPr>
            <a:xfrm>
              <a:off x="571500" y="76200"/>
              <a:ext cx="4572000" cy="800100"/>
              <a:chOff x="0" y="0"/>
              <a:chExt cx="4572000" cy="800100"/>
            </a:xfrm>
          </p:grpSpPr>
          <p:sp>
            <p:nvSpPr>
              <p:cNvPr id="715" name="Google Shape;715;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6" name="Google Shape;716;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100% Rubric Compliance</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Fully operational 11-screen prototype mapped to all 3 Activity Diagrams.</a:t>
                </a:r>
                <a:endParaRPr b="1" i="0" sz="950">
                  <a:solidFill>
                    <a:srgbClr val="2563EB"/>
                  </a:solidFill>
                  <a:latin typeface="Quattrocento Sans"/>
                  <a:ea typeface="Quattrocento Sans"/>
                  <a:cs typeface="Quattrocento Sans"/>
                  <a:sym typeface="Quattrocento Sans"/>
                </a:endParaRPr>
              </a:p>
            </p:txBody>
          </p:sp>
        </p:grpSp>
      </p:grpSp>
      <p:grpSp>
        <p:nvGrpSpPr>
          <p:cNvPr id="717" name="Google Shape;717;p20"/>
          <p:cNvGrpSpPr/>
          <p:nvPr/>
        </p:nvGrpSpPr>
        <p:grpSpPr>
          <a:xfrm>
            <a:off x="6334125" y="3228975"/>
            <a:ext cx="5257800" cy="876300"/>
            <a:chOff x="0" y="0"/>
            <a:chExt cx="5257800" cy="876300"/>
          </a:xfrm>
        </p:grpSpPr>
        <p:sp>
          <p:nvSpPr>
            <p:cNvPr id="718" name="Google Shape;718;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20" name="Google Shape;720;p20"/>
            <p:cNvGrpSpPr/>
            <p:nvPr/>
          </p:nvGrpSpPr>
          <p:grpSpPr>
            <a:xfrm>
              <a:off x="114300" y="159639"/>
              <a:ext cx="362100" cy="388389"/>
              <a:chOff x="0" y="0"/>
              <a:chExt cx="362100" cy="388389"/>
            </a:xfrm>
          </p:grpSpPr>
          <p:sp>
            <p:nvSpPr>
              <p:cNvPr id="721" name="Google Shape;721;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2" name="Google Shape;722;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palette</a:t>
                </a:r>
                <a:endParaRPr b="0" sz="1800">
                  <a:solidFill>
                    <a:srgbClr val="2563EB"/>
                  </a:solidFill>
                  <a:latin typeface="Material Icons"/>
                  <a:ea typeface="Material Icons"/>
                  <a:cs typeface="Material Icons"/>
                  <a:sym typeface="Material Icons"/>
                </a:endParaRPr>
              </a:p>
            </p:txBody>
          </p:sp>
        </p:grpSp>
        <p:grpSp>
          <p:nvGrpSpPr>
            <p:cNvPr id="723" name="Google Shape;723;p20"/>
            <p:cNvGrpSpPr/>
            <p:nvPr/>
          </p:nvGrpSpPr>
          <p:grpSpPr>
            <a:xfrm>
              <a:off x="571500" y="76200"/>
              <a:ext cx="4572000" cy="800100"/>
              <a:chOff x="0" y="0"/>
              <a:chExt cx="4572000" cy="800100"/>
            </a:xfrm>
          </p:grpSpPr>
          <p:sp>
            <p:nvSpPr>
              <p:cNvPr id="724" name="Google Shape;724;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5" name="Google Shape;725;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Material 3 Adherence</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Canonical layouts, responsive breakpoints, high-contrast aesthetics.</a:t>
                </a:r>
                <a:endParaRPr b="1" i="0" sz="950">
                  <a:solidFill>
                    <a:srgbClr val="2563EB"/>
                  </a:solidFill>
                  <a:latin typeface="Quattrocento Sans"/>
                  <a:ea typeface="Quattrocento Sans"/>
                  <a:cs typeface="Quattrocento Sans"/>
                  <a:sym typeface="Quattrocento Sans"/>
                </a:endParaRPr>
              </a:p>
            </p:txBody>
          </p:sp>
        </p:grpSp>
      </p:grpSp>
      <p:grpSp>
        <p:nvGrpSpPr>
          <p:cNvPr id="726" name="Google Shape;726;p20"/>
          <p:cNvGrpSpPr/>
          <p:nvPr/>
        </p:nvGrpSpPr>
        <p:grpSpPr>
          <a:xfrm>
            <a:off x="6334125" y="4295775"/>
            <a:ext cx="5257800" cy="876300"/>
            <a:chOff x="0" y="0"/>
            <a:chExt cx="5257800" cy="876300"/>
          </a:xfrm>
        </p:grpSpPr>
        <p:sp>
          <p:nvSpPr>
            <p:cNvPr id="727" name="Google Shape;727;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29" name="Google Shape;729;p20"/>
            <p:cNvGrpSpPr/>
            <p:nvPr/>
          </p:nvGrpSpPr>
          <p:grpSpPr>
            <a:xfrm>
              <a:off x="114300" y="159639"/>
              <a:ext cx="362100" cy="388389"/>
              <a:chOff x="0" y="0"/>
              <a:chExt cx="362100" cy="388389"/>
            </a:xfrm>
          </p:grpSpPr>
          <p:sp>
            <p:nvSpPr>
              <p:cNvPr id="730" name="Google Shape;730;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1" name="Google Shape;731;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psychology</a:t>
                </a:r>
                <a:endParaRPr b="0" sz="1800">
                  <a:solidFill>
                    <a:srgbClr val="2563EB"/>
                  </a:solidFill>
                  <a:latin typeface="Material Icons"/>
                  <a:ea typeface="Material Icons"/>
                  <a:cs typeface="Material Icons"/>
                  <a:sym typeface="Material Icons"/>
                </a:endParaRPr>
              </a:p>
            </p:txBody>
          </p:sp>
        </p:grpSp>
        <p:grpSp>
          <p:nvGrpSpPr>
            <p:cNvPr id="732" name="Google Shape;732;p20"/>
            <p:cNvGrpSpPr/>
            <p:nvPr/>
          </p:nvGrpSpPr>
          <p:grpSpPr>
            <a:xfrm>
              <a:off x="571500" y="76200"/>
              <a:ext cx="4572000" cy="800100"/>
              <a:chOff x="0" y="0"/>
              <a:chExt cx="4572000" cy="800100"/>
            </a:xfrm>
          </p:grpSpPr>
          <p:sp>
            <p:nvSpPr>
              <p:cNvPr id="733" name="Google Shape;733;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Empirical HCD Grounding</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Directly solves Founder Fred's post-deposit transparency anxieties.</a:t>
                </a:r>
                <a:endParaRPr b="1" i="0" sz="950">
                  <a:solidFill>
                    <a:srgbClr val="2563EB"/>
                  </a:solidFill>
                  <a:latin typeface="Quattrocento Sans"/>
                  <a:ea typeface="Quattrocento Sans"/>
                  <a:cs typeface="Quattrocento Sans"/>
                  <a:sym typeface="Quattrocento Sans"/>
                </a:endParaRPr>
              </a:p>
            </p:txBody>
          </p:sp>
        </p:grpSp>
      </p:grpSp>
      <p:grpSp>
        <p:nvGrpSpPr>
          <p:cNvPr id="735" name="Google Shape;735;p20"/>
          <p:cNvGrpSpPr/>
          <p:nvPr/>
        </p:nvGrpSpPr>
        <p:grpSpPr>
          <a:xfrm>
            <a:off x="6334125" y="5362575"/>
            <a:ext cx="5257800" cy="876300"/>
            <a:chOff x="0" y="0"/>
            <a:chExt cx="5257800" cy="876300"/>
          </a:xfrm>
        </p:grpSpPr>
        <p:sp>
          <p:nvSpPr>
            <p:cNvPr id="736" name="Google Shape;736;p20"/>
            <p:cNvSpPr/>
            <p:nvPr/>
          </p:nvSpPr>
          <p:spPr>
            <a:xfrm>
              <a:off x="0" y="0"/>
              <a:ext cx="5257800" cy="762000"/>
            </a:xfrm>
            <a:prstGeom prst="roundRect">
              <a:avLst>
                <a:gd fmla="val 1000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7" name="Google Shape;737;p20"/>
            <p:cNvSpPr/>
            <p:nvPr/>
          </p:nvSpPr>
          <p:spPr>
            <a:xfrm>
              <a:off x="114300" y="133350"/>
              <a:ext cx="362100" cy="362100"/>
            </a:xfrm>
            <a:prstGeom prst="roundRect">
              <a:avLst>
                <a:gd fmla="val 15789"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38" name="Google Shape;738;p20"/>
            <p:cNvGrpSpPr/>
            <p:nvPr/>
          </p:nvGrpSpPr>
          <p:grpSpPr>
            <a:xfrm>
              <a:off x="114300" y="159639"/>
              <a:ext cx="362100" cy="388389"/>
              <a:chOff x="0" y="0"/>
              <a:chExt cx="362100" cy="388389"/>
            </a:xfrm>
          </p:grpSpPr>
          <p:sp>
            <p:nvSpPr>
              <p:cNvPr id="739" name="Google Shape;739;p20"/>
              <p:cNvSpPr/>
              <p:nvPr/>
            </p:nvSpPr>
            <p:spPr>
              <a:xfrm>
                <a:off x="0" y="0"/>
                <a:ext cx="362100" cy="362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0" name="Google Shape;740;p20"/>
              <p:cNvSpPr txBox="1"/>
              <p:nvPr/>
            </p:nvSpPr>
            <p:spPr>
              <a:xfrm>
                <a:off x="0" y="26289"/>
                <a:ext cx="3621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2563EB"/>
                    </a:solidFill>
                    <a:latin typeface="Material Icons"/>
                    <a:ea typeface="Material Icons"/>
                    <a:cs typeface="Material Icons"/>
                    <a:sym typeface="Material Icons"/>
                  </a:rPr>
                  <a:t>task_alt</a:t>
                </a:r>
                <a:endParaRPr b="0" sz="1800">
                  <a:solidFill>
                    <a:srgbClr val="2563EB"/>
                  </a:solidFill>
                  <a:latin typeface="Material Icons"/>
                  <a:ea typeface="Material Icons"/>
                  <a:cs typeface="Material Icons"/>
                  <a:sym typeface="Material Icons"/>
                </a:endParaRPr>
              </a:p>
            </p:txBody>
          </p:sp>
        </p:grpSp>
        <p:grpSp>
          <p:nvGrpSpPr>
            <p:cNvPr id="741" name="Google Shape;741;p20"/>
            <p:cNvGrpSpPr/>
            <p:nvPr/>
          </p:nvGrpSpPr>
          <p:grpSpPr>
            <a:xfrm>
              <a:off x="571500" y="76200"/>
              <a:ext cx="4572000" cy="800100"/>
              <a:chOff x="0" y="0"/>
              <a:chExt cx="4572000" cy="800100"/>
            </a:xfrm>
          </p:grpSpPr>
          <p:sp>
            <p:nvSpPr>
              <p:cNvPr id="742" name="Google Shape;742;p20"/>
              <p:cNvSpPr/>
              <p:nvPr/>
            </p:nvSpPr>
            <p:spPr>
              <a:xfrm>
                <a:off x="0" y="0"/>
                <a:ext cx="4572000" cy="800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3" name="Google Shape;743;p20"/>
              <p:cNvSpPr txBox="1"/>
              <p:nvPr/>
            </p:nvSpPr>
            <p:spPr>
              <a:xfrm>
                <a:off x="0" y="0"/>
                <a:ext cx="4572000" cy="609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2563EB"/>
                    </a:solidFill>
                    <a:latin typeface="Quattrocento Sans"/>
                    <a:ea typeface="Quattrocento Sans"/>
                    <a:cs typeface="Quattrocento Sans"/>
                    <a:sym typeface="Quattrocento Sans"/>
                  </a:rPr>
                  <a:t>Ready for Assessment 3</a:t>
                </a:r>
                <a:endParaRPr b="1" i="0" sz="110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i="0" lang="en-US" sz="950">
                    <a:solidFill>
                      <a:srgbClr val="334155"/>
                    </a:solidFill>
                    <a:latin typeface="Quattrocento Sans"/>
                    <a:ea typeface="Quattrocento Sans"/>
                    <a:cs typeface="Quattrocento Sans"/>
                    <a:sym typeface="Quattrocento Sans"/>
                  </a:rPr>
                  <a:t>Concrete observable usability goals calibrated for empirical testing.</a:t>
                </a:r>
                <a:endParaRPr b="1" i="0" sz="950">
                  <a:solidFill>
                    <a:srgbClr val="2563EB"/>
                  </a:solidFill>
                  <a:latin typeface="Quattrocento Sans"/>
                  <a:ea typeface="Quattrocento Sans"/>
                  <a:cs typeface="Quattrocento Sans"/>
                  <a:sym typeface="Quattrocento Sans"/>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Elegant Media M3 Theme">
  <a:themeElements>
    <a:clrScheme name="ElegantM3">
      <a:dk1>
        <a:srgbClr val="000000"/>
      </a:dk1>
      <a:lt1>
        <a:srgbClr val="FFFFFF"/>
      </a:lt1>
      <a:dk2>
        <a:srgbClr val="0F172A"/>
      </a:dk2>
      <a:lt2>
        <a:srgbClr val="F8FAFC"/>
      </a:lt2>
      <a:accent1>
        <a:srgbClr val="2563EB"/>
      </a:accent1>
      <a:accent2>
        <a:srgbClr val="059669"/>
      </a:accent2>
      <a:accent3>
        <a:srgbClr val="D97706"/>
      </a:accent3>
      <a:accent4>
        <a:srgbClr val="7C3AED"/>
      </a:accent4>
      <a:accent5>
        <a:srgbClr val="0284C7"/>
      </a:accent5>
      <a:accent6>
        <a:srgbClr val="DC2626"/>
      </a:accent6>
      <a:hlink>
        <a:srgbClr val="2563EB"/>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Media M3 Theme">
  <a:themeElements>
    <a:clrScheme name="ElegantM3">
      <a:dk1>
        <a:srgbClr val="000000"/>
      </a:dk1>
      <a:lt1>
        <a:srgbClr val="FFFFFF"/>
      </a:lt1>
      <a:dk2>
        <a:srgbClr val="0F172A"/>
      </a:dk2>
      <a:lt2>
        <a:srgbClr val="F8FAFC"/>
      </a:lt2>
      <a:accent1>
        <a:srgbClr val="2563EB"/>
      </a:accent1>
      <a:accent2>
        <a:srgbClr val="059669"/>
      </a:accent2>
      <a:accent3>
        <a:srgbClr val="D97706"/>
      </a:accent3>
      <a:accent4>
        <a:srgbClr val="7C3AED"/>
      </a:accent4>
      <a:accent5>
        <a:srgbClr val="0284C7"/>
      </a:accent5>
      <a:accent6>
        <a:srgbClr val="DC2626"/>
      </a:accent6>
      <a:hlink>
        <a:srgbClr val="2563EB"/>
      </a:hlink>
      <a:folHlink>
        <a:srgbClr val="7C3AE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