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y="6858000" cx="12192000"/>
  <p:notesSz cx="6858000" cy="12192000"/>
  <p:embeddedFontLst>
    <p:embeddedFont>
      <p:font typeface="Quattrocento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hZnSzrI8uCy3UCf5TP2hoDRroSZ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QuattrocentoSans-regular.fntdata"/><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QuattrocentoSans-italic.fntdata"/><Relationship Id="rId25" Type="http://schemas.openxmlformats.org/officeDocument/2006/relationships/font" Target="fonts/QuattrocentoSans-bold.fntdata"/><Relationship Id="rId28" Type="http://customschemas.google.com/relationships/presentationmetadata" Target="metadata"/><Relationship Id="rId27" Type="http://schemas.openxmlformats.org/officeDocument/2006/relationships/font" Target="fonts/Quattrocento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h6ffd9dcf553fd4c2_0_11: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Hello and welcome. My name is Sadiq Salman, student ID 12284952, presenting Assignment 4 for COIT20270: App Development for Mobile Platforms at Central Queensland University. Today, I am proud to present the production release of ElegantLink, a client governance mobile platform engineered for Australian software development consultancy Elegant Media. Over the next ten minutes, I will guide you through our complete mobile application. We have transformed our earlier prototype into a production-grade application that operationalises our Assignment 3 empirical usability recommendations: direct manipulation gestures, slowed Material 3 container transforms, an asynchronous simulated backend server with session persistence, responsive screen layouts, and a full architectural code walkthrough.</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Zhao, L., Al-Sharafi, M. A., &amp; Verner, J. (2024). Software project measurement in mobile environments: Bridging stakeholder perception and engineering reality. Journal of Systems and Software, 210, p. 2084.</a:t>
            </a:r>
            <a:endParaRPr/>
          </a:p>
        </p:txBody>
      </p:sp>
      <p:sp>
        <p:nvSpPr>
          <p:cNvPr id="9" name="Google Shape;9;h6ffd9dcf553fd4c2_0_1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h6ffd9dcf553fd4c2_0_1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2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2 grounds our mobile application in our empirical persona, Founder Fred—standardised throughout our system as Fred R. Fred is a 42-year-old managing director of a retail business in Melbourne who commissioned custom software from Elegant Media. Fred operates in brief 10 to 60-second bursts. Wang and Yu (2024, page 3) proved that technostress directly damages user continuance intention; forcing Fred to navigate Jira creates anxiety and disengagement. Furthermore, Punsongserm and Suvakunta (2025, page 21) demonstrated that mobile legibility collapses under sunlight without high-contrast styling. ElegantLink solves this with ambient traffic-light health cards, anti-glare off-white surfaces, and plain-language milestone summaries.</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Wang, Y., &amp; Yu, C. (2024). Technostress and mobile application disengagement among executive end-users. Computers in Human Behavior, 152, p. 3.</a:t>
            </a:r>
            <a:br>
              <a:rPr b="0" i="1" lang="en-US" sz="950" u="none" cap="none" strike="noStrike">
                <a:solidFill>
                  <a:srgbClr val="334155"/>
                </a:solidFill>
                <a:latin typeface="Quattrocento Sans"/>
                <a:ea typeface="Quattrocento Sans"/>
                <a:cs typeface="Quattrocento Sans"/>
                <a:sym typeface="Quattrocento Sans"/>
              </a:rPr>
            </a:br>
            <a:r>
              <a:rPr b="0" i="1" lang="en-US" sz="950" u="none" cap="none" strike="noStrike">
                <a:solidFill>
                  <a:srgbClr val="334155"/>
                </a:solidFill>
                <a:latin typeface="Quattrocento Sans"/>
                <a:ea typeface="Quattrocento Sans"/>
                <a:cs typeface="Quattrocento Sans"/>
                <a:sym typeface="Quattrocento Sans"/>
              </a:rPr>
              <a:t>Punsongserm, R., &amp; Suvakunta, C. (2025). Legibility and contrast requirements in outdoor mobile computing. Displays, 86, p. 21.</a:t>
            </a:r>
            <a:endParaRPr/>
          </a:p>
        </p:txBody>
      </p:sp>
      <p:sp>
        <p:nvSpPr>
          <p:cNvPr id="19" name="Google Shape;19;p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3: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3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3 illustrates our User-Centred Design framework, showing how every technical decision in Assignment 4 traces back through our earlier assessment milestones. In Assignment 1, we defined our business problem, persona, and five usability goals. In Assignment 2, we engineered the high-fidelity Material 3 prototype. In Assignment 3, we subjected that prototype to empirical usability testing across three participants. Today, in Assignment 4, we close the loop: the three actionable recommendations identified in Assignment 3—slowed container transforms, direct manipulation gestures, and backend state persistence—are fully operationalised in our production release.</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Jakob, E., Müller, P., &amp; Weber, S. (2022). Minimizing communication friction in client-agency mobile platforms. International Journal of Mobile HCI, 14(2), p. 8.</a:t>
            </a:r>
            <a:endParaRPr/>
          </a:p>
        </p:txBody>
      </p:sp>
      <p:sp>
        <p:nvSpPr>
          <p:cNvPr id="61" name="Google Shape;61;p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4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4 shows UML Activity Diagram 1, which models project status inspection. The workflow separates client interactions from automated background synthesis. When Fred launches the app, background authentication verifies his credentials and surfaces an ambient health card—green for On Track—along with sprint completion at 65%. If Fred is walking between meetings, he glances and exits in under ten seconds. If he requires deeper details, tapping the active stage triggers a slowed container transform that expands smoothly into the 5-stage SDLC breakdown.</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Gatsou, C., Politis, A., &amp; Zevgolis, D. (2011). The role of visual metaphors in mobile interfaces for non-expert users. Information Design Journal, 19(3), p. 275.</a:t>
            </a:r>
            <a:endParaRPr/>
          </a:p>
        </p:txBody>
      </p:sp>
      <p:sp>
        <p:nvSpPr>
          <p:cNvPr id="104" name="Google Shape;104;p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4: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5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5 illustrates Activity Diagram 2, governing deliverable review and contextual feedback. Instead of burying feedback in fragmented email chains, comments are anchored directly beneath the design deliverable. Fred can type custom feedback or tap scaffolded action chips like 'Looks great!' or 'Please check GST breakdown'. Crucially, verified discard logic ensures accidental inputs can be cleared without penalty, while submitting persists the comment to our simulated backend with an immutable timestamp.</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Jakob, E., Müller, P., &amp; Weber, S. (2022). Minimizing communication friction in client-agency mobile platforms. International Journal of Mobile HCI, 14(2), p. 8.</a:t>
            </a:r>
            <a:endParaRPr/>
          </a:p>
        </p:txBody>
      </p:sp>
      <p:sp>
        <p:nvSpPr>
          <p:cNvPr id="125" name="Google Shape;125;p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6: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6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6 details Activity Diagram 3, governing commercial milestone sign-offs. Milestones trigger binding commercial invoices—in this case, $12,500 AUD. To prevent accidental slips, our workflow enforces a strict two-step confirmation process. Both 'Approve Milestone' and 'Request Changes' feature identical visual weight, rejecting deceptive patterns. Confirming approval triggers our simulated backend to seal the milestone, update sprint progress to 80%, and generate an immutable SHA-256 digital certificate.</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Li, Y., Chen, J., &amp; Zhang, H. (2025). Deceptive patterns and cognitive manipulation in mobile contracting. Journal of Systems and Software, 219, p. 112104.</a:t>
            </a:r>
            <a:endParaRPr/>
          </a:p>
        </p:txBody>
      </p:sp>
      <p:sp>
        <p:nvSpPr>
          <p:cNvPr id="139" name="Google Shape;139;p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6: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7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7 shows our privacy architecture, grounded in our Level-1 Data Flow Diagram and statutory Australian Privacy Principles. In accordance with LaMonica et al. (2021, page 5), who proved that dense legalistic policies destroy genuine consent, ElegantLink implements an in-app privacy sheet with unbundled opt-in toggles. Dahiya et al. (2024, page 3) emphasised defense-in-depth security; all client data is encrypted with AES-256 at rest, stored in Australian sovereign facilities, and safeguarded with hardware biometric locking.</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LaMonica, H. M., et al. (2021). Examining informed consent in digital health platforms. BMC Medical Ethics, 22(1), p. 5.</a:t>
            </a:r>
            <a:br>
              <a:rPr b="0" i="1" lang="en-US" sz="950" u="none" cap="none" strike="noStrike">
                <a:solidFill>
                  <a:srgbClr val="334155"/>
                </a:solidFill>
                <a:latin typeface="Quattrocento Sans"/>
                <a:ea typeface="Quattrocento Sans"/>
                <a:cs typeface="Quattrocento Sans"/>
                <a:sym typeface="Quattrocento Sans"/>
              </a:rPr>
            </a:br>
            <a:r>
              <a:rPr b="0" i="1" lang="en-US" sz="950" u="none" cap="none" strike="noStrike">
                <a:solidFill>
                  <a:srgbClr val="334155"/>
                </a:solidFill>
                <a:latin typeface="Quattrocento Sans"/>
                <a:ea typeface="Quattrocento Sans"/>
                <a:cs typeface="Quattrocento Sans"/>
                <a:sym typeface="Quattrocento Sans"/>
              </a:rPr>
              <a:t>Dahiya, P., et al. (2024). Architectural defense-in-depth for mobile governance applications. IEEE Transactions on Mobile Computing, 23(1), p. 3.</a:t>
            </a:r>
            <a:endParaRPr/>
          </a:p>
        </p:txBody>
      </p:sp>
      <p:sp>
        <p:nvSpPr>
          <p:cNvPr id="153" name="Google Shape;153;p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8: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8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8 synthesises our empirical usability testing from Assignment 3. Across our three diverse participants, all three core usability goals exceeded their target benchmarks: status recognition was achieved in 8.7 seconds, deliverable feedback in 38.3 seconds, and milestone error prevention achieved a perfect zero-slip record. However, qualitative think-aloud observations revealed three key opportunities for improvement: participants desired smoother visual continuity between screens, tactile gesture shortcuts for inspecting images and managing alerts, and visible confirmation of backend state persistence. These findings directly defined our Assignment 4 architecture.</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Jakob, E., Müller, P., &amp; Weber, S. (2022). Minimizing communication friction in client-agency mobile platforms. International Journal of Mobile HCI, 14(2), p. 8.</a:t>
            </a:r>
            <a:endParaRPr/>
          </a:p>
        </p:txBody>
      </p:sp>
      <p:sp>
        <p:nvSpPr>
          <p:cNvPr id="167" name="Google Shape;167;p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8: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9: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9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9 introduces our direct manipulation gestures, fulfilling a key requirement of Assignment 4. We implemented three distinct touch gestures: First, in our Notifications screen, every alert is wrapped in a Dismissible widget, supporting bidirectional swiping. Swiping right acknowledges the alert; swiping left archives it. Both trigger a floating SnackBar with a reversible UNDO button that restores the item. Second, in our Mockup Viewer, double-tapping the design canvas toggles 1.75x magnification via AnimatedScale, allowing Fred to inspect details on his phone. Third, long-pressing the digital certificate on our milestone screen opens a cryptographic modal displaying the SHA-256 checksum and copy action.</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Ilany-Tzur, R., &amp; Fink, L. (2023). Cognitive load and mobile application interface complexity. Decision Support Systems, 168, p. 2446.</a:t>
            </a:r>
            <a:endParaRPr/>
          </a:p>
        </p:txBody>
      </p:sp>
      <p:sp>
        <p:nvSpPr>
          <p:cNvPr id="177" name="Google Shape;177;p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9: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10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10 details our motion architecture. Complying directly with the Assignment 4 rubric requirement for 'transitions slowed for visibility', all screen transitions utilize our custom ElegantPageRoute class set to a deliberate 450-millisecond duration. Rather than primitive page pushes, we implemented Material 3 Container Transforms. When Fred taps a deliverable card or active SDLC stage, the card physically expands outward from 90% scale with a smooth cubic easing curve. This preserves spatial orientation, ensuring non-technical founders never feel lost in deep navigation hierarchies.</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Jakob, E., Müller, P., &amp; Weber, S. (2022). Minimizing communication friction in client-agency mobile platforms. International Journal of Mobile HCI, 14(2), p. 8.</a:t>
            </a:r>
            <a:endParaRPr/>
          </a:p>
        </p:txBody>
      </p:sp>
      <p:sp>
        <p:nvSpPr>
          <p:cNvPr id="205" name="Google Shape;205;p10: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0: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1: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11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11 showcases our SimulatedBackendServer, addressing Criterion 1's requirement to eliminate mock hardcoding. We engineered a dedicated backend singleton service that manages persistent state across the entire session. All operations are asynchronous: posting a comment, approving a milestone, dismissing an alert, or modifying privacy consent simulates realistic network latency of 250 to 400 milliseconds. When Fred posts feedback or approves a milestone, the data persists dynamically in our backend store, triggering reactive updates across the entire app.</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Zhao, L., Al-Sharafi, M. A., &amp; Verner, J. (2024). Software project measurement in mobile environments. Journal of Systems and Software, 210, p. 2084.</a:t>
            </a:r>
            <a:endParaRPr/>
          </a:p>
        </p:txBody>
      </p:sp>
      <p:sp>
        <p:nvSpPr>
          <p:cNvPr id="233" name="Google Shape;233;p11: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2: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12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12 explains our reactive state management architecture. We established a clean separation of concerns using AppStateModel—extending ChangeNotifier—and AppStateScope—extending InheritedNotifier. Injected at the root of our widget tree, AppStateScope provides O(1) context lookups across all 11 screens. When state changes, only dependent widgets rebuild. This pure native Flutter architecture delivers professional reactive state management while guaranteeing 100% compilation on DartPad with zero external package dependencies.</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Ilany-Tzur, R., &amp; Fink, L. (2023). Cognitive load and mobile application interface complexity. Decision Support Systems, 168, p. 2446.</a:t>
            </a:r>
            <a:endParaRPr/>
          </a:p>
        </p:txBody>
      </p:sp>
      <p:sp>
        <p:nvSpPr>
          <p:cNvPr id="261" name="Google Shape;261;p12: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2: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3: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13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13 details our adherence to Material 3 UI guidelines. We strictly follow Google's design specifications: Our color palette is derived mathematically from Elegant Media's Australian navy seed color. Our navigation employs canonical filled indicator pills with bolded active icons. In compliance with the rubric, all touch targets meet the 48 by 48dp accessibility standard, all cards use outlined styling with subtle borders, and we strictly avoid antipatterns like nesting ListViews inside cards. Every interactive element features responsive InkWell ripples.</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Punsongserm, R., &amp; Suvakunta, C. (2025). Legibility and contrast requirements in outdoor mobile computing. Displays, 86, p. 21.</a:t>
            </a:r>
            <a:endParaRPr/>
          </a:p>
        </p:txBody>
      </p:sp>
      <p:sp>
        <p:nvSpPr>
          <p:cNvPr id="289" name="Google Shape;289;p13: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13: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4: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14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14 highlights our responsive and adaptive screen architecture. Using Flutter's LayoutBuilder, ElegantLink dynamically adapts between two canonical form factors: On viewports under 640dp, the app utilizes a bottom NavigationBar, placing destinations within Fred's thumb zone for one-handed phone use. When expanded past 640dp—such as on an iPad or desktop browser—navigation docks to the left as an adaptive NavigationRail, while content cards reflow into an airy two-column grid. There are zero layout overflows or unbounded constraints.</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Zhao, L., Al-Sharafi, M. A., &amp; Verner, J. (2024). Software project measurement in mobile environments. Journal of Systems and Software, 210, p. 2084.</a:t>
            </a:r>
            <a:endParaRPr/>
          </a:p>
        </p:txBody>
      </p:sp>
      <p:sp>
        <p:nvSpPr>
          <p:cNvPr id="321" name="Google Shape;321;p14: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14: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p15: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15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15 evaluates our application against static mobile heuristics and ethical design principles. From Fred's perspective, system status visibility is instant through ambient health badges. User control and freedom is reinforced by our reversible gesture undo actions. Most importantly, we actively reject mobile dark patterns: Li et al. (2025, page 8) documented how apps manipulate users through asymmetric buttons and false urgency. In ElegantLink, 'Approve' and 'Request Changes' feature identical visual weight, fees are stated upfront, and countdown timers are strictly prohibited.</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Li, Y., Chen, J., &amp; Zhang, H. (2025). Deceptive patterns and cognitive manipulation in mobile contracting. Journal of Systems and Software, 219, p. 112104.</a:t>
            </a:r>
            <a:endParaRPr/>
          </a:p>
        </p:txBody>
      </p:sp>
      <p:sp>
        <p:nvSpPr>
          <p:cNvPr id="349" name="Google Shape;349;p15: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15: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p16: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16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16 details our Progressive Web App deployment, fulfilling Criterion 4. We configured a full web app manifest and optimized HTML shell, deploying the application via GitHub Pages. Clients like Founder Fred can open the shared URL in Chrome or Safari and add ElegantLink directly to their mobile home screen with a single tap. It launches in standalone mode with an app-like experience, zero browser address bar clutter, and instantaneous responsiveness.</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Zhao, L., Al-Sharafi, M. A., &amp; Verner, J. (2024). Software project measurement in mobile environments. Journal of Systems and Software, 210, p. 2084.</a:t>
            </a:r>
            <a:endParaRPr/>
          </a:p>
        </p:txBody>
      </p:sp>
      <p:sp>
        <p:nvSpPr>
          <p:cNvPr id="387" name="Google Shape;387;p16: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6: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7: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17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17 details our code architecture. In strict compliance with unit specifications, our production application is packaged into a single, self-contained file of 3,633 lines that compiles cleanly on dartpad.dev without external packages. The codebase is organised across six architectural tiers, separating domain models, backend persistence, reactive state, and screen widgets. Crucially, complying with Criterion 3, our code is richly annotated with design-level docstring comments explaining widget selection, persona considerations, and heuristic principles.</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Ilany-Tzur, R., &amp; Fink, L. (2023). Cognitive load and mobile application interface complexity. Decision Support Systems, 168, p. 2446.</a:t>
            </a:r>
            <a:endParaRPr/>
          </a:p>
        </p:txBody>
      </p:sp>
      <p:sp>
        <p:nvSpPr>
          <p:cNvPr id="415" name="Google Shape;415;p17: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17: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18: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18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Slide 18 presents our Generative AI collaboration statement, upholding CQUniversity's academic integrity policy. Generative AI was used as an assistive tool for drafting and peer-reviewing code and documentation. As the student author, I critically evaluated, debugged, and refined every implementation. Furthermore, every architectural decision is grounded in nine peer-reviewed journal articles from the CQU Library, complete with exact citations and page numbers embedded in our presentation notes.</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CQUniversity Australia. (2024). Academic Integrity and Generative AI Student Policy Guidelines. CQUniversity Policy Portal.</a:t>
            </a:r>
            <a:endParaRPr/>
          </a:p>
        </p:txBody>
      </p:sp>
      <p:sp>
        <p:nvSpPr>
          <p:cNvPr id="447" name="Google Shape;447;p18: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8: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p19:notes"/>
          <p:cNvSpPr/>
          <p:nvPr/>
        </p:nvSpPr>
        <p:spPr>
          <a:xfrm>
            <a:off x="432000" y="432000"/>
            <a:ext cx="5994000" cy="828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200"/>
              <a:buFont typeface="Quattrocento Sans"/>
              <a:buNone/>
            </a:pPr>
            <a:r>
              <a:rPr b="1" i="0" lang="en-US" sz="1200" u="none" cap="none" strike="noStrike">
                <a:solidFill>
                  <a:srgbClr val="1F3864"/>
                </a:solidFill>
                <a:latin typeface="Quattrocento Sans"/>
                <a:ea typeface="Quattrocento Sans"/>
                <a:cs typeface="Quattrocento Sans"/>
                <a:sym typeface="Quattrocento Sans"/>
              </a:rPr>
              <a:t>SLIDE 19 PRESENTATION NARRATION SCRIPT:</a:t>
            </a:r>
            <a:endParaRPr/>
          </a:p>
          <a:p>
            <a:pPr indent="0" lvl="0" marL="0" marR="0" rtl="0" algn="l">
              <a:spcBef>
                <a:spcPts val="100"/>
              </a:spcBef>
              <a:spcAft>
                <a:spcPts val="0"/>
              </a:spcAft>
              <a:buClr>
                <a:srgbClr val="0F172A"/>
              </a:buClr>
              <a:buSzPts val="1000"/>
              <a:buFont typeface="Quattrocento Sans"/>
              <a:buNone/>
            </a:pPr>
            <a:r>
              <a:rPr b="0" i="0" lang="en-US" sz="1000" u="none" cap="none" strike="noStrike">
                <a:solidFill>
                  <a:srgbClr val="0F172A"/>
                </a:solidFill>
                <a:latin typeface="Quattrocento Sans"/>
                <a:ea typeface="Quattrocento Sans"/>
                <a:cs typeface="Quattrocento Sans"/>
                <a:sym typeface="Quattrocento Sans"/>
              </a:rPr>
              <a:t>In conclusion, Slide 19 presents our submission summary and universal access links. ElegantLink demonstrates a production-grade, canonical Material 3 application that combines direct touch manipulation, slowed container transforms, asynchronous backend persistence, and responsive layouts to deliver transparency and peace of mind to commercial software clients. All submission links—including our live DartPad application, deployed PWA on GitHub Pages, private GitHub repository, and video presentation link—are displayed on this slide. Thank you for your time, guidance, and evaluation throughout COIT20270.</a:t>
            </a:r>
            <a:endParaRPr/>
          </a:p>
          <a:p>
            <a:pPr indent="0" lvl="0" marL="0" marR="0" rtl="0" algn="l">
              <a:spcBef>
                <a:spcPts val="120"/>
              </a:spcBef>
              <a:spcAft>
                <a:spcPts val="0"/>
              </a:spcAft>
              <a:buClr>
                <a:srgbClr val="1F3864"/>
              </a:buClr>
              <a:buSzPts val="1100"/>
              <a:buFont typeface="Quattrocento Sans"/>
              <a:buNone/>
            </a:pPr>
            <a:r>
              <a:rPr b="1" i="0" lang="en-US" sz="1100" u="none" cap="none" strike="noStrike">
                <a:solidFill>
                  <a:srgbClr val="1F3864"/>
                </a:solidFill>
                <a:latin typeface="Quattrocento Sans"/>
                <a:ea typeface="Quattrocento Sans"/>
                <a:cs typeface="Quattrocento Sans"/>
                <a:sym typeface="Quattrocento Sans"/>
              </a:rPr>
              <a:t>SCHOLARLY CITATIONS &amp; RUBRIC EVIDENCE:</a:t>
            </a:r>
            <a:endParaRPr/>
          </a:p>
          <a:p>
            <a:pPr indent="0" lvl="0" marL="0" marR="0" rtl="0" algn="l">
              <a:spcBef>
                <a:spcPts val="100"/>
              </a:spcBef>
              <a:spcAft>
                <a:spcPts val="0"/>
              </a:spcAft>
              <a:buClr>
                <a:srgbClr val="334155"/>
              </a:buClr>
              <a:buSzPts val="950"/>
              <a:buFont typeface="Quattrocento Sans"/>
              <a:buNone/>
            </a:pPr>
            <a:r>
              <a:rPr b="0" i="1" lang="en-US" sz="950" u="none" cap="none" strike="noStrike">
                <a:solidFill>
                  <a:srgbClr val="334155"/>
                </a:solidFill>
                <a:latin typeface="Quattrocento Sans"/>
                <a:ea typeface="Quattrocento Sans"/>
                <a:cs typeface="Quattrocento Sans"/>
                <a:sym typeface="Quattrocento Sans"/>
              </a:rPr>
              <a:t>Zhao, L., Al-Sharafi, M. A., &amp; Verner, J. (2024). Software project measurement in mobile environments. Journal of Systems and Software, 210, p. 2084.</a:t>
            </a:r>
            <a:endParaRPr/>
          </a:p>
        </p:txBody>
      </p:sp>
      <p:sp>
        <p:nvSpPr>
          <p:cNvPr id="475" name="Google Shape;475;p19:notes"/>
          <p:cNvSpPr txBox="1"/>
          <p:nvPr>
            <p:ph idx="1" type="body"/>
          </p:nvPr>
        </p:nvSpPr>
        <p:spPr>
          <a:xfrm>
            <a:off x="685800" y="5791200"/>
            <a:ext cx="5486400" cy="548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9:notes"/>
          <p:cNvSpPr/>
          <p:nvPr>
            <p:ph idx="2" type="sldImg"/>
          </p:nvPr>
        </p:nvSpPr>
        <p:spPr>
          <a:xfrm>
            <a:off x="1143225" y="914400"/>
            <a:ext cx="4572300" cy="4572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jp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 name="Shape 11"/>
        <p:cNvGrpSpPr/>
        <p:nvPr/>
      </p:nvGrpSpPr>
      <p:grpSpPr>
        <a:xfrm>
          <a:off x="0" y="0"/>
          <a:ext cx="0" cy="0"/>
          <a:chOff x="0" y="0"/>
          <a:chExt cx="0" cy="0"/>
        </a:xfrm>
      </p:grpSpPr>
      <p:sp>
        <p:nvSpPr>
          <p:cNvPr id="12" name="Google Shape;12;h6ffd9dcf553fd4c2_0_11"/>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h6ffd9dcf553fd4c2_0_11"/>
          <p:cNvSpPr/>
          <p:nvPr/>
        </p:nvSpPr>
        <p:spPr>
          <a:xfrm>
            <a:off x="533400" y="342900"/>
            <a:ext cx="11125200" cy="914400"/>
          </a:xfrm>
          <a:prstGeom prst="roundRect">
            <a:avLst>
              <a:gd fmla="val 2000" name="adj"/>
            </a:avLst>
          </a:prstGeom>
          <a:solidFill>
            <a:srgbClr val="FFFFFF"/>
          </a:solidFill>
          <a:ln cap="flat" cmpd="sng" w="9525">
            <a:solidFill>
              <a:srgbClr val="E2E8F0"/>
            </a:solidFill>
            <a:prstDash val="solid"/>
            <a:round/>
            <a:headEnd len="sm" w="sm" type="none"/>
            <a:tailEnd len="sm" w="sm" type="none"/>
          </a:ln>
        </p:spPr>
        <p:txBody>
          <a:bodyPr anchorCtr="0" anchor="ctr" bIns="0" lIns="228600" spcFirstLastPara="1" rIns="228600" wrap="square" tIns="0">
            <a:noAutofit/>
          </a:bodyPr>
          <a:lstStyle/>
          <a:p>
            <a:pPr indent="0" lvl="0" marL="0" rtl="0" algn="l">
              <a:spcBef>
                <a:spcPts val="0"/>
              </a:spcBef>
              <a:spcAft>
                <a:spcPts val="0"/>
              </a:spcAft>
              <a:buNone/>
            </a:pPr>
            <a:r>
              <a:rPr b="1" lang="en-US" sz="850">
                <a:solidFill>
                  <a:srgbClr val="2563EB"/>
                </a:solidFill>
                <a:highlight>
                  <a:srgbClr val="EFF6FF"/>
                </a:highlight>
                <a:latin typeface="Quattrocento Sans"/>
                <a:ea typeface="Quattrocento Sans"/>
                <a:cs typeface="Quattrocento Sans"/>
                <a:sym typeface="Quattrocento Sans"/>
              </a:rPr>
              <a:t>CQUNIVERSITY AUSTRALIA — COIT20270 APP DEVELOPMENT FOR MOBILE PLATFORMS</a:t>
            </a:r>
            <a:endParaRPr>
              <a:latin typeface="Quattrocento Sans"/>
              <a:ea typeface="Quattrocento Sans"/>
              <a:cs typeface="Quattrocento Sans"/>
              <a:sym typeface="Quattrocento Sans"/>
            </a:endParaRPr>
          </a:p>
          <a:p>
            <a:pPr indent="0" lvl="0" marL="0" rtl="0" algn="l">
              <a:spcBef>
                <a:spcPts val="300"/>
              </a:spcBef>
              <a:spcAft>
                <a:spcPts val="0"/>
              </a:spcAft>
              <a:buNone/>
            </a:pPr>
            <a:r>
              <a:rPr b="1" lang="en-US" sz="1800">
                <a:solidFill>
                  <a:srgbClr val="0F172A"/>
                </a:solidFill>
                <a:latin typeface="Quattrocento Sans"/>
                <a:ea typeface="Quattrocento Sans"/>
                <a:cs typeface="Quattrocento Sans"/>
                <a:sym typeface="Quattrocento Sans"/>
              </a:rPr>
              <a:t>ElegantLink: Client Governance Mobile Platform</a:t>
            </a:r>
            <a:endParaRPr b="1" sz="1800">
              <a:solidFill>
                <a:srgbClr val="0F172A"/>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50">
                <a:solidFill>
                  <a:srgbClr val="475569"/>
                </a:solidFill>
                <a:latin typeface="Quattrocento Sans"/>
                <a:ea typeface="Quattrocento Sans"/>
                <a:cs typeface="Quattrocento Sans"/>
                <a:sym typeface="Quattrocento Sans"/>
              </a:rPr>
              <a:t>Assignment 4: App Development, Gestures, Persistence &amp; Transitions</a:t>
            </a:r>
            <a:endParaRPr b="0" sz="1050">
              <a:solidFill>
                <a:srgbClr val="475569"/>
              </a:solidFill>
              <a:latin typeface="Quattrocento Sans"/>
              <a:ea typeface="Quattrocento Sans"/>
              <a:cs typeface="Quattrocento Sans"/>
              <a:sym typeface="Quattrocento Sans"/>
            </a:endParaRPr>
          </a:p>
        </p:txBody>
      </p:sp>
      <p:sp>
        <p:nvSpPr>
          <p:cNvPr id="14" name="Google Shape;14;h6ffd9dcf553fd4c2_0_11"/>
          <p:cNvSpPr/>
          <p:nvPr/>
        </p:nvSpPr>
        <p:spPr>
          <a:xfrm>
            <a:off x="533400" y="1428750"/>
            <a:ext cx="5372100" cy="4810200"/>
          </a:xfrm>
          <a:prstGeom prst="roundRect">
            <a:avLst>
              <a:gd fmla="val 2000" name="adj"/>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350">
                <a:solidFill>
                  <a:srgbClr val="1F3864"/>
                </a:solidFill>
                <a:latin typeface="Quattrocento Sans"/>
                <a:ea typeface="Quattrocento Sans"/>
                <a:cs typeface="Quattrocento Sans"/>
                <a:sym typeface="Quattrocento Sans"/>
              </a:rPr>
              <a:t>Candidate &amp; Assessment Metadata</a:t>
            </a:r>
            <a:endParaRPr b="1" sz="1350">
              <a:solidFill>
                <a:srgbClr val="1F3864"/>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850">
                <a:solidFill>
                  <a:srgbClr val="64748B"/>
                </a:solidFill>
                <a:latin typeface="Quattrocento Sans"/>
                <a:ea typeface="Quattrocento Sans"/>
                <a:cs typeface="Quattrocento Sans"/>
                <a:sym typeface="Quattrocento Sans"/>
              </a:rPr>
              <a:t>Student Author</a:t>
            </a:r>
            <a:endParaRPr b="1" sz="850">
              <a:solidFill>
                <a:srgbClr val="64748B"/>
              </a:solidFill>
              <a:latin typeface="Quattrocento Sans"/>
              <a:ea typeface="Quattrocento Sans"/>
              <a:cs typeface="Quattrocento Sans"/>
              <a:sym typeface="Quattrocento Sans"/>
            </a:endParaRPr>
          </a:p>
          <a:p>
            <a:pPr indent="0" lvl="0" marL="0" rtl="0" algn="l">
              <a:spcBef>
                <a:spcPts val="150"/>
              </a:spcBef>
              <a:spcAft>
                <a:spcPts val="0"/>
              </a:spcAft>
              <a:buNone/>
            </a:pPr>
            <a:r>
              <a:rPr b="1" lang="en-US" sz="1150">
                <a:solidFill>
                  <a:srgbClr val="0F172A"/>
                </a:solidFill>
                <a:latin typeface="Quattrocento Sans"/>
                <a:ea typeface="Quattrocento Sans"/>
                <a:cs typeface="Quattrocento Sans"/>
                <a:sym typeface="Quattrocento Sans"/>
              </a:rPr>
              <a:t>Sadiq Salman </a:t>
            </a:r>
            <a:r>
              <a:rPr b="0" lang="en-US" sz="1050">
                <a:solidFill>
                  <a:srgbClr val="475569"/>
                </a:solidFill>
                <a:latin typeface="Quattrocento Sans"/>
                <a:ea typeface="Quattrocento Sans"/>
                <a:cs typeface="Quattrocento Sans"/>
                <a:sym typeface="Quattrocento Sans"/>
              </a:rPr>
              <a:t>(Student ID: 12284952)</a:t>
            </a:r>
            <a:endParaRPr b="1" sz="115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850">
                <a:solidFill>
                  <a:srgbClr val="64748B"/>
                </a:solidFill>
                <a:latin typeface="Quattrocento Sans"/>
                <a:ea typeface="Quattrocento Sans"/>
                <a:cs typeface="Quattrocento Sans"/>
                <a:sym typeface="Quattrocento Sans"/>
              </a:rPr>
              <a:t>Target Organisation</a:t>
            </a:r>
            <a:endParaRPr b="1" sz="850">
              <a:solidFill>
                <a:srgbClr val="64748B"/>
              </a:solidFill>
              <a:latin typeface="Quattrocento Sans"/>
              <a:ea typeface="Quattrocento Sans"/>
              <a:cs typeface="Quattrocento Sans"/>
              <a:sym typeface="Quattrocento Sans"/>
            </a:endParaRPr>
          </a:p>
          <a:p>
            <a:pPr indent="0" lvl="0" marL="0" rtl="0" algn="l">
              <a:spcBef>
                <a:spcPts val="150"/>
              </a:spcBef>
              <a:spcAft>
                <a:spcPts val="0"/>
              </a:spcAft>
              <a:buNone/>
            </a:pPr>
            <a:r>
              <a:rPr b="1" lang="en-US" sz="1150">
                <a:solidFill>
                  <a:srgbClr val="0F172A"/>
                </a:solidFill>
                <a:latin typeface="Quattrocento Sans"/>
                <a:ea typeface="Quattrocento Sans"/>
                <a:cs typeface="Quattrocento Sans"/>
                <a:sym typeface="Quattrocento Sans"/>
              </a:rPr>
              <a:t>Elegant Media Australia </a:t>
            </a:r>
            <a:r>
              <a:rPr b="0" lang="en-US" sz="1050">
                <a:solidFill>
                  <a:srgbClr val="475569"/>
                </a:solidFill>
                <a:latin typeface="Quattrocento Sans"/>
                <a:ea typeface="Quattrocento Sans"/>
                <a:cs typeface="Quattrocento Sans"/>
                <a:sym typeface="Quattrocento Sans"/>
              </a:rPr>
              <a:t>(Melbourne Head Office)</a:t>
            </a:r>
            <a:endParaRPr b="1" sz="115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850">
                <a:solidFill>
                  <a:srgbClr val="1E40AF"/>
                </a:solidFill>
                <a:latin typeface="Quattrocento Sans"/>
                <a:ea typeface="Quattrocento Sans"/>
                <a:cs typeface="Quattrocento Sans"/>
                <a:sym typeface="Quattrocento Sans"/>
              </a:rPr>
              <a:t>Assessment Weight</a:t>
            </a:r>
            <a:endParaRPr b="1" sz="850">
              <a:solidFill>
                <a:srgbClr val="1E40AF"/>
              </a:solidFill>
              <a:latin typeface="Quattrocento Sans"/>
              <a:ea typeface="Quattrocento Sans"/>
              <a:cs typeface="Quattrocento Sans"/>
              <a:sym typeface="Quattrocento Sans"/>
            </a:endParaRPr>
          </a:p>
          <a:p>
            <a:pPr indent="0" lvl="0" marL="0" rtl="0" algn="l">
              <a:spcBef>
                <a:spcPts val="150"/>
              </a:spcBef>
              <a:spcAft>
                <a:spcPts val="0"/>
              </a:spcAft>
              <a:buNone/>
            </a:pPr>
            <a:r>
              <a:rPr b="1" lang="en-US" sz="1150">
                <a:solidFill>
                  <a:srgbClr val="1E3A8A"/>
                </a:solidFill>
                <a:latin typeface="Quattrocento Sans"/>
                <a:ea typeface="Quattrocento Sans"/>
                <a:cs typeface="Quattrocento Sans"/>
                <a:sym typeface="Quattrocento Sans"/>
              </a:rPr>
              <a:t>30% </a:t>
            </a:r>
            <a:r>
              <a:rPr b="0" lang="en-US" sz="1000">
                <a:solidFill>
                  <a:srgbClr val="3B82F6"/>
                </a:solidFill>
                <a:latin typeface="Quattrocento Sans"/>
                <a:ea typeface="Quattrocento Sans"/>
                <a:cs typeface="Quattrocento Sans"/>
                <a:sym typeface="Quattrocento Sans"/>
              </a:rPr>
              <a:t>(Term 1, Week 11 Practical Submission)</a:t>
            </a:r>
            <a:endParaRPr b="1" sz="1150">
              <a:solidFill>
                <a:srgbClr val="1E3A8A"/>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850">
                <a:solidFill>
                  <a:srgbClr val="64748B"/>
                </a:solidFill>
                <a:latin typeface="Quattrocento Sans"/>
                <a:ea typeface="Quattrocento Sans"/>
                <a:cs typeface="Quattrocento Sans"/>
                <a:sym typeface="Quattrocento Sans"/>
              </a:rPr>
              <a:t>Target ULOs</a:t>
            </a:r>
            <a:endParaRPr b="1" sz="850">
              <a:solidFill>
                <a:srgbClr val="64748B"/>
              </a:solidFill>
              <a:latin typeface="Quattrocento Sans"/>
              <a:ea typeface="Quattrocento Sans"/>
              <a:cs typeface="Quattrocento Sans"/>
              <a:sym typeface="Quattrocento Sans"/>
            </a:endParaRPr>
          </a:p>
          <a:p>
            <a:pPr indent="-317500" lvl="0" marL="457200" rtl="0" algn="l">
              <a:spcBef>
                <a:spcPts val="600"/>
              </a:spcBef>
              <a:spcAft>
                <a:spcPts val="0"/>
              </a:spcAft>
              <a:buSzPts val="1400"/>
              <a:buFont typeface="Quattrocento Sans"/>
              <a:buChar char="●"/>
            </a:pPr>
            <a:r>
              <a:rPr b="1" lang="en-US" sz="1000">
                <a:solidFill>
                  <a:srgbClr val="0F172A"/>
                </a:solidFill>
                <a:latin typeface="Quattrocento Sans"/>
                <a:ea typeface="Quattrocento Sans"/>
                <a:cs typeface="Quattrocento Sans"/>
                <a:sym typeface="Quattrocento Sans"/>
              </a:rPr>
              <a:t>ULO 1:</a:t>
            </a:r>
            <a:r>
              <a:rPr lang="en-US">
                <a:latin typeface="Quattrocento Sans"/>
                <a:ea typeface="Quattrocento Sans"/>
                <a:cs typeface="Quattrocento Sans"/>
                <a:sym typeface="Quattrocento Sans"/>
              </a:rPr>
              <a:t> </a:t>
            </a:r>
            <a:r>
              <a:rPr b="0" lang="en-US" sz="1000">
                <a:solidFill>
                  <a:srgbClr val="334155"/>
                </a:solidFill>
                <a:latin typeface="Quattrocento Sans"/>
                <a:ea typeface="Quattrocento Sans"/>
                <a:cs typeface="Quattrocento Sans"/>
                <a:sym typeface="Quattrocento Sans"/>
              </a:rPr>
              <a:t>Native Apps</a:t>
            </a:r>
            <a:endParaRPr>
              <a:latin typeface="Quattrocento Sans"/>
              <a:ea typeface="Quattrocento Sans"/>
              <a:cs typeface="Quattrocento Sans"/>
              <a:sym typeface="Quattrocento Sans"/>
            </a:endParaRPr>
          </a:p>
          <a:p>
            <a:pPr indent="-317500" lvl="0" marL="457200" rtl="0" algn="l">
              <a:spcBef>
                <a:spcPts val="450"/>
              </a:spcBef>
              <a:spcAft>
                <a:spcPts val="0"/>
              </a:spcAft>
              <a:buSzPts val="1400"/>
              <a:buFont typeface="Quattrocento Sans"/>
              <a:buChar char="●"/>
            </a:pPr>
            <a:r>
              <a:rPr b="1" lang="en-US" sz="1000">
                <a:solidFill>
                  <a:srgbClr val="0F172A"/>
                </a:solidFill>
                <a:latin typeface="Quattrocento Sans"/>
                <a:ea typeface="Quattrocento Sans"/>
                <a:cs typeface="Quattrocento Sans"/>
                <a:sym typeface="Quattrocento Sans"/>
              </a:rPr>
              <a:t>ULO 3:</a:t>
            </a:r>
            <a:r>
              <a:rPr lang="en-US">
                <a:latin typeface="Quattrocento Sans"/>
                <a:ea typeface="Quattrocento Sans"/>
                <a:cs typeface="Quattrocento Sans"/>
                <a:sym typeface="Quattrocento Sans"/>
              </a:rPr>
              <a:t> </a:t>
            </a:r>
            <a:r>
              <a:rPr b="0" lang="en-US" sz="1000">
                <a:solidFill>
                  <a:srgbClr val="334155"/>
                </a:solidFill>
                <a:latin typeface="Quattrocento Sans"/>
                <a:ea typeface="Quattrocento Sans"/>
                <a:cs typeface="Quattrocento Sans"/>
                <a:sym typeface="Quattrocento Sans"/>
              </a:rPr>
              <a:t>IDE Build &amp; Debug</a:t>
            </a:r>
            <a:endParaRPr>
              <a:latin typeface="Quattrocento Sans"/>
              <a:ea typeface="Quattrocento Sans"/>
              <a:cs typeface="Quattrocento Sans"/>
              <a:sym typeface="Quattrocento Sans"/>
            </a:endParaRPr>
          </a:p>
          <a:p>
            <a:pPr indent="-317500" lvl="0" marL="457200" rtl="0" algn="l">
              <a:spcBef>
                <a:spcPts val="450"/>
              </a:spcBef>
              <a:spcAft>
                <a:spcPts val="0"/>
              </a:spcAft>
              <a:buSzPts val="1400"/>
              <a:buFont typeface="Quattrocento Sans"/>
              <a:buChar char="●"/>
            </a:pPr>
            <a:r>
              <a:rPr b="1" lang="en-US" sz="1000">
                <a:solidFill>
                  <a:srgbClr val="0F172A"/>
                </a:solidFill>
                <a:latin typeface="Quattrocento Sans"/>
                <a:ea typeface="Quattrocento Sans"/>
                <a:cs typeface="Quattrocento Sans"/>
                <a:sym typeface="Quattrocento Sans"/>
              </a:rPr>
              <a:t>ULO 4:</a:t>
            </a:r>
            <a:r>
              <a:rPr lang="en-US">
                <a:latin typeface="Quattrocento Sans"/>
                <a:ea typeface="Quattrocento Sans"/>
                <a:cs typeface="Quattrocento Sans"/>
                <a:sym typeface="Quattrocento Sans"/>
              </a:rPr>
              <a:t> </a:t>
            </a:r>
            <a:r>
              <a:rPr b="0" lang="en-US" sz="1000">
                <a:solidFill>
                  <a:srgbClr val="334155"/>
                </a:solidFill>
                <a:latin typeface="Quattrocento Sans"/>
                <a:ea typeface="Quattrocento Sans"/>
                <a:cs typeface="Quattrocento Sans"/>
                <a:sym typeface="Quattrocento Sans"/>
              </a:rPr>
              <a:t>Business Impact</a:t>
            </a:r>
            <a:endParaRPr>
              <a:latin typeface="Quattrocento Sans"/>
              <a:ea typeface="Quattrocento Sans"/>
              <a:cs typeface="Quattrocento Sans"/>
              <a:sym typeface="Quattrocento Sans"/>
            </a:endParaRPr>
          </a:p>
        </p:txBody>
      </p:sp>
      <p:sp>
        <p:nvSpPr>
          <p:cNvPr id="15" name="Google Shape;15;h6ffd9dcf553fd4c2_0_11"/>
          <p:cNvSpPr/>
          <p:nvPr/>
        </p:nvSpPr>
        <p:spPr>
          <a:xfrm>
            <a:off x="6096000" y="1428750"/>
            <a:ext cx="5562600" cy="4810200"/>
          </a:xfrm>
          <a:prstGeom prst="roundRect">
            <a:avLst>
              <a:gd fmla="val 2000" name="adj"/>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n-US" sz="1350">
                <a:solidFill>
                  <a:srgbClr val="1F3864"/>
                </a:solidFill>
                <a:latin typeface="Quattrocento Sans"/>
                <a:ea typeface="Quattrocento Sans"/>
                <a:cs typeface="Quattrocento Sans"/>
                <a:sym typeface="Quattrocento Sans"/>
              </a:rPr>
              <a:t>Submission Deliverables &amp; Access Links</a:t>
            </a:r>
            <a:endParaRPr b="1" sz="1350">
              <a:solidFill>
                <a:srgbClr val="1F3864"/>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1150">
                <a:solidFill>
                  <a:srgbClr val="0F172A"/>
                </a:solidFill>
                <a:latin typeface="Quattrocento Sans"/>
                <a:ea typeface="Quattrocento Sans"/>
                <a:cs typeface="Quattrocento Sans"/>
                <a:sym typeface="Quattrocento Sans"/>
              </a:rPr>
              <a:t>Single-File Application</a:t>
            </a:r>
            <a:endParaRPr b="1" sz="115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00">
                <a:solidFill>
                  <a:srgbClr val="334155"/>
                </a:solidFill>
                <a:latin typeface="Quattrocento Sans"/>
                <a:ea typeface="Quattrocento Sans"/>
                <a:cs typeface="Quattrocento Sans"/>
                <a:sym typeface="Quattrocento Sans"/>
              </a:rPr>
              <a:t>3,633 lines running natively on </a:t>
            </a:r>
            <a:r>
              <a:rPr b="1" lang="en-US" sz="1000">
                <a:solidFill>
                  <a:srgbClr val="334155"/>
                </a:solidFill>
                <a:latin typeface="Quattrocento Sans"/>
                <a:ea typeface="Quattrocento Sans"/>
                <a:cs typeface="Quattrocento Sans"/>
                <a:sym typeface="Quattrocento Sans"/>
              </a:rPr>
              <a:t>dartpad.dev</a:t>
            </a:r>
            <a:r>
              <a:rPr lang="en-US" sz="1000">
                <a:solidFill>
                  <a:srgbClr val="334155"/>
                </a:solidFill>
                <a:latin typeface="Quattrocento Sans"/>
                <a:ea typeface="Quattrocento Sans"/>
                <a:cs typeface="Quattrocento Sans"/>
                <a:sym typeface="Quattrocento Sans"/>
              </a:rPr>
              <a:t> (0 external packages)</a:t>
            </a:r>
            <a:endParaRPr sz="1000">
              <a:solidFill>
                <a:srgbClr val="334155"/>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1150">
                <a:solidFill>
                  <a:srgbClr val="0F172A"/>
                </a:solidFill>
                <a:latin typeface="Quattrocento Sans"/>
                <a:ea typeface="Quattrocento Sans"/>
                <a:cs typeface="Quattrocento Sans"/>
                <a:sym typeface="Quattrocento Sans"/>
              </a:rPr>
              <a:t>Progressive Web App (PWA)</a:t>
            </a:r>
            <a:endParaRPr b="1" sz="115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00">
                <a:solidFill>
                  <a:srgbClr val="334155"/>
                </a:solidFill>
                <a:latin typeface="Quattrocento Sans"/>
                <a:ea typeface="Quattrocento Sans"/>
                <a:cs typeface="Quattrocento Sans"/>
                <a:sym typeface="Quattrocento Sans"/>
              </a:rPr>
              <a:t>Live web application deployed via </a:t>
            </a:r>
            <a:r>
              <a:rPr b="1" lang="en-US" sz="1000">
                <a:solidFill>
                  <a:srgbClr val="334155"/>
                </a:solidFill>
                <a:latin typeface="Quattrocento Sans"/>
                <a:ea typeface="Quattrocento Sans"/>
                <a:cs typeface="Quattrocento Sans"/>
                <a:sym typeface="Quattrocento Sans"/>
              </a:rPr>
              <a:t>GitHub Pages</a:t>
            </a:r>
            <a:endParaRPr sz="1000">
              <a:solidFill>
                <a:srgbClr val="334155"/>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1150">
                <a:solidFill>
                  <a:srgbClr val="0F172A"/>
                </a:solidFill>
                <a:latin typeface="Quattrocento Sans"/>
                <a:ea typeface="Quattrocento Sans"/>
                <a:cs typeface="Quattrocento Sans"/>
                <a:sym typeface="Quattrocento Sans"/>
              </a:rPr>
              <a:t>Private Code Repository</a:t>
            </a:r>
            <a:endParaRPr b="1" sz="115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00">
                <a:solidFill>
                  <a:srgbClr val="334155"/>
                </a:solidFill>
                <a:latin typeface="Quattrocento Sans"/>
                <a:ea typeface="Quattrocento Sans"/>
                <a:cs typeface="Quattrocento Sans"/>
                <a:sym typeface="Quattrocento Sans"/>
              </a:rPr>
              <a:t>Shared GitHub repository with tutor and unit coordinator</a:t>
            </a:r>
            <a:endParaRPr sz="1000">
              <a:solidFill>
                <a:srgbClr val="334155"/>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1150">
                <a:solidFill>
                  <a:srgbClr val="0F172A"/>
                </a:solidFill>
                <a:latin typeface="Quattrocento Sans"/>
                <a:ea typeface="Quattrocento Sans"/>
                <a:cs typeface="Quattrocento Sans"/>
                <a:sym typeface="Quattrocento Sans"/>
              </a:rPr>
              <a:t>10-Minute Video Presentation</a:t>
            </a:r>
            <a:endParaRPr b="1" sz="115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00">
                <a:solidFill>
                  <a:srgbClr val="334155"/>
                </a:solidFill>
                <a:latin typeface="Quattrocento Sans"/>
                <a:ea typeface="Quattrocento Sans"/>
                <a:cs typeface="Quattrocento Sans"/>
                <a:sym typeface="Quattrocento Sans"/>
              </a:rPr>
              <a:t>Screen and webcam demonstration of layouts, gestures, transitions, code</a:t>
            </a:r>
            <a:endParaRPr sz="1000">
              <a:solidFill>
                <a:srgbClr val="334155"/>
              </a:solidFill>
              <a:latin typeface="Quattrocento Sans"/>
              <a:ea typeface="Quattrocento Sans"/>
              <a:cs typeface="Quattrocento Sans"/>
              <a:sym typeface="Quattrocento Sans"/>
            </a:endParaRPr>
          </a:p>
        </p:txBody>
      </p:sp>
      <p:sp>
        <p:nvSpPr>
          <p:cNvPr id="16" name="Google Shape;16;h6ffd9dcf553fd4c2_0_11"/>
          <p:cNvSpPr/>
          <p:nvPr/>
        </p:nvSpPr>
        <p:spPr>
          <a:xfrm>
            <a:off x="533400" y="6400800"/>
            <a:ext cx="11125200" cy="285900"/>
          </a:xfrm>
          <a:prstGeom prst="roundRect">
            <a:avLst>
              <a:gd fmla="val 2000" name="adj"/>
            </a:avLst>
          </a:prstGeom>
          <a:solidFill>
            <a:srgbClr val="000000">
              <a:alpha val="0"/>
            </a:srgbClr>
          </a:solidFill>
          <a:ln>
            <a:noFill/>
          </a:ln>
        </p:spPr>
        <p:txBody>
          <a:bodyPr anchorCtr="0" anchor="t" bIns="0" lIns="0" spcFirstLastPara="1" rIns="0" wrap="square" tIns="0">
            <a:noAutofit/>
          </a:bodyPr>
          <a:lstStyle/>
          <a:p>
            <a:pPr indent="0" lvl="0" marL="0" rtl="0" algn="ctr">
              <a:spcBef>
                <a:spcPts val="0"/>
              </a:spcBef>
              <a:spcAft>
                <a:spcPts val="0"/>
              </a:spcAft>
              <a:buNone/>
            </a:pPr>
            <a:r>
              <a:rPr lang="en-US" sz="850">
                <a:solidFill>
                  <a:srgbClr val="94A3B8"/>
                </a:solidFill>
                <a:latin typeface="Quattrocento Sans"/>
                <a:ea typeface="Quattrocento Sans"/>
                <a:cs typeface="Quattrocento Sans"/>
                <a:sym typeface="Quattrocento Sans"/>
              </a:rPr>
              <a:t>COIT20270 Assignment 4 | Sadiq Salman (12284952) | Elegant Media Australia | Slide 1</a:t>
            </a:r>
            <a:endParaRPr sz="850">
              <a:solidFill>
                <a:srgbClr val="94A3B8"/>
              </a:solidFill>
              <a:latin typeface="Quattrocento Sans"/>
              <a:ea typeface="Quattrocento Sans"/>
              <a:cs typeface="Quattrocento Sans"/>
              <a:sym typeface="Quattrocento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 name="Shape 21"/>
        <p:cNvGrpSpPr/>
        <p:nvPr/>
      </p:nvGrpSpPr>
      <p:grpSpPr>
        <a:xfrm>
          <a:off x="0" y="0"/>
          <a:ext cx="0" cy="0"/>
          <a:chOff x="0" y="0"/>
          <a:chExt cx="0" cy="0"/>
        </a:xfrm>
      </p:grpSpPr>
      <p:sp>
        <p:nvSpPr>
          <p:cNvPr id="22" name="Google Shape;22;p2"/>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540000" y="381000"/>
            <a:ext cx="11112000" cy="857400"/>
          </a:xfrm>
          <a:prstGeom prst="roundRect">
            <a:avLst>
              <a:gd fmla="val 8888" name="adj"/>
            </a:avLst>
          </a:prstGeom>
          <a:solidFill>
            <a:srgbClr val="FFFFFF"/>
          </a:solidFill>
          <a:ln cap="flat" cmpd="sng" w="9525">
            <a:solidFill>
              <a:srgbClr val="E2E8F0"/>
            </a:solidFill>
            <a:prstDash val="solid"/>
            <a:round/>
            <a:headEnd len="sm" w="sm" type="none"/>
            <a:tailEnd len="sm" w="sm" type="none"/>
          </a:ln>
        </p:spPr>
        <p:txBody>
          <a:bodyPr anchorCtr="0" anchor="ctr" bIns="0" lIns="228600" spcFirstLastPara="1" rIns="2286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USER-CENTRED DESIGN &amp; TARGET PERSONA</a:t>
            </a:r>
            <a:endParaRPr b="1" sz="85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1" lang="en-US" sz="1800">
                <a:solidFill>
                  <a:srgbClr val="0F172A"/>
                </a:solidFill>
                <a:latin typeface="Quattrocento Sans"/>
                <a:ea typeface="Quattrocento Sans"/>
                <a:cs typeface="Quattrocento Sans"/>
                <a:sym typeface="Quattrocento Sans"/>
              </a:rPr>
              <a:t>Persona Profile: Founder Fred (Fred R.)</a:t>
            </a:r>
            <a:endParaRPr b="1" sz="85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50">
                <a:solidFill>
                  <a:srgbClr val="475569"/>
                </a:solidFill>
                <a:latin typeface="Quattrocento Sans"/>
                <a:ea typeface="Quattrocento Sans"/>
                <a:cs typeface="Quattrocento Sans"/>
                <a:sym typeface="Quattrocento Sans"/>
              </a:rPr>
              <a:t>42-Year-Old Non-Technical Managing Director (Melbourne, Australia)</a:t>
            </a:r>
            <a:endParaRPr b="1" sz="850">
              <a:solidFill>
                <a:srgbClr val="2563EB"/>
              </a:solidFill>
              <a:latin typeface="Quattrocento Sans"/>
              <a:ea typeface="Quattrocento Sans"/>
              <a:cs typeface="Quattrocento Sans"/>
              <a:sym typeface="Quattrocento Sans"/>
            </a:endParaRPr>
          </a:p>
        </p:txBody>
      </p:sp>
      <p:grpSp>
        <p:nvGrpSpPr>
          <p:cNvPr id="24" name="Google Shape;24;p2"/>
          <p:cNvGrpSpPr/>
          <p:nvPr/>
        </p:nvGrpSpPr>
        <p:grpSpPr>
          <a:xfrm>
            <a:off x="540000" y="1381125"/>
            <a:ext cx="3238500" cy="4810200"/>
            <a:chOff x="0" y="0"/>
            <a:chExt cx="3238500" cy="4810200"/>
          </a:xfrm>
        </p:grpSpPr>
        <p:sp>
          <p:nvSpPr>
            <p:cNvPr id="25" name="Google Shape;25;p2"/>
            <p:cNvSpPr/>
            <p:nvPr/>
          </p:nvSpPr>
          <p:spPr>
            <a:xfrm>
              <a:off x="0" y="0"/>
              <a:ext cx="3238500" cy="4810200"/>
            </a:xfrm>
            <a:prstGeom prst="roundRect">
              <a:avLst>
                <a:gd fmla="val 352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 name="Google Shape;26;p2"/>
            <p:cNvGrpSpPr/>
            <p:nvPr/>
          </p:nvGrpSpPr>
          <p:grpSpPr>
            <a:xfrm>
              <a:off x="985838" y="214313"/>
              <a:ext cx="1266900" cy="1266900"/>
              <a:chOff x="-14287" y="-14287"/>
              <a:chExt cx="1266900" cy="1266900"/>
            </a:xfrm>
          </p:grpSpPr>
          <p:pic>
            <p:nvPicPr>
              <p:cNvPr descr="A professional portrait photograph of a 42-year-old friendly male executive managing director in smart casual business attire against a clean neutral background." id="27" name="Google Shape;27;p2"/>
              <p:cNvPicPr preferRelativeResize="0"/>
              <p:nvPr/>
            </p:nvPicPr>
            <p:blipFill rotWithShape="1">
              <a:blip r:embed="rId4">
                <a:alphaModFix/>
              </a:blip>
              <a:srcRect b="0" l="0" r="0" t="0"/>
              <a:stretch/>
            </p:blipFill>
            <p:spPr>
              <a:xfrm>
                <a:off x="0" y="0"/>
                <a:ext cx="1238400" cy="1238400"/>
              </a:xfrm>
              <a:prstGeom prst="roundRect">
                <a:avLst>
                  <a:gd fmla="val 50000" name="adj"/>
                </a:avLst>
              </a:prstGeom>
              <a:noFill/>
              <a:ln>
                <a:noFill/>
              </a:ln>
            </p:spPr>
          </p:pic>
          <p:pic>
            <p:nvPicPr>
              <p:cNvPr id="28" name="Google Shape;28;p2"/>
              <p:cNvPicPr preferRelativeResize="0"/>
              <p:nvPr/>
            </p:nvPicPr>
            <p:blipFill rotWithShape="1">
              <a:blip r:embed="rId5">
                <a:alphaModFix/>
              </a:blip>
              <a:srcRect b="0" l="0" r="0" t="0"/>
              <a:stretch/>
            </p:blipFill>
            <p:spPr>
              <a:xfrm>
                <a:off x="-14287" y="-14287"/>
                <a:ext cx="1266900" cy="1266900"/>
              </a:xfrm>
              <a:prstGeom prst="rect">
                <a:avLst/>
              </a:prstGeom>
              <a:noFill/>
              <a:ln>
                <a:noFill/>
              </a:ln>
            </p:spPr>
          </p:pic>
        </p:grpSp>
        <p:sp>
          <p:nvSpPr>
            <p:cNvPr id="29" name="Google Shape;29;p2"/>
            <p:cNvSpPr txBox="1"/>
            <p:nvPr/>
          </p:nvSpPr>
          <p:spPr>
            <a:xfrm>
              <a:off x="190500" y="1619250"/>
              <a:ext cx="2857500" cy="3000300"/>
            </a:xfrm>
            <a:prstGeom prst="rect">
              <a:avLst/>
            </a:prstGeom>
            <a:noFill/>
            <a:ln>
              <a:noFill/>
            </a:ln>
          </p:spPr>
          <p:txBody>
            <a:bodyPr anchorCtr="0" anchor="t" bIns="0" lIns="0" spcFirstLastPara="1" rIns="0" wrap="square" tIns="0">
              <a:noAutofit/>
            </a:bodyPr>
            <a:lstStyle/>
            <a:p>
              <a:pPr indent="0" lvl="0" marL="0" rtl="0" algn="ctr">
                <a:spcBef>
                  <a:spcPts val="0"/>
                </a:spcBef>
                <a:spcAft>
                  <a:spcPts val="0"/>
                </a:spcAft>
                <a:buNone/>
              </a:pPr>
              <a:r>
                <a:rPr b="1" lang="en-US" sz="1600">
                  <a:solidFill>
                    <a:srgbClr val="0F172A"/>
                  </a:solidFill>
                  <a:latin typeface="Quattrocento Sans"/>
                  <a:ea typeface="Quattrocento Sans"/>
                  <a:cs typeface="Quattrocento Sans"/>
                  <a:sym typeface="Quattrocento Sans"/>
                </a:rPr>
                <a:t>Fred R. ("Founder Fred")</a:t>
              </a:r>
              <a:endParaRPr b="1" sz="1600">
                <a:solidFill>
                  <a:srgbClr val="0F172A"/>
                </a:solidFill>
                <a:latin typeface="Quattrocento Sans"/>
                <a:ea typeface="Quattrocento Sans"/>
                <a:cs typeface="Quattrocento Sans"/>
                <a:sym typeface="Quattrocento Sans"/>
              </a:endParaRPr>
            </a:p>
            <a:p>
              <a:pPr indent="0" lvl="0" marL="0" rtl="0" algn="ctr">
                <a:spcBef>
                  <a:spcPts val="300"/>
                </a:spcBef>
                <a:spcAft>
                  <a:spcPts val="0"/>
                </a:spcAft>
                <a:buNone/>
              </a:pPr>
              <a:r>
                <a:rPr b="1" lang="en-US" sz="1050">
                  <a:solidFill>
                    <a:srgbClr val="2563EB"/>
                  </a:solidFill>
                  <a:latin typeface="Quattrocento Sans"/>
                  <a:ea typeface="Quattrocento Sans"/>
                  <a:cs typeface="Quattrocento Sans"/>
                  <a:sym typeface="Quattrocento Sans"/>
                </a:rPr>
                <a:t>Managing Director</a:t>
              </a:r>
              <a:endParaRPr b="1" sz="1050">
                <a:solidFill>
                  <a:srgbClr val="2563EB"/>
                </a:solidFill>
                <a:latin typeface="Quattrocento Sans"/>
                <a:ea typeface="Quattrocento Sans"/>
                <a:cs typeface="Quattrocento Sans"/>
                <a:sym typeface="Quattrocento Sans"/>
              </a:endParaRPr>
            </a:p>
            <a:p>
              <a:pPr indent="0" lvl="0" marL="0" rtl="0" algn="ctr">
                <a:spcBef>
                  <a:spcPts val="150"/>
                </a:spcBef>
                <a:spcAft>
                  <a:spcPts val="0"/>
                </a:spcAft>
                <a:buNone/>
              </a:pPr>
              <a:r>
                <a:rPr lang="en-US" sz="950">
                  <a:solidFill>
                    <a:srgbClr val="64748B"/>
                  </a:solidFill>
                  <a:latin typeface="Quattrocento Sans"/>
                  <a:ea typeface="Quattrocento Sans"/>
                  <a:cs typeface="Quattrocento Sans"/>
                  <a:sym typeface="Quattrocento Sans"/>
                </a:rPr>
                <a:t>42 Years Old • Melbourne, AU</a:t>
              </a:r>
              <a:endParaRPr sz="950">
                <a:solidFill>
                  <a:srgbClr val="64748B"/>
                </a:solidFill>
                <a:latin typeface="Quattrocento Sans"/>
                <a:ea typeface="Quattrocento Sans"/>
                <a:cs typeface="Quattrocento Sans"/>
                <a:sym typeface="Quattrocento Sans"/>
              </a:endParaRPr>
            </a:p>
            <a:p>
              <a:pPr indent="0" lvl="0" marL="0" rtl="0" algn="ctr">
                <a:spcBef>
                  <a:spcPts val="1200"/>
                </a:spcBef>
                <a:spcAft>
                  <a:spcPts val="0"/>
                </a:spcAft>
                <a:buNone/>
              </a:pPr>
              <a:r>
                <a:rPr b="1" lang="en-US" sz="900">
                  <a:solidFill>
                    <a:srgbClr val="475569"/>
                  </a:solidFill>
                  <a:highlight>
                    <a:srgbClr val="E2E8F0"/>
                  </a:highlight>
                  <a:latin typeface="Quattrocento Sans"/>
                  <a:ea typeface="Quattrocento Sans"/>
                  <a:cs typeface="Quattrocento Sans"/>
                  <a:sym typeface="Quattrocento Sans"/>
                </a:rPr>
                <a:t>Core Characteristics</a:t>
              </a:r>
              <a:endParaRPr b="1" sz="900">
                <a:solidFill>
                  <a:srgbClr val="475569"/>
                </a:solidFill>
                <a:highlight>
                  <a:srgbClr val="E2E8F0"/>
                </a:highlight>
                <a:latin typeface="Quattrocento Sans"/>
                <a:ea typeface="Quattrocento Sans"/>
                <a:cs typeface="Quattrocento Sans"/>
                <a:sym typeface="Quattrocento Sans"/>
              </a:endParaRPr>
            </a:p>
            <a:p>
              <a:pPr indent="0" lvl="0" marL="0" rtl="0" algn="ctr">
                <a:spcBef>
                  <a:spcPts val="600"/>
                </a:spcBef>
                <a:spcAft>
                  <a:spcPts val="0"/>
                </a:spcAft>
                <a:buNone/>
              </a:pPr>
              <a:r>
                <a:rPr b="1" lang="en-US" sz="950">
                  <a:solidFill>
                    <a:srgbClr val="1E40AF"/>
                  </a:solidFill>
                  <a:highlight>
                    <a:srgbClr val="EFF6FF"/>
                  </a:highlight>
                  <a:latin typeface="Quattrocento Sans"/>
                  <a:ea typeface="Quattrocento Sans"/>
                  <a:cs typeface="Quattrocento Sans"/>
                  <a:sym typeface="Quattrocento Sans"/>
                </a:rPr>
                <a:t>Non-Technical Executive</a:t>
              </a:r>
              <a:endParaRPr b="1" sz="950">
                <a:solidFill>
                  <a:srgbClr val="1E40AF"/>
                </a:solidFill>
                <a:highlight>
                  <a:srgbClr val="EFF6FF"/>
                </a:highlight>
                <a:latin typeface="Quattrocento Sans"/>
                <a:ea typeface="Quattrocento Sans"/>
                <a:cs typeface="Quattrocento Sans"/>
                <a:sym typeface="Quattrocento Sans"/>
              </a:endParaRPr>
            </a:p>
            <a:p>
              <a:pPr indent="0" lvl="0" marL="0" rtl="0" algn="ctr">
                <a:spcBef>
                  <a:spcPts val="450"/>
                </a:spcBef>
                <a:spcAft>
                  <a:spcPts val="0"/>
                </a:spcAft>
                <a:buNone/>
              </a:pPr>
              <a:r>
                <a:rPr b="1" lang="en-US" sz="950">
                  <a:solidFill>
                    <a:srgbClr val="334155"/>
                  </a:solidFill>
                  <a:highlight>
                    <a:srgbClr val="F1F5F9"/>
                  </a:highlight>
                  <a:latin typeface="Quattrocento Sans"/>
                  <a:ea typeface="Quattrocento Sans"/>
                  <a:cs typeface="Quattrocento Sans"/>
                  <a:sym typeface="Quattrocento Sans"/>
                </a:rPr>
                <a:t>Retail Business Owner</a:t>
              </a:r>
              <a:endParaRPr b="1" sz="950">
                <a:solidFill>
                  <a:srgbClr val="334155"/>
                </a:solidFill>
                <a:highlight>
                  <a:srgbClr val="F1F5F9"/>
                </a:highlight>
                <a:latin typeface="Quattrocento Sans"/>
                <a:ea typeface="Quattrocento Sans"/>
                <a:cs typeface="Quattrocento Sans"/>
                <a:sym typeface="Quattrocento Sans"/>
              </a:endParaRPr>
            </a:p>
            <a:p>
              <a:pPr indent="0" lvl="0" marL="0" rtl="0" algn="ctr">
                <a:spcBef>
                  <a:spcPts val="450"/>
                </a:spcBef>
                <a:spcAft>
                  <a:spcPts val="1200"/>
                </a:spcAft>
                <a:buNone/>
              </a:pPr>
              <a:r>
                <a:rPr b="1" lang="en-US" sz="950">
                  <a:solidFill>
                    <a:srgbClr val="92400E"/>
                  </a:solidFill>
                  <a:highlight>
                    <a:srgbClr val="FEF3C7"/>
                  </a:highlight>
                  <a:latin typeface="Quattrocento Sans"/>
                  <a:ea typeface="Quattrocento Sans"/>
                  <a:cs typeface="Quattrocento Sans"/>
                  <a:sym typeface="Quattrocento Sans"/>
                </a:rPr>
                <a:t>On-the-Go Mobile User</a:t>
              </a:r>
              <a:endParaRPr b="1" sz="950">
                <a:solidFill>
                  <a:srgbClr val="92400E"/>
                </a:solidFill>
                <a:highlight>
                  <a:srgbClr val="FEF3C7"/>
                </a:highlight>
                <a:latin typeface="Quattrocento Sans"/>
                <a:ea typeface="Quattrocento Sans"/>
                <a:cs typeface="Quattrocento Sans"/>
                <a:sym typeface="Quattrocento Sans"/>
              </a:endParaRPr>
            </a:p>
          </p:txBody>
        </p:sp>
      </p:grpSp>
      <p:grpSp>
        <p:nvGrpSpPr>
          <p:cNvPr id="30" name="Google Shape;30;p2"/>
          <p:cNvGrpSpPr/>
          <p:nvPr/>
        </p:nvGrpSpPr>
        <p:grpSpPr>
          <a:xfrm>
            <a:off x="3969000" y="1381125"/>
            <a:ext cx="7683035" cy="2343150"/>
            <a:chOff x="0" y="0"/>
            <a:chExt cx="7683035" cy="2343150"/>
          </a:xfrm>
        </p:grpSpPr>
        <p:sp>
          <p:nvSpPr>
            <p:cNvPr id="31" name="Google Shape;31;p2"/>
            <p:cNvSpPr txBox="1"/>
            <p:nvPr/>
          </p:nvSpPr>
          <p:spPr>
            <a:xfrm>
              <a:off x="0" y="0"/>
              <a:ext cx="7683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50">
                  <a:solidFill>
                    <a:srgbClr val="1F3864"/>
                  </a:solidFill>
                  <a:latin typeface="Quattrocento Sans"/>
                  <a:ea typeface="Quattrocento Sans"/>
                  <a:cs typeface="Quattrocento Sans"/>
                  <a:sym typeface="Quattrocento Sans"/>
                </a:rPr>
                <a:t>Empirical Behavioral Patterns &amp; Context</a:t>
              </a:r>
              <a:endParaRPr b="1" sz="1350">
                <a:solidFill>
                  <a:srgbClr val="1F3864"/>
                </a:solidFill>
                <a:latin typeface="Quattrocento Sans"/>
                <a:ea typeface="Quattrocento Sans"/>
                <a:cs typeface="Quattrocento Sans"/>
                <a:sym typeface="Quattrocento Sans"/>
              </a:endParaRPr>
            </a:p>
          </p:txBody>
        </p:sp>
        <p:grpSp>
          <p:nvGrpSpPr>
            <p:cNvPr id="32" name="Google Shape;32;p2"/>
            <p:cNvGrpSpPr/>
            <p:nvPr/>
          </p:nvGrpSpPr>
          <p:grpSpPr>
            <a:xfrm>
              <a:off x="0" y="342900"/>
              <a:ext cx="3743400" cy="952500"/>
              <a:chOff x="0" y="0"/>
              <a:chExt cx="3743400" cy="952500"/>
            </a:xfrm>
          </p:grpSpPr>
          <p:sp>
            <p:nvSpPr>
              <p:cNvPr id="33" name="Google Shape;33;p2"/>
              <p:cNvSpPr/>
              <p:nvPr/>
            </p:nvSpPr>
            <p:spPr>
              <a:xfrm>
                <a:off x="0" y="0"/>
                <a:ext cx="3743400" cy="9525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 name="Google Shape;34;p2"/>
              <p:cNvSpPr txBox="1"/>
              <p:nvPr/>
            </p:nvSpPr>
            <p:spPr>
              <a:xfrm>
                <a:off x="152400" y="114300"/>
                <a:ext cx="3438600" cy="72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Occupation</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00">
                    <a:solidFill>
                      <a:srgbClr val="334155"/>
                    </a:solidFill>
                    <a:latin typeface="Quattrocento Sans"/>
                    <a:ea typeface="Quattrocento Sans"/>
                    <a:cs typeface="Quattrocento Sans"/>
                    <a:sym typeface="Quattrocento Sans"/>
                  </a:rPr>
                  <a:t>Managing Director of a retail business commissioning custom software.</a:t>
                </a:r>
                <a:endParaRPr sz="1000">
                  <a:solidFill>
                    <a:srgbClr val="334155"/>
                  </a:solidFill>
                  <a:latin typeface="Quattrocento Sans"/>
                  <a:ea typeface="Quattrocento Sans"/>
                  <a:cs typeface="Quattrocento Sans"/>
                  <a:sym typeface="Quattrocento Sans"/>
                </a:endParaRPr>
              </a:p>
            </p:txBody>
          </p:sp>
        </p:grpSp>
        <p:grpSp>
          <p:nvGrpSpPr>
            <p:cNvPr id="35" name="Google Shape;35;p2"/>
            <p:cNvGrpSpPr/>
            <p:nvPr/>
          </p:nvGrpSpPr>
          <p:grpSpPr>
            <a:xfrm>
              <a:off x="3939635" y="342900"/>
              <a:ext cx="3743400" cy="952500"/>
              <a:chOff x="0" y="0"/>
              <a:chExt cx="3743400" cy="952500"/>
            </a:xfrm>
          </p:grpSpPr>
          <p:sp>
            <p:nvSpPr>
              <p:cNvPr id="36" name="Google Shape;36;p2"/>
              <p:cNvSpPr/>
              <p:nvPr/>
            </p:nvSpPr>
            <p:spPr>
              <a:xfrm>
                <a:off x="0" y="0"/>
                <a:ext cx="3743400" cy="9525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 name="Google Shape;37;p2"/>
              <p:cNvSpPr txBox="1"/>
              <p:nvPr/>
            </p:nvSpPr>
            <p:spPr>
              <a:xfrm>
                <a:off x="152400" y="114300"/>
                <a:ext cx="3438600" cy="72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Micro-Usage Pattern</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00">
                    <a:solidFill>
                      <a:srgbClr val="334155"/>
                    </a:solidFill>
                    <a:latin typeface="Quattrocento Sans"/>
                    <a:ea typeface="Quattrocento Sans"/>
                    <a:cs typeface="Quattrocento Sans"/>
                    <a:sym typeface="Quattrocento Sans"/>
                  </a:rPr>
                  <a:t>Operates in 10-to-60-second micro-sessions between warehouse floor checks.</a:t>
                </a:r>
                <a:endParaRPr sz="1000">
                  <a:solidFill>
                    <a:srgbClr val="334155"/>
                  </a:solidFill>
                  <a:latin typeface="Quattrocento Sans"/>
                  <a:ea typeface="Quattrocento Sans"/>
                  <a:cs typeface="Quattrocento Sans"/>
                  <a:sym typeface="Quattrocento Sans"/>
                </a:endParaRPr>
              </a:p>
            </p:txBody>
          </p:sp>
        </p:grpSp>
        <p:grpSp>
          <p:nvGrpSpPr>
            <p:cNvPr id="38" name="Google Shape;38;p2"/>
            <p:cNvGrpSpPr/>
            <p:nvPr/>
          </p:nvGrpSpPr>
          <p:grpSpPr>
            <a:xfrm>
              <a:off x="0" y="1390650"/>
              <a:ext cx="3743400" cy="952500"/>
              <a:chOff x="0" y="0"/>
              <a:chExt cx="3743400" cy="952500"/>
            </a:xfrm>
          </p:grpSpPr>
          <p:sp>
            <p:nvSpPr>
              <p:cNvPr id="39" name="Google Shape;39;p2"/>
              <p:cNvSpPr/>
              <p:nvPr/>
            </p:nvSpPr>
            <p:spPr>
              <a:xfrm>
                <a:off x="0" y="0"/>
                <a:ext cx="3743400" cy="9525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 name="Google Shape;40;p2"/>
              <p:cNvSpPr txBox="1"/>
              <p:nvPr/>
            </p:nvSpPr>
            <p:spPr>
              <a:xfrm>
                <a:off x="152400" y="114300"/>
                <a:ext cx="3438600" cy="72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Technical Literacy</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00">
                    <a:solidFill>
                      <a:srgbClr val="334155"/>
                    </a:solidFill>
                    <a:latin typeface="Quattrocento Sans"/>
                    <a:ea typeface="Quattrocento Sans"/>
                    <a:cs typeface="Quattrocento Sans"/>
                    <a:sym typeface="Quattrocento Sans"/>
                  </a:rPr>
                  <a:t>Non-technical executive overwhelmed by raw developer tooling (Jira, Git, CI/CD).</a:t>
                </a:r>
                <a:endParaRPr sz="1000">
                  <a:solidFill>
                    <a:srgbClr val="334155"/>
                  </a:solidFill>
                  <a:latin typeface="Quattrocento Sans"/>
                  <a:ea typeface="Quattrocento Sans"/>
                  <a:cs typeface="Quattrocento Sans"/>
                  <a:sym typeface="Quattrocento Sans"/>
                </a:endParaRPr>
              </a:p>
            </p:txBody>
          </p:sp>
        </p:grpSp>
        <p:grpSp>
          <p:nvGrpSpPr>
            <p:cNvPr id="41" name="Google Shape;41;p2"/>
            <p:cNvGrpSpPr/>
            <p:nvPr/>
          </p:nvGrpSpPr>
          <p:grpSpPr>
            <a:xfrm>
              <a:off x="3939635" y="1390650"/>
              <a:ext cx="3743400" cy="952500"/>
              <a:chOff x="0" y="0"/>
              <a:chExt cx="3743400" cy="952500"/>
            </a:xfrm>
          </p:grpSpPr>
          <p:sp>
            <p:nvSpPr>
              <p:cNvPr id="42" name="Google Shape;42;p2"/>
              <p:cNvSpPr/>
              <p:nvPr/>
            </p:nvSpPr>
            <p:spPr>
              <a:xfrm>
                <a:off x="0" y="0"/>
                <a:ext cx="3743400" cy="952500"/>
              </a:xfrm>
              <a:prstGeom prst="roundRect">
                <a:avLst>
                  <a:gd fmla="val 800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 name="Google Shape;43;p2"/>
              <p:cNvSpPr txBox="1"/>
              <p:nvPr/>
            </p:nvSpPr>
            <p:spPr>
              <a:xfrm>
                <a:off x="152400" y="114300"/>
                <a:ext cx="3438600" cy="723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1100">
                    <a:solidFill>
                      <a:srgbClr val="2563EB"/>
                    </a:solidFill>
                    <a:latin typeface="Quattrocento Sans"/>
                    <a:ea typeface="Quattrocento Sans"/>
                    <a:cs typeface="Quattrocento Sans"/>
                    <a:sym typeface="Quattrocento Sans"/>
                  </a:rPr>
                  <a:t>Environmental Reality</a:t>
                </a:r>
                <a:endParaRPr b="1" sz="110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lang="en-US" sz="1000">
                    <a:solidFill>
                      <a:srgbClr val="334155"/>
                    </a:solidFill>
                    <a:latin typeface="Quattrocento Sans"/>
                    <a:ea typeface="Quattrocento Sans"/>
                    <a:cs typeface="Quattrocento Sans"/>
                    <a:sym typeface="Quattrocento Sans"/>
                  </a:rPr>
                  <a:t>Regularly checks project updates on his phone outdoors under harsh sunlight.</a:t>
                </a:r>
                <a:endParaRPr sz="1000">
                  <a:solidFill>
                    <a:srgbClr val="334155"/>
                  </a:solidFill>
                  <a:latin typeface="Quattrocento Sans"/>
                  <a:ea typeface="Quattrocento Sans"/>
                  <a:cs typeface="Quattrocento Sans"/>
                  <a:sym typeface="Quattrocento Sans"/>
                </a:endParaRPr>
              </a:p>
            </p:txBody>
          </p:sp>
        </p:grpSp>
      </p:grpSp>
      <p:grpSp>
        <p:nvGrpSpPr>
          <p:cNvPr id="44" name="Google Shape;44;p2"/>
          <p:cNvGrpSpPr/>
          <p:nvPr/>
        </p:nvGrpSpPr>
        <p:grpSpPr>
          <a:xfrm>
            <a:off x="3969000" y="3857625"/>
            <a:ext cx="7683000" cy="2333700"/>
            <a:chOff x="0" y="0"/>
            <a:chExt cx="7683000" cy="2333700"/>
          </a:xfrm>
        </p:grpSpPr>
        <p:sp>
          <p:nvSpPr>
            <p:cNvPr id="45" name="Google Shape;45;p2"/>
            <p:cNvSpPr txBox="1"/>
            <p:nvPr/>
          </p:nvSpPr>
          <p:spPr>
            <a:xfrm>
              <a:off x="0" y="0"/>
              <a:ext cx="7683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50">
                  <a:solidFill>
                    <a:srgbClr val="1F3864"/>
                  </a:solidFill>
                  <a:latin typeface="Quattrocento Sans"/>
                  <a:ea typeface="Quattrocento Sans"/>
                  <a:cs typeface="Quattrocento Sans"/>
                  <a:sym typeface="Quattrocento Sans"/>
                </a:rPr>
                <a:t>Cognitive &amp; Architectural Guardrails</a:t>
              </a:r>
              <a:endParaRPr b="1" sz="1350">
                <a:solidFill>
                  <a:srgbClr val="1F3864"/>
                </a:solidFill>
                <a:latin typeface="Quattrocento Sans"/>
                <a:ea typeface="Quattrocento Sans"/>
                <a:cs typeface="Quattrocento Sans"/>
                <a:sym typeface="Quattrocento Sans"/>
              </a:endParaRPr>
            </a:p>
          </p:txBody>
        </p:sp>
        <p:grpSp>
          <p:nvGrpSpPr>
            <p:cNvPr id="46" name="Google Shape;46;p2"/>
            <p:cNvGrpSpPr/>
            <p:nvPr/>
          </p:nvGrpSpPr>
          <p:grpSpPr>
            <a:xfrm>
              <a:off x="0" y="342900"/>
              <a:ext cx="2428800" cy="1990800"/>
              <a:chOff x="0" y="0"/>
              <a:chExt cx="2428800" cy="1990800"/>
            </a:xfrm>
          </p:grpSpPr>
          <p:sp>
            <p:nvSpPr>
              <p:cNvPr id="47" name="Google Shape;47;p2"/>
              <p:cNvSpPr/>
              <p:nvPr/>
            </p:nvSpPr>
            <p:spPr>
              <a:xfrm>
                <a:off x="0" y="0"/>
                <a:ext cx="2428800" cy="1990800"/>
              </a:xfrm>
              <a:prstGeom prst="roundRect">
                <a:avLst>
                  <a:gd fmla="val 4784" name="adj"/>
                </a:avLst>
              </a:prstGeom>
              <a:solidFill>
                <a:srgbClr val="FFFFFF"/>
              </a:solidFill>
              <a:ln cap="flat" cmpd="sng" w="1430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 name="Google Shape;48;p2"/>
              <p:cNvSpPr/>
              <p:nvPr/>
            </p:nvSpPr>
            <p:spPr>
              <a:xfrm>
                <a:off x="0" y="0"/>
                <a:ext cx="2428800" cy="57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 name="Google Shape;49;p2"/>
              <p:cNvSpPr txBox="1"/>
              <p:nvPr/>
            </p:nvSpPr>
            <p:spPr>
              <a:xfrm>
                <a:off x="152400" y="190500"/>
                <a:ext cx="2124000" cy="16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172A"/>
                    </a:solidFill>
                    <a:latin typeface="Quattrocento Sans"/>
                    <a:ea typeface="Quattrocento Sans"/>
                    <a:cs typeface="Quattrocento Sans"/>
                    <a:sym typeface="Quattrocento Sans"/>
                  </a:rPr>
                  <a:t>Technostress Mitigation</a:t>
                </a:r>
                <a:endParaRPr b="1" sz="1100">
                  <a:solidFill>
                    <a:srgbClr val="0F172A"/>
                  </a:solidFill>
                  <a:latin typeface="Quattrocento Sans"/>
                  <a:ea typeface="Quattrocento Sans"/>
                  <a:cs typeface="Quattrocento Sans"/>
                  <a:sym typeface="Quattrocento Sans"/>
                </a:endParaRPr>
              </a:p>
              <a:p>
                <a:pPr indent="0" lvl="0" marL="0" rtl="0" algn="l">
                  <a:spcBef>
                    <a:spcPts val="600"/>
                  </a:spcBef>
                  <a:spcAft>
                    <a:spcPts val="0"/>
                  </a:spcAft>
                  <a:buNone/>
                </a:pPr>
                <a:r>
                  <a:rPr lang="en-US" sz="1000">
                    <a:solidFill>
                      <a:srgbClr val="334155"/>
                    </a:solidFill>
                    <a:latin typeface="Quattrocento Sans"/>
                    <a:ea typeface="Quattrocento Sans"/>
                    <a:cs typeface="Quattrocento Sans"/>
                    <a:sym typeface="Quattrocento Sans"/>
                  </a:rPr>
                  <a:t>Shields Fred from developer jargon; translates churn into plain-language indicators.</a:t>
                </a:r>
                <a:endParaRPr sz="1000">
                  <a:solidFill>
                    <a:srgbClr val="334155"/>
                  </a:solidFill>
                  <a:latin typeface="Quattrocento Sans"/>
                  <a:ea typeface="Quattrocento Sans"/>
                  <a:cs typeface="Quattrocento Sans"/>
                  <a:sym typeface="Quattrocento Sans"/>
                </a:endParaRPr>
              </a:p>
            </p:txBody>
          </p:sp>
        </p:grpSp>
        <p:grpSp>
          <p:nvGrpSpPr>
            <p:cNvPr id="50" name="Google Shape;50;p2"/>
            <p:cNvGrpSpPr/>
            <p:nvPr/>
          </p:nvGrpSpPr>
          <p:grpSpPr>
            <a:xfrm>
              <a:off x="2626995" y="342900"/>
              <a:ext cx="2428800" cy="1990800"/>
              <a:chOff x="0" y="0"/>
              <a:chExt cx="2428800" cy="1990800"/>
            </a:xfrm>
          </p:grpSpPr>
          <p:sp>
            <p:nvSpPr>
              <p:cNvPr id="51" name="Google Shape;51;p2"/>
              <p:cNvSpPr/>
              <p:nvPr/>
            </p:nvSpPr>
            <p:spPr>
              <a:xfrm>
                <a:off x="0" y="0"/>
                <a:ext cx="2428800" cy="1990800"/>
              </a:xfrm>
              <a:prstGeom prst="roundRect">
                <a:avLst>
                  <a:gd fmla="val 4784" name="adj"/>
                </a:avLst>
              </a:prstGeom>
              <a:solidFill>
                <a:srgbClr val="FFFFFF"/>
              </a:solidFill>
              <a:ln cap="flat" cmpd="sng" w="14300">
                <a:solidFill>
                  <a:srgbClr val="059669"/>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2" name="Google Shape;52;p2"/>
              <p:cNvSpPr/>
              <p:nvPr/>
            </p:nvSpPr>
            <p:spPr>
              <a:xfrm>
                <a:off x="0" y="0"/>
                <a:ext cx="2428800" cy="573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3" name="Google Shape;53;p2"/>
              <p:cNvSpPr txBox="1"/>
              <p:nvPr/>
            </p:nvSpPr>
            <p:spPr>
              <a:xfrm>
                <a:off x="152400" y="190500"/>
                <a:ext cx="2124000" cy="16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172A"/>
                    </a:solidFill>
                    <a:latin typeface="Quattrocento Sans"/>
                    <a:ea typeface="Quattrocento Sans"/>
                    <a:cs typeface="Quattrocento Sans"/>
                    <a:sym typeface="Quattrocento Sans"/>
                  </a:rPr>
                  <a:t>High-Contrast Legibility</a:t>
                </a:r>
                <a:endParaRPr b="1" sz="1100">
                  <a:solidFill>
                    <a:srgbClr val="0F172A"/>
                  </a:solidFill>
                  <a:latin typeface="Quattrocento Sans"/>
                  <a:ea typeface="Quattrocento Sans"/>
                  <a:cs typeface="Quattrocento Sans"/>
                  <a:sym typeface="Quattrocento Sans"/>
                </a:endParaRPr>
              </a:p>
              <a:p>
                <a:pPr indent="0" lvl="0" marL="0" rtl="0" algn="l">
                  <a:spcBef>
                    <a:spcPts val="600"/>
                  </a:spcBef>
                  <a:spcAft>
                    <a:spcPts val="0"/>
                  </a:spcAft>
                  <a:buNone/>
                </a:pPr>
                <a:r>
                  <a:rPr lang="en-US" sz="1000">
                    <a:solidFill>
                      <a:srgbClr val="334155"/>
                    </a:solidFill>
                    <a:latin typeface="Quattrocento Sans"/>
                    <a:ea typeface="Quattrocento Sans"/>
                    <a:cs typeface="Quattrocento Sans"/>
                    <a:sym typeface="Quattrocento Sans"/>
                  </a:rPr>
                  <a:t>Enforces WCAG 2.1 AA standards (&gt;=4.5:1 contrast) and anti-glare surfaces.</a:t>
                </a:r>
                <a:endParaRPr sz="1000">
                  <a:solidFill>
                    <a:srgbClr val="334155"/>
                  </a:solidFill>
                  <a:latin typeface="Quattrocento Sans"/>
                  <a:ea typeface="Quattrocento Sans"/>
                  <a:cs typeface="Quattrocento Sans"/>
                  <a:sym typeface="Quattrocento Sans"/>
                </a:endParaRPr>
              </a:p>
            </p:txBody>
          </p:sp>
        </p:grpSp>
        <p:grpSp>
          <p:nvGrpSpPr>
            <p:cNvPr id="54" name="Google Shape;54;p2"/>
            <p:cNvGrpSpPr/>
            <p:nvPr/>
          </p:nvGrpSpPr>
          <p:grpSpPr>
            <a:xfrm>
              <a:off x="5254085" y="342900"/>
              <a:ext cx="2428800" cy="1990800"/>
              <a:chOff x="0" y="0"/>
              <a:chExt cx="2428800" cy="1990800"/>
            </a:xfrm>
          </p:grpSpPr>
          <p:sp>
            <p:nvSpPr>
              <p:cNvPr id="55" name="Google Shape;55;p2"/>
              <p:cNvSpPr/>
              <p:nvPr/>
            </p:nvSpPr>
            <p:spPr>
              <a:xfrm>
                <a:off x="0" y="0"/>
                <a:ext cx="2428800" cy="1990800"/>
              </a:xfrm>
              <a:prstGeom prst="roundRect">
                <a:avLst>
                  <a:gd fmla="val 4784" name="adj"/>
                </a:avLst>
              </a:prstGeom>
              <a:solidFill>
                <a:srgbClr val="FFFFFF"/>
              </a:solidFill>
              <a:ln cap="flat" cmpd="sng" w="14300">
                <a:solidFill>
                  <a:srgbClr val="D9770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6" name="Google Shape;56;p2"/>
              <p:cNvSpPr/>
              <p:nvPr/>
            </p:nvSpPr>
            <p:spPr>
              <a:xfrm>
                <a:off x="0" y="0"/>
                <a:ext cx="2428800" cy="57300"/>
              </a:xfrm>
              <a:prstGeom prst="roundRect">
                <a:avLst>
                  <a:gd fmla="val 50000" name="adj"/>
                </a:avLst>
              </a:prstGeom>
              <a:solidFill>
                <a:srgbClr val="D9770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7" name="Google Shape;57;p2"/>
              <p:cNvSpPr txBox="1"/>
              <p:nvPr/>
            </p:nvSpPr>
            <p:spPr>
              <a:xfrm>
                <a:off x="152400" y="190500"/>
                <a:ext cx="2124000" cy="16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100">
                    <a:solidFill>
                      <a:srgbClr val="0F172A"/>
                    </a:solidFill>
                    <a:latin typeface="Quattrocento Sans"/>
                    <a:ea typeface="Quattrocento Sans"/>
                    <a:cs typeface="Quattrocento Sans"/>
                    <a:sym typeface="Quattrocento Sans"/>
                  </a:rPr>
                  <a:t>Glanceability</a:t>
                </a:r>
                <a:endParaRPr b="1" sz="1100">
                  <a:solidFill>
                    <a:srgbClr val="0F172A"/>
                  </a:solidFill>
                  <a:latin typeface="Quattrocento Sans"/>
                  <a:ea typeface="Quattrocento Sans"/>
                  <a:cs typeface="Quattrocento Sans"/>
                  <a:sym typeface="Quattrocento Sans"/>
                </a:endParaRPr>
              </a:p>
              <a:p>
                <a:pPr indent="0" lvl="0" marL="0" rtl="0" algn="l">
                  <a:spcBef>
                    <a:spcPts val="600"/>
                  </a:spcBef>
                  <a:spcAft>
                    <a:spcPts val="0"/>
                  </a:spcAft>
                  <a:buNone/>
                </a:pPr>
                <a:r>
                  <a:rPr lang="en-US" sz="1000">
                    <a:solidFill>
                      <a:srgbClr val="334155"/>
                    </a:solidFill>
                    <a:latin typeface="Quattrocento Sans"/>
                    <a:ea typeface="Quattrocento Sans"/>
                    <a:cs typeface="Quattrocento Sans"/>
                    <a:sym typeface="Quattrocento Sans"/>
                  </a:rPr>
                  <a:t>Ambient traffic-light health cards and next actions accessible in under 10 seconds.</a:t>
                </a:r>
                <a:endParaRPr sz="1000">
                  <a:solidFill>
                    <a:srgbClr val="334155"/>
                  </a:solidFill>
                  <a:latin typeface="Quattrocento Sans"/>
                  <a:ea typeface="Quattrocento Sans"/>
                  <a:cs typeface="Quattrocento Sans"/>
                  <a:sym typeface="Quattrocento Sans"/>
                </a:endParaRPr>
              </a:p>
            </p:txBody>
          </p:sp>
        </p:grpSp>
      </p:grpSp>
      <p:sp>
        <p:nvSpPr>
          <p:cNvPr id="58" name="Google Shape;58;p2"/>
          <p:cNvSpPr/>
          <p:nvPr/>
        </p:nvSpPr>
        <p:spPr>
          <a:xfrm>
            <a:off x="540000" y="6400800"/>
            <a:ext cx="11112000" cy="285900"/>
          </a:xfrm>
          <a:prstGeom prst="roundRect">
            <a:avLst>
              <a:gd fmla="val 2000" name="adj"/>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Quattrocento Sans"/>
                <a:ea typeface="Quattrocento Sans"/>
                <a:cs typeface="Quattrocento Sans"/>
                <a:sym typeface="Quattrocento Sans"/>
              </a:rPr>
              <a:t>COIT20270 Assignment 4 | Sadiq Salman (12284952) | Elegant Media Australia | Slide 2</a:t>
            </a:r>
            <a:endParaRPr b="0" sz="850">
              <a:solidFill>
                <a:srgbClr val="94A3B8"/>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3"/>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3"/>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METHODOLOGY &amp; SYSTEM ARCHITECTURE</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User-Centred Design Framework &amp; System Evolution</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End-to-End Methodological Traceability from Assignment 1 to Assignment 4</a:t>
            </a:r>
            <a:endParaRPr/>
          </a:p>
        </p:txBody>
      </p:sp>
      <p:grpSp>
        <p:nvGrpSpPr>
          <p:cNvPr id="66" name="Google Shape;66;p3"/>
          <p:cNvGrpSpPr/>
          <p:nvPr/>
        </p:nvGrpSpPr>
        <p:grpSpPr>
          <a:xfrm>
            <a:off x="540000" y="1524000"/>
            <a:ext cx="5400000" cy="4667400"/>
            <a:chOff x="0" y="0"/>
            <a:chExt cx="5400000" cy="4667400"/>
          </a:xfrm>
        </p:grpSpPr>
        <p:sp>
          <p:nvSpPr>
            <p:cNvPr id="67" name="Google Shape;67;p3"/>
            <p:cNvSpPr/>
            <p:nvPr/>
          </p:nvSpPr>
          <p:spPr>
            <a:xfrm>
              <a:off x="0" y="0"/>
              <a:ext cx="5400000" cy="4667400"/>
            </a:xfrm>
            <a:prstGeom prst="roundRect">
              <a:avLst>
                <a:gd fmla="val 204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3"/>
            <p:cNvSpPr txBox="1"/>
            <p:nvPr/>
          </p:nvSpPr>
          <p:spPr>
            <a:xfrm>
              <a:off x="190500" y="152400"/>
              <a:ext cx="5019000" cy="285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1F3864"/>
                  </a:solidFill>
                  <a:latin typeface="Quattrocento Sans"/>
                  <a:ea typeface="Quattrocento Sans"/>
                  <a:cs typeface="Quattrocento Sans"/>
                  <a:sym typeface="Quattrocento Sans"/>
                </a:rPr>
                <a:t>Development Progression Across Assessments</a:t>
              </a:r>
              <a:endParaRPr b="1" sz="1300">
                <a:solidFill>
                  <a:srgbClr val="1F3864"/>
                </a:solidFill>
                <a:latin typeface="Quattrocento Sans"/>
                <a:ea typeface="Quattrocento Sans"/>
                <a:cs typeface="Quattrocento Sans"/>
                <a:sym typeface="Quattrocento Sans"/>
              </a:endParaRPr>
            </a:p>
          </p:txBody>
        </p:sp>
        <p:grpSp>
          <p:nvGrpSpPr>
            <p:cNvPr id="69" name="Google Shape;69;p3"/>
            <p:cNvGrpSpPr/>
            <p:nvPr/>
          </p:nvGrpSpPr>
          <p:grpSpPr>
            <a:xfrm>
              <a:off x="190500" y="495300"/>
              <a:ext cx="5019000" cy="495300"/>
              <a:chOff x="0" y="0"/>
              <a:chExt cx="5019000" cy="495300"/>
            </a:xfrm>
          </p:grpSpPr>
          <p:sp>
            <p:nvSpPr>
              <p:cNvPr id="70" name="Google Shape;70;p3"/>
              <p:cNvSpPr/>
              <p:nvPr/>
            </p:nvSpPr>
            <p:spPr>
              <a:xfrm>
                <a:off x="0" y="0"/>
                <a:ext cx="5019000" cy="495300"/>
              </a:xfrm>
              <a:prstGeom prst="roundRect">
                <a:avLst>
                  <a:gd fmla="val 1153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3"/>
              <p:cNvSpPr/>
              <p:nvPr/>
            </p:nvSpPr>
            <p:spPr>
              <a:xfrm>
                <a:off x="114300" y="133350"/>
                <a:ext cx="1047900" cy="2286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3"/>
              <p:cNvSpPr txBox="1"/>
              <p:nvPr/>
            </p:nvSpPr>
            <p:spPr>
              <a:xfrm>
                <a:off x="114300" y="133350"/>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1E40AF"/>
                    </a:solidFill>
                    <a:latin typeface="Quattrocento Sans"/>
                    <a:ea typeface="Quattrocento Sans"/>
                    <a:cs typeface="Quattrocento Sans"/>
                    <a:sym typeface="Quattrocento Sans"/>
                  </a:rPr>
                  <a:t>Assignment 1</a:t>
                </a:r>
                <a:endParaRPr b="1" sz="850">
                  <a:solidFill>
                    <a:srgbClr val="1E40AF"/>
                  </a:solidFill>
                  <a:latin typeface="Quattrocento Sans"/>
                  <a:ea typeface="Quattrocento Sans"/>
                  <a:cs typeface="Quattrocento Sans"/>
                  <a:sym typeface="Quattrocento Sans"/>
                </a:endParaRPr>
              </a:p>
            </p:txBody>
          </p:sp>
          <p:sp>
            <p:nvSpPr>
              <p:cNvPr id="73" name="Google Shape;73;p3"/>
              <p:cNvSpPr txBox="1"/>
              <p:nvPr/>
            </p:nvSpPr>
            <p:spPr>
              <a:xfrm>
                <a:off x="1257300" y="57150"/>
                <a:ext cx="3647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F172A"/>
                    </a:solidFill>
                    <a:latin typeface="Quattrocento Sans"/>
                    <a:ea typeface="Quattrocento Sans"/>
                    <a:cs typeface="Quattrocento Sans"/>
                    <a:sym typeface="Quattrocento Sans"/>
                  </a:rPr>
                  <a:t>Foundations:</a:t>
                </a:r>
                <a:r>
                  <a:rPr lang="en-US" sz="950">
                    <a:solidFill>
                      <a:srgbClr val="0F172A"/>
                    </a:solidFill>
                    <a:latin typeface="Quattrocento Sans"/>
                    <a:ea typeface="Quattrocento Sans"/>
                    <a:cs typeface="Quattrocento Sans"/>
                    <a:sym typeface="Quattrocento Sans"/>
                  </a:rPr>
                  <a:t> </a:t>
                </a:r>
                <a:r>
                  <a:rPr lang="en-US" sz="950">
                    <a:solidFill>
                      <a:srgbClr val="334155"/>
                    </a:solidFill>
                    <a:latin typeface="Quattrocento Sans"/>
                    <a:ea typeface="Quattrocento Sans"/>
                    <a:cs typeface="Quattrocento Sans"/>
                    <a:sym typeface="Quattrocento Sans"/>
                  </a:rPr>
                  <a:t>Problem statement, persona definition, UCD framework, 5 usability goals.</a:t>
                </a:r>
                <a:endParaRPr sz="950">
                  <a:solidFill>
                    <a:srgbClr val="0F172A"/>
                  </a:solidFill>
                  <a:latin typeface="Quattrocento Sans"/>
                  <a:ea typeface="Quattrocento Sans"/>
                  <a:cs typeface="Quattrocento Sans"/>
                  <a:sym typeface="Quattrocento Sans"/>
                </a:endParaRPr>
              </a:p>
            </p:txBody>
          </p:sp>
        </p:grpSp>
        <p:grpSp>
          <p:nvGrpSpPr>
            <p:cNvPr id="74" name="Google Shape;74;p3"/>
            <p:cNvGrpSpPr/>
            <p:nvPr/>
          </p:nvGrpSpPr>
          <p:grpSpPr>
            <a:xfrm>
              <a:off x="190500" y="1066800"/>
              <a:ext cx="5019000" cy="495300"/>
              <a:chOff x="0" y="0"/>
              <a:chExt cx="5019000" cy="495300"/>
            </a:xfrm>
          </p:grpSpPr>
          <p:sp>
            <p:nvSpPr>
              <p:cNvPr id="75" name="Google Shape;75;p3"/>
              <p:cNvSpPr/>
              <p:nvPr/>
            </p:nvSpPr>
            <p:spPr>
              <a:xfrm>
                <a:off x="0" y="0"/>
                <a:ext cx="5019000" cy="495300"/>
              </a:xfrm>
              <a:prstGeom prst="roundRect">
                <a:avLst>
                  <a:gd fmla="val 1153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3"/>
              <p:cNvSpPr/>
              <p:nvPr/>
            </p:nvSpPr>
            <p:spPr>
              <a:xfrm>
                <a:off x="114300" y="133350"/>
                <a:ext cx="1047900" cy="2286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7" name="Google Shape;77;p3"/>
              <p:cNvSpPr txBox="1"/>
              <p:nvPr/>
            </p:nvSpPr>
            <p:spPr>
              <a:xfrm>
                <a:off x="114300" y="133350"/>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1E40AF"/>
                    </a:solidFill>
                    <a:latin typeface="Quattrocento Sans"/>
                    <a:ea typeface="Quattrocento Sans"/>
                    <a:cs typeface="Quattrocento Sans"/>
                    <a:sym typeface="Quattrocento Sans"/>
                  </a:rPr>
                  <a:t>Assignment 2</a:t>
                </a:r>
                <a:endParaRPr b="1" sz="850">
                  <a:solidFill>
                    <a:srgbClr val="1E40AF"/>
                  </a:solidFill>
                  <a:latin typeface="Quattrocento Sans"/>
                  <a:ea typeface="Quattrocento Sans"/>
                  <a:cs typeface="Quattrocento Sans"/>
                  <a:sym typeface="Quattrocento Sans"/>
                </a:endParaRPr>
              </a:p>
            </p:txBody>
          </p:sp>
          <p:sp>
            <p:nvSpPr>
              <p:cNvPr id="78" name="Google Shape;78;p3"/>
              <p:cNvSpPr txBox="1"/>
              <p:nvPr/>
            </p:nvSpPr>
            <p:spPr>
              <a:xfrm>
                <a:off x="1257300" y="57150"/>
                <a:ext cx="3647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F172A"/>
                    </a:solidFill>
                    <a:latin typeface="Quattrocento Sans"/>
                    <a:ea typeface="Quattrocento Sans"/>
                    <a:cs typeface="Quattrocento Sans"/>
                    <a:sym typeface="Quattrocento Sans"/>
                  </a:rPr>
                  <a:t>Prototype:</a:t>
                </a:r>
                <a:r>
                  <a:rPr lang="en-US" sz="950">
                    <a:solidFill>
                      <a:srgbClr val="0F172A"/>
                    </a:solidFill>
                    <a:latin typeface="Quattrocento Sans"/>
                    <a:ea typeface="Quattrocento Sans"/>
                    <a:cs typeface="Quattrocento Sans"/>
                    <a:sym typeface="Quattrocento Sans"/>
                  </a:rPr>
                  <a:t> </a:t>
                </a:r>
                <a:r>
                  <a:rPr lang="en-US" sz="950">
                    <a:solidFill>
                      <a:srgbClr val="334155"/>
                    </a:solidFill>
                    <a:latin typeface="Quattrocento Sans"/>
                    <a:ea typeface="Quattrocento Sans"/>
                    <a:cs typeface="Quattrocento Sans"/>
                    <a:sym typeface="Quattrocento Sans"/>
                  </a:rPr>
                  <a:t>11 dedicated Flutter screens, responsive navigation shell, Material 3.</a:t>
                </a:r>
                <a:endParaRPr sz="950">
                  <a:solidFill>
                    <a:srgbClr val="0F172A"/>
                  </a:solidFill>
                  <a:latin typeface="Quattrocento Sans"/>
                  <a:ea typeface="Quattrocento Sans"/>
                  <a:cs typeface="Quattrocento Sans"/>
                  <a:sym typeface="Quattrocento Sans"/>
                </a:endParaRPr>
              </a:p>
            </p:txBody>
          </p:sp>
        </p:grpSp>
        <p:grpSp>
          <p:nvGrpSpPr>
            <p:cNvPr id="79" name="Google Shape;79;p3"/>
            <p:cNvGrpSpPr/>
            <p:nvPr/>
          </p:nvGrpSpPr>
          <p:grpSpPr>
            <a:xfrm>
              <a:off x="190500" y="1638300"/>
              <a:ext cx="5019000" cy="495300"/>
              <a:chOff x="0" y="0"/>
              <a:chExt cx="5019000" cy="495300"/>
            </a:xfrm>
          </p:grpSpPr>
          <p:sp>
            <p:nvSpPr>
              <p:cNvPr id="80" name="Google Shape;80;p3"/>
              <p:cNvSpPr/>
              <p:nvPr/>
            </p:nvSpPr>
            <p:spPr>
              <a:xfrm>
                <a:off x="0" y="0"/>
                <a:ext cx="5019000" cy="495300"/>
              </a:xfrm>
              <a:prstGeom prst="roundRect">
                <a:avLst>
                  <a:gd fmla="val 11538"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1" name="Google Shape;81;p3"/>
              <p:cNvSpPr/>
              <p:nvPr/>
            </p:nvSpPr>
            <p:spPr>
              <a:xfrm>
                <a:off x="114300" y="133350"/>
                <a:ext cx="1047900" cy="228600"/>
              </a:xfrm>
              <a:prstGeom prst="roundRect">
                <a:avLst>
                  <a:gd fmla="val 16666" name="adj"/>
                </a:avLst>
              </a:prstGeom>
              <a:solidFill>
                <a:srgbClr val="DBEAFE"/>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2" name="Google Shape;82;p3"/>
              <p:cNvSpPr txBox="1"/>
              <p:nvPr/>
            </p:nvSpPr>
            <p:spPr>
              <a:xfrm>
                <a:off x="114300" y="133350"/>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1E40AF"/>
                    </a:solidFill>
                    <a:latin typeface="Quattrocento Sans"/>
                    <a:ea typeface="Quattrocento Sans"/>
                    <a:cs typeface="Quattrocento Sans"/>
                    <a:sym typeface="Quattrocento Sans"/>
                  </a:rPr>
                  <a:t>Assignment 3</a:t>
                </a:r>
                <a:endParaRPr b="1" sz="850">
                  <a:solidFill>
                    <a:srgbClr val="1E40AF"/>
                  </a:solidFill>
                  <a:latin typeface="Quattrocento Sans"/>
                  <a:ea typeface="Quattrocento Sans"/>
                  <a:cs typeface="Quattrocento Sans"/>
                  <a:sym typeface="Quattrocento Sans"/>
                </a:endParaRPr>
              </a:p>
            </p:txBody>
          </p:sp>
          <p:sp>
            <p:nvSpPr>
              <p:cNvPr id="83" name="Google Shape;83;p3"/>
              <p:cNvSpPr txBox="1"/>
              <p:nvPr/>
            </p:nvSpPr>
            <p:spPr>
              <a:xfrm>
                <a:off x="1257300" y="57150"/>
                <a:ext cx="3647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0F172A"/>
                    </a:solidFill>
                    <a:latin typeface="Quattrocento Sans"/>
                    <a:ea typeface="Quattrocento Sans"/>
                    <a:cs typeface="Quattrocento Sans"/>
                    <a:sym typeface="Quattrocento Sans"/>
                  </a:rPr>
                  <a:t>Evaluation:</a:t>
                </a:r>
                <a:r>
                  <a:rPr lang="en-US" sz="950">
                    <a:solidFill>
                      <a:srgbClr val="0F172A"/>
                    </a:solidFill>
                    <a:latin typeface="Quattrocento Sans"/>
                    <a:ea typeface="Quattrocento Sans"/>
                    <a:cs typeface="Quattrocento Sans"/>
                    <a:sym typeface="Quattrocento Sans"/>
                  </a:rPr>
                  <a:t> </a:t>
                </a:r>
                <a:r>
                  <a:rPr lang="en-US" sz="950">
                    <a:solidFill>
                      <a:srgbClr val="334155"/>
                    </a:solidFill>
                    <a:latin typeface="Quattrocento Sans"/>
                    <a:ea typeface="Quattrocento Sans"/>
                    <a:cs typeface="Quattrocento Sans"/>
                    <a:sym typeface="Quattrocento Sans"/>
                  </a:rPr>
                  <a:t>Empirical testing with 3 participants, statistics, 3 design recommendations.</a:t>
                </a:r>
                <a:endParaRPr sz="950">
                  <a:solidFill>
                    <a:srgbClr val="0F172A"/>
                  </a:solidFill>
                  <a:latin typeface="Quattrocento Sans"/>
                  <a:ea typeface="Quattrocento Sans"/>
                  <a:cs typeface="Quattrocento Sans"/>
                  <a:sym typeface="Quattrocento Sans"/>
                </a:endParaRPr>
              </a:p>
            </p:txBody>
          </p:sp>
        </p:grpSp>
        <p:grpSp>
          <p:nvGrpSpPr>
            <p:cNvPr id="84" name="Google Shape;84;p3"/>
            <p:cNvGrpSpPr/>
            <p:nvPr/>
          </p:nvGrpSpPr>
          <p:grpSpPr>
            <a:xfrm>
              <a:off x="190500" y="2209800"/>
              <a:ext cx="5019000" cy="495300"/>
              <a:chOff x="0" y="0"/>
              <a:chExt cx="5019000" cy="495300"/>
            </a:xfrm>
          </p:grpSpPr>
          <p:sp>
            <p:nvSpPr>
              <p:cNvPr id="85" name="Google Shape;85;p3"/>
              <p:cNvSpPr/>
              <p:nvPr/>
            </p:nvSpPr>
            <p:spPr>
              <a:xfrm>
                <a:off x="0" y="0"/>
                <a:ext cx="5019000" cy="495300"/>
              </a:xfrm>
              <a:prstGeom prst="roundRect">
                <a:avLst>
                  <a:gd fmla="val 11538" name="adj"/>
                </a:avLst>
              </a:prstGeom>
              <a:solidFill>
                <a:srgbClr val="EFF6FF"/>
              </a:solidFill>
              <a:ln cap="flat" cmpd="sng" w="14300">
                <a:solidFill>
                  <a:srgbClr val="2563E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6" name="Google Shape;86;p3"/>
              <p:cNvSpPr/>
              <p:nvPr/>
            </p:nvSpPr>
            <p:spPr>
              <a:xfrm>
                <a:off x="114300" y="133350"/>
                <a:ext cx="1047900" cy="228600"/>
              </a:xfrm>
              <a:prstGeom prst="roundRect">
                <a:avLst>
                  <a:gd fmla="val 16666"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7" name="Google Shape;87;p3"/>
              <p:cNvSpPr txBox="1"/>
              <p:nvPr/>
            </p:nvSpPr>
            <p:spPr>
              <a:xfrm>
                <a:off x="114300" y="133350"/>
                <a:ext cx="1047900" cy="2286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US" sz="850">
                    <a:solidFill>
                      <a:srgbClr val="FFFFFF"/>
                    </a:solidFill>
                    <a:latin typeface="Quattrocento Sans"/>
                    <a:ea typeface="Quattrocento Sans"/>
                    <a:cs typeface="Quattrocento Sans"/>
                    <a:sym typeface="Quattrocento Sans"/>
                  </a:rPr>
                  <a:t>Assignment 4</a:t>
                </a:r>
                <a:endParaRPr b="1" sz="850">
                  <a:solidFill>
                    <a:srgbClr val="FFFFFF"/>
                  </a:solidFill>
                  <a:latin typeface="Quattrocento Sans"/>
                  <a:ea typeface="Quattrocento Sans"/>
                  <a:cs typeface="Quattrocento Sans"/>
                  <a:sym typeface="Quattrocento Sans"/>
                </a:endParaRPr>
              </a:p>
            </p:txBody>
          </p:sp>
          <p:sp>
            <p:nvSpPr>
              <p:cNvPr id="88" name="Google Shape;88;p3"/>
              <p:cNvSpPr txBox="1"/>
              <p:nvPr/>
            </p:nvSpPr>
            <p:spPr>
              <a:xfrm>
                <a:off x="1257300" y="57150"/>
                <a:ext cx="3647400" cy="381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950">
                    <a:solidFill>
                      <a:srgbClr val="1E40AF"/>
                    </a:solidFill>
                    <a:latin typeface="Quattrocento Sans"/>
                    <a:ea typeface="Quattrocento Sans"/>
                    <a:cs typeface="Quattrocento Sans"/>
                    <a:sym typeface="Quattrocento Sans"/>
                  </a:rPr>
                  <a:t>Production App:</a:t>
                </a:r>
                <a:r>
                  <a:rPr lang="en-US" sz="950">
                    <a:solidFill>
                      <a:srgbClr val="0F172A"/>
                    </a:solidFill>
                    <a:latin typeface="Quattrocento Sans"/>
                    <a:ea typeface="Quattrocento Sans"/>
                    <a:cs typeface="Quattrocento Sans"/>
                    <a:sym typeface="Quattrocento Sans"/>
                  </a:rPr>
                  <a:t> </a:t>
                </a:r>
                <a:r>
                  <a:rPr lang="en-US" sz="950">
                    <a:solidFill>
                      <a:srgbClr val="1E293B"/>
                    </a:solidFill>
                    <a:latin typeface="Quattrocento Sans"/>
                    <a:ea typeface="Quattrocento Sans"/>
                    <a:cs typeface="Quattrocento Sans"/>
                    <a:sym typeface="Quattrocento Sans"/>
                  </a:rPr>
                  <a:t>Gestures, slowed container transforms, simulated backend persistence, PWA.</a:t>
                </a:r>
                <a:endParaRPr sz="950">
                  <a:solidFill>
                    <a:srgbClr val="0F172A"/>
                  </a:solidFill>
                  <a:latin typeface="Quattrocento Sans"/>
                  <a:ea typeface="Quattrocento Sans"/>
                  <a:cs typeface="Quattrocento Sans"/>
                  <a:sym typeface="Quattrocento Sans"/>
                </a:endParaRPr>
              </a:p>
            </p:txBody>
          </p:sp>
        </p:grpSp>
        <p:sp>
          <p:nvSpPr>
            <p:cNvPr id="89" name="Google Shape;89;p3"/>
            <p:cNvSpPr txBox="1"/>
            <p:nvPr/>
          </p:nvSpPr>
          <p:spPr>
            <a:xfrm>
              <a:off x="190500" y="2857500"/>
              <a:ext cx="5019000" cy="266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00">
                  <a:solidFill>
                    <a:srgbClr val="1F3864"/>
                  </a:solidFill>
                  <a:latin typeface="Quattrocento Sans"/>
                  <a:ea typeface="Quattrocento Sans"/>
                  <a:cs typeface="Quattrocento Sans"/>
                  <a:sym typeface="Quattrocento Sans"/>
                </a:rPr>
                <a:t>Iterative Refinement &amp; Verification</a:t>
              </a:r>
              <a:endParaRPr b="1" sz="1200">
                <a:solidFill>
                  <a:srgbClr val="1F3864"/>
                </a:solidFill>
                <a:latin typeface="Quattrocento Sans"/>
                <a:ea typeface="Quattrocento Sans"/>
                <a:cs typeface="Quattrocento Sans"/>
                <a:sym typeface="Quattrocento Sans"/>
              </a:endParaRPr>
            </a:p>
          </p:txBody>
        </p:sp>
        <p:grpSp>
          <p:nvGrpSpPr>
            <p:cNvPr id="90" name="Google Shape;90;p3"/>
            <p:cNvGrpSpPr/>
            <p:nvPr/>
          </p:nvGrpSpPr>
          <p:grpSpPr>
            <a:xfrm>
              <a:off x="190500" y="3162300"/>
              <a:ext cx="2428800" cy="1314600"/>
              <a:chOff x="0" y="0"/>
              <a:chExt cx="2428800" cy="1314600"/>
            </a:xfrm>
          </p:grpSpPr>
          <p:sp>
            <p:nvSpPr>
              <p:cNvPr id="91" name="Google Shape;91;p3"/>
              <p:cNvSpPr/>
              <p:nvPr/>
            </p:nvSpPr>
            <p:spPr>
              <a:xfrm>
                <a:off x="0" y="0"/>
                <a:ext cx="2428800" cy="1314600"/>
              </a:xfrm>
              <a:prstGeom prst="roundRect">
                <a:avLst>
                  <a:gd fmla="val 579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2" name="Google Shape;92;p3"/>
              <p:cNvSpPr/>
              <p:nvPr/>
            </p:nvSpPr>
            <p:spPr>
              <a:xfrm>
                <a:off x="0" y="0"/>
                <a:ext cx="24288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3" name="Google Shape;93;p3"/>
              <p:cNvSpPr txBox="1"/>
              <p:nvPr/>
            </p:nvSpPr>
            <p:spPr>
              <a:xfrm>
                <a:off x="133350" y="133350"/>
                <a:ext cx="2162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1E40AF"/>
                    </a:solidFill>
                    <a:latin typeface="Quattrocento Sans"/>
                    <a:ea typeface="Quattrocento Sans"/>
                    <a:cs typeface="Quattrocento Sans"/>
                    <a:sym typeface="Quattrocento Sans"/>
                  </a:rPr>
                  <a:t>Closed-Loop Engineering</a:t>
                </a:r>
                <a:endParaRPr b="1" sz="1000">
                  <a:solidFill>
                    <a:srgbClr val="1E40AF"/>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950">
                    <a:solidFill>
                      <a:srgbClr val="334155"/>
                    </a:solidFill>
                    <a:latin typeface="Quattrocento Sans"/>
                    <a:ea typeface="Quattrocento Sans"/>
                    <a:cs typeface="Quattrocento Sans"/>
                    <a:sym typeface="Quattrocento Sans"/>
                  </a:rPr>
                  <a:t>User test findings from Assignment 3 directly drove technical upgrades in Assignment 4.</a:t>
                </a:r>
                <a:endParaRPr b="0" sz="950">
                  <a:solidFill>
                    <a:srgbClr val="334155"/>
                  </a:solidFill>
                  <a:latin typeface="Quattrocento Sans"/>
                  <a:ea typeface="Quattrocento Sans"/>
                  <a:cs typeface="Quattrocento Sans"/>
                  <a:sym typeface="Quattrocento Sans"/>
                </a:endParaRPr>
              </a:p>
            </p:txBody>
          </p:sp>
        </p:grpSp>
        <p:grpSp>
          <p:nvGrpSpPr>
            <p:cNvPr id="94" name="Google Shape;94;p3"/>
            <p:cNvGrpSpPr/>
            <p:nvPr/>
          </p:nvGrpSpPr>
          <p:grpSpPr>
            <a:xfrm>
              <a:off x="2780624" y="3162300"/>
              <a:ext cx="2428800" cy="1314600"/>
              <a:chOff x="0" y="0"/>
              <a:chExt cx="2428800" cy="1314600"/>
            </a:xfrm>
          </p:grpSpPr>
          <p:sp>
            <p:nvSpPr>
              <p:cNvPr id="95" name="Google Shape;95;p3"/>
              <p:cNvSpPr/>
              <p:nvPr/>
            </p:nvSpPr>
            <p:spPr>
              <a:xfrm>
                <a:off x="0" y="0"/>
                <a:ext cx="2428800" cy="1314600"/>
              </a:xfrm>
              <a:prstGeom prst="roundRect">
                <a:avLst>
                  <a:gd fmla="val 5797" name="adj"/>
                </a:avLst>
              </a:prstGeom>
              <a:solidFill>
                <a:srgbClr val="F8FAFC"/>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3"/>
              <p:cNvSpPr/>
              <p:nvPr/>
            </p:nvSpPr>
            <p:spPr>
              <a:xfrm>
                <a:off x="0" y="0"/>
                <a:ext cx="2428800" cy="38100"/>
              </a:xfrm>
              <a:prstGeom prst="roundRect">
                <a:avLst>
                  <a:gd fmla="val 50000" name="adj"/>
                </a:avLst>
              </a:prstGeom>
              <a:solidFill>
                <a:srgbClr val="059669"/>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7" name="Google Shape;97;p3"/>
              <p:cNvSpPr txBox="1"/>
              <p:nvPr/>
            </p:nvSpPr>
            <p:spPr>
              <a:xfrm>
                <a:off x="133350" y="133350"/>
                <a:ext cx="21621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000">
                    <a:solidFill>
                      <a:srgbClr val="047857"/>
                    </a:solidFill>
                    <a:latin typeface="Quattrocento Sans"/>
                    <a:ea typeface="Quattrocento Sans"/>
                    <a:cs typeface="Quattrocento Sans"/>
                    <a:sym typeface="Quattrocento Sans"/>
                  </a:rPr>
                  <a:t>Quality Assurance</a:t>
                </a:r>
                <a:endParaRPr b="1" sz="1000">
                  <a:solidFill>
                    <a:srgbClr val="047857"/>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950">
                    <a:solidFill>
                      <a:srgbClr val="334155"/>
                    </a:solidFill>
                    <a:latin typeface="Quattrocento Sans"/>
                    <a:ea typeface="Quattrocento Sans"/>
                    <a:cs typeface="Quattrocento Sans"/>
                    <a:sym typeface="Quattrocento Sans"/>
                  </a:rPr>
                  <a:t>Single-file DartPad compilation maintained across every architectural revision.</a:t>
                </a:r>
                <a:endParaRPr b="0" sz="950">
                  <a:solidFill>
                    <a:srgbClr val="334155"/>
                  </a:solidFill>
                  <a:latin typeface="Quattrocento Sans"/>
                  <a:ea typeface="Quattrocento Sans"/>
                  <a:cs typeface="Quattrocento Sans"/>
                  <a:sym typeface="Quattrocento Sans"/>
                </a:endParaRPr>
              </a:p>
            </p:txBody>
          </p:sp>
        </p:grpSp>
      </p:grpSp>
      <p:grpSp>
        <p:nvGrpSpPr>
          <p:cNvPr id="98" name="Google Shape;98;p3"/>
          <p:cNvGrpSpPr/>
          <p:nvPr/>
        </p:nvGrpSpPr>
        <p:grpSpPr>
          <a:xfrm>
            <a:off x="6178125" y="1524000"/>
            <a:ext cx="5473800" cy="4667400"/>
            <a:chOff x="0" y="0"/>
            <a:chExt cx="5473800" cy="4667400"/>
          </a:xfrm>
        </p:grpSpPr>
        <p:sp>
          <p:nvSpPr>
            <p:cNvPr id="99" name="Google Shape;99;p3"/>
            <p:cNvSpPr/>
            <p:nvPr/>
          </p:nvSpPr>
          <p:spPr>
            <a:xfrm>
              <a:off x="0" y="0"/>
              <a:ext cx="5473800" cy="4667400"/>
            </a:xfrm>
            <a:prstGeom prst="roundRect">
              <a:avLst>
                <a:gd fmla="val 2040" name="adj"/>
              </a:avLst>
            </a:prstGeom>
            <a:solidFill>
              <a:srgbClr val="FFFFFF"/>
            </a:solidFill>
            <a:ln cap="flat" cmpd="sng" w="1267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00" name="Google Shape;100;p3"/>
            <p:cNvPicPr preferRelativeResize="0"/>
            <p:nvPr/>
          </p:nvPicPr>
          <p:blipFill rotWithShape="1">
            <a:blip r:embed="rId3">
              <a:alphaModFix/>
            </a:blip>
            <a:srcRect b="15126" l="-790" r="790" t="-392"/>
            <a:stretch/>
          </p:blipFill>
          <p:spPr>
            <a:xfrm>
              <a:off x="0" y="0"/>
              <a:ext cx="5473800" cy="4667400"/>
            </a:xfrm>
            <a:prstGeom prst="roundRect">
              <a:avLst>
                <a:gd fmla="val 2040" name="adj"/>
              </a:avLst>
            </a:prstGeom>
            <a:noFill/>
            <a:ln>
              <a:noFill/>
            </a:ln>
          </p:spPr>
        </p:pic>
      </p:grpSp>
      <p:sp>
        <p:nvSpPr>
          <p:cNvPr id="101" name="Google Shape;101;p3"/>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3</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8" name="Google Shape;108;p4"/>
          <p:cNvGrpSpPr/>
          <p:nvPr/>
        </p:nvGrpSpPr>
        <p:grpSpPr>
          <a:xfrm>
            <a:off x="540000" y="342900"/>
            <a:ext cx="11112000" cy="876300"/>
            <a:chOff x="0" y="0"/>
            <a:chExt cx="11112000" cy="876300"/>
          </a:xfrm>
        </p:grpSpPr>
        <p:sp>
          <p:nvSpPr>
            <p:cNvPr id="109" name="Google Shape;109;p4"/>
            <p:cNvSpPr/>
            <p:nvPr/>
          </p:nvSpPr>
          <p:spPr>
            <a:xfrm>
              <a:off x="0" y="0"/>
              <a:ext cx="11112000" cy="876300"/>
            </a:xfrm>
            <a:prstGeom prst="roundRect">
              <a:avLst>
                <a:gd fmla="val 10869"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4"/>
            <p:cNvSpPr/>
            <p:nvPr/>
          </p:nvSpPr>
          <p:spPr>
            <a:xfrm>
              <a:off x="0" y="0"/>
              <a:ext cx="57300" cy="8763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1" name="Google Shape;111;p4"/>
            <p:cNvSpPr txBox="1"/>
            <p:nvPr/>
          </p:nvSpPr>
          <p:spPr>
            <a:xfrm>
              <a:off x="228600" y="95250"/>
              <a:ext cx="10668000" cy="6858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BEHAVIORAL SPECIFICATION &amp; WORKFLOW 1</a:t>
              </a:r>
              <a:endParaRPr b="1" sz="850">
                <a:solidFill>
                  <a:srgbClr val="2563EB"/>
                </a:solidFill>
                <a:latin typeface="Quattrocento Sans"/>
                <a:ea typeface="Quattrocento Sans"/>
                <a:cs typeface="Quattrocento Sans"/>
                <a:sym typeface="Quattrocento Sans"/>
              </a:endParaRPr>
            </a:p>
            <a:p>
              <a:pPr indent="0" lvl="0" marL="0" rtl="0" algn="l">
                <a:spcBef>
                  <a:spcPts val="150"/>
                </a:spcBef>
                <a:spcAft>
                  <a:spcPts val="0"/>
                </a:spcAft>
                <a:buNone/>
              </a:pPr>
              <a:r>
                <a:rPr b="1" lang="en-US" sz="1800">
                  <a:solidFill>
                    <a:srgbClr val="0F172A"/>
                  </a:solidFill>
                  <a:latin typeface="Quattrocento Sans"/>
                  <a:ea typeface="Quattrocento Sans"/>
                  <a:cs typeface="Quattrocento Sans"/>
                  <a:sym typeface="Quattrocento Sans"/>
                </a:rPr>
                <a:t>Activity Diagram 1: View Project Status</a:t>
              </a:r>
              <a:endParaRPr b="1" sz="1800">
                <a:solidFill>
                  <a:srgbClr val="0F172A"/>
                </a:solidFill>
                <a:latin typeface="Quattrocento Sans"/>
                <a:ea typeface="Quattrocento Sans"/>
                <a:cs typeface="Quattrocento Sans"/>
                <a:sym typeface="Quattrocento Sans"/>
              </a:endParaRPr>
            </a:p>
            <a:p>
              <a:pPr indent="0" lvl="0" marL="0" rtl="0" algn="l">
                <a:spcBef>
                  <a:spcPts val="150"/>
                </a:spcBef>
                <a:spcAft>
                  <a:spcPts val="0"/>
                </a:spcAft>
                <a:buNone/>
              </a:pPr>
              <a:r>
                <a:rPr b="0" lang="en-US" sz="1050">
                  <a:solidFill>
                    <a:srgbClr val="475569"/>
                  </a:solidFill>
                  <a:latin typeface="Quattrocento Sans"/>
                  <a:ea typeface="Quattrocento Sans"/>
                  <a:cs typeface="Quattrocento Sans"/>
                  <a:sym typeface="Quattrocento Sans"/>
                </a:rPr>
                <a:t>Ambient Traffic-Light Progress &amp; 5-Stage SDLC Progression</a:t>
              </a:r>
              <a:endParaRPr b="0" sz="1050">
                <a:solidFill>
                  <a:srgbClr val="475569"/>
                </a:solidFill>
                <a:latin typeface="Quattrocento Sans"/>
                <a:ea typeface="Quattrocento Sans"/>
                <a:cs typeface="Quattrocento Sans"/>
                <a:sym typeface="Quattrocento Sans"/>
              </a:endParaRPr>
            </a:p>
          </p:txBody>
        </p:sp>
      </p:grpSp>
      <p:grpSp>
        <p:nvGrpSpPr>
          <p:cNvPr id="112" name="Google Shape;112;p4"/>
          <p:cNvGrpSpPr/>
          <p:nvPr/>
        </p:nvGrpSpPr>
        <p:grpSpPr>
          <a:xfrm>
            <a:off x="540000" y="1371600"/>
            <a:ext cx="5372100" cy="2971800"/>
            <a:chOff x="0" y="0"/>
            <a:chExt cx="5372100" cy="2971800"/>
          </a:xfrm>
        </p:grpSpPr>
        <p:sp>
          <p:nvSpPr>
            <p:cNvPr id="113" name="Google Shape;113;p4"/>
            <p:cNvSpPr/>
            <p:nvPr/>
          </p:nvSpPr>
          <p:spPr>
            <a:xfrm>
              <a:off x="0" y="0"/>
              <a:ext cx="5372100" cy="2971800"/>
            </a:xfrm>
            <a:prstGeom prst="roundRect">
              <a:avLst>
                <a:gd fmla="val 3205"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4"/>
            <p:cNvSpPr txBox="1"/>
            <p:nvPr/>
          </p:nvSpPr>
          <p:spPr>
            <a:xfrm>
              <a:off x="190500" y="152400"/>
              <a:ext cx="4991100" cy="2667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300">
                  <a:solidFill>
                    <a:srgbClr val="1F3864"/>
                  </a:solidFill>
                  <a:latin typeface="Quattrocento Sans"/>
                  <a:ea typeface="Quattrocento Sans"/>
                  <a:cs typeface="Quattrocento Sans"/>
                  <a:sym typeface="Quattrocento Sans"/>
                </a:rPr>
                <a:t>Architectural Execution Breakdown</a:t>
              </a:r>
              <a:endParaRPr b="1" sz="1300">
                <a:solidFill>
                  <a:srgbClr val="1F3864"/>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1000">
                  <a:solidFill>
                    <a:srgbClr val="0F172A"/>
                  </a:solidFill>
                  <a:highlight>
                    <a:srgbClr val="F8FAFC"/>
                  </a:highlight>
                  <a:latin typeface="Quattrocento Sans"/>
                  <a:ea typeface="Quattrocento Sans"/>
                  <a:cs typeface="Quattrocento Sans"/>
                  <a:sym typeface="Quattrocento Sans"/>
                </a:rPr>
                <a:t>Client Launch &amp; Auth</a:t>
              </a:r>
              <a:endParaRPr b="1" sz="1000">
                <a:solidFill>
                  <a:srgbClr val="0F172A"/>
                </a:solidFill>
                <a:highlight>
                  <a:srgbClr val="F8FAFC"/>
                </a:highlight>
                <a:latin typeface="Quattrocento Sans"/>
                <a:ea typeface="Quattrocento Sans"/>
                <a:cs typeface="Quattrocento Sans"/>
                <a:sym typeface="Quattrocento Sans"/>
              </a:endParaRPr>
            </a:p>
            <a:p>
              <a:pPr indent="0" lvl="0" marL="0" rtl="0" algn="l">
                <a:spcBef>
                  <a:spcPts val="150"/>
                </a:spcBef>
                <a:spcAft>
                  <a:spcPts val="0"/>
                </a:spcAft>
                <a:buNone/>
              </a:pPr>
              <a:r>
                <a:rPr lang="en-US" sz="950">
                  <a:solidFill>
                    <a:srgbClr val="334155"/>
                  </a:solidFill>
                  <a:highlight>
                    <a:srgbClr val="F8FAFC"/>
                  </a:highlight>
                  <a:latin typeface="Quattrocento Sans"/>
                  <a:ea typeface="Quattrocento Sans"/>
                  <a:cs typeface="Quattrocento Sans"/>
                  <a:sym typeface="Quattrocento Sans"/>
                </a:rPr>
                <a:t>Automated session verification transitions directly to ambient portal.</a:t>
              </a:r>
              <a:endParaRPr sz="950">
                <a:solidFill>
                  <a:srgbClr val="334155"/>
                </a:solidFill>
                <a:highlight>
                  <a:srgbClr val="F8FAFC"/>
                </a:highlight>
                <a:latin typeface="Quattrocento Sans"/>
                <a:ea typeface="Quattrocento Sans"/>
                <a:cs typeface="Quattrocento Sans"/>
                <a:sym typeface="Quattrocento Sans"/>
              </a:endParaRPr>
            </a:p>
            <a:p>
              <a:pPr indent="0" lvl="0" marL="0" rtl="0" algn="l">
                <a:spcBef>
                  <a:spcPts val="750"/>
                </a:spcBef>
                <a:spcAft>
                  <a:spcPts val="0"/>
                </a:spcAft>
                <a:buNone/>
              </a:pPr>
              <a:r>
                <a:rPr b="1" lang="en-US" sz="1000">
                  <a:solidFill>
                    <a:srgbClr val="0F172A"/>
                  </a:solidFill>
                  <a:highlight>
                    <a:srgbClr val="F8FAFC"/>
                  </a:highlight>
                  <a:latin typeface="Quattrocento Sans"/>
                  <a:ea typeface="Quattrocento Sans"/>
                  <a:cs typeface="Quattrocento Sans"/>
                  <a:sym typeface="Quattrocento Sans"/>
                </a:rPr>
                <a:t>Ambient Synthesis</a:t>
              </a:r>
              <a:endParaRPr b="1" sz="1000">
                <a:solidFill>
                  <a:srgbClr val="0F172A"/>
                </a:solidFill>
                <a:highlight>
                  <a:srgbClr val="F8FAFC"/>
                </a:highlight>
                <a:latin typeface="Quattrocento Sans"/>
                <a:ea typeface="Quattrocento Sans"/>
                <a:cs typeface="Quattrocento Sans"/>
                <a:sym typeface="Quattrocento Sans"/>
              </a:endParaRPr>
            </a:p>
            <a:p>
              <a:pPr indent="0" lvl="0" marL="0" rtl="0" algn="l">
                <a:spcBef>
                  <a:spcPts val="150"/>
                </a:spcBef>
                <a:spcAft>
                  <a:spcPts val="0"/>
                </a:spcAft>
                <a:buNone/>
              </a:pPr>
              <a:r>
                <a:rPr lang="en-US" sz="950">
                  <a:solidFill>
                    <a:srgbClr val="334155"/>
                  </a:solidFill>
                  <a:highlight>
                    <a:srgbClr val="F8FAFC"/>
                  </a:highlight>
                  <a:latin typeface="Quattrocento Sans"/>
                  <a:ea typeface="Quattrocento Sans"/>
                  <a:cs typeface="Quattrocento Sans"/>
                  <a:sym typeface="Quattrocento Sans"/>
                </a:rPr>
                <a:t>Calculates active SDLC phase (Stage 3: Core UX/UI) and health status (On Track).</a:t>
              </a:r>
              <a:endParaRPr sz="950">
                <a:solidFill>
                  <a:srgbClr val="334155"/>
                </a:solidFill>
                <a:highlight>
                  <a:srgbClr val="F8FAFC"/>
                </a:highlight>
                <a:latin typeface="Quattrocento Sans"/>
                <a:ea typeface="Quattrocento Sans"/>
                <a:cs typeface="Quattrocento Sans"/>
                <a:sym typeface="Quattrocento Sans"/>
              </a:endParaRPr>
            </a:p>
            <a:p>
              <a:pPr indent="0" lvl="0" marL="0" rtl="0" algn="l">
                <a:spcBef>
                  <a:spcPts val="750"/>
                </a:spcBef>
                <a:spcAft>
                  <a:spcPts val="0"/>
                </a:spcAft>
                <a:buNone/>
              </a:pPr>
              <a:r>
                <a:rPr b="1" lang="en-US" sz="1000">
                  <a:solidFill>
                    <a:srgbClr val="0F172A"/>
                  </a:solidFill>
                  <a:highlight>
                    <a:srgbClr val="F8FAFC"/>
                  </a:highlight>
                  <a:latin typeface="Quattrocento Sans"/>
                  <a:ea typeface="Quattrocento Sans"/>
                  <a:cs typeface="Quattrocento Sans"/>
                  <a:sym typeface="Quattrocento Sans"/>
                </a:rPr>
                <a:t>Visual Metaphor</a:t>
              </a:r>
              <a:endParaRPr b="1" sz="1000">
                <a:solidFill>
                  <a:srgbClr val="0F172A"/>
                </a:solidFill>
                <a:highlight>
                  <a:srgbClr val="F8FAFC"/>
                </a:highlight>
                <a:latin typeface="Quattrocento Sans"/>
                <a:ea typeface="Quattrocento Sans"/>
                <a:cs typeface="Quattrocento Sans"/>
                <a:sym typeface="Quattrocento Sans"/>
              </a:endParaRPr>
            </a:p>
            <a:p>
              <a:pPr indent="0" lvl="0" marL="0" rtl="0" algn="l">
                <a:spcBef>
                  <a:spcPts val="150"/>
                </a:spcBef>
                <a:spcAft>
                  <a:spcPts val="0"/>
                </a:spcAft>
                <a:buNone/>
              </a:pPr>
              <a:r>
                <a:rPr lang="en-US" sz="950">
                  <a:solidFill>
                    <a:srgbClr val="334155"/>
                  </a:solidFill>
                  <a:highlight>
                    <a:srgbClr val="F8FAFC"/>
                  </a:highlight>
                  <a:latin typeface="Quattrocento Sans"/>
                  <a:ea typeface="Quattrocento Sans"/>
                  <a:cs typeface="Quattrocento Sans"/>
                  <a:sym typeface="Quattrocento Sans"/>
                </a:rPr>
                <a:t>Traffic-light badge and circular progress ring for 10-second glanceability.</a:t>
              </a:r>
              <a:endParaRPr sz="950">
                <a:solidFill>
                  <a:srgbClr val="334155"/>
                </a:solidFill>
                <a:highlight>
                  <a:srgbClr val="F8FAFC"/>
                </a:highlight>
                <a:latin typeface="Quattrocento Sans"/>
                <a:ea typeface="Quattrocento Sans"/>
                <a:cs typeface="Quattrocento Sans"/>
                <a:sym typeface="Quattrocento Sans"/>
              </a:endParaRPr>
            </a:p>
            <a:p>
              <a:pPr indent="0" lvl="0" marL="0" rtl="0" algn="l">
                <a:spcBef>
                  <a:spcPts val="750"/>
                </a:spcBef>
                <a:spcAft>
                  <a:spcPts val="0"/>
                </a:spcAft>
                <a:buNone/>
              </a:pPr>
              <a:r>
                <a:rPr b="1" lang="en-US" sz="1000">
                  <a:solidFill>
                    <a:srgbClr val="0F172A"/>
                  </a:solidFill>
                  <a:highlight>
                    <a:srgbClr val="F8FAFC"/>
                  </a:highlight>
                  <a:latin typeface="Quattrocento Sans"/>
                  <a:ea typeface="Quattrocento Sans"/>
                  <a:cs typeface="Quattrocento Sans"/>
                  <a:sym typeface="Quattrocento Sans"/>
                </a:rPr>
                <a:t>Progressive Drill-Down</a:t>
              </a:r>
              <a:endParaRPr b="1" sz="1000">
                <a:solidFill>
                  <a:srgbClr val="0F172A"/>
                </a:solidFill>
                <a:highlight>
                  <a:srgbClr val="F8FAFC"/>
                </a:highlight>
                <a:latin typeface="Quattrocento Sans"/>
                <a:ea typeface="Quattrocento Sans"/>
                <a:cs typeface="Quattrocento Sans"/>
                <a:sym typeface="Quattrocento Sans"/>
              </a:endParaRPr>
            </a:p>
            <a:p>
              <a:pPr indent="0" lvl="0" marL="0" rtl="0" algn="l">
                <a:spcBef>
                  <a:spcPts val="150"/>
                </a:spcBef>
                <a:spcAft>
                  <a:spcPts val="0"/>
                </a:spcAft>
                <a:buNone/>
              </a:pPr>
              <a:r>
                <a:rPr lang="en-US" sz="950">
                  <a:solidFill>
                    <a:srgbClr val="334155"/>
                  </a:solidFill>
                  <a:highlight>
                    <a:srgbClr val="F8FAFC"/>
                  </a:highlight>
                  <a:latin typeface="Quattrocento Sans"/>
                  <a:ea typeface="Quattrocento Sans"/>
                  <a:cs typeface="Quattrocento Sans"/>
                  <a:sym typeface="Quattrocento Sans"/>
                </a:rPr>
                <a:t>Expanding SDLC stage card seamlessly navigates to 5-stage milestone report.</a:t>
              </a:r>
              <a:endParaRPr sz="950">
                <a:solidFill>
                  <a:srgbClr val="334155"/>
                </a:solidFill>
                <a:highlight>
                  <a:srgbClr val="F8FAFC"/>
                </a:highlight>
                <a:latin typeface="Quattrocento Sans"/>
                <a:ea typeface="Quattrocento Sans"/>
                <a:cs typeface="Quattrocento Sans"/>
                <a:sym typeface="Quattrocento Sans"/>
              </a:endParaRPr>
            </a:p>
          </p:txBody>
        </p:sp>
      </p:grpSp>
      <p:grpSp>
        <p:nvGrpSpPr>
          <p:cNvPr id="115" name="Google Shape;115;p4"/>
          <p:cNvGrpSpPr/>
          <p:nvPr/>
        </p:nvGrpSpPr>
        <p:grpSpPr>
          <a:xfrm>
            <a:off x="540000" y="4495800"/>
            <a:ext cx="5372100" cy="1733700"/>
            <a:chOff x="0" y="0"/>
            <a:chExt cx="5372100" cy="1733700"/>
          </a:xfrm>
        </p:grpSpPr>
        <p:sp>
          <p:nvSpPr>
            <p:cNvPr id="116" name="Google Shape;116;p4"/>
            <p:cNvSpPr/>
            <p:nvPr/>
          </p:nvSpPr>
          <p:spPr>
            <a:xfrm>
              <a:off x="0" y="0"/>
              <a:ext cx="5372100" cy="1733700"/>
            </a:xfrm>
            <a:prstGeom prst="roundRect">
              <a:avLst>
                <a:gd fmla="val 549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7" name="Google Shape;117;p4"/>
            <p:cNvSpPr/>
            <p:nvPr/>
          </p:nvSpPr>
          <p:spPr>
            <a:xfrm>
              <a:off x="0" y="0"/>
              <a:ext cx="5372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8" name="Google Shape;118;p4"/>
            <p:cNvSpPr txBox="1"/>
            <p:nvPr/>
          </p:nvSpPr>
          <p:spPr>
            <a:xfrm>
              <a:off x="190500" y="152400"/>
              <a:ext cx="49911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50">
                  <a:solidFill>
                    <a:srgbClr val="1E40AF"/>
                  </a:solidFill>
                  <a:latin typeface="Quattrocento Sans"/>
                  <a:ea typeface="Quattrocento Sans"/>
                  <a:cs typeface="Quattrocento Sans"/>
                  <a:sym typeface="Quattrocento Sans"/>
                </a:rPr>
                <a:t>Usability &amp; Performance Outcomes</a:t>
              </a:r>
              <a:endParaRPr b="1" sz="1250">
                <a:solidFill>
                  <a:srgbClr val="1E40AF"/>
                </a:solidFill>
                <a:latin typeface="Quattrocento Sans"/>
                <a:ea typeface="Quattrocento Sans"/>
                <a:cs typeface="Quattrocento Sans"/>
                <a:sym typeface="Quattrocento Sans"/>
              </a:endParaRPr>
            </a:p>
            <a:p>
              <a:pPr indent="0" lvl="0" marL="0" rtl="0" algn="l">
                <a:spcBef>
                  <a:spcPts val="750"/>
                </a:spcBef>
                <a:spcAft>
                  <a:spcPts val="0"/>
                </a:spcAft>
                <a:buNone/>
              </a:pPr>
              <a:r>
                <a:rPr b="1" lang="en-US" sz="1000">
                  <a:solidFill>
                    <a:srgbClr val="1E3A8A"/>
                  </a:solidFill>
                  <a:latin typeface="Quattrocento Sans"/>
                  <a:ea typeface="Quattrocento Sans"/>
                  <a:cs typeface="Quattrocento Sans"/>
                  <a:sym typeface="Quattrocento Sans"/>
                </a:rPr>
                <a:t>• Usability Goal 6.1 Verified</a:t>
              </a:r>
              <a:endParaRPr b="1" sz="1000">
                <a:solidFill>
                  <a:srgbClr val="1E3A8A"/>
                </a:solidFill>
                <a:latin typeface="Quattrocento Sans"/>
                <a:ea typeface="Quattrocento Sans"/>
                <a:cs typeface="Quattrocento Sans"/>
                <a:sym typeface="Quattrocento Sans"/>
              </a:endParaRPr>
            </a:p>
            <a:p>
              <a:pPr indent="0" lvl="0" marL="133350" marR="0" rtl="0" algn="l">
                <a:spcBef>
                  <a:spcPts val="150"/>
                </a:spcBef>
                <a:spcAft>
                  <a:spcPts val="0"/>
                </a:spcAft>
                <a:buNone/>
              </a:pPr>
              <a:r>
                <a:rPr lang="en-US" sz="950">
                  <a:solidFill>
                    <a:srgbClr val="1E40AF"/>
                  </a:solidFill>
                  <a:latin typeface="Quattrocento Sans"/>
                  <a:ea typeface="Quattrocento Sans"/>
                  <a:cs typeface="Quattrocento Sans"/>
                  <a:sym typeface="Quattrocento Sans"/>
                </a:rPr>
                <a:t>Average status comprehension achieved in 8.7 seconds during user testing.</a:t>
              </a:r>
              <a:endParaRPr sz="950">
                <a:solidFill>
                  <a:srgbClr val="1E40AF"/>
                </a:solidFill>
                <a:latin typeface="Quattrocento Sans"/>
                <a:ea typeface="Quattrocento Sans"/>
                <a:cs typeface="Quattrocento Sans"/>
                <a:sym typeface="Quattrocento Sans"/>
              </a:endParaRPr>
            </a:p>
            <a:p>
              <a:pPr indent="0" lvl="0" marL="0" rtl="0" algn="l">
                <a:spcBef>
                  <a:spcPts val="600"/>
                </a:spcBef>
                <a:spcAft>
                  <a:spcPts val="0"/>
                </a:spcAft>
                <a:buNone/>
              </a:pPr>
              <a:r>
                <a:rPr b="1" lang="en-US" sz="1000">
                  <a:solidFill>
                    <a:srgbClr val="1E3A8A"/>
                  </a:solidFill>
                  <a:latin typeface="Quattrocento Sans"/>
                  <a:ea typeface="Quattrocento Sans"/>
                  <a:cs typeface="Quattrocento Sans"/>
                  <a:sym typeface="Quattrocento Sans"/>
                </a:rPr>
                <a:t>• Zero Cognitive Load</a:t>
              </a:r>
              <a:endParaRPr b="1" sz="1000">
                <a:solidFill>
                  <a:srgbClr val="1E3A8A"/>
                </a:solidFill>
                <a:latin typeface="Quattrocento Sans"/>
                <a:ea typeface="Quattrocento Sans"/>
                <a:cs typeface="Quattrocento Sans"/>
                <a:sym typeface="Quattrocento Sans"/>
              </a:endParaRPr>
            </a:p>
            <a:p>
              <a:pPr indent="0" lvl="0" marL="133350" marR="0" rtl="0" algn="l">
                <a:spcBef>
                  <a:spcPts val="150"/>
                </a:spcBef>
                <a:spcAft>
                  <a:spcPts val="0"/>
                </a:spcAft>
                <a:buNone/>
              </a:pPr>
              <a:r>
                <a:rPr lang="en-US" sz="950">
                  <a:solidFill>
                    <a:srgbClr val="1E40AF"/>
                  </a:solidFill>
                  <a:latin typeface="Quattrocento Sans"/>
                  <a:ea typeface="Quattrocento Sans"/>
                  <a:cs typeface="Quattrocento Sans"/>
                  <a:sym typeface="Quattrocento Sans"/>
                </a:rPr>
                <a:t>Eliminates Git commits, sprint points, and raw developer backlogs.</a:t>
              </a:r>
              <a:endParaRPr sz="950">
                <a:solidFill>
                  <a:srgbClr val="1E40AF"/>
                </a:solidFill>
                <a:latin typeface="Quattrocento Sans"/>
                <a:ea typeface="Quattrocento Sans"/>
                <a:cs typeface="Quattrocento Sans"/>
                <a:sym typeface="Quattrocento Sans"/>
              </a:endParaRPr>
            </a:p>
          </p:txBody>
        </p:sp>
      </p:grpSp>
      <p:grpSp>
        <p:nvGrpSpPr>
          <p:cNvPr id="119" name="Google Shape;119;p4"/>
          <p:cNvGrpSpPr/>
          <p:nvPr/>
        </p:nvGrpSpPr>
        <p:grpSpPr>
          <a:xfrm>
            <a:off x="6076950" y="1371600"/>
            <a:ext cx="5574900" cy="4857900"/>
            <a:chOff x="0" y="0"/>
            <a:chExt cx="5574900" cy="4857900"/>
          </a:xfrm>
        </p:grpSpPr>
        <p:sp>
          <p:nvSpPr>
            <p:cNvPr id="120" name="Google Shape;120;p4"/>
            <p:cNvSpPr/>
            <p:nvPr/>
          </p:nvSpPr>
          <p:spPr>
            <a:xfrm>
              <a:off x="0" y="0"/>
              <a:ext cx="5574900" cy="4857900"/>
            </a:xfrm>
            <a:prstGeom prst="roundRect">
              <a:avLst>
                <a:gd fmla="val 1960" name="adj"/>
              </a:avLst>
            </a:prstGeom>
            <a:solidFill>
              <a:srgbClr val="FFFFFF"/>
            </a:solidFill>
            <a:ln cap="flat" cmpd="sng" w="9525">
              <a:solidFill>
                <a:srgbClr val="E2E8F0"/>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121" name="Google Shape;121;p4"/>
            <p:cNvPicPr preferRelativeResize="0"/>
            <p:nvPr/>
          </p:nvPicPr>
          <p:blipFill rotWithShape="1">
            <a:blip r:embed="rId3">
              <a:alphaModFix/>
            </a:blip>
            <a:srcRect b="13842" l="0" r="0" t="-520"/>
            <a:stretch/>
          </p:blipFill>
          <p:spPr>
            <a:xfrm>
              <a:off x="95250" y="95250"/>
              <a:ext cx="5384400" cy="4667400"/>
            </a:xfrm>
            <a:prstGeom prst="roundRect">
              <a:avLst>
                <a:gd fmla="val 1224" name="adj"/>
              </a:avLst>
            </a:prstGeom>
            <a:noFill/>
            <a:ln>
              <a:noFill/>
            </a:ln>
          </p:spPr>
        </p:pic>
      </p:grpSp>
      <p:sp>
        <p:nvSpPr>
          <p:cNvPr id="122" name="Google Shape;122;p4"/>
          <p:cNvSpPr txBox="1"/>
          <p:nvPr/>
        </p:nvSpPr>
        <p:spPr>
          <a:xfrm>
            <a:off x="540000" y="6400800"/>
            <a:ext cx="11112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sz="850">
                <a:solidFill>
                  <a:srgbClr val="94A3B8"/>
                </a:solidFill>
                <a:latin typeface="Quattrocento Sans"/>
                <a:ea typeface="Quattrocento Sans"/>
                <a:cs typeface="Quattrocento Sans"/>
                <a:sym typeface="Quattrocento Sans"/>
              </a:rPr>
              <a:t>COIT20270 Assignment 4 | Sadiq Salman (12284952) | Elegant Media Australia | Slide 4</a:t>
            </a:r>
            <a:endParaRPr sz="850">
              <a:solidFill>
                <a:srgbClr val="94A3B8"/>
              </a:solidFill>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5"/>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BEHAVIORAL SPECIFICATION &amp; WORKFLOW 2</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Activity Diagram 2: Review Artefact &amp; Submit Feedback</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Anchored Contextual Discussion &amp; Scaffolded Feedback Chips</a:t>
            </a:r>
            <a:endParaRPr/>
          </a:p>
        </p:txBody>
      </p:sp>
      <p:sp>
        <p:nvSpPr>
          <p:cNvPr id="130" name="Google Shape;130;p5"/>
          <p:cNvSpPr/>
          <p:nvPr/>
        </p:nvSpPr>
        <p:spPr>
          <a:xfrm>
            <a:off x="540000" y="1650000"/>
            <a:ext cx="5400000" cy="46500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3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Architectural Execution Breakdown</a:t>
            </a:r>
            <a:endParaRPr/>
          </a:p>
          <a:p>
            <a:pPr indent="-63500" lvl="0" marL="288000" marR="0" rtl="0" algn="l">
              <a:spcBef>
                <a:spcPts val="8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Artefact Exploration:</a:t>
            </a:r>
            <a:r>
              <a:rPr b="0" i="0" lang="en-US" sz="1000" u="none" cap="none" strike="noStrike">
                <a:solidFill>
                  <a:srgbClr val="334155"/>
                </a:solidFill>
                <a:latin typeface="Quattrocento Sans"/>
                <a:ea typeface="Quattrocento Sans"/>
                <a:cs typeface="Quattrocento Sans"/>
                <a:sym typeface="Quattrocento Sans"/>
              </a:rPr>
              <a:t> Browse filterable deliverables gallery (UI/UX, Architecture, Testing).</a:t>
            </a:r>
            <a:endParaRPr/>
          </a:p>
          <a:p>
            <a:pPr indent="-63500" lvl="0" marL="288000" marR="0" rtl="0" algn="l">
              <a:spcBef>
                <a:spcPts val="5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Contextual Threading:</a:t>
            </a:r>
            <a:r>
              <a:rPr b="0" i="0" lang="en-US" sz="1000" u="none" cap="none" strike="noStrike">
                <a:solidFill>
                  <a:srgbClr val="334155"/>
                </a:solidFill>
                <a:latin typeface="Quattrocento Sans"/>
                <a:ea typeface="Quattrocento Sans"/>
                <a:cs typeface="Quattrocento Sans"/>
                <a:sym typeface="Quattrocento Sans"/>
              </a:rPr>
              <a:t> Visual mockup canvas displays artefact with inline discussion audit trail.</a:t>
            </a:r>
            <a:endParaRPr/>
          </a:p>
          <a:p>
            <a:pPr indent="-63500" lvl="0" marL="288000" marR="0" rtl="0" algn="l">
              <a:spcBef>
                <a:spcPts val="5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Rapid Feedback:</a:t>
            </a:r>
            <a:r>
              <a:rPr b="0" i="0" lang="en-US" sz="1000" u="none" cap="none" strike="noStrike">
                <a:solidFill>
                  <a:srgbClr val="334155"/>
                </a:solidFill>
                <a:latin typeface="Quattrocento Sans"/>
                <a:ea typeface="Quattrocento Sans"/>
                <a:cs typeface="Quattrocento Sans"/>
                <a:sym typeface="Quattrocento Sans"/>
              </a:rPr>
              <a:t> One-tap action chips allow instant responses without typing (Jakob et al., 2022).</a:t>
            </a:r>
            <a:endParaRPr/>
          </a:p>
          <a:p>
            <a:pPr indent="-63500" lvl="0" marL="288000" marR="0" rtl="0" algn="l">
              <a:spcBef>
                <a:spcPts val="5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Verified Discard &amp; Dispatch:</a:t>
            </a:r>
            <a:r>
              <a:rPr b="0" i="0" lang="en-US" sz="1000" u="none" cap="none" strike="noStrike">
                <a:solidFill>
                  <a:srgbClr val="334155"/>
                </a:solidFill>
                <a:latin typeface="Quattrocento Sans"/>
                <a:ea typeface="Quattrocento Sans"/>
                <a:cs typeface="Quattrocento Sans"/>
                <a:sym typeface="Quattrocento Sans"/>
              </a:rPr>
              <a:t> Clear button safely resets draft; Send button optimistically appends comment.</a:t>
            </a:r>
            <a:endParaRPr/>
          </a:p>
          <a:p>
            <a:pPr indent="0" lvl="0" marL="0" marR="0" rtl="0" algn="l">
              <a:spcBef>
                <a:spcPts val="50"/>
              </a:spcBef>
              <a:spcAft>
                <a:spcPts val="0"/>
              </a:spcAft>
              <a:buSzPts val="1000"/>
              <a:buFont typeface="Arial"/>
              <a:buNone/>
            </a:pPr>
            <a:r>
              <a:t/>
            </a:r>
            <a:endParaRPr b="0" i="0" sz="1000" u="none" cap="none" strike="noStrike">
              <a:solidFill>
                <a:srgbClr val="334155"/>
              </a:solidFill>
              <a:latin typeface="Quattrocento Sans"/>
              <a:ea typeface="Quattrocento Sans"/>
              <a:cs typeface="Quattrocento Sans"/>
              <a:sym typeface="Quattrocento Sans"/>
            </a:endParaRPr>
          </a:p>
          <a:p>
            <a:pPr indent="0" lvl="0" marL="0" marR="0" rtl="0" algn="l">
              <a:spcBef>
                <a:spcPts val="40"/>
              </a:spcBef>
              <a:spcAft>
                <a:spcPts val="0"/>
              </a:spcAft>
              <a:buClr>
                <a:srgbClr val="1F3864"/>
              </a:buClr>
              <a:buSzPts val="13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Usability &amp; Efficiency Metrics</a:t>
            </a:r>
            <a:endParaRPr/>
          </a:p>
          <a:p>
            <a:pPr indent="-63500" lvl="0" marL="288000" marR="0" rtl="0" algn="l">
              <a:spcBef>
                <a:spcPts val="8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Usability Goal 6.2 Verified:</a:t>
            </a:r>
            <a:r>
              <a:rPr b="0" i="0" lang="en-US" sz="1000" u="none" cap="none" strike="noStrike">
                <a:solidFill>
                  <a:srgbClr val="334155"/>
                </a:solidFill>
                <a:latin typeface="Quattrocento Sans"/>
                <a:ea typeface="Quattrocento Sans"/>
                <a:cs typeface="Quattrocento Sans"/>
                <a:sym typeface="Quattrocento Sans"/>
              </a:rPr>
              <a:t> Feedback submission completed in 38.3s (well below 60s benchmark).</a:t>
            </a:r>
            <a:endParaRPr/>
          </a:p>
          <a:p>
            <a:pPr indent="-63500" lvl="0" marL="288000" marR="0" rtl="0" algn="l">
              <a:spcBef>
                <a:spcPts val="5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Email Elimination:</a:t>
            </a:r>
            <a:r>
              <a:rPr b="0" i="0" lang="en-US" sz="1000" u="none" cap="none" strike="noStrike">
                <a:solidFill>
                  <a:srgbClr val="334155"/>
                </a:solidFill>
                <a:latin typeface="Quattrocento Sans"/>
                <a:ea typeface="Quattrocento Sans"/>
                <a:cs typeface="Quattrocento Sans"/>
                <a:sym typeface="Quattrocento Sans"/>
              </a:rPr>
              <a:t> Replaces fragmented email threads with an immutable single source of truth.</a:t>
            </a:r>
            <a:endParaRPr/>
          </a:p>
          <a:p>
            <a:pPr indent="0" lvl="0" marL="0" marR="0" rtl="0" algn="l">
              <a:spcBef>
                <a:spcPts val="50"/>
              </a:spcBef>
              <a:spcAft>
                <a:spcPts val="0"/>
              </a:spcAft>
              <a:buSzPts val="1000"/>
              <a:buFont typeface="Arial"/>
              <a:buNone/>
            </a:pPr>
            <a:r>
              <a:t/>
            </a:r>
            <a:endParaRPr b="0" i="0" sz="1000" u="none" cap="none" strike="noStrike">
              <a:solidFill>
                <a:srgbClr val="334155"/>
              </a:solidFill>
              <a:latin typeface="Quattrocento Sans"/>
              <a:ea typeface="Quattrocento Sans"/>
              <a:cs typeface="Quattrocento Sans"/>
              <a:sym typeface="Quattrocento Sans"/>
            </a:endParaRPr>
          </a:p>
        </p:txBody>
      </p:sp>
      <p:grpSp>
        <p:nvGrpSpPr>
          <p:cNvPr id="131" name="Google Shape;131;p5"/>
          <p:cNvGrpSpPr/>
          <p:nvPr/>
        </p:nvGrpSpPr>
        <p:grpSpPr>
          <a:xfrm>
            <a:off x="540000" y="4495800"/>
            <a:ext cx="5372100" cy="1733700"/>
            <a:chOff x="0" y="0"/>
            <a:chExt cx="5372100" cy="1733700"/>
          </a:xfrm>
        </p:grpSpPr>
        <p:sp>
          <p:nvSpPr>
            <p:cNvPr id="132" name="Google Shape;132;p5"/>
            <p:cNvSpPr/>
            <p:nvPr/>
          </p:nvSpPr>
          <p:spPr>
            <a:xfrm>
              <a:off x="0" y="0"/>
              <a:ext cx="5372100" cy="1733700"/>
            </a:xfrm>
            <a:prstGeom prst="roundRect">
              <a:avLst>
                <a:gd fmla="val 549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3" name="Google Shape;133;p5"/>
            <p:cNvSpPr/>
            <p:nvPr/>
          </p:nvSpPr>
          <p:spPr>
            <a:xfrm>
              <a:off x="0" y="0"/>
              <a:ext cx="5372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5"/>
            <p:cNvSpPr txBox="1"/>
            <p:nvPr/>
          </p:nvSpPr>
          <p:spPr>
            <a:xfrm>
              <a:off x="190500" y="152400"/>
              <a:ext cx="49911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50">
                  <a:solidFill>
                    <a:srgbClr val="1E40AF"/>
                  </a:solidFill>
                  <a:latin typeface="Quattrocento Sans"/>
                  <a:ea typeface="Quattrocento Sans"/>
                  <a:cs typeface="Quattrocento Sans"/>
                  <a:sym typeface="Quattrocento Sans"/>
                </a:rPr>
                <a:t>Usability &amp; Efficiency Metrics</a:t>
              </a:r>
              <a:endParaRPr b="1" sz="1250">
                <a:solidFill>
                  <a:srgbClr val="1E40AF"/>
                </a:solidFill>
                <a:latin typeface="Quattrocento Sans"/>
                <a:ea typeface="Quattrocento Sans"/>
                <a:cs typeface="Quattrocento Sans"/>
                <a:sym typeface="Quattrocento Sans"/>
              </a:endParaRPr>
            </a:p>
            <a:p>
              <a:pPr indent="0" lvl="0" marL="0" rtl="0" algn="l">
                <a:spcBef>
                  <a:spcPts val="750"/>
                </a:spcBef>
                <a:spcAft>
                  <a:spcPts val="0"/>
                </a:spcAft>
                <a:buNone/>
              </a:pPr>
              <a:r>
                <a:rPr b="1" lang="en-US" sz="1000">
                  <a:solidFill>
                    <a:srgbClr val="1E3A8A"/>
                  </a:solidFill>
                  <a:latin typeface="Quattrocento Sans"/>
                  <a:ea typeface="Quattrocento Sans"/>
                  <a:cs typeface="Quattrocento Sans"/>
                  <a:sym typeface="Quattrocento Sans"/>
                </a:rPr>
                <a:t>• Usability Goal 6.2 Verified</a:t>
              </a:r>
              <a:endParaRPr b="1" sz="1000">
                <a:solidFill>
                  <a:srgbClr val="1E3A8A"/>
                </a:solidFill>
                <a:latin typeface="Quattrocento Sans"/>
                <a:ea typeface="Quattrocento Sans"/>
                <a:cs typeface="Quattrocento Sans"/>
                <a:sym typeface="Quattrocento Sans"/>
              </a:endParaRPr>
            </a:p>
            <a:p>
              <a:pPr indent="0" lvl="0" marL="114300" marR="0" rtl="0" algn="l">
                <a:spcBef>
                  <a:spcPts val="150"/>
                </a:spcBef>
                <a:spcAft>
                  <a:spcPts val="0"/>
                </a:spcAft>
                <a:buNone/>
              </a:pPr>
              <a:r>
                <a:rPr b="0" lang="en-US" sz="950">
                  <a:solidFill>
                    <a:srgbClr val="1E40AF"/>
                  </a:solidFill>
                  <a:latin typeface="Quattrocento Sans"/>
                  <a:ea typeface="Quattrocento Sans"/>
                  <a:cs typeface="Quattrocento Sans"/>
                  <a:sym typeface="Quattrocento Sans"/>
                </a:rPr>
                <a:t>Feedback submission completed in 38.3s (well below 60s benchmark).</a:t>
              </a:r>
              <a:endParaRPr b="0" sz="950">
                <a:solidFill>
                  <a:srgbClr val="1E40AF"/>
                </a:solidFill>
                <a:latin typeface="Quattrocento Sans"/>
                <a:ea typeface="Quattrocento Sans"/>
                <a:cs typeface="Quattrocento Sans"/>
                <a:sym typeface="Quattrocento Sans"/>
              </a:endParaRPr>
            </a:p>
            <a:p>
              <a:pPr indent="0" lvl="0" marL="0" rtl="0" algn="l">
                <a:spcBef>
                  <a:spcPts val="600"/>
                </a:spcBef>
                <a:spcAft>
                  <a:spcPts val="0"/>
                </a:spcAft>
                <a:buNone/>
              </a:pPr>
              <a:r>
                <a:rPr b="1" lang="en-US" sz="1000">
                  <a:solidFill>
                    <a:srgbClr val="1E3A8A"/>
                  </a:solidFill>
                  <a:latin typeface="Quattrocento Sans"/>
                  <a:ea typeface="Quattrocento Sans"/>
                  <a:cs typeface="Quattrocento Sans"/>
                  <a:sym typeface="Quattrocento Sans"/>
                </a:rPr>
                <a:t>• Email Elimination</a:t>
              </a:r>
              <a:endParaRPr b="1" sz="1000">
                <a:solidFill>
                  <a:srgbClr val="1E3A8A"/>
                </a:solidFill>
                <a:latin typeface="Quattrocento Sans"/>
                <a:ea typeface="Quattrocento Sans"/>
                <a:cs typeface="Quattrocento Sans"/>
                <a:sym typeface="Quattrocento Sans"/>
              </a:endParaRPr>
            </a:p>
            <a:p>
              <a:pPr indent="0" lvl="0" marL="114300" marR="0" rtl="0" algn="l">
                <a:spcBef>
                  <a:spcPts val="150"/>
                </a:spcBef>
                <a:spcAft>
                  <a:spcPts val="0"/>
                </a:spcAft>
                <a:buNone/>
              </a:pPr>
              <a:r>
                <a:rPr b="0" lang="en-US" sz="950">
                  <a:solidFill>
                    <a:srgbClr val="1E40AF"/>
                  </a:solidFill>
                  <a:latin typeface="Quattrocento Sans"/>
                  <a:ea typeface="Quattrocento Sans"/>
                  <a:cs typeface="Quattrocento Sans"/>
                  <a:sym typeface="Quattrocento Sans"/>
                </a:rPr>
                <a:t>Replaces fragmented email threads with an immutable single source of truth.</a:t>
              </a:r>
              <a:endParaRPr b="0" sz="950">
                <a:solidFill>
                  <a:srgbClr val="1E40AF"/>
                </a:solidFill>
                <a:latin typeface="Quattrocento Sans"/>
                <a:ea typeface="Quattrocento Sans"/>
                <a:cs typeface="Quattrocento Sans"/>
                <a:sym typeface="Quattrocento Sans"/>
              </a:endParaRPr>
            </a:p>
          </p:txBody>
        </p:sp>
      </p:grpSp>
      <p:pic>
        <p:nvPicPr>
          <p:cNvPr id="135" name="Google Shape;135;p5"/>
          <p:cNvPicPr preferRelativeResize="0"/>
          <p:nvPr/>
        </p:nvPicPr>
        <p:blipFill rotWithShape="1">
          <a:blip r:embed="rId3">
            <a:alphaModFix/>
          </a:blip>
          <a:srcRect b="0" l="0" r="0" t="0"/>
          <a:stretch/>
        </p:blipFill>
        <p:spPr>
          <a:xfrm>
            <a:off x="6200000" y="1650000"/>
            <a:ext cx="5450001" cy="4649999"/>
          </a:xfrm>
          <a:prstGeom prst="rect">
            <a:avLst/>
          </a:prstGeom>
          <a:noFill/>
          <a:ln cap="flat" cmpd="sng" w="12700">
            <a:solidFill>
              <a:srgbClr val="E2E8F0"/>
            </a:solidFill>
            <a:prstDash val="solid"/>
            <a:round/>
            <a:headEnd len="sm" w="sm" type="none"/>
            <a:tailEnd len="sm" w="sm" type="none"/>
          </a:ln>
        </p:spPr>
      </p:pic>
      <p:sp>
        <p:nvSpPr>
          <p:cNvPr id="136" name="Google Shape;136;p5"/>
          <p:cNvSpPr/>
          <p:nvPr/>
        </p:nvSpPr>
        <p:spPr>
          <a:xfrm>
            <a:off x="540000" y="6400800"/>
            <a:ext cx="11112000" cy="285900"/>
          </a:xfrm>
          <a:prstGeom prst="roundRect">
            <a:avLst>
              <a:gd fmla="val 2000" name="adj"/>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Quattrocento Sans"/>
                <a:ea typeface="Quattrocento Sans"/>
                <a:cs typeface="Quattrocento Sans"/>
                <a:sym typeface="Quattrocento Sans"/>
              </a:rPr>
              <a:t>COIT20270 Assignment 4 | Sadiq Salman (12284952) | Elegant Media Australia | Slide 5</a:t>
            </a:r>
            <a:endParaRPr b="0" sz="850">
              <a:solidFill>
                <a:srgbClr val="94A3B8"/>
              </a:solidFill>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6"/>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BEHAVIORAL SPECIFICATION &amp; WORKFLOW 3</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Activity Diagram 3: Milestone Governance &amp; Revisions</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Two-Step Commercial Sign-off Gate &amp; SHA-256 Audit Certificate</a:t>
            </a:r>
            <a:endParaRPr/>
          </a:p>
        </p:txBody>
      </p:sp>
      <p:sp>
        <p:nvSpPr>
          <p:cNvPr id="144" name="Google Shape;144;p6"/>
          <p:cNvSpPr/>
          <p:nvPr/>
        </p:nvSpPr>
        <p:spPr>
          <a:xfrm>
            <a:off x="540000" y="1650000"/>
            <a:ext cx="5400000" cy="46500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1F3864"/>
              </a:buClr>
              <a:buSzPts val="13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Architectural Execution Breakdown</a:t>
            </a:r>
            <a:endParaRPr/>
          </a:p>
          <a:p>
            <a:pPr indent="-63500" lvl="0" marL="288000" marR="0" rtl="0" algn="l">
              <a:spcBef>
                <a:spcPts val="8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Governance Acceptance Gate:</a:t>
            </a:r>
            <a:r>
              <a:rPr b="0" i="0" lang="en-US" sz="1000" u="none" cap="none" strike="noStrike">
                <a:solidFill>
                  <a:srgbClr val="334155"/>
                </a:solidFill>
                <a:latin typeface="Quattrocento Sans"/>
                <a:ea typeface="Quattrocento Sans"/>
                <a:cs typeface="Quattrocento Sans"/>
                <a:sym typeface="Quattrocento Sans"/>
              </a:rPr>
              <a:t> Client inspects verified criteria checklist and liability ($12,500 AUD).</a:t>
            </a:r>
            <a:endParaRPr/>
          </a:p>
          <a:p>
            <a:pPr indent="-63500" lvl="0" marL="288000" marR="0" rtl="0" algn="l">
              <a:spcBef>
                <a:spcPts val="5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Decision Boundary:</a:t>
            </a:r>
            <a:r>
              <a:rPr b="0" i="0" lang="en-US" sz="1000" u="none" cap="none" strike="noStrike">
                <a:solidFill>
                  <a:srgbClr val="334155"/>
                </a:solidFill>
                <a:latin typeface="Quattrocento Sans"/>
                <a:ea typeface="Quattrocento Sans"/>
                <a:cs typeface="Quattrocento Sans"/>
                <a:sym typeface="Quattrocento Sans"/>
              </a:rPr>
              <a:t> Neutral, equal-weight action buttons for 'Approve Milestone' and 'Request Changes'.</a:t>
            </a:r>
            <a:endParaRPr/>
          </a:p>
          <a:p>
            <a:pPr indent="-63500" lvl="0" marL="288000" marR="0" rtl="0" algn="l">
              <a:spcBef>
                <a:spcPts val="5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Two-Step Confirmation Gate:</a:t>
            </a:r>
            <a:r>
              <a:rPr b="0" i="0" lang="en-US" sz="1000" u="none" cap="none" strike="noStrike">
                <a:solidFill>
                  <a:srgbClr val="334155"/>
                </a:solidFill>
                <a:latin typeface="Quattrocento Sans"/>
                <a:ea typeface="Quattrocento Sans"/>
                <a:cs typeface="Quattrocento Sans"/>
                <a:sym typeface="Quattrocento Sans"/>
              </a:rPr>
              <a:t> Secondary modal explicitly enumerates legal liability and invoice issuance.</a:t>
            </a:r>
            <a:endParaRPr/>
          </a:p>
          <a:p>
            <a:pPr indent="-63500" lvl="0" marL="288000" marR="0" rtl="0" algn="l">
              <a:spcBef>
                <a:spcPts val="5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Digital Certificate Terminal:</a:t>
            </a:r>
            <a:r>
              <a:rPr b="0" i="0" lang="en-US" sz="1000" u="none" cap="none" strike="noStrike">
                <a:solidFill>
                  <a:srgbClr val="334155"/>
                </a:solidFill>
                <a:latin typeface="Quattrocento Sans"/>
                <a:ea typeface="Quattrocento Sans"/>
                <a:cs typeface="Quattrocento Sans"/>
                <a:sym typeface="Quattrocento Sans"/>
              </a:rPr>
              <a:t> Acceptance generates an immutable SHA-256 digital certificate receipt.</a:t>
            </a:r>
            <a:endParaRPr/>
          </a:p>
          <a:p>
            <a:pPr indent="0" lvl="0" marL="0" marR="0" rtl="0" algn="l">
              <a:spcBef>
                <a:spcPts val="50"/>
              </a:spcBef>
              <a:spcAft>
                <a:spcPts val="0"/>
              </a:spcAft>
              <a:buSzPts val="1000"/>
              <a:buFont typeface="Arial"/>
              <a:buNone/>
            </a:pPr>
            <a:r>
              <a:t/>
            </a:r>
            <a:endParaRPr b="0" i="0" sz="1000" u="none" cap="none" strike="noStrike">
              <a:solidFill>
                <a:srgbClr val="334155"/>
              </a:solidFill>
              <a:latin typeface="Quattrocento Sans"/>
              <a:ea typeface="Quattrocento Sans"/>
              <a:cs typeface="Quattrocento Sans"/>
              <a:sym typeface="Quattrocento Sans"/>
            </a:endParaRPr>
          </a:p>
          <a:p>
            <a:pPr indent="0" lvl="0" marL="0" marR="0" rtl="0" algn="l">
              <a:spcBef>
                <a:spcPts val="40"/>
              </a:spcBef>
              <a:spcAft>
                <a:spcPts val="0"/>
              </a:spcAft>
              <a:buClr>
                <a:srgbClr val="1F3864"/>
              </a:buClr>
              <a:buSzPts val="1300"/>
              <a:buFont typeface="Quattrocento Sans"/>
              <a:buNone/>
            </a:pPr>
            <a:r>
              <a:rPr b="1" i="0" lang="en-US" sz="1300" u="none" cap="none" strike="noStrike">
                <a:solidFill>
                  <a:srgbClr val="1F3864"/>
                </a:solidFill>
                <a:latin typeface="Quattrocento Sans"/>
                <a:ea typeface="Quattrocento Sans"/>
                <a:cs typeface="Quattrocento Sans"/>
                <a:sym typeface="Quattrocento Sans"/>
              </a:rPr>
              <a:t>Usability Goal 6.3 - Error Prevention</a:t>
            </a:r>
            <a:endParaRPr/>
          </a:p>
          <a:p>
            <a:pPr indent="-63500" lvl="0" marL="288000" marR="0" rtl="0" algn="l">
              <a:spcBef>
                <a:spcPts val="8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Zero Slips (0.0% Error Rate):</a:t>
            </a:r>
            <a:r>
              <a:rPr b="0" i="0" lang="en-US" sz="1000" u="none" cap="none" strike="noStrike">
                <a:solidFill>
                  <a:srgbClr val="334155"/>
                </a:solidFill>
                <a:latin typeface="Quattrocento Sans"/>
                <a:ea typeface="Quattrocento Sans"/>
                <a:cs typeface="Quattrocento Sans"/>
                <a:sym typeface="Quattrocento Sans"/>
              </a:rPr>
              <a:t> Completely prevents accidental touchscreen taps on binding commitments.</a:t>
            </a:r>
            <a:endParaRPr/>
          </a:p>
          <a:p>
            <a:pPr indent="-63500" lvl="0" marL="288000" marR="0" rtl="0" algn="l">
              <a:spcBef>
                <a:spcPts val="50"/>
              </a:spcBef>
              <a:spcAft>
                <a:spcPts val="0"/>
              </a:spcAft>
              <a:buClr>
                <a:srgbClr val="0F172A"/>
              </a:buClr>
              <a:buSzPts val="1000"/>
              <a:buFont typeface="Quattrocento Sans"/>
              <a:buChar char="•"/>
            </a:pPr>
            <a:r>
              <a:rPr b="1" i="0" lang="en-US" sz="1000" u="none" cap="none" strike="noStrike">
                <a:solidFill>
                  <a:srgbClr val="0F172A"/>
                </a:solidFill>
                <a:latin typeface="Quattrocento Sans"/>
                <a:ea typeface="Quattrocento Sans"/>
                <a:cs typeface="Quattrocento Sans"/>
                <a:sym typeface="Quattrocento Sans"/>
              </a:rPr>
              <a:t>100% Liability Awareness:</a:t>
            </a:r>
            <a:r>
              <a:rPr b="0" i="0" lang="en-US" sz="1000" u="none" cap="none" strike="noStrike">
                <a:solidFill>
                  <a:srgbClr val="334155"/>
                </a:solidFill>
                <a:latin typeface="Quattrocento Sans"/>
                <a:ea typeface="Quattrocento Sans"/>
                <a:cs typeface="Quattrocento Sans"/>
                <a:sym typeface="Quattrocento Sans"/>
              </a:rPr>
              <a:t> Verified across all participant testing sessions in Assignment 3.</a:t>
            </a:r>
            <a:endParaRPr/>
          </a:p>
          <a:p>
            <a:pPr indent="0" lvl="0" marL="0" marR="0" rtl="0" algn="l">
              <a:spcBef>
                <a:spcPts val="50"/>
              </a:spcBef>
              <a:spcAft>
                <a:spcPts val="0"/>
              </a:spcAft>
              <a:buSzPts val="1000"/>
              <a:buFont typeface="Arial"/>
              <a:buNone/>
            </a:pPr>
            <a:r>
              <a:t/>
            </a:r>
            <a:endParaRPr b="0" i="0" sz="1000" u="none" cap="none" strike="noStrike">
              <a:solidFill>
                <a:srgbClr val="334155"/>
              </a:solidFill>
              <a:latin typeface="Quattrocento Sans"/>
              <a:ea typeface="Quattrocento Sans"/>
              <a:cs typeface="Quattrocento Sans"/>
              <a:sym typeface="Quattrocento Sans"/>
            </a:endParaRPr>
          </a:p>
        </p:txBody>
      </p:sp>
      <p:pic>
        <p:nvPicPr>
          <p:cNvPr id="145" name="Google Shape;145;p6"/>
          <p:cNvPicPr preferRelativeResize="0"/>
          <p:nvPr/>
        </p:nvPicPr>
        <p:blipFill rotWithShape="1">
          <a:blip r:embed="rId3">
            <a:alphaModFix/>
          </a:blip>
          <a:srcRect b="0" l="0" r="0" t="0"/>
          <a:stretch/>
        </p:blipFill>
        <p:spPr>
          <a:xfrm>
            <a:off x="6200000" y="1650000"/>
            <a:ext cx="5450001" cy="4649999"/>
          </a:xfrm>
          <a:prstGeom prst="rect">
            <a:avLst/>
          </a:prstGeom>
          <a:noFill/>
          <a:ln cap="flat" cmpd="sng" w="12700">
            <a:solidFill>
              <a:srgbClr val="E2E8F0"/>
            </a:solidFill>
            <a:prstDash val="solid"/>
            <a:round/>
            <a:headEnd len="sm" w="sm" type="none"/>
            <a:tailEnd len="sm" w="sm" type="none"/>
          </a:ln>
        </p:spPr>
      </p:pic>
      <p:grpSp>
        <p:nvGrpSpPr>
          <p:cNvPr id="146" name="Google Shape;146;p6"/>
          <p:cNvGrpSpPr/>
          <p:nvPr/>
        </p:nvGrpSpPr>
        <p:grpSpPr>
          <a:xfrm>
            <a:off x="540000" y="4495800"/>
            <a:ext cx="5372100" cy="1733700"/>
            <a:chOff x="0" y="0"/>
            <a:chExt cx="5372100" cy="1733700"/>
          </a:xfrm>
        </p:grpSpPr>
        <p:sp>
          <p:nvSpPr>
            <p:cNvPr id="147" name="Google Shape;147;p6"/>
            <p:cNvSpPr/>
            <p:nvPr/>
          </p:nvSpPr>
          <p:spPr>
            <a:xfrm>
              <a:off x="0" y="0"/>
              <a:ext cx="5372100" cy="1733700"/>
            </a:xfrm>
            <a:prstGeom prst="roundRect">
              <a:avLst>
                <a:gd fmla="val 549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8" name="Google Shape;148;p6"/>
            <p:cNvSpPr/>
            <p:nvPr/>
          </p:nvSpPr>
          <p:spPr>
            <a:xfrm>
              <a:off x="0" y="0"/>
              <a:ext cx="5372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9" name="Google Shape;149;p6"/>
            <p:cNvSpPr txBox="1"/>
            <p:nvPr/>
          </p:nvSpPr>
          <p:spPr>
            <a:xfrm>
              <a:off x="190500" y="152400"/>
              <a:ext cx="4991100" cy="1428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n-US" sz="1250">
                  <a:solidFill>
                    <a:srgbClr val="1E40AF"/>
                  </a:solidFill>
                  <a:latin typeface="Quattrocento Sans"/>
                  <a:ea typeface="Quattrocento Sans"/>
                  <a:cs typeface="Quattrocento Sans"/>
                  <a:sym typeface="Quattrocento Sans"/>
                </a:rPr>
                <a:t>Usability Goal 6.3 - Error Prevention</a:t>
              </a:r>
              <a:endParaRPr b="1" sz="1250">
                <a:solidFill>
                  <a:srgbClr val="1E40AF"/>
                </a:solidFill>
                <a:latin typeface="Quattrocento Sans"/>
                <a:ea typeface="Quattrocento Sans"/>
                <a:cs typeface="Quattrocento Sans"/>
                <a:sym typeface="Quattrocento Sans"/>
              </a:endParaRPr>
            </a:p>
            <a:p>
              <a:pPr indent="0" lvl="0" marL="0" rtl="0" algn="l">
                <a:spcBef>
                  <a:spcPts val="750"/>
                </a:spcBef>
                <a:spcAft>
                  <a:spcPts val="0"/>
                </a:spcAft>
                <a:buNone/>
              </a:pPr>
              <a:r>
                <a:rPr b="1" lang="en-US" sz="1000">
                  <a:solidFill>
                    <a:srgbClr val="1E3A8A"/>
                  </a:solidFill>
                  <a:latin typeface="Quattrocento Sans"/>
                  <a:ea typeface="Quattrocento Sans"/>
                  <a:cs typeface="Quattrocento Sans"/>
                  <a:sym typeface="Quattrocento Sans"/>
                </a:rPr>
                <a:t>• Zero Slips (0.0% Error Rate)</a:t>
              </a:r>
              <a:endParaRPr b="1" sz="1000">
                <a:solidFill>
                  <a:srgbClr val="1E3A8A"/>
                </a:solidFill>
                <a:latin typeface="Quattrocento Sans"/>
                <a:ea typeface="Quattrocento Sans"/>
                <a:cs typeface="Quattrocento Sans"/>
                <a:sym typeface="Quattrocento Sans"/>
              </a:endParaRPr>
            </a:p>
            <a:p>
              <a:pPr indent="0" lvl="0" marL="133350" marR="0" rtl="0" algn="l">
                <a:spcBef>
                  <a:spcPts val="150"/>
                </a:spcBef>
                <a:spcAft>
                  <a:spcPts val="0"/>
                </a:spcAft>
                <a:buNone/>
              </a:pPr>
              <a:r>
                <a:rPr b="0" lang="en-US" sz="950">
                  <a:solidFill>
                    <a:srgbClr val="1E40AF"/>
                  </a:solidFill>
                  <a:latin typeface="Quattrocento Sans"/>
                  <a:ea typeface="Quattrocento Sans"/>
                  <a:cs typeface="Quattrocento Sans"/>
                  <a:sym typeface="Quattrocento Sans"/>
                </a:rPr>
                <a:t>Completely prevents accidental touchscreen taps on binding commitments.</a:t>
              </a:r>
              <a:endParaRPr b="0" sz="950">
                <a:solidFill>
                  <a:srgbClr val="1E40AF"/>
                </a:solidFill>
                <a:latin typeface="Quattrocento Sans"/>
                <a:ea typeface="Quattrocento Sans"/>
                <a:cs typeface="Quattrocento Sans"/>
                <a:sym typeface="Quattrocento Sans"/>
              </a:endParaRPr>
            </a:p>
            <a:p>
              <a:pPr indent="0" lvl="0" marL="0" rtl="0" algn="l">
                <a:spcBef>
                  <a:spcPts val="600"/>
                </a:spcBef>
                <a:spcAft>
                  <a:spcPts val="0"/>
                </a:spcAft>
                <a:buNone/>
              </a:pPr>
              <a:r>
                <a:rPr b="1" lang="en-US" sz="1000">
                  <a:solidFill>
                    <a:srgbClr val="1E3A8A"/>
                  </a:solidFill>
                  <a:latin typeface="Quattrocento Sans"/>
                  <a:ea typeface="Quattrocento Sans"/>
                  <a:cs typeface="Quattrocento Sans"/>
                  <a:sym typeface="Quattrocento Sans"/>
                </a:rPr>
                <a:t>• 100% Liability Awareness</a:t>
              </a:r>
              <a:endParaRPr b="1" sz="1000">
                <a:solidFill>
                  <a:srgbClr val="1E3A8A"/>
                </a:solidFill>
                <a:latin typeface="Quattrocento Sans"/>
                <a:ea typeface="Quattrocento Sans"/>
                <a:cs typeface="Quattrocento Sans"/>
                <a:sym typeface="Quattrocento Sans"/>
              </a:endParaRPr>
            </a:p>
            <a:p>
              <a:pPr indent="0" lvl="0" marL="133350" marR="0" rtl="0" algn="l">
                <a:spcBef>
                  <a:spcPts val="150"/>
                </a:spcBef>
                <a:spcAft>
                  <a:spcPts val="0"/>
                </a:spcAft>
                <a:buNone/>
              </a:pPr>
              <a:r>
                <a:rPr b="0" lang="en-US" sz="950">
                  <a:solidFill>
                    <a:srgbClr val="1E40AF"/>
                  </a:solidFill>
                  <a:latin typeface="Quattrocento Sans"/>
                  <a:ea typeface="Quattrocento Sans"/>
                  <a:cs typeface="Quattrocento Sans"/>
                  <a:sym typeface="Quattrocento Sans"/>
                </a:rPr>
                <a:t>Verified across all participant testing sessions in Assignment 3.</a:t>
              </a:r>
              <a:endParaRPr b="0" sz="950">
                <a:solidFill>
                  <a:srgbClr val="1E40AF"/>
                </a:solidFill>
                <a:latin typeface="Quattrocento Sans"/>
                <a:ea typeface="Quattrocento Sans"/>
                <a:cs typeface="Quattrocento Sans"/>
                <a:sym typeface="Quattrocento Sans"/>
              </a:endParaRPr>
            </a:p>
          </p:txBody>
        </p:sp>
      </p:grpSp>
      <p:sp>
        <p:nvSpPr>
          <p:cNvPr id="150" name="Google Shape;150;p6"/>
          <p:cNvSpPr/>
          <p:nvPr/>
        </p:nvSpPr>
        <p:spPr>
          <a:xfrm>
            <a:off x="540000" y="6400800"/>
            <a:ext cx="11112000" cy="285900"/>
          </a:xfrm>
          <a:prstGeom prst="roundRect">
            <a:avLst>
              <a:gd fmla="val 2000" name="adj"/>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n-US" sz="850">
                <a:solidFill>
                  <a:srgbClr val="94A3B8"/>
                </a:solidFill>
                <a:latin typeface="Quattrocento Sans"/>
                <a:ea typeface="Quattrocento Sans"/>
                <a:cs typeface="Quattrocento Sans"/>
                <a:sym typeface="Quattrocento Sans"/>
              </a:rPr>
              <a:t>COIT20270 Assignment 4 | Sadiq Salman (12284952) | Elegant Media Australia | Slide 6</a:t>
            </a:r>
            <a:endParaRPr b="0" sz="850">
              <a:solidFill>
                <a:srgbClr val="94A3B8"/>
              </a:solidFill>
              <a:latin typeface="Quattrocento Sans"/>
              <a:ea typeface="Quattrocento Sans"/>
              <a:cs typeface="Quattrocento Sans"/>
              <a:sym typeface="Quattrocen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7"/>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7"/>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PRIVACY &amp; STATUTORY COMPLIANCE</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Data Flow Diagram, APPs &amp; CASFUD Ethical Architecture</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Statutory Compliance with Australian Privacy Act 1988 Across Data Stores</a:t>
            </a:r>
            <a:endParaRPr/>
          </a:p>
        </p:txBody>
      </p:sp>
      <p:sp>
        <p:nvSpPr>
          <p:cNvPr id="158" name="Google Shape;158;p7"/>
          <p:cNvSpPr/>
          <p:nvPr/>
        </p:nvSpPr>
        <p:spPr>
          <a:xfrm>
            <a:off x="540000" y="1649997"/>
            <a:ext cx="5400000" cy="2686200"/>
          </a:xfrm>
          <a:prstGeom prst="roundRect">
            <a:avLst>
              <a:gd fmla="val 3462" name="adj"/>
            </a:avLst>
          </a:prstGeom>
          <a:solidFill>
            <a:srgbClr val="FFFFFF"/>
          </a:solidFill>
          <a:ln cap="flat" cmpd="sng" w="12700">
            <a:solidFill>
              <a:srgbClr val="E2E8F0"/>
            </a:solidFill>
            <a:prstDash val="solid"/>
            <a:round/>
            <a:headEnd len="sm" w="sm" type="none"/>
            <a:tailEnd len="sm" w="sm" type="none"/>
          </a:ln>
        </p:spPr>
        <p:txBody>
          <a:bodyPr anchorCtr="0" anchor="t" bIns="143975" lIns="143975" spcFirstLastPara="1" rIns="143975" wrap="square" tIns="143975">
            <a:noAutofit/>
          </a:bodyPr>
          <a:lstStyle/>
          <a:p>
            <a:pPr indent="0" lvl="0" marL="0" rtl="0" algn="l">
              <a:spcBef>
                <a:spcPts val="0"/>
              </a:spcBef>
              <a:spcAft>
                <a:spcPts val="0"/>
              </a:spcAft>
              <a:buNone/>
            </a:pPr>
            <a:r>
              <a:rPr b="1" i="0" lang="en-US" sz="1250">
                <a:solidFill>
                  <a:srgbClr val="1F3864"/>
                </a:solidFill>
                <a:latin typeface="Quattrocento Sans"/>
                <a:ea typeface="Quattrocento Sans"/>
                <a:cs typeface="Quattrocento Sans"/>
                <a:sym typeface="Quattrocento Sans"/>
              </a:rPr>
              <a:t>Australian Privacy Principles (APPs) Implementation</a:t>
            </a:r>
            <a:endParaRPr b="1" i="0" sz="1250">
              <a:solidFill>
                <a:srgbClr val="1F3864"/>
              </a:solidFill>
              <a:latin typeface="Quattrocento Sans"/>
              <a:ea typeface="Quattrocento Sans"/>
              <a:cs typeface="Quattrocento Sans"/>
              <a:sym typeface="Quattrocento Sans"/>
            </a:endParaRPr>
          </a:p>
          <a:p>
            <a:pPr indent="-307975" lvl="0" marL="457200" rtl="0" algn="l">
              <a:spcBef>
                <a:spcPts val="750"/>
              </a:spcBef>
              <a:spcAft>
                <a:spcPts val="0"/>
              </a:spcAft>
              <a:buClr>
                <a:srgbClr val="1F3864"/>
              </a:buClr>
              <a:buSzPts val="1250"/>
              <a:buFont typeface="Quattrocento Sans"/>
              <a:buChar char="●"/>
            </a:pPr>
            <a:r>
              <a:rPr b="1" i="0" lang="en-US" sz="950">
                <a:solidFill>
                  <a:srgbClr val="0F172A"/>
                </a:solidFill>
                <a:latin typeface="Quattrocento Sans"/>
                <a:ea typeface="Quattrocento Sans"/>
                <a:cs typeface="Quattrocento Sans"/>
                <a:sym typeface="Quattrocento Sans"/>
              </a:rPr>
              <a:t>APP 1 (Transparent Management):</a:t>
            </a:r>
            <a:r>
              <a:rPr b="1" i="0" lang="en-US" sz="1250">
                <a:solidFill>
                  <a:srgbClr val="1F3864"/>
                </a:solidFill>
                <a:latin typeface="Quattrocento Sans"/>
                <a:ea typeface="Quattrocento Sans"/>
                <a:cs typeface="Quattrocento Sans"/>
                <a:sym typeface="Quattrocento Sans"/>
              </a:rPr>
              <a:t> </a:t>
            </a:r>
            <a:r>
              <a:rPr b="0" i="0" lang="en-US" sz="950">
                <a:solidFill>
                  <a:srgbClr val="334155"/>
                </a:solidFill>
                <a:latin typeface="Quattrocento Sans"/>
                <a:ea typeface="Quattrocento Sans"/>
                <a:cs typeface="Quattrocento Sans"/>
                <a:sym typeface="Quattrocento Sans"/>
              </a:rPr>
              <a:t>Comprehensive privacy policy notice accessible in-app.</a:t>
            </a:r>
            <a:endParaRPr b="1" i="0" sz="1250">
              <a:solidFill>
                <a:srgbClr val="1F3864"/>
              </a:solidFill>
              <a:latin typeface="Quattrocento Sans"/>
              <a:ea typeface="Quattrocento Sans"/>
              <a:cs typeface="Quattrocento Sans"/>
              <a:sym typeface="Quattrocento Sans"/>
            </a:endParaRPr>
          </a:p>
          <a:p>
            <a:pPr indent="-307975" lvl="0" marL="457200" rtl="0" algn="l">
              <a:spcBef>
                <a:spcPts val="600"/>
              </a:spcBef>
              <a:spcAft>
                <a:spcPts val="0"/>
              </a:spcAft>
              <a:buClr>
                <a:srgbClr val="1F3864"/>
              </a:buClr>
              <a:buSzPts val="1250"/>
              <a:buFont typeface="Quattrocento Sans"/>
              <a:buChar char="●"/>
            </a:pPr>
            <a:r>
              <a:rPr b="1" i="0" lang="en-US" sz="950">
                <a:solidFill>
                  <a:srgbClr val="0F172A"/>
                </a:solidFill>
                <a:latin typeface="Quattrocento Sans"/>
                <a:ea typeface="Quattrocento Sans"/>
                <a:cs typeface="Quattrocento Sans"/>
                <a:sym typeface="Quattrocento Sans"/>
              </a:rPr>
              <a:t>APP 3 &amp; 5 (Granular Consent):</a:t>
            </a:r>
            <a:r>
              <a:rPr b="1" i="0" lang="en-US" sz="1250">
                <a:solidFill>
                  <a:srgbClr val="1F3864"/>
                </a:solidFill>
                <a:latin typeface="Quattrocento Sans"/>
                <a:ea typeface="Quattrocento Sans"/>
                <a:cs typeface="Quattrocento Sans"/>
                <a:sym typeface="Quattrocento Sans"/>
              </a:rPr>
              <a:t> </a:t>
            </a:r>
            <a:r>
              <a:rPr b="0" i="0" lang="en-US" sz="950">
                <a:solidFill>
                  <a:srgbClr val="334155"/>
                </a:solidFill>
                <a:latin typeface="Quattrocento Sans"/>
                <a:ea typeface="Quattrocento Sans"/>
                <a:cs typeface="Quattrocento Sans"/>
                <a:sym typeface="Quattrocento Sans"/>
              </a:rPr>
              <a:t>Unbundled, granular opt-in toggle switches rather than coercive bundles.</a:t>
            </a:r>
            <a:endParaRPr b="1" i="0" sz="1250">
              <a:solidFill>
                <a:srgbClr val="1F3864"/>
              </a:solidFill>
              <a:latin typeface="Quattrocento Sans"/>
              <a:ea typeface="Quattrocento Sans"/>
              <a:cs typeface="Quattrocento Sans"/>
              <a:sym typeface="Quattrocento Sans"/>
            </a:endParaRPr>
          </a:p>
          <a:p>
            <a:pPr indent="-307975" lvl="0" marL="457200" rtl="0" algn="l">
              <a:spcBef>
                <a:spcPts val="600"/>
              </a:spcBef>
              <a:spcAft>
                <a:spcPts val="0"/>
              </a:spcAft>
              <a:buClr>
                <a:srgbClr val="1F3864"/>
              </a:buClr>
              <a:buSzPts val="1250"/>
              <a:buFont typeface="Quattrocento Sans"/>
              <a:buChar char="●"/>
            </a:pPr>
            <a:r>
              <a:rPr b="1" i="0" lang="en-US" sz="950">
                <a:solidFill>
                  <a:srgbClr val="0F172A"/>
                </a:solidFill>
                <a:latin typeface="Quattrocento Sans"/>
                <a:ea typeface="Quattrocento Sans"/>
                <a:cs typeface="Quattrocento Sans"/>
                <a:sym typeface="Quattrocento Sans"/>
              </a:rPr>
              <a:t>APP 6 (Limited Disclosure):</a:t>
            </a:r>
            <a:r>
              <a:rPr b="1" i="0" lang="en-US" sz="1250">
                <a:solidFill>
                  <a:srgbClr val="1F3864"/>
                </a:solidFill>
                <a:latin typeface="Quattrocento Sans"/>
                <a:ea typeface="Quattrocento Sans"/>
                <a:cs typeface="Quattrocento Sans"/>
                <a:sym typeface="Quattrocento Sans"/>
              </a:rPr>
              <a:t> </a:t>
            </a:r>
            <a:r>
              <a:rPr b="0" i="0" lang="en-US" sz="950">
                <a:solidFill>
                  <a:srgbClr val="334155"/>
                </a:solidFill>
                <a:latin typeface="Quattrocento Sans"/>
                <a:ea typeface="Quattrocento Sans"/>
                <a:cs typeface="Quattrocento Sans"/>
                <a:sym typeface="Quattrocento Sans"/>
              </a:rPr>
              <a:t>Strict prohibition of commercial client data sharing with third parties.</a:t>
            </a:r>
            <a:endParaRPr b="1" i="0" sz="1250">
              <a:solidFill>
                <a:srgbClr val="1F3864"/>
              </a:solidFill>
              <a:latin typeface="Quattrocento Sans"/>
              <a:ea typeface="Quattrocento Sans"/>
              <a:cs typeface="Quattrocento Sans"/>
              <a:sym typeface="Quattrocento Sans"/>
            </a:endParaRPr>
          </a:p>
          <a:p>
            <a:pPr indent="-307975" lvl="0" marL="457200" rtl="0" algn="l">
              <a:spcBef>
                <a:spcPts val="600"/>
              </a:spcBef>
              <a:spcAft>
                <a:spcPts val="0"/>
              </a:spcAft>
              <a:buClr>
                <a:srgbClr val="1F3864"/>
              </a:buClr>
              <a:buSzPts val="1250"/>
              <a:buFont typeface="Quattrocento Sans"/>
              <a:buChar char="●"/>
            </a:pPr>
            <a:r>
              <a:rPr b="1" i="0" lang="en-US" sz="950">
                <a:solidFill>
                  <a:srgbClr val="0F172A"/>
                </a:solidFill>
                <a:latin typeface="Quattrocento Sans"/>
                <a:ea typeface="Quattrocento Sans"/>
                <a:cs typeface="Quattrocento Sans"/>
                <a:sym typeface="Quattrocento Sans"/>
              </a:rPr>
              <a:t>APP 11 (Security &amp; Sovereignty):</a:t>
            </a:r>
            <a:r>
              <a:rPr b="1" i="0" lang="en-US" sz="1250">
                <a:solidFill>
                  <a:srgbClr val="1F3864"/>
                </a:solidFill>
                <a:latin typeface="Quattrocento Sans"/>
                <a:ea typeface="Quattrocento Sans"/>
                <a:cs typeface="Quattrocento Sans"/>
                <a:sym typeface="Quattrocento Sans"/>
              </a:rPr>
              <a:t> </a:t>
            </a:r>
            <a:r>
              <a:rPr b="0" i="0" lang="en-US" sz="950">
                <a:solidFill>
                  <a:srgbClr val="334155"/>
                </a:solidFill>
                <a:latin typeface="Quattrocento Sans"/>
                <a:ea typeface="Quattrocento Sans"/>
                <a:cs typeface="Quattrocento Sans"/>
                <a:sym typeface="Quattrocento Sans"/>
              </a:rPr>
              <a:t>Client data restricted to sovereign Australian data centres (AWS Sydney).</a:t>
            </a:r>
            <a:endParaRPr b="1" i="0" sz="1250">
              <a:solidFill>
                <a:srgbClr val="1F3864"/>
              </a:solidFill>
              <a:latin typeface="Quattrocento Sans"/>
              <a:ea typeface="Quattrocento Sans"/>
              <a:cs typeface="Quattrocento Sans"/>
              <a:sym typeface="Quattrocento Sans"/>
            </a:endParaRPr>
          </a:p>
        </p:txBody>
      </p:sp>
      <p:pic>
        <p:nvPicPr>
          <p:cNvPr id="159" name="Google Shape;159;p7"/>
          <p:cNvPicPr preferRelativeResize="0"/>
          <p:nvPr/>
        </p:nvPicPr>
        <p:blipFill rotWithShape="1">
          <a:blip r:embed="rId3">
            <a:alphaModFix/>
          </a:blip>
          <a:srcRect b="0" l="0" r="0" t="0"/>
          <a:stretch/>
        </p:blipFill>
        <p:spPr>
          <a:xfrm>
            <a:off x="6200000" y="1650000"/>
            <a:ext cx="5450001" cy="4649999"/>
          </a:xfrm>
          <a:prstGeom prst="rect">
            <a:avLst/>
          </a:prstGeom>
          <a:noFill/>
          <a:ln cap="flat" cmpd="sng" w="12700">
            <a:solidFill>
              <a:srgbClr val="E2E8F0"/>
            </a:solidFill>
            <a:prstDash val="solid"/>
            <a:round/>
            <a:headEnd len="sm" w="sm" type="none"/>
            <a:tailEnd len="sm" w="sm" type="none"/>
          </a:ln>
        </p:spPr>
      </p:pic>
      <p:sp>
        <p:nvSpPr>
          <p:cNvPr id="160" name="Google Shape;160;p7"/>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7</a:t>
            </a:r>
            <a:endParaRPr/>
          </a:p>
        </p:txBody>
      </p:sp>
      <p:grpSp>
        <p:nvGrpSpPr>
          <p:cNvPr id="161" name="Google Shape;161;p7"/>
          <p:cNvGrpSpPr/>
          <p:nvPr/>
        </p:nvGrpSpPr>
        <p:grpSpPr>
          <a:xfrm>
            <a:off x="540000" y="4476750"/>
            <a:ext cx="5400000" cy="1823100"/>
            <a:chOff x="0" y="0"/>
            <a:chExt cx="5400000" cy="1823100"/>
          </a:xfrm>
        </p:grpSpPr>
        <p:sp>
          <p:nvSpPr>
            <p:cNvPr id="162" name="Google Shape;162;p7"/>
            <p:cNvSpPr/>
            <p:nvPr/>
          </p:nvSpPr>
          <p:spPr>
            <a:xfrm>
              <a:off x="0" y="0"/>
              <a:ext cx="5400000" cy="1823100"/>
            </a:xfrm>
            <a:prstGeom prst="roundRect">
              <a:avLst>
                <a:gd fmla="val 522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7"/>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7"/>
            <p:cNvSpPr txBox="1"/>
            <p:nvPr/>
          </p:nvSpPr>
          <p:spPr>
            <a:xfrm>
              <a:off x="190500" y="171450"/>
              <a:ext cx="5019000" cy="1480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i="0" lang="en-US" sz="1250">
                  <a:solidFill>
                    <a:srgbClr val="1E40AF"/>
                  </a:solidFill>
                  <a:latin typeface="Quattrocento Sans"/>
                  <a:ea typeface="Quattrocento Sans"/>
                  <a:cs typeface="Quattrocento Sans"/>
                  <a:sym typeface="Quattrocento Sans"/>
                </a:rPr>
                <a:t>CASFUD Ethical Framework Operationalisation</a:t>
              </a:r>
              <a:endParaRPr b="1" i="0" sz="1250">
                <a:solidFill>
                  <a:srgbClr val="1E40AF"/>
                </a:solidFill>
                <a:latin typeface="Quattrocento Sans"/>
                <a:ea typeface="Quattrocento Sans"/>
                <a:cs typeface="Quattrocento Sans"/>
                <a:sym typeface="Quattrocento Sans"/>
              </a:endParaRPr>
            </a:p>
            <a:p>
              <a:pPr indent="-307975" lvl="0" marL="457200" rtl="0" algn="l">
                <a:spcBef>
                  <a:spcPts val="750"/>
                </a:spcBef>
                <a:spcAft>
                  <a:spcPts val="0"/>
                </a:spcAft>
                <a:buClr>
                  <a:srgbClr val="1E40AF"/>
                </a:buClr>
                <a:buSzPts val="1250"/>
                <a:buFont typeface="Quattrocento Sans"/>
                <a:buChar char="●"/>
              </a:pPr>
              <a:r>
                <a:rPr b="1" i="0" lang="en-US" sz="1000">
                  <a:solidFill>
                    <a:srgbClr val="1E3A8A"/>
                  </a:solidFill>
                  <a:latin typeface="Quattrocento Sans"/>
                  <a:ea typeface="Quattrocento Sans"/>
                  <a:cs typeface="Quattrocento Sans"/>
                  <a:sym typeface="Quattrocento Sans"/>
                </a:rPr>
                <a:t>Consent &amp; Autonomy:</a:t>
              </a:r>
              <a:r>
                <a:rPr b="1" i="0" lang="en-US" sz="1250">
                  <a:solidFill>
                    <a:srgbClr val="1E40AF"/>
                  </a:solidFill>
                  <a:latin typeface="Quattrocento Sans"/>
                  <a:ea typeface="Quattrocento Sans"/>
                  <a:cs typeface="Quattrocento Sans"/>
                  <a:sym typeface="Quattrocento Sans"/>
                </a:rPr>
                <a:t> </a:t>
              </a:r>
              <a:r>
                <a:rPr b="0" i="0" lang="en-US" sz="950">
                  <a:solidFill>
                    <a:srgbClr val="1E40AF"/>
                  </a:solidFill>
                  <a:latin typeface="Quattrocento Sans"/>
                  <a:ea typeface="Quattrocento Sans"/>
                  <a:cs typeface="Quattrocento Sans"/>
                  <a:sym typeface="Quattrocento Sans"/>
                </a:rPr>
                <a:t>Granular user control over diagnostic and analytics telemetry.</a:t>
              </a:r>
              <a:endParaRPr b="1" i="0" sz="1250">
                <a:solidFill>
                  <a:srgbClr val="1E40AF"/>
                </a:solidFill>
                <a:latin typeface="Quattrocento Sans"/>
                <a:ea typeface="Quattrocento Sans"/>
                <a:cs typeface="Quattrocento Sans"/>
                <a:sym typeface="Quattrocento Sans"/>
              </a:endParaRPr>
            </a:p>
            <a:p>
              <a:pPr indent="-307975" lvl="0" marL="457200" rtl="0" algn="l">
                <a:spcBef>
                  <a:spcPts val="600"/>
                </a:spcBef>
                <a:spcAft>
                  <a:spcPts val="0"/>
                </a:spcAft>
                <a:buClr>
                  <a:srgbClr val="1E40AF"/>
                </a:buClr>
                <a:buSzPts val="1250"/>
                <a:buFont typeface="Quattrocento Sans"/>
                <a:buChar char="●"/>
              </a:pPr>
              <a:r>
                <a:rPr b="1" i="0" lang="en-US" sz="1000">
                  <a:solidFill>
                    <a:srgbClr val="1E3A8A"/>
                  </a:solidFill>
                  <a:latin typeface="Quattrocento Sans"/>
                  <a:ea typeface="Quattrocento Sans"/>
                  <a:cs typeface="Quattrocento Sans"/>
                  <a:sym typeface="Quattrocento Sans"/>
                </a:rPr>
                <a:t>Security &amp; Fairness:</a:t>
              </a:r>
              <a:r>
                <a:rPr b="1" i="0" lang="en-US" sz="1250">
                  <a:solidFill>
                    <a:srgbClr val="1E40AF"/>
                  </a:solidFill>
                  <a:latin typeface="Quattrocento Sans"/>
                  <a:ea typeface="Quattrocento Sans"/>
                  <a:cs typeface="Quattrocento Sans"/>
                  <a:sym typeface="Quattrocento Sans"/>
                </a:rPr>
                <a:t> </a:t>
              </a:r>
              <a:r>
                <a:rPr b="0" i="0" lang="en-US" sz="950">
                  <a:solidFill>
                    <a:srgbClr val="1E40AF"/>
                  </a:solidFill>
                  <a:latin typeface="Quattrocento Sans"/>
                  <a:ea typeface="Quattrocento Sans"/>
                  <a:cs typeface="Quattrocento Sans"/>
                  <a:sym typeface="Quattrocento Sans"/>
                </a:rPr>
                <a:t>Biometric authentication gate and transparent financial governance.</a:t>
              </a:r>
              <a:endParaRPr b="1" i="0" sz="1250">
                <a:solidFill>
                  <a:srgbClr val="1E40AF"/>
                </a:solidFill>
                <a:latin typeface="Quattrocento Sans"/>
                <a:ea typeface="Quattrocento Sans"/>
                <a:cs typeface="Quattrocento Sans"/>
                <a:sym typeface="Quattrocento Sans"/>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8"/>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8"/>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EMPIRICAL FINDINGS &amp; ASSIGNMENT 3 SYNTHESIS</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Usability Goals Framework &amp; Empirical Results Synthesis</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Translating Participant Testing Findings into Assignment 4 Engineering Upgrades</a:t>
            </a:r>
            <a:endParaRPr/>
          </a:p>
        </p:txBody>
      </p:sp>
      <p:sp>
        <p:nvSpPr>
          <p:cNvPr id="172" name="Google Shape;172;p8"/>
          <p:cNvSpPr/>
          <p:nvPr/>
        </p:nvSpPr>
        <p:spPr>
          <a:xfrm>
            <a:off x="540000" y="1571625"/>
            <a:ext cx="5400000" cy="4667400"/>
          </a:xfrm>
          <a:prstGeom prst="roundRect">
            <a:avLst>
              <a:gd fmla="val 2040"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lang="en-US" sz="1350">
                <a:solidFill>
                  <a:srgbClr val="1F3864"/>
                </a:solidFill>
                <a:latin typeface="Quattrocento Sans"/>
                <a:ea typeface="Quattrocento Sans"/>
                <a:cs typeface="Quattrocento Sans"/>
                <a:sym typeface="Quattrocento Sans"/>
              </a:rPr>
              <a:t>Empirical Testing Metrics Across 3 Participants</a:t>
            </a:r>
            <a:endParaRPr b="1" sz="1350">
              <a:solidFill>
                <a:srgbClr val="1F3864"/>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1050">
                <a:solidFill>
                  <a:srgbClr val="0F172A"/>
                </a:solidFill>
                <a:latin typeface="Quattrocento Sans"/>
                <a:ea typeface="Quattrocento Sans"/>
                <a:cs typeface="Quattrocento Sans"/>
                <a:sym typeface="Quattrocento Sans"/>
              </a:rPr>
              <a:t>Goal 1: Learnability (Status)</a:t>
            </a:r>
            <a:r>
              <a:rPr lang="en-US">
                <a:latin typeface="Quattrocento Sans"/>
                <a:ea typeface="Quattrocento Sans"/>
                <a:cs typeface="Quattrocento Sans"/>
                <a:sym typeface="Quattrocento Sans"/>
              </a:rPr>
              <a:t> </a:t>
            </a:r>
            <a:r>
              <a:rPr b="1" lang="en-US" sz="1100">
                <a:solidFill>
                  <a:srgbClr val="2563EB"/>
                </a:solidFill>
                <a:latin typeface="Quattrocento Sans"/>
                <a:ea typeface="Quattrocento Sans"/>
                <a:cs typeface="Quattrocento Sans"/>
                <a:sym typeface="Quattrocento Sans"/>
              </a:rPr>
              <a:t>8.7s Mean</a:t>
            </a:r>
            <a:endParaRPr>
              <a:latin typeface="Quattrocento Sans"/>
              <a:ea typeface="Quattrocento Sans"/>
              <a:cs typeface="Quattrocento Sans"/>
              <a:sym typeface="Quattrocento Sans"/>
            </a:endParaRPr>
          </a:p>
          <a:p>
            <a:pPr indent="0" lvl="0" marL="0" rtl="0" algn="l">
              <a:spcBef>
                <a:spcPts val="300"/>
              </a:spcBef>
              <a:spcAft>
                <a:spcPts val="0"/>
              </a:spcAft>
              <a:buNone/>
            </a:pPr>
            <a:r>
              <a:rPr lang="en-US" sz="950">
                <a:solidFill>
                  <a:srgbClr val="475569"/>
                </a:solidFill>
                <a:latin typeface="Quattrocento Sans"/>
                <a:ea typeface="Quattrocento Sans"/>
                <a:cs typeface="Quattrocento Sans"/>
                <a:sym typeface="Quattrocento Sans"/>
              </a:rPr>
              <a:t>Benchmark &lt;=10s | 100% Success Rate</a:t>
            </a:r>
            <a:endParaRPr sz="950">
              <a:solidFill>
                <a:srgbClr val="475569"/>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050">
                <a:solidFill>
                  <a:srgbClr val="0F172A"/>
                </a:solidFill>
                <a:latin typeface="Quattrocento Sans"/>
                <a:ea typeface="Quattrocento Sans"/>
                <a:cs typeface="Quattrocento Sans"/>
                <a:sym typeface="Quattrocento Sans"/>
              </a:rPr>
              <a:t>Goal 2: Efficiency (Contextual Feedback)</a:t>
            </a:r>
            <a:r>
              <a:rPr lang="en-US">
                <a:latin typeface="Quattrocento Sans"/>
                <a:ea typeface="Quattrocento Sans"/>
                <a:cs typeface="Quattrocento Sans"/>
                <a:sym typeface="Quattrocento Sans"/>
              </a:rPr>
              <a:t> </a:t>
            </a:r>
            <a:r>
              <a:rPr b="1" lang="en-US" sz="1100">
                <a:solidFill>
                  <a:srgbClr val="2563EB"/>
                </a:solidFill>
                <a:latin typeface="Quattrocento Sans"/>
                <a:ea typeface="Quattrocento Sans"/>
                <a:cs typeface="Quattrocento Sans"/>
                <a:sym typeface="Quattrocento Sans"/>
              </a:rPr>
              <a:t>38.3s Mean</a:t>
            </a:r>
            <a:endParaRPr>
              <a:latin typeface="Quattrocento Sans"/>
              <a:ea typeface="Quattrocento Sans"/>
              <a:cs typeface="Quattrocento Sans"/>
              <a:sym typeface="Quattrocento Sans"/>
            </a:endParaRPr>
          </a:p>
          <a:p>
            <a:pPr indent="0" lvl="0" marL="0" rtl="0" algn="l">
              <a:spcBef>
                <a:spcPts val="300"/>
              </a:spcBef>
              <a:spcAft>
                <a:spcPts val="0"/>
              </a:spcAft>
              <a:buNone/>
            </a:pPr>
            <a:r>
              <a:rPr lang="en-US" sz="950">
                <a:solidFill>
                  <a:srgbClr val="475569"/>
                </a:solidFill>
                <a:latin typeface="Quattrocento Sans"/>
                <a:ea typeface="Quattrocento Sans"/>
                <a:cs typeface="Quattrocento Sans"/>
                <a:sym typeface="Quattrocento Sans"/>
              </a:rPr>
              <a:t>Benchmark &lt;=60s | 100% Success Rate</a:t>
            </a:r>
            <a:endParaRPr sz="950">
              <a:solidFill>
                <a:srgbClr val="475569"/>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050">
                <a:solidFill>
                  <a:srgbClr val="0F172A"/>
                </a:solidFill>
                <a:latin typeface="Quattrocento Sans"/>
                <a:ea typeface="Quattrocento Sans"/>
                <a:cs typeface="Quattrocento Sans"/>
                <a:sym typeface="Quattrocento Sans"/>
              </a:rPr>
              <a:t>Goal 3: Error Prevention (Sign-off)</a:t>
            </a:r>
            <a:r>
              <a:rPr lang="en-US">
                <a:latin typeface="Quattrocento Sans"/>
                <a:ea typeface="Quattrocento Sans"/>
                <a:cs typeface="Quattrocento Sans"/>
                <a:sym typeface="Quattrocento Sans"/>
              </a:rPr>
              <a:t> </a:t>
            </a:r>
            <a:r>
              <a:rPr b="1" lang="en-US" sz="1100">
                <a:solidFill>
                  <a:srgbClr val="16A34A"/>
                </a:solidFill>
                <a:latin typeface="Quattrocento Sans"/>
                <a:ea typeface="Quattrocento Sans"/>
                <a:cs typeface="Quattrocento Sans"/>
                <a:sym typeface="Quattrocento Sans"/>
              </a:rPr>
              <a:t>0 Slips</a:t>
            </a:r>
            <a:endParaRPr>
              <a:latin typeface="Quattrocento Sans"/>
              <a:ea typeface="Quattrocento Sans"/>
              <a:cs typeface="Quattrocento Sans"/>
              <a:sym typeface="Quattrocento Sans"/>
            </a:endParaRPr>
          </a:p>
          <a:p>
            <a:pPr indent="0" lvl="0" marL="0" rtl="0" algn="l">
              <a:spcBef>
                <a:spcPts val="300"/>
              </a:spcBef>
              <a:spcAft>
                <a:spcPts val="0"/>
              </a:spcAft>
              <a:buNone/>
            </a:pPr>
            <a:r>
              <a:rPr lang="en-US" sz="950">
                <a:solidFill>
                  <a:srgbClr val="475569"/>
                </a:solidFill>
                <a:latin typeface="Quattrocento Sans"/>
                <a:ea typeface="Quattrocento Sans"/>
                <a:cs typeface="Quattrocento Sans"/>
                <a:sym typeface="Quattrocento Sans"/>
              </a:rPr>
              <a:t>Benchmark 0% Errors | 100% Awareness</a:t>
            </a:r>
            <a:endParaRPr sz="950">
              <a:solidFill>
                <a:srgbClr val="475569"/>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1050">
                <a:solidFill>
                  <a:srgbClr val="0F172A"/>
                </a:solidFill>
                <a:latin typeface="Quattrocento Sans"/>
                <a:ea typeface="Quattrocento Sans"/>
                <a:cs typeface="Quattrocento Sans"/>
                <a:sym typeface="Quattrocento Sans"/>
              </a:rPr>
              <a:t>Goal 4: Satisfaction (Usability)</a:t>
            </a:r>
            <a:r>
              <a:rPr lang="en-US">
                <a:latin typeface="Quattrocento Sans"/>
                <a:ea typeface="Quattrocento Sans"/>
                <a:cs typeface="Quattrocento Sans"/>
                <a:sym typeface="Quattrocento Sans"/>
              </a:rPr>
              <a:t> </a:t>
            </a:r>
            <a:r>
              <a:rPr b="1" lang="en-US" sz="1100">
                <a:solidFill>
                  <a:srgbClr val="2563EB"/>
                </a:solidFill>
                <a:latin typeface="Quattrocento Sans"/>
                <a:ea typeface="Quattrocento Sans"/>
                <a:cs typeface="Quattrocento Sans"/>
                <a:sym typeface="Quattrocento Sans"/>
              </a:rPr>
              <a:t>SEQ 6.33 / 7</a:t>
            </a:r>
            <a:endParaRPr>
              <a:latin typeface="Quattrocento Sans"/>
              <a:ea typeface="Quattrocento Sans"/>
              <a:cs typeface="Quattrocento Sans"/>
              <a:sym typeface="Quattrocento Sans"/>
            </a:endParaRPr>
          </a:p>
          <a:p>
            <a:pPr indent="0" lvl="0" marL="0" rtl="0" algn="l">
              <a:spcBef>
                <a:spcPts val="300"/>
              </a:spcBef>
              <a:spcAft>
                <a:spcPts val="0"/>
              </a:spcAft>
              <a:buNone/>
            </a:pPr>
            <a:r>
              <a:rPr lang="en-US" sz="950">
                <a:solidFill>
                  <a:srgbClr val="475569"/>
                </a:solidFill>
                <a:latin typeface="Quattrocento Sans"/>
                <a:ea typeface="Quattrocento Sans"/>
                <a:cs typeface="Quattrocento Sans"/>
                <a:sym typeface="Quattrocento Sans"/>
              </a:rPr>
              <a:t>SUS Equivalent &gt; 75 (Above Average Rating)</a:t>
            </a:r>
            <a:endParaRPr sz="950">
              <a:solidFill>
                <a:srgbClr val="475569"/>
              </a:solidFill>
              <a:latin typeface="Quattrocento Sans"/>
              <a:ea typeface="Quattrocento Sans"/>
              <a:cs typeface="Quattrocento Sans"/>
              <a:sym typeface="Quattrocento Sans"/>
            </a:endParaRPr>
          </a:p>
        </p:txBody>
      </p:sp>
      <p:sp>
        <p:nvSpPr>
          <p:cNvPr id="173" name="Google Shape;173;p8"/>
          <p:cNvSpPr/>
          <p:nvPr/>
        </p:nvSpPr>
        <p:spPr>
          <a:xfrm>
            <a:off x="6250000" y="1571625"/>
            <a:ext cx="5400000" cy="4667400"/>
          </a:xfrm>
          <a:prstGeom prst="roundRect">
            <a:avLst>
              <a:gd fmla="val 2040" name="adj"/>
            </a:avLst>
          </a:prstGeom>
          <a:solidFill>
            <a:srgbClr val="FFFFFF"/>
          </a:solidFill>
          <a:ln cap="flat" cmpd="sng" w="12700">
            <a:solidFill>
              <a:srgbClr val="E2E8F0"/>
            </a:solidFill>
            <a:prstDash val="solid"/>
            <a:round/>
            <a:headEnd len="sm" w="sm" type="none"/>
            <a:tailEnd len="sm" w="sm" type="none"/>
          </a:ln>
        </p:spPr>
        <p:txBody>
          <a:bodyPr anchorCtr="0" anchor="t" bIns="190500" lIns="190500" spcFirstLastPara="1" rIns="190500" wrap="square" tIns="190500">
            <a:noAutofit/>
          </a:bodyPr>
          <a:lstStyle/>
          <a:p>
            <a:pPr indent="0" lvl="0" marL="0" rtl="0" algn="l">
              <a:spcBef>
                <a:spcPts val="0"/>
              </a:spcBef>
              <a:spcAft>
                <a:spcPts val="0"/>
              </a:spcAft>
              <a:buNone/>
            </a:pPr>
            <a:r>
              <a:rPr b="1" lang="en-US" sz="1350">
                <a:solidFill>
                  <a:srgbClr val="1F3864"/>
                </a:solidFill>
                <a:latin typeface="Quattrocento Sans"/>
                <a:ea typeface="Quattrocento Sans"/>
                <a:cs typeface="Quattrocento Sans"/>
                <a:sym typeface="Quattrocento Sans"/>
              </a:rPr>
              <a:t>Usability Gaps Identified &amp; Engineering Solutions</a:t>
            </a:r>
            <a:endParaRPr b="1" sz="1350">
              <a:solidFill>
                <a:srgbClr val="1F3864"/>
              </a:solidFill>
              <a:latin typeface="Quattrocento Sans"/>
              <a:ea typeface="Quattrocento Sans"/>
              <a:cs typeface="Quattrocento Sans"/>
              <a:sym typeface="Quattrocento Sans"/>
            </a:endParaRPr>
          </a:p>
          <a:p>
            <a:pPr indent="0" lvl="0" marL="0" rtl="0" algn="l">
              <a:spcBef>
                <a:spcPts val="900"/>
              </a:spcBef>
              <a:spcAft>
                <a:spcPts val="0"/>
              </a:spcAft>
              <a:buNone/>
            </a:pPr>
            <a:r>
              <a:rPr b="1" lang="en-US" sz="850">
                <a:solidFill>
                  <a:srgbClr val="2563EB"/>
                </a:solidFill>
                <a:latin typeface="Quattrocento Sans"/>
                <a:ea typeface="Quattrocento Sans"/>
                <a:cs typeface="Quattrocento Sans"/>
                <a:sym typeface="Quattrocento Sans"/>
              </a:rPr>
              <a:t>GAP 01</a:t>
            </a:r>
            <a:r>
              <a:rPr lang="en-US">
                <a:latin typeface="Quattrocento Sans"/>
                <a:ea typeface="Quattrocento Sans"/>
                <a:cs typeface="Quattrocento Sans"/>
                <a:sym typeface="Quattrocento Sans"/>
              </a:rPr>
              <a:t> </a:t>
            </a:r>
            <a:r>
              <a:rPr b="1" lang="en-US" sz="1100">
                <a:solidFill>
                  <a:srgbClr val="1E3A8A"/>
                </a:solidFill>
                <a:latin typeface="Quattrocento Sans"/>
                <a:ea typeface="Quattrocento Sans"/>
                <a:cs typeface="Quattrocento Sans"/>
                <a:sym typeface="Quattrocento Sans"/>
              </a:rPr>
              <a:t>Spatial Disorientation</a:t>
            </a:r>
            <a:endParaRPr>
              <a:latin typeface="Quattrocento Sans"/>
              <a:ea typeface="Quattrocento Sans"/>
              <a:cs typeface="Quattrocento Sans"/>
              <a:sym typeface="Quattrocento Sans"/>
            </a:endParaRPr>
          </a:p>
          <a:p>
            <a:pPr indent="0" lvl="0" marL="0" rtl="0" algn="l">
              <a:spcBef>
                <a:spcPts val="450"/>
              </a:spcBef>
              <a:spcAft>
                <a:spcPts val="0"/>
              </a:spcAft>
              <a:buNone/>
            </a:pPr>
            <a:r>
              <a:rPr b="1" lang="en-US" sz="1000">
                <a:solidFill>
                  <a:srgbClr val="1E40AF"/>
                </a:solidFill>
                <a:latin typeface="Quattrocento Sans"/>
                <a:ea typeface="Quattrocento Sans"/>
                <a:cs typeface="Quattrocento Sans"/>
                <a:sym typeface="Quattrocento Sans"/>
              </a:rPr>
              <a:t>Engineering Solution:</a:t>
            </a:r>
            <a:r>
              <a:rPr lang="en-US" sz="1000">
                <a:solidFill>
                  <a:srgbClr val="1E40AF"/>
                </a:solidFill>
                <a:latin typeface="Quattrocento Sans"/>
                <a:ea typeface="Quattrocento Sans"/>
                <a:cs typeface="Quattrocento Sans"/>
                <a:sym typeface="Quattrocento Sans"/>
              </a:rPr>
              <a:t> Solved via slowed Material 3 Container Transformations (450ms duration).</a:t>
            </a:r>
            <a:endParaRPr sz="1000">
              <a:solidFill>
                <a:srgbClr val="1E40AF"/>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GAP 02</a:t>
            </a:r>
            <a:r>
              <a:rPr lang="en-US">
                <a:latin typeface="Quattrocento Sans"/>
                <a:ea typeface="Quattrocento Sans"/>
                <a:cs typeface="Quattrocento Sans"/>
                <a:sym typeface="Quattrocento Sans"/>
              </a:rPr>
              <a:t> </a:t>
            </a:r>
            <a:r>
              <a:rPr b="1" lang="en-US" sz="1100">
                <a:solidFill>
                  <a:srgbClr val="1E3A8A"/>
                </a:solidFill>
                <a:latin typeface="Quattrocento Sans"/>
                <a:ea typeface="Quattrocento Sans"/>
                <a:cs typeface="Quattrocento Sans"/>
                <a:sym typeface="Quattrocento Sans"/>
              </a:rPr>
              <a:t>Tactile Hesitation</a:t>
            </a:r>
            <a:endParaRPr>
              <a:latin typeface="Quattrocento Sans"/>
              <a:ea typeface="Quattrocento Sans"/>
              <a:cs typeface="Quattrocento Sans"/>
              <a:sym typeface="Quattrocento Sans"/>
            </a:endParaRPr>
          </a:p>
          <a:p>
            <a:pPr indent="0" lvl="0" marL="0" rtl="0" algn="l">
              <a:spcBef>
                <a:spcPts val="450"/>
              </a:spcBef>
              <a:spcAft>
                <a:spcPts val="0"/>
              </a:spcAft>
              <a:buNone/>
            </a:pPr>
            <a:r>
              <a:rPr b="1" lang="en-US" sz="1000">
                <a:solidFill>
                  <a:srgbClr val="1E40AF"/>
                </a:solidFill>
                <a:latin typeface="Quattrocento Sans"/>
                <a:ea typeface="Quattrocento Sans"/>
                <a:cs typeface="Quattrocento Sans"/>
                <a:sym typeface="Quattrocento Sans"/>
              </a:rPr>
              <a:t>Engineering Solution:</a:t>
            </a:r>
            <a:r>
              <a:rPr lang="en-US" sz="1000">
                <a:solidFill>
                  <a:srgbClr val="1E40AF"/>
                </a:solidFill>
                <a:latin typeface="Quattrocento Sans"/>
                <a:ea typeface="Quattrocento Sans"/>
                <a:cs typeface="Quattrocento Sans"/>
                <a:sym typeface="Quattrocento Sans"/>
              </a:rPr>
              <a:t> Solved via direct manipulation gestures (Swipe, Double-Tap, Long-Press).</a:t>
            </a:r>
            <a:endParaRPr sz="1000">
              <a:solidFill>
                <a:srgbClr val="1E40AF"/>
              </a:solidFill>
              <a:latin typeface="Quattrocento Sans"/>
              <a:ea typeface="Quattrocento Sans"/>
              <a:cs typeface="Quattrocento Sans"/>
              <a:sym typeface="Quattrocento Sans"/>
            </a:endParaRPr>
          </a:p>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GAP 03</a:t>
            </a:r>
            <a:r>
              <a:rPr lang="en-US">
                <a:latin typeface="Quattrocento Sans"/>
                <a:ea typeface="Quattrocento Sans"/>
                <a:cs typeface="Quattrocento Sans"/>
                <a:sym typeface="Quattrocento Sans"/>
              </a:rPr>
              <a:t> </a:t>
            </a:r>
            <a:r>
              <a:rPr b="1" lang="en-US" sz="1100">
                <a:solidFill>
                  <a:srgbClr val="1E3A8A"/>
                </a:solidFill>
                <a:latin typeface="Quattrocento Sans"/>
                <a:ea typeface="Quattrocento Sans"/>
                <a:cs typeface="Quattrocento Sans"/>
                <a:sym typeface="Quattrocento Sans"/>
              </a:rPr>
              <a:t>State Persistence Anxiety</a:t>
            </a:r>
            <a:endParaRPr>
              <a:latin typeface="Quattrocento Sans"/>
              <a:ea typeface="Quattrocento Sans"/>
              <a:cs typeface="Quattrocento Sans"/>
              <a:sym typeface="Quattrocento Sans"/>
            </a:endParaRPr>
          </a:p>
          <a:p>
            <a:pPr indent="0" lvl="0" marL="0" rtl="0" algn="l">
              <a:spcBef>
                <a:spcPts val="450"/>
              </a:spcBef>
              <a:spcAft>
                <a:spcPts val="0"/>
              </a:spcAft>
              <a:buNone/>
            </a:pPr>
            <a:r>
              <a:rPr b="1" lang="en-US" sz="1000">
                <a:solidFill>
                  <a:srgbClr val="1E40AF"/>
                </a:solidFill>
                <a:latin typeface="Quattrocento Sans"/>
                <a:ea typeface="Quattrocento Sans"/>
                <a:cs typeface="Quattrocento Sans"/>
                <a:sym typeface="Quattrocento Sans"/>
              </a:rPr>
              <a:t>Engineering Solution:</a:t>
            </a:r>
            <a:r>
              <a:rPr lang="en-US" sz="1000">
                <a:solidFill>
                  <a:srgbClr val="1E40AF"/>
                </a:solidFill>
                <a:latin typeface="Quattrocento Sans"/>
                <a:ea typeface="Quattrocento Sans"/>
                <a:cs typeface="Quattrocento Sans"/>
                <a:sym typeface="Quattrocento Sans"/>
              </a:rPr>
              <a:t> Solved via asynchronous SimulatedBackendServer state management.</a:t>
            </a:r>
            <a:endParaRPr sz="1000">
              <a:solidFill>
                <a:srgbClr val="1E40AF"/>
              </a:solidFill>
              <a:latin typeface="Quattrocento Sans"/>
              <a:ea typeface="Quattrocento Sans"/>
              <a:cs typeface="Quattrocento Sans"/>
              <a:sym typeface="Quattrocento Sans"/>
            </a:endParaRPr>
          </a:p>
        </p:txBody>
      </p:sp>
      <p:sp>
        <p:nvSpPr>
          <p:cNvPr id="174" name="Google Shape;174;p8"/>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8</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9"/>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9"/>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BEHAVIORAL INTERACTION &amp; TOUCH MANIPULATION</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Direct Manipulation Gestures &amp; Tactile Micro-Interactions</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Implementing Dismissible Swiping, Double-Tap Zoom &amp; Long-Press Inspection</a:t>
            </a:r>
            <a:endParaRPr/>
          </a:p>
        </p:txBody>
      </p:sp>
      <p:grpSp>
        <p:nvGrpSpPr>
          <p:cNvPr id="182" name="Google Shape;182;p9"/>
          <p:cNvGrpSpPr/>
          <p:nvPr/>
        </p:nvGrpSpPr>
        <p:grpSpPr>
          <a:xfrm>
            <a:off x="540000" y="1649997"/>
            <a:ext cx="3470100" cy="2619525"/>
            <a:chOff x="0" y="0"/>
            <a:chExt cx="3470100" cy="2619525"/>
          </a:xfrm>
        </p:grpSpPr>
        <p:sp>
          <p:nvSpPr>
            <p:cNvPr id="183" name="Google Shape;183;p9"/>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4" name="Google Shape;184;p9"/>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5" name="Google Shape;185;p9"/>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GESTURE 01</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Swipe-to-Dismiss / Acknowledge</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Dismissible notifications with bidirectional drawers (green/red) and floating UNDO action.</a:t>
              </a:r>
              <a:endParaRPr b="0" sz="1000">
                <a:solidFill>
                  <a:srgbClr val="334155"/>
                </a:solidFill>
                <a:latin typeface="Quattrocento Sans"/>
                <a:ea typeface="Quattrocento Sans"/>
                <a:cs typeface="Quattrocento Sans"/>
                <a:sym typeface="Quattrocento Sans"/>
              </a:endParaRPr>
            </a:p>
          </p:txBody>
        </p:sp>
      </p:grpSp>
      <p:grpSp>
        <p:nvGrpSpPr>
          <p:cNvPr id="186" name="Google Shape;186;p9"/>
          <p:cNvGrpSpPr/>
          <p:nvPr/>
        </p:nvGrpSpPr>
        <p:grpSpPr>
          <a:xfrm>
            <a:off x="4360831" y="1649997"/>
            <a:ext cx="3470100" cy="2619525"/>
            <a:chOff x="0" y="0"/>
            <a:chExt cx="3470100" cy="2619525"/>
          </a:xfrm>
        </p:grpSpPr>
        <p:sp>
          <p:nvSpPr>
            <p:cNvPr id="187" name="Google Shape;187;p9"/>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8" name="Google Shape;188;p9"/>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9" name="Google Shape;189;p9"/>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GESTURE 02</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Double-Tap Zoom / Inspect</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GestureDetector canvas toggles 1.0x &lt;-&gt; 1.75x magnification via AnimatedScale with status chip.</a:t>
              </a:r>
              <a:endParaRPr b="0" sz="1000">
                <a:solidFill>
                  <a:srgbClr val="334155"/>
                </a:solidFill>
                <a:latin typeface="Quattrocento Sans"/>
                <a:ea typeface="Quattrocento Sans"/>
                <a:cs typeface="Quattrocento Sans"/>
                <a:sym typeface="Quattrocento Sans"/>
              </a:endParaRPr>
            </a:p>
          </p:txBody>
        </p:sp>
      </p:grpSp>
      <p:sp>
        <p:nvSpPr>
          <p:cNvPr id="190" name="Google Shape;190;p9"/>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9</a:t>
            </a:r>
            <a:endParaRPr/>
          </a:p>
        </p:txBody>
      </p:sp>
      <p:grpSp>
        <p:nvGrpSpPr>
          <p:cNvPr id="191" name="Google Shape;191;p9"/>
          <p:cNvGrpSpPr/>
          <p:nvPr/>
        </p:nvGrpSpPr>
        <p:grpSpPr>
          <a:xfrm>
            <a:off x="8181689" y="1649997"/>
            <a:ext cx="3470100" cy="2619525"/>
            <a:chOff x="0" y="0"/>
            <a:chExt cx="3470100" cy="2619525"/>
          </a:xfrm>
        </p:grpSpPr>
        <p:sp>
          <p:nvSpPr>
            <p:cNvPr id="192" name="Google Shape;192;p9"/>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3" name="Google Shape;193;p9"/>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4" name="Google Shape;194;p9"/>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GESTURE 03</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Long-Press Cryptographic Inspection</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GestureDetector on certificate triggers bottom modal with SHA-256 digest and copy button.</a:t>
              </a:r>
              <a:endParaRPr b="0" sz="1000">
                <a:solidFill>
                  <a:srgbClr val="334155"/>
                </a:solidFill>
                <a:latin typeface="Quattrocento Sans"/>
                <a:ea typeface="Quattrocento Sans"/>
                <a:cs typeface="Quattrocento Sans"/>
                <a:sym typeface="Quattrocento Sans"/>
              </a:endParaRPr>
            </a:p>
          </p:txBody>
        </p:sp>
      </p:grpSp>
      <p:grpSp>
        <p:nvGrpSpPr>
          <p:cNvPr id="195" name="Google Shape;195;p9"/>
          <p:cNvGrpSpPr/>
          <p:nvPr/>
        </p:nvGrpSpPr>
        <p:grpSpPr>
          <a:xfrm>
            <a:off x="540000" y="4457700"/>
            <a:ext cx="5400000" cy="1733700"/>
            <a:chOff x="0" y="0"/>
            <a:chExt cx="5400000" cy="1733700"/>
          </a:xfrm>
        </p:grpSpPr>
        <p:sp>
          <p:nvSpPr>
            <p:cNvPr id="196" name="Google Shape;196;p9"/>
            <p:cNvSpPr/>
            <p:nvPr/>
          </p:nvSpPr>
          <p:spPr>
            <a:xfrm>
              <a:off x="0" y="0"/>
              <a:ext cx="5400000" cy="1733700"/>
            </a:xfrm>
            <a:prstGeom prst="roundRect">
              <a:avLst>
                <a:gd fmla="val 549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7" name="Google Shape;197;p9"/>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9"/>
            <p:cNvSpPr txBox="1"/>
            <p:nvPr/>
          </p:nvSpPr>
          <p:spPr>
            <a:xfrm>
              <a:off x="0" y="47625"/>
              <a:ext cx="5400000" cy="16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TACTILE FEEDBACK &amp; ACCESSIBILITY</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Touch Target Sizing</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All buttons, chips, and targets meet or exceed 48x48dp with Material 3 InkWells.</a:t>
              </a:r>
              <a:endParaRPr b="0" sz="1000">
                <a:solidFill>
                  <a:srgbClr val="1E40AF"/>
                </a:solidFill>
                <a:latin typeface="Quattrocento Sans"/>
                <a:ea typeface="Quattrocento Sans"/>
                <a:cs typeface="Quattrocento Sans"/>
                <a:sym typeface="Quattrocento Sans"/>
              </a:endParaRPr>
            </a:p>
          </p:txBody>
        </p:sp>
      </p:grpSp>
      <p:grpSp>
        <p:nvGrpSpPr>
          <p:cNvPr id="199" name="Google Shape;199;p9"/>
          <p:cNvGrpSpPr/>
          <p:nvPr/>
        </p:nvGrpSpPr>
        <p:grpSpPr>
          <a:xfrm>
            <a:off x="6250000" y="4457700"/>
            <a:ext cx="5400000" cy="1733700"/>
            <a:chOff x="0" y="0"/>
            <a:chExt cx="5400000" cy="1733700"/>
          </a:xfrm>
        </p:grpSpPr>
        <p:sp>
          <p:nvSpPr>
            <p:cNvPr id="200" name="Google Shape;200;p9"/>
            <p:cNvSpPr/>
            <p:nvPr/>
          </p:nvSpPr>
          <p:spPr>
            <a:xfrm>
              <a:off x="0" y="0"/>
              <a:ext cx="5400000" cy="1733700"/>
            </a:xfrm>
            <a:prstGeom prst="roundRect">
              <a:avLst>
                <a:gd fmla="val 5494"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1" name="Google Shape;201;p9"/>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2" name="Google Shape;202;p9"/>
            <p:cNvSpPr txBox="1"/>
            <p:nvPr/>
          </p:nvSpPr>
          <p:spPr>
            <a:xfrm>
              <a:off x="0" y="47625"/>
              <a:ext cx="5400000" cy="16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RECOVERY STANDARDS</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Reversible Error Recovery</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Dismissible swipe actions are 100% recoverable via floating SnackBar UNDO.</a:t>
              </a:r>
              <a:endParaRPr b="0" sz="1000">
                <a:solidFill>
                  <a:srgbClr val="1E40AF"/>
                </a:solidFill>
                <a:latin typeface="Quattrocento Sans"/>
                <a:ea typeface="Quattrocento Sans"/>
                <a:cs typeface="Quattrocento Sans"/>
                <a:sym typeface="Quattrocento San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0"/>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0"/>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MOTION ARCHITECTURE &amp; SPATIAL CONTINUITY</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Slowed Navigation Transitions &amp; Container Transforms</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Material 3 OpenContainer Transformations Configured at 450ms Duration</a:t>
            </a:r>
            <a:endParaRPr/>
          </a:p>
        </p:txBody>
      </p:sp>
      <p:grpSp>
        <p:nvGrpSpPr>
          <p:cNvPr id="210" name="Google Shape;210;p10"/>
          <p:cNvGrpSpPr/>
          <p:nvPr/>
        </p:nvGrpSpPr>
        <p:grpSpPr>
          <a:xfrm>
            <a:off x="540000" y="1649997"/>
            <a:ext cx="3470100" cy="2619525"/>
            <a:chOff x="0" y="0"/>
            <a:chExt cx="3470100" cy="2619525"/>
          </a:xfrm>
        </p:grpSpPr>
        <p:sp>
          <p:nvSpPr>
            <p:cNvPr id="211" name="Google Shape;211;p10"/>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2" name="Google Shape;212;p10"/>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3" name="Google Shape;213;p10"/>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TRANSITION 01</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Slowed Motion (450ms)</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Transitions configured with 450ms duration so markers can clearly observe spatial flow.</a:t>
              </a:r>
              <a:endParaRPr b="0" sz="1000">
                <a:solidFill>
                  <a:srgbClr val="334155"/>
                </a:solidFill>
                <a:latin typeface="Quattrocento Sans"/>
                <a:ea typeface="Quattrocento Sans"/>
                <a:cs typeface="Quattrocento Sans"/>
                <a:sym typeface="Quattrocento Sans"/>
              </a:endParaRPr>
            </a:p>
          </p:txBody>
        </p:sp>
      </p:grpSp>
      <p:grpSp>
        <p:nvGrpSpPr>
          <p:cNvPr id="214" name="Google Shape;214;p10"/>
          <p:cNvGrpSpPr/>
          <p:nvPr/>
        </p:nvGrpSpPr>
        <p:grpSpPr>
          <a:xfrm>
            <a:off x="4360831" y="1649997"/>
            <a:ext cx="3470100" cy="2619525"/>
            <a:chOff x="0" y="0"/>
            <a:chExt cx="3470100" cy="2619525"/>
          </a:xfrm>
        </p:grpSpPr>
        <p:sp>
          <p:nvSpPr>
            <p:cNvPr id="215" name="Google Shape;215;p10"/>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6" name="Google Shape;216;p10"/>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7" name="Google Shape;217;p10"/>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TRANSITION 02</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Container Transform Animations</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Expanding cards scale from 0.90 to 1.0 with continuous cubic easing (Curves.easeInOutCubic).</a:t>
              </a:r>
              <a:endParaRPr b="0" sz="1000">
                <a:solidFill>
                  <a:srgbClr val="334155"/>
                </a:solidFill>
                <a:latin typeface="Quattrocento Sans"/>
                <a:ea typeface="Quattrocento Sans"/>
                <a:cs typeface="Quattrocento Sans"/>
                <a:sym typeface="Quattrocento Sans"/>
              </a:endParaRPr>
            </a:p>
          </p:txBody>
        </p:sp>
      </p:grpSp>
      <p:sp>
        <p:nvSpPr>
          <p:cNvPr id="218" name="Google Shape;218;p10"/>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10</a:t>
            </a:r>
            <a:endParaRPr/>
          </a:p>
        </p:txBody>
      </p:sp>
      <p:grpSp>
        <p:nvGrpSpPr>
          <p:cNvPr id="219" name="Google Shape;219;p10"/>
          <p:cNvGrpSpPr/>
          <p:nvPr/>
        </p:nvGrpSpPr>
        <p:grpSpPr>
          <a:xfrm>
            <a:off x="8181689" y="1649997"/>
            <a:ext cx="3470100" cy="2619525"/>
            <a:chOff x="0" y="0"/>
            <a:chExt cx="3470100" cy="2619525"/>
          </a:xfrm>
        </p:grpSpPr>
        <p:sp>
          <p:nvSpPr>
            <p:cNvPr id="220" name="Google Shape;220;p10"/>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1" name="Google Shape;221;p10"/>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2" name="Google Shape;222;p10"/>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TRANSITION 03</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Shared Axis Lateral Motion</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Used for lateral revision routing and secondary flows with smooth slide-and-fade dynamics.</a:t>
              </a:r>
              <a:endParaRPr b="0" sz="1000">
                <a:solidFill>
                  <a:srgbClr val="334155"/>
                </a:solidFill>
                <a:latin typeface="Quattrocento Sans"/>
                <a:ea typeface="Quattrocento Sans"/>
                <a:cs typeface="Quattrocento Sans"/>
                <a:sym typeface="Quattrocento Sans"/>
              </a:endParaRPr>
            </a:p>
          </p:txBody>
        </p:sp>
      </p:grpSp>
      <p:grpSp>
        <p:nvGrpSpPr>
          <p:cNvPr id="223" name="Google Shape;223;p10"/>
          <p:cNvGrpSpPr/>
          <p:nvPr/>
        </p:nvGrpSpPr>
        <p:grpSpPr>
          <a:xfrm>
            <a:off x="540000" y="4457700"/>
            <a:ext cx="5400000" cy="1733700"/>
            <a:chOff x="0" y="0"/>
            <a:chExt cx="5400000" cy="1733700"/>
          </a:xfrm>
        </p:grpSpPr>
        <p:sp>
          <p:nvSpPr>
            <p:cNvPr id="224" name="Google Shape;224;p10"/>
            <p:cNvSpPr/>
            <p:nvPr/>
          </p:nvSpPr>
          <p:spPr>
            <a:xfrm>
              <a:off x="0" y="0"/>
              <a:ext cx="5400000" cy="1733700"/>
            </a:xfrm>
            <a:prstGeom prst="roundRect">
              <a:avLst>
                <a:gd fmla="val 5493"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0"/>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6" name="Google Shape;226;p10"/>
            <p:cNvSpPr txBox="1"/>
            <p:nvPr/>
          </p:nvSpPr>
          <p:spPr>
            <a:xfrm>
              <a:off x="0" y="47625"/>
              <a:ext cx="5400000" cy="16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COGNITIVE CONTINUITY</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Spatial Anchoring</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Eliminates disorientation by showing users exactly where content originates and expands.</a:t>
              </a:r>
              <a:endParaRPr b="0" sz="1000">
                <a:solidFill>
                  <a:srgbClr val="1E40AF"/>
                </a:solidFill>
                <a:latin typeface="Quattrocento Sans"/>
                <a:ea typeface="Quattrocento Sans"/>
                <a:cs typeface="Quattrocento Sans"/>
                <a:sym typeface="Quattrocento Sans"/>
              </a:endParaRPr>
            </a:p>
          </p:txBody>
        </p:sp>
      </p:grpSp>
      <p:grpSp>
        <p:nvGrpSpPr>
          <p:cNvPr id="227" name="Google Shape;227;p10"/>
          <p:cNvGrpSpPr/>
          <p:nvPr/>
        </p:nvGrpSpPr>
        <p:grpSpPr>
          <a:xfrm>
            <a:off x="6250000" y="4457700"/>
            <a:ext cx="5400000" cy="1733700"/>
            <a:chOff x="0" y="0"/>
            <a:chExt cx="5400000" cy="1733700"/>
          </a:xfrm>
        </p:grpSpPr>
        <p:sp>
          <p:nvSpPr>
            <p:cNvPr id="228" name="Google Shape;228;p10"/>
            <p:cNvSpPr/>
            <p:nvPr/>
          </p:nvSpPr>
          <p:spPr>
            <a:xfrm>
              <a:off x="0" y="0"/>
              <a:ext cx="5400000" cy="1733700"/>
            </a:xfrm>
            <a:prstGeom prst="roundRect">
              <a:avLst>
                <a:gd fmla="val 5493"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0"/>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0" name="Google Shape;230;p10"/>
            <p:cNvSpPr txBox="1"/>
            <p:nvPr/>
          </p:nvSpPr>
          <p:spPr>
            <a:xfrm>
              <a:off x="0" y="47625"/>
              <a:ext cx="5400000" cy="16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NON-TECHNICAL USABILITY</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Elimination of Primitive Routing</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Replaces raw Navigator.push and .pushNamed with robust custom route builders.</a:t>
              </a:r>
              <a:endParaRPr b="0" sz="1000">
                <a:solidFill>
                  <a:srgbClr val="1E40AF"/>
                </a:solidFill>
                <a:latin typeface="Quattrocento Sans"/>
                <a:ea typeface="Quattrocento Sans"/>
                <a:cs typeface="Quattrocento Sans"/>
                <a:sym typeface="Quattrocento San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1"/>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DATA PERSISTENCE &amp; ASYNCHRONOUS BACKEND</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Simulated Backend Server &amp; State Persistence</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Eliminating Prototype Mock Hardcoding Across All Application Domains</a:t>
            </a:r>
            <a:endParaRPr/>
          </a:p>
        </p:txBody>
      </p:sp>
      <p:grpSp>
        <p:nvGrpSpPr>
          <p:cNvPr id="238" name="Google Shape;238;p11"/>
          <p:cNvGrpSpPr/>
          <p:nvPr/>
        </p:nvGrpSpPr>
        <p:grpSpPr>
          <a:xfrm>
            <a:off x="540000" y="1649997"/>
            <a:ext cx="3470100" cy="2619525"/>
            <a:chOff x="0" y="0"/>
            <a:chExt cx="3470100" cy="2619525"/>
          </a:xfrm>
        </p:grpSpPr>
        <p:sp>
          <p:nvSpPr>
            <p:cNvPr id="239" name="Google Shape;239;p11"/>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0" name="Google Shape;240;p11"/>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1" name="Google Shape;241;p11"/>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CAPABILITY 01</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Elimination of Hardcoding</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Data structures initialized in SimulatedBackendServer singleton rather than in widgets.</a:t>
              </a:r>
              <a:endParaRPr b="0" sz="1000">
                <a:solidFill>
                  <a:srgbClr val="334155"/>
                </a:solidFill>
                <a:latin typeface="Quattrocento Sans"/>
                <a:ea typeface="Quattrocento Sans"/>
                <a:cs typeface="Quattrocento Sans"/>
                <a:sym typeface="Quattrocento Sans"/>
              </a:endParaRPr>
            </a:p>
          </p:txBody>
        </p:sp>
      </p:grpSp>
      <p:grpSp>
        <p:nvGrpSpPr>
          <p:cNvPr id="242" name="Google Shape;242;p11"/>
          <p:cNvGrpSpPr/>
          <p:nvPr/>
        </p:nvGrpSpPr>
        <p:grpSpPr>
          <a:xfrm>
            <a:off x="4360831" y="1649997"/>
            <a:ext cx="3470100" cy="2619525"/>
            <a:chOff x="0" y="0"/>
            <a:chExt cx="3470100" cy="2619525"/>
          </a:xfrm>
        </p:grpSpPr>
        <p:sp>
          <p:nvSpPr>
            <p:cNvPr id="243" name="Google Shape;243;p11"/>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1"/>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5" name="Google Shape;245;p11"/>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CAPABILITY 02</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Asynchronous Latency</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CRUD endpoints simulate enterprise latency (250ms–400ms using Future.delayed).</a:t>
              </a:r>
              <a:endParaRPr b="0" sz="1000">
                <a:solidFill>
                  <a:srgbClr val="334155"/>
                </a:solidFill>
                <a:latin typeface="Quattrocento Sans"/>
                <a:ea typeface="Quattrocento Sans"/>
                <a:cs typeface="Quattrocento Sans"/>
                <a:sym typeface="Quattrocento Sans"/>
              </a:endParaRPr>
            </a:p>
          </p:txBody>
        </p:sp>
      </p:grpSp>
      <p:sp>
        <p:nvSpPr>
          <p:cNvPr id="246" name="Google Shape;246;p11"/>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11</a:t>
            </a:r>
            <a:endParaRPr/>
          </a:p>
        </p:txBody>
      </p:sp>
      <p:grpSp>
        <p:nvGrpSpPr>
          <p:cNvPr id="247" name="Google Shape;247;p11"/>
          <p:cNvGrpSpPr/>
          <p:nvPr/>
        </p:nvGrpSpPr>
        <p:grpSpPr>
          <a:xfrm>
            <a:off x="8181689" y="1649997"/>
            <a:ext cx="3470100" cy="2619525"/>
            <a:chOff x="0" y="0"/>
            <a:chExt cx="3470100" cy="2619525"/>
          </a:xfrm>
        </p:grpSpPr>
        <p:sp>
          <p:nvSpPr>
            <p:cNvPr id="248" name="Google Shape;248;p11"/>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9" name="Google Shape;249;p11"/>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0" name="Google Shape;250;p11"/>
            <p:cNvSpPr txBox="1"/>
            <p:nvPr/>
          </p:nvSpPr>
          <p:spPr>
            <a:xfrm>
              <a:off x="0" y="47625"/>
              <a:ext cx="3470100" cy="25719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CAPABILITY 03</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Session Persistence</a:t>
              </a:r>
              <a:endParaRPr b="1" sz="130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Feedback comments, approvals, dismissed alerts, and consent persist in backend storage.</a:t>
              </a:r>
              <a:endParaRPr b="0" sz="1000">
                <a:solidFill>
                  <a:srgbClr val="334155"/>
                </a:solidFill>
                <a:latin typeface="Quattrocento Sans"/>
                <a:ea typeface="Quattrocento Sans"/>
                <a:cs typeface="Quattrocento Sans"/>
                <a:sym typeface="Quattrocento Sans"/>
              </a:endParaRPr>
            </a:p>
          </p:txBody>
        </p:sp>
      </p:grpSp>
      <p:grpSp>
        <p:nvGrpSpPr>
          <p:cNvPr id="251" name="Google Shape;251;p11"/>
          <p:cNvGrpSpPr/>
          <p:nvPr/>
        </p:nvGrpSpPr>
        <p:grpSpPr>
          <a:xfrm>
            <a:off x="540000" y="4457700"/>
            <a:ext cx="5400000" cy="1733700"/>
            <a:chOff x="0" y="0"/>
            <a:chExt cx="5400000" cy="1733700"/>
          </a:xfrm>
        </p:grpSpPr>
        <p:sp>
          <p:nvSpPr>
            <p:cNvPr id="252" name="Google Shape;252;p11"/>
            <p:cNvSpPr/>
            <p:nvPr/>
          </p:nvSpPr>
          <p:spPr>
            <a:xfrm>
              <a:off x="0" y="0"/>
              <a:ext cx="5400000" cy="1733700"/>
            </a:xfrm>
            <a:prstGeom prst="roundRect">
              <a:avLst>
                <a:gd fmla="val 5493"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3" name="Google Shape;253;p11"/>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1"/>
            <p:cNvSpPr txBox="1"/>
            <p:nvPr/>
          </p:nvSpPr>
          <p:spPr>
            <a:xfrm>
              <a:off x="0" y="47625"/>
              <a:ext cx="5400000" cy="16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DOMAIN-SPECIFIC ENDPOINTS 01</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Notifications &amp; Contextual Feedback</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1" lang="en-US" sz="1000">
                  <a:solidFill>
                    <a:srgbClr val="1E40AF"/>
                  </a:solidFill>
                  <a:latin typeface="Quattrocento Sans"/>
                  <a:ea typeface="Quattrocento Sans"/>
                  <a:cs typeface="Quattrocento Sans"/>
                  <a:sym typeface="Quattrocento Sans"/>
                </a:rPr>
                <a:t>Notifications:</a:t>
              </a:r>
              <a:r>
                <a:rPr b="0" lang="en-US" sz="1000">
                  <a:solidFill>
                    <a:srgbClr val="1E40AF"/>
                  </a:solidFill>
                  <a:latin typeface="Quattrocento Sans"/>
                  <a:ea typeface="Quattrocento Sans"/>
                  <a:cs typeface="Quattrocento Sans"/>
                  <a:sym typeface="Quattrocento Sans"/>
                </a:rPr>
                <a:t> fetchNotifications(), dismissNotification(), restoreNotification().</a:t>
              </a:r>
              <a:endParaRPr b="0" sz="1000">
                <a:solidFill>
                  <a:srgbClr val="1E40AF"/>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000">
                  <a:solidFill>
                    <a:srgbClr val="1E40AF"/>
                  </a:solidFill>
                  <a:latin typeface="Quattrocento Sans"/>
                  <a:ea typeface="Quattrocento Sans"/>
                  <a:cs typeface="Quattrocento Sans"/>
                  <a:sym typeface="Quattrocento Sans"/>
                </a:rPr>
                <a:t>Contextual Feedback:</a:t>
              </a:r>
              <a:r>
                <a:rPr b="0" lang="en-US" sz="1000">
                  <a:solidFill>
                    <a:srgbClr val="1E40AF"/>
                  </a:solidFill>
                  <a:latin typeface="Quattrocento Sans"/>
                  <a:ea typeface="Quattrocento Sans"/>
                  <a:cs typeface="Quattrocento Sans"/>
                  <a:sym typeface="Quattrocento Sans"/>
                </a:rPr>
                <a:t> fetchComments(), postComment(text).</a:t>
              </a:r>
              <a:endParaRPr b="0" sz="1000">
                <a:solidFill>
                  <a:srgbClr val="1E40AF"/>
                </a:solidFill>
                <a:latin typeface="Quattrocento Sans"/>
                <a:ea typeface="Quattrocento Sans"/>
                <a:cs typeface="Quattrocento Sans"/>
                <a:sym typeface="Quattrocento Sans"/>
              </a:endParaRPr>
            </a:p>
          </p:txBody>
        </p:sp>
      </p:grpSp>
      <p:grpSp>
        <p:nvGrpSpPr>
          <p:cNvPr id="255" name="Google Shape;255;p11"/>
          <p:cNvGrpSpPr/>
          <p:nvPr/>
        </p:nvGrpSpPr>
        <p:grpSpPr>
          <a:xfrm>
            <a:off x="6250000" y="4457700"/>
            <a:ext cx="5400000" cy="1733700"/>
            <a:chOff x="0" y="0"/>
            <a:chExt cx="5400000" cy="1733700"/>
          </a:xfrm>
        </p:grpSpPr>
        <p:sp>
          <p:nvSpPr>
            <p:cNvPr id="256" name="Google Shape;256;p11"/>
            <p:cNvSpPr/>
            <p:nvPr/>
          </p:nvSpPr>
          <p:spPr>
            <a:xfrm>
              <a:off x="0" y="0"/>
              <a:ext cx="5400000" cy="1733700"/>
            </a:xfrm>
            <a:prstGeom prst="roundRect">
              <a:avLst>
                <a:gd fmla="val 5493"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7" name="Google Shape;257;p11"/>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11"/>
            <p:cNvSpPr txBox="1"/>
            <p:nvPr/>
          </p:nvSpPr>
          <p:spPr>
            <a:xfrm>
              <a:off x="0" y="47625"/>
              <a:ext cx="5400000" cy="16860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DOMAIN-SPECIFIC ENDPOINTS 02</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Milestone Governance &amp; Privacy Sovereignty</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1" lang="en-US" sz="1000">
                  <a:solidFill>
                    <a:srgbClr val="1E40AF"/>
                  </a:solidFill>
                  <a:latin typeface="Quattrocento Sans"/>
                  <a:ea typeface="Quattrocento Sans"/>
                  <a:cs typeface="Quattrocento Sans"/>
                  <a:sym typeface="Quattrocento Sans"/>
                </a:rPr>
                <a:t>Milestone Governance:</a:t>
              </a:r>
              <a:r>
                <a:rPr b="0" lang="en-US" sz="1000">
                  <a:solidFill>
                    <a:srgbClr val="1E40AF"/>
                  </a:solidFill>
                  <a:latin typeface="Quattrocento Sans"/>
                  <a:ea typeface="Quattrocento Sans"/>
                  <a:cs typeface="Quattrocento Sans"/>
                  <a:sym typeface="Quattrocento Sans"/>
                </a:rPr>
                <a:t> approveMilestone(), requestChanges(notes).</a:t>
              </a:r>
              <a:endParaRPr b="0" sz="1000">
                <a:solidFill>
                  <a:srgbClr val="1E40AF"/>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000">
                  <a:solidFill>
                    <a:srgbClr val="1E40AF"/>
                  </a:solidFill>
                  <a:latin typeface="Quattrocento Sans"/>
                  <a:ea typeface="Quattrocento Sans"/>
                  <a:cs typeface="Quattrocento Sans"/>
                  <a:sym typeface="Quattrocento Sans"/>
                </a:rPr>
                <a:t>Privacy Sovereignty:</a:t>
              </a:r>
              <a:r>
                <a:rPr b="0" lang="en-US" sz="1000">
                  <a:solidFill>
                    <a:srgbClr val="1E40AF"/>
                  </a:solidFill>
                  <a:latin typeface="Quattrocento Sans"/>
                  <a:ea typeface="Quattrocento Sans"/>
                  <a:cs typeface="Quattrocento Sans"/>
                  <a:sym typeface="Quattrocento Sans"/>
                </a:rPr>
                <a:t> updatePrivacySetting(key, val).</a:t>
              </a:r>
              <a:endParaRPr b="0" sz="1000">
                <a:solidFill>
                  <a:srgbClr val="1E40AF"/>
                </a:solidFill>
                <a:latin typeface="Quattrocento Sans"/>
                <a:ea typeface="Quattrocento Sans"/>
                <a:cs typeface="Quattrocento Sans"/>
                <a:sym typeface="Quattrocento Sans"/>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12"/>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2"/>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STATE MANAGEMENT &amp; ARCHITECTURAL PATTERNS</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Reactive State Architecture &amp; Scope Provider</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Unidirectional Data Flow via AppStateModel &amp; AppStateScope</a:t>
            </a:r>
            <a:endParaRPr/>
          </a:p>
        </p:txBody>
      </p:sp>
      <p:grpSp>
        <p:nvGrpSpPr>
          <p:cNvPr id="266" name="Google Shape;266;p12"/>
          <p:cNvGrpSpPr/>
          <p:nvPr/>
        </p:nvGrpSpPr>
        <p:grpSpPr>
          <a:xfrm>
            <a:off x="540000" y="1649997"/>
            <a:ext cx="3470100" cy="2619525"/>
            <a:chOff x="0" y="0"/>
            <a:chExt cx="3470100" cy="2619525"/>
          </a:xfrm>
        </p:grpSpPr>
        <p:sp>
          <p:nvSpPr>
            <p:cNvPr id="267" name="Google Shape;267;p12"/>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8" name="Google Shape;268;p12"/>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9" name="Google Shape;269;p12"/>
            <p:cNvSpPr txBox="1"/>
            <p:nvPr/>
          </p:nvSpPr>
          <p:spPr>
            <a:xfrm>
              <a:off x="0" y="47625"/>
              <a:ext cx="3470100" cy="2571900"/>
            </a:xfrm>
            <a:prstGeom prst="rect">
              <a:avLst/>
            </a:prstGeom>
            <a:solidFill>
              <a:srgbClr val="000000">
                <a:alpha val="0"/>
              </a:srgbClr>
            </a:solid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TIER 01</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AppStateModel (ChangeNotifier)</a:t>
              </a:r>
              <a:endParaRPr b="1" sz="850">
                <a:solidFill>
                  <a:srgbClr val="2563EB"/>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Central business logic and reactive state store; encapsulates backend integration.</a:t>
              </a:r>
              <a:endParaRPr b="1" sz="850">
                <a:solidFill>
                  <a:srgbClr val="2563EB"/>
                </a:solidFill>
                <a:latin typeface="Quattrocento Sans"/>
                <a:ea typeface="Quattrocento Sans"/>
                <a:cs typeface="Quattrocento Sans"/>
                <a:sym typeface="Quattrocento Sans"/>
              </a:endParaRPr>
            </a:p>
          </p:txBody>
        </p:sp>
      </p:grpSp>
      <p:grpSp>
        <p:nvGrpSpPr>
          <p:cNvPr id="270" name="Google Shape;270;p12"/>
          <p:cNvGrpSpPr/>
          <p:nvPr/>
        </p:nvGrpSpPr>
        <p:grpSpPr>
          <a:xfrm>
            <a:off x="4360831" y="1649997"/>
            <a:ext cx="3470100" cy="2619525"/>
            <a:chOff x="0" y="0"/>
            <a:chExt cx="3470100" cy="2619525"/>
          </a:xfrm>
        </p:grpSpPr>
        <p:sp>
          <p:nvSpPr>
            <p:cNvPr id="271" name="Google Shape;271;p12"/>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2" name="Google Shape;272;p12"/>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3" name="Google Shape;273;p12"/>
            <p:cNvSpPr txBox="1"/>
            <p:nvPr/>
          </p:nvSpPr>
          <p:spPr>
            <a:xfrm>
              <a:off x="0" y="47625"/>
              <a:ext cx="3470100" cy="2571900"/>
            </a:xfrm>
            <a:prstGeom prst="rect">
              <a:avLst/>
            </a:prstGeom>
            <a:solidFill>
              <a:srgbClr val="000000">
                <a:alpha val="0"/>
              </a:srgbClr>
            </a:solid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TIER 02</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AppStateScope (InheritedNotifier)</a:t>
              </a:r>
              <a:endParaRPr b="1" sz="850">
                <a:solidFill>
                  <a:srgbClr val="2563EB"/>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Root provider enabling O(1) context lookups (AppStateScope.of(context)).</a:t>
              </a:r>
              <a:endParaRPr b="1" sz="850">
                <a:solidFill>
                  <a:srgbClr val="2563EB"/>
                </a:solidFill>
                <a:latin typeface="Quattrocento Sans"/>
                <a:ea typeface="Quattrocento Sans"/>
                <a:cs typeface="Quattrocento Sans"/>
                <a:sym typeface="Quattrocento Sans"/>
              </a:endParaRPr>
            </a:p>
          </p:txBody>
        </p:sp>
      </p:grpSp>
      <p:sp>
        <p:nvSpPr>
          <p:cNvPr id="274" name="Google Shape;274;p12"/>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12</a:t>
            </a:r>
            <a:endParaRPr/>
          </a:p>
        </p:txBody>
      </p:sp>
      <p:grpSp>
        <p:nvGrpSpPr>
          <p:cNvPr id="275" name="Google Shape;275;p12"/>
          <p:cNvGrpSpPr/>
          <p:nvPr/>
        </p:nvGrpSpPr>
        <p:grpSpPr>
          <a:xfrm>
            <a:off x="8181689" y="1649997"/>
            <a:ext cx="3470100" cy="2619525"/>
            <a:chOff x="0" y="0"/>
            <a:chExt cx="3470100" cy="2619525"/>
          </a:xfrm>
        </p:grpSpPr>
        <p:sp>
          <p:nvSpPr>
            <p:cNvPr id="276" name="Google Shape;276;p12"/>
            <p:cNvSpPr/>
            <p:nvPr/>
          </p:nvSpPr>
          <p:spPr>
            <a:xfrm>
              <a:off x="0" y="0"/>
              <a:ext cx="3470100" cy="2619300"/>
            </a:xfrm>
            <a:prstGeom prst="roundRect">
              <a:avLst>
                <a:gd fmla="val 363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12"/>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8" name="Google Shape;278;p12"/>
            <p:cNvSpPr txBox="1"/>
            <p:nvPr/>
          </p:nvSpPr>
          <p:spPr>
            <a:xfrm>
              <a:off x="0" y="47625"/>
              <a:ext cx="3470100" cy="2571900"/>
            </a:xfrm>
            <a:prstGeom prst="rect">
              <a:avLst/>
            </a:prstGeom>
            <a:solidFill>
              <a:srgbClr val="000000">
                <a:alpha val="0"/>
              </a:srgbClr>
            </a:solid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TIER 03</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300">
                  <a:solidFill>
                    <a:srgbClr val="0F172A"/>
                  </a:solidFill>
                  <a:latin typeface="Quattrocento Sans"/>
                  <a:ea typeface="Quattrocento Sans"/>
                  <a:cs typeface="Quattrocento Sans"/>
                  <a:sym typeface="Quattrocento Sans"/>
                </a:rPr>
                <a:t>Zero Third-Party Packages</a:t>
              </a:r>
              <a:endParaRPr b="1" sz="850">
                <a:solidFill>
                  <a:srgbClr val="2563EB"/>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Native Flutter SDK implementation running cleanly on DartPad without external packages.</a:t>
              </a:r>
              <a:endParaRPr b="1" sz="850">
                <a:solidFill>
                  <a:srgbClr val="2563EB"/>
                </a:solidFill>
                <a:latin typeface="Quattrocento Sans"/>
                <a:ea typeface="Quattrocento Sans"/>
                <a:cs typeface="Quattrocento Sans"/>
                <a:sym typeface="Quattrocento Sans"/>
              </a:endParaRPr>
            </a:p>
          </p:txBody>
        </p:sp>
      </p:grpSp>
      <p:grpSp>
        <p:nvGrpSpPr>
          <p:cNvPr id="279" name="Google Shape;279;p12"/>
          <p:cNvGrpSpPr/>
          <p:nvPr/>
        </p:nvGrpSpPr>
        <p:grpSpPr>
          <a:xfrm>
            <a:off x="540000" y="4457700"/>
            <a:ext cx="5400000" cy="1733700"/>
            <a:chOff x="0" y="0"/>
            <a:chExt cx="5400000" cy="1733700"/>
          </a:xfrm>
        </p:grpSpPr>
        <p:sp>
          <p:nvSpPr>
            <p:cNvPr id="280" name="Google Shape;280;p12"/>
            <p:cNvSpPr/>
            <p:nvPr/>
          </p:nvSpPr>
          <p:spPr>
            <a:xfrm>
              <a:off x="0" y="0"/>
              <a:ext cx="5400000" cy="1733700"/>
            </a:xfrm>
            <a:prstGeom prst="roundRect">
              <a:avLst>
                <a:gd fmla="val 5492"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1" name="Google Shape;281;p12"/>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2" name="Google Shape;282;p12"/>
            <p:cNvSpPr txBox="1"/>
            <p:nvPr/>
          </p:nvSpPr>
          <p:spPr>
            <a:xfrm>
              <a:off x="0" y="47625"/>
              <a:ext cx="5400000" cy="1686000"/>
            </a:xfrm>
            <a:prstGeom prst="rect">
              <a:avLst/>
            </a:prstGeom>
            <a:solidFill>
              <a:srgbClr val="000000">
                <a:alpha val="0"/>
              </a:srgbClr>
            </a:solid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OPTIMISTIC UI</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Instant Visual Feedback</a:t>
              </a:r>
              <a:endParaRPr b="1" sz="850">
                <a:solidFill>
                  <a:srgbClr val="2563EB"/>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Mutates local reactive collections immediately for responsive micro-sessions.</a:t>
              </a:r>
              <a:endParaRPr b="1" sz="850">
                <a:solidFill>
                  <a:srgbClr val="2563EB"/>
                </a:solidFill>
                <a:latin typeface="Quattrocento Sans"/>
                <a:ea typeface="Quattrocento Sans"/>
                <a:cs typeface="Quattrocento Sans"/>
                <a:sym typeface="Quattrocento Sans"/>
              </a:endParaRPr>
            </a:p>
          </p:txBody>
        </p:sp>
      </p:grpSp>
      <p:grpSp>
        <p:nvGrpSpPr>
          <p:cNvPr id="283" name="Google Shape;283;p12"/>
          <p:cNvGrpSpPr/>
          <p:nvPr/>
        </p:nvGrpSpPr>
        <p:grpSpPr>
          <a:xfrm>
            <a:off x="6250000" y="4457700"/>
            <a:ext cx="5400000" cy="1733700"/>
            <a:chOff x="0" y="0"/>
            <a:chExt cx="5400000" cy="1733700"/>
          </a:xfrm>
        </p:grpSpPr>
        <p:sp>
          <p:nvSpPr>
            <p:cNvPr id="284" name="Google Shape;284;p12"/>
            <p:cNvSpPr/>
            <p:nvPr/>
          </p:nvSpPr>
          <p:spPr>
            <a:xfrm>
              <a:off x="0" y="0"/>
              <a:ext cx="5400000" cy="1733700"/>
            </a:xfrm>
            <a:prstGeom prst="roundRect">
              <a:avLst>
                <a:gd fmla="val 5492"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12"/>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6" name="Google Shape;286;p12"/>
            <p:cNvSpPr txBox="1"/>
            <p:nvPr/>
          </p:nvSpPr>
          <p:spPr>
            <a:xfrm>
              <a:off x="0" y="47625"/>
              <a:ext cx="5400000" cy="1686000"/>
            </a:xfrm>
            <a:prstGeom prst="rect">
              <a:avLst/>
            </a:prstGeom>
            <a:solidFill>
              <a:srgbClr val="000000">
                <a:alpha val="0"/>
              </a:srgbClr>
            </a:solid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SYNCHRONOUS RESILIENCE</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Reversible State Management</a:t>
              </a:r>
              <a:endParaRPr b="1" sz="850">
                <a:solidFill>
                  <a:srgbClr val="2563EB"/>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Seamlessly rolls back or restores items during gesture undo operations.</a:t>
              </a:r>
              <a:endParaRPr b="1" sz="850">
                <a:solidFill>
                  <a:srgbClr val="2563EB"/>
                </a:solidFill>
                <a:latin typeface="Quattrocento Sans"/>
                <a:ea typeface="Quattrocento Sans"/>
                <a:cs typeface="Quattrocento Sans"/>
                <a:sym typeface="Quattrocento Sans"/>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3"/>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DESIGN SYSTEM &amp; MATERIAL 3 COMPLIANCE</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Adherence to Material 3 UI Guidelines</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Comprehensive Component Mapping &amp; Accessibility Compliance</a:t>
            </a:r>
            <a:endParaRPr/>
          </a:p>
        </p:txBody>
      </p:sp>
      <p:grpSp>
        <p:nvGrpSpPr>
          <p:cNvPr id="294" name="Google Shape;294;p13"/>
          <p:cNvGrpSpPr/>
          <p:nvPr/>
        </p:nvGrpSpPr>
        <p:grpSpPr>
          <a:xfrm>
            <a:off x="540000" y="1649997"/>
            <a:ext cx="2648100" cy="2476500"/>
            <a:chOff x="0" y="0"/>
            <a:chExt cx="2648100" cy="2476500"/>
          </a:xfrm>
        </p:grpSpPr>
        <p:sp>
          <p:nvSpPr>
            <p:cNvPr id="295" name="Google Shape;295;p13"/>
            <p:cNvSpPr/>
            <p:nvPr/>
          </p:nvSpPr>
          <p:spPr>
            <a:xfrm>
              <a:off x="0" y="0"/>
              <a:ext cx="2648100" cy="2476500"/>
            </a:xfrm>
            <a:prstGeom prst="roundRect">
              <a:avLst>
                <a:gd fmla="val 384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13"/>
            <p:cNvSpPr/>
            <p:nvPr/>
          </p:nvSpPr>
          <p:spPr>
            <a:xfrm>
              <a:off x="0" y="0"/>
              <a:ext cx="2648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13"/>
            <p:cNvSpPr txBox="1"/>
            <p:nvPr/>
          </p:nvSpPr>
          <p:spPr>
            <a:xfrm>
              <a:off x="0" y="47625"/>
              <a:ext cx="2648100" cy="2428800"/>
            </a:xfrm>
            <a:prstGeom prst="rect">
              <a:avLst/>
            </a:prstGeom>
            <a:noFill/>
            <a:ln>
              <a:noFill/>
            </a:ln>
          </p:spPr>
          <p:txBody>
            <a:bodyPr anchorCtr="0" anchor="t" bIns="171450" lIns="171450" spcFirstLastPara="1" rIns="171450" wrap="square" tIns="17145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COMPONENT 01</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00">
                  <a:solidFill>
                    <a:srgbClr val="0F172A"/>
                  </a:solidFill>
                  <a:latin typeface="Quattrocento Sans"/>
                  <a:ea typeface="Quattrocento Sans"/>
                  <a:cs typeface="Quattrocento Sans"/>
                  <a:sym typeface="Quattrocento Sans"/>
                </a:rPr>
                <a:t>Dynamic Color Scheme</a:t>
              </a:r>
              <a:endParaRPr b="1" sz="1200">
                <a:solidFill>
                  <a:srgbClr val="0F172A"/>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950">
                  <a:solidFill>
                    <a:srgbClr val="334155"/>
                  </a:solidFill>
                  <a:latin typeface="Quattrocento Sans"/>
                  <a:ea typeface="Quattrocento Sans"/>
                  <a:cs typeface="Quattrocento Sans"/>
                  <a:sym typeface="Quattrocento Sans"/>
                </a:rPr>
                <a:t>Centralized </a:t>
              </a:r>
              <a:r>
                <a:rPr b="1" lang="en-US" sz="950">
                  <a:solidFill>
                    <a:srgbClr val="334155"/>
                  </a:solidFill>
                  <a:latin typeface="Quattrocento Sans"/>
                  <a:ea typeface="Quattrocento Sans"/>
                  <a:cs typeface="Quattrocento Sans"/>
                  <a:sym typeface="Quattrocento Sans"/>
                </a:rPr>
                <a:t>ColorScheme.fromSeed</a:t>
              </a:r>
              <a:r>
                <a:rPr b="0" lang="en-US" sz="950">
                  <a:solidFill>
                    <a:srgbClr val="334155"/>
                  </a:solidFill>
                  <a:latin typeface="Quattrocento Sans"/>
                  <a:ea typeface="Quattrocento Sans"/>
                  <a:cs typeface="Quattrocento Sans"/>
                  <a:sym typeface="Quattrocento Sans"/>
                </a:rPr>
                <a:t> generating 30 tonal levels from primary seed color.</a:t>
              </a:r>
              <a:endParaRPr b="0" sz="950">
                <a:solidFill>
                  <a:srgbClr val="334155"/>
                </a:solidFill>
                <a:latin typeface="Quattrocento Sans"/>
                <a:ea typeface="Quattrocento Sans"/>
                <a:cs typeface="Quattrocento Sans"/>
                <a:sym typeface="Quattrocento Sans"/>
              </a:endParaRPr>
            </a:p>
          </p:txBody>
        </p:sp>
      </p:grpSp>
      <p:grpSp>
        <p:nvGrpSpPr>
          <p:cNvPr id="298" name="Google Shape;298;p13"/>
          <p:cNvGrpSpPr/>
          <p:nvPr/>
        </p:nvGrpSpPr>
        <p:grpSpPr>
          <a:xfrm>
            <a:off x="3359400" y="1649997"/>
            <a:ext cx="2648100" cy="2476500"/>
            <a:chOff x="0" y="0"/>
            <a:chExt cx="2648100" cy="2476500"/>
          </a:xfrm>
        </p:grpSpPr>
        <p:sp>
          <p:nvSpPr>
            <p:cNvPr id="299" name="Google Shape;299;p13"/>
            <p:cNvSpPr/>
            <p:nvPr/>
          </p:nvSpPr>
          <p:spPr>
            <a:xfrm>
              <a:off x="0" y="0"/>
              <a:ext cx="2648100" cy="2476500"/>
            </a:xfrm>
            <a:prstGeom prst="roundRect">
              <a:avLst>
                <a:gd fmla="val 384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0" name="Google Shape;300;p13"/>
            <p:cNvSpPr/>
            <p:nvPr/>
          </p:nvSpPr>
          <p:spPr>
            <a:xfrm>
              <a:off x="0" y="0"/>
              <a:ext cx="2648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1" name="Google Shape;301;p13"/>
            <p:cNvSpPr txBox="1"/>
            <p:nvPr/>
          </p:nvSpPr>
          <p:spPr>
            <a:xfrm>
              <a:off x="0" y="47625"/>
              <a:ext cx="2648100" cy="2428800"/>
            </a:xfrm>
            <a:prstGeom prst="rect">
              <a:avLst/>
            </a:prstGeom>
            <a:noFill/>
            <a:ln>
              <a:noFill/>
            </a:ln>
          </p:spPr>
          <p:txBody>
            <a:bodyPr anchorCtr="0" anchor="t" bIns="171450" lIns="171450" spcFirstLastPara="1" rIns="171450" wrap="square" tIns="17145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COMPONENT 02</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00">
                  <a:solidFill>
                    <a:srgbClr val="0F172A"/>
                  </a:solidFill>
                  <a:latin typeface="Quattrocento Sans"/>
                  <a:ea typeface="Quattrocento Sans"/>
                  <a:cs typeface="Quattrocento Sans"/>
                  <a:sym typeface="Quattrocento Sans"/>
                </a:rPr>
                <a:t>NavigationBar &amp; Rail</a:t>
              </a:r>
              <a:endParaRPr b="1" sz="1200">
                <a:solidFill>
                  <a:srgbClr val="0F172A"/>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950">
                  <a:solidFill>
                    <a:srgbClr val="334155"/>
                  </a:solidFill>
                  <a:latin typeface="Quattrocento Sans"/>
                  <a:ea typeface="Quattrocento Sans"/>
                  <a:cs typeface="Quattrocento Sans"/>
                  <a:sym typeface="Quattrocento Sans"/>
                </a:rPr>
                <a:t>Canonical filled active indicator pills with bolded selected states and unbolded unselected states.</a:t>
              </a:r>
              <a:endParaRPr b="0" sz="950">
                <a:solidFill>
                  <a:srgbClr val="334155"/>
                </a:solidFill>
                <a:latin typeface="Quattrocento Sans"/>
                <a:ea typeface="Quattrocento Sans"/>
                <a:cs typeface="Quattrocento Sans"/>
                <a:sym typeface="Quattrocento Sans"/>
              </a:endParaRPr>
            </a:p>
          </p:txBody>
        </p:sp>
      </p:grpSp>
      <p:sp>
        <p:nvSpPr>
          <p:cNvPr id="302" name="Google Shape;302;p13"/>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13</a:t>
            </a:r>
            <a:endParaRPr/>
          </a:p>
        </p:txBody>
      </p:sp>
      <p:grpSp>
        <p:nvGrpSpPr>
          <p:cNvPr id="303" name="Google Shape;303;p13"/>
          <p:cNvGrpSpPr/>
          <p:nvPr/>
        </p:nvGrpSpPr>
        <p:grpSpPr>
          <a:xfrm>
            <a:off x="6178800" y="1649997"/>
            <a:ext cx="2648100" cy="2476500"/>
            <a:chOff x="0" y="0"/>
            <a:chExt cx="2648100" cy="2476500"/>
          </a:xfrm>
        </p:grpSpPr>
        <p:sp>
          <p:nvSpPr>
            <p:cNvPr id="304" name="Google Shape;304;p13"/>
            <p:cNvSpPr/>
            <p:nvPr/>
          </p:nvSpPr>
          <p:spPr>
            <a:xfrm>
              <a:off x="0" y="0"/>
              <a:ext cx="2648100" cy="2476500"/>
            </a:xfrm>
            <a:prstGeom prst="roundRect">
              <a:avLst>
                <a:gd fmla="val 384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5" name="Google Shape;305;p13"/>
            <p:cNvSpPr/>
            <p:nvPr/>
          </p:nvSpPr>
          <p:spPr>
            <a:xfrm>
              <a:off x="0" y="0"/>
              <a:ext cx="2648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13"/>
            <p:cNvSpPr txBox="1"/>
            <p:nvPr/>
          </p:nvSpPr>
          <p:spPr>
            <a:xfrm>
              <a:off x="0" y="47625"/>
              <a:ext cx="2648100" cy="2428800"/>
            </a:xfrm>
            <a:prstGeom prst="rect">
              <a:avLst/>
            </a:prstGeom>
            <a:noFill/>
            <a:ln>
              <a:noFill/>
            </a:ln>
          </p:spPr>
          <p:txBody>
            <a:bodyPr anchorCtr="0" anchor="t" bIns="171450" lIns="171450" spcFirstLastPara="1" rIns="171450" wrap="square" tIns="17145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COMPONENT 03</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00">
                  <a:solidFill>
                    <a:srgbClr val="0F172A"/>
                  </a:solidFill>
                  <a:latin typeface="Quattrocento Sans"/>
                  <a:ea typeface="Quattrocento Sans"/>
                  <a:cs typeface="Quattrocento Sans"/>
                  <a:sym typeface="Quattrocento Sans"/>
                </a:rPr>
                <a:t>AppBars &amp; Surfaces</a:t>
              </a:r>
              <a:endParaRPr b="1" sz="1200">
                <a:solidFill>
                  <a:srgbClr val="0F172A"/>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950">
                  <a:solidFill>
                    <a:srgbClr val="334155"/>
                  </a:solidFill>
                  <a:latin typeface="Quattrocento Sans"/>
                  <a:ea typeface="Quattrocento Sans"/>
                  <a:cs typeface="Quattrocento Sans"/>
                  <a:sym typeface="Quattrocento Sans"/>
                </a:rPr>
                <a:t>Centered titles with scrolled under elevation tint; flat surfaces with subtle outlineVariant borders.</a:t>
              </a:r>
              <a:endParaRPr b="0" sz="950">
                <a:solidFill>
                  <a:srgbClr val="334155"/>
                </a:solidFill>
                <a:latin typeface="Quattrocento Sans"/>
                <a:ea typeface="Quattrocento Sans"/>
                <a:cs typeface="Quattrocento Sans"/>
                <a:sym typeface="Quattrocento Sans"/>
              </a:endParaRPr>
            </a:p>
          </p:txBody>
        </p:sp>
      </p:grpSp>
      <p:grpSp>
        <p:nvGrpSpPr>
          <p:cNvPr id="307" name="Google Shape;307;p13"/>
          <p:cNvGrpSpPr/>
          <p:nvPr/>
        </p:nvGrpSpPr>
        <p:grpSpPr>
          <a:xfrm>
            <a:off x="8998200" y="1649997"/>
            <a:ext cx="2648100" cy="2476500"/>
            <a:chOff x="0" y="0"/>
            <a:chExt cx="2648100" cy="2476500"/>
          </a:xfrm>
        </p:grpSpPr>
        <p:sp>
          <p:nvSpPr>
            <p:cNvPr id="308" name="Google Shape;308;p13"/>
            <p:cNvSpPr/>
            <p:nvPr/>
          </p:nvSpPr>
          <p:spPr>
            <a:xfrm>
              <a:off x="0" y="0"/>
              <a:ext cx="2648100" cy="2476500"/>
            </a:xfrm>
            <a:prstGeom prst="roundRect">
              <a:avLst>
                <a:gd fmla="val 3846" name="adj"/>
              </a:avLst>
            </a:prstGeom>
            <a:solidFill>
              <a:srgbClr val="FFFFFF"/>
            </a:solidFill>
            <a:ln cap="flat" cmpd="sng" w="12675">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13"/>
            <p:cNvSpPr/>
            <p:nvPr/>
          </p:nvSpPr>
          <p:spPr>
            <a:xfrm>
              <a:off x="0" y="0"/>
              <a:ext cx="2648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0" name="Google Shape;310;p13"/>
            <p:cNvSpPr txBox="1"/>
            <p:nvPr/>
          </p:nvSpPr>
          <p:spPr>
            <a:xfrm>
              <a:off x="0" y="47625"/>
              <a:ext cx="2648100" cy="2428800"/>
            </a:xfrm>
            <a:prstGeom prst="rect">
              <a:avLst/>
            </a:prstGeom>
            <a:noFill/>
            <a:ln>
              <a:noFill/>
            </a:ln>
          </p:spPr>
          <p:txBody>
            <a:bodyPr anchorCtr="0" anchor="t" bIns="171450" lIns="171450" spcFirstLastPara="1" rIns="171450" wrap="square" tIns="17145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COMPONENT 04</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00">
                  <a:solidFill>
                    <a:srgbClr val="0F172A"/>
                  </a:solidFill>
                  <a:latin typeface="Quattrocento Sans"/>
                  <a:ea typeface="Quattrocento Sans"/>
                  <a:cs typeface="Quattrocento Sans"/>
                  <a:sym typeface="Quattrocento Sans"/>
                </a:rPr>
                <a:t>Outlined Cards</a:t>
              </a:r>
              <a:endParaRPr b="1" sz="1200">
                <a:solidFill>
                  <a:srgbClr val="0F172A"/>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950">
                  <a:solidFill>
                    <a:srgbClr val="334155"/>
                  </a:solidFill>
                  <a:latin typeface="Quattrocento Sans"/>
                  <a:ea typeface="Quattrocento Sans"/>
                  <a:cs typeface="Quattrocento Sans"/>
                  <a:sym typeface="Quattrocento Sans"/>
                </a:rPr>
                <a:t>1dp borders and 16dp rounded corners; strictly avoids nesting ListView inside cards.</a:t>
              </a:r>
              <a:endParaRPr b="0" sz="950">
                <a:solidFill>
                  <a:srgbClr val="334155"/>
                </a:solidFill>
                <a:latin typeface="Quattrocento Sans"/>
                <a:ea typeface="Quattrocento Sans"/>
                <a:cs typeface="Quattrocento Sans"/>
                <a:sym typeface="Quattrocento Sans"/>
              </a:endParaRPr>
            </a:p>
          </p:txBody>
        </p:sp>
      </p:grpSp>
      <p:grpSp>
        <p:nvGrpSpPr>
          <p:cNvPr id="311" name="Google Shape;311;p13"/>
          <p:cNvGrpSpPr/>
          <p:nvPr/>
        </p:nvGrpSpPr>
        <p:grpSpPr>
          <a:xfrm>
            <a:off x="540000" y="4286250"/>
            <a:ext cx="5470200" cy="1857300"/>
            <a:chOff x="0" y="0"/>
            <a:chExt cx="5470200" cy="1857300"/>
          </a:xfrm>
        </p:grpSpPr>
        <p:sp>
          <p:nvSpPr>
            <p:cNvPr id="312" name="Google Shape;312;p13"/>
            <p:cNvSpPr/>
            <p:nvPr/>
          </p:nvSpPr>
          <p:spPr>
            <a:xfrm>
              <a:off x="0" y="0"/>
              <a:ext cx="5470200" cy="1857300"/>
            </a:xfrm>
            <a:prstGeom prst="roundRect">
              <a:avLst>
                <a:gd fmla="val 51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13"/>
            <p:cNvSpPr/>
            <p:nvPr/>
          </p:nvSpPr>
          <p:spPr>
            <a:xfrm>
              <a:off x="0" y="0"/>
              <a:ext cx="54702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4" name="Google Shape;314;p13"/>
            <p:cNvSpPr txBox="1"/>
            <p:nvPr/>
          </p:nvSpPr>
          <p:spPr>
            <a:xfrm>
              <a:off x="0" y="47625"/>
              <a:ext cx="5470200" cy="18096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ACCESSIBILITY REQUIREMENT 01</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48x48dp Touch Targets</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All interactive elements (buttons, icons, and chips) strictly adhere to WCAG 2.1 AA touch target dimensions for error-free ergonomics.</a:t>
              </a:r>
              <a:endParaRPr b="0" sz="1000">
                <a:solidFill>
                  <a:srgbClr val="1E40AF"/>
                </a:solidFill>
                <a:latin typeface="Quattrocento Sans"/>
                <a:ea typeface="Quattrocento Sans"/>
                <a:cs typeface="Quattrocento Sans"/>
                <a:sym typeface="Quattrocento Sans"/>
              </a:endParaRPr>
            </a:p>
          </p:txBody>
        </p:sp>
      </p:grpSp>
      <p:grpSp>
        <p:nvGrpSpPr>
          <p:cNvPr id="315" name="Google Shape;315;p13"/>
          <p:cNvGrpSpPr/>
          <p:nvPr/>
        </p:nvGrpSpPr>
        <p:grpSpPr>
          <a:xfrm>
            <a:off x="6181657" y="4286250"/>
            <a:ext cx="5470200" cy="1857300"/>
            <a:chOff x="0" y="0"/>
            <a:chExt cx="5470200" cy="1857300"/>
          </a:xfrm>
        </p:grpSpPr>
        <p:sp>
          <p:nvSpPr>
            <p:cNvPr id="316" name="Google Shape;316;p13"/>
            <p:cNvSpPr/>
            <p:nvPr/>
          </p:nvSpPr>
          <p:spPr>
            <a:xfrm>
              <a:off x="0" y="0"/>
              <a:ext cx="5470200" cy="1857300"/>
            </a:xfrm>
            <a:prstGeom prst="roundRect">
              <a:avLst>
                <a:gd fmla="val 51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7" name="Google Shape;317;p13"/>
            <p:cNvSpPr/>
            <p:nvPr/>
          </p:nvSpPr>
          <p:spPr>
            <a:xfrm>
              <a:off x="0" y="0"/>
              <a:ext cx="54702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8" name="Google Shape;318;p13"/>
            <p:cNvSpPr txBox="1"/>
            <p:nvPr/>
          </p:nvSpPr>
          <p:spPr>
            <a:xfrm>
              <a:off x="0" y="47625"/>
              <a:ext cx="5470200" cy="18096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ACCESSIBILITY REQUIREMENT 02</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Tactile Feedback &amp; InkWells</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All interactive surfaces incorporate Material 3 InkWells with responsive visual ripples to acknowledge user gestures instantly.</a:t>
              </a:r>
              <a:endParaRPr b="0" sz="1000">
                <a:solidFill>
                  <a:srgbClr val="1E40AF"/>
                </a:solidFill>
                <a:latin typeface="Quattrocento Sans"/>
                <a:ea typeface="Quattrocento Sans"/>
                <a:cs typeface="Quattrocento Sans"/>
                <a:sym typeface="Quattrocento Sans"/>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14"/>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14"/>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RESPONSIVE &amp; ADAPTIVE ARCHITECTURE</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Canonical Responsive Layouts &amp; Breakpoint Reflow</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Dynamic Viewport Adaptation via LayoutBuilder (&lt;640dp vs &gt;=640dp)</a:t>
            </a:r>
            <a:endParaRPr/>
          </a:p>
        </p:txBody>
      </p:sp>
      <p:grpSp>
        <p:nvGrpSpPr>
          <p:cNvPr id="326" name="Google Shape;326;p14"/>
          <p:cNvGrpSpPr/>
          <p:nvPr/>
        </p:nvGrpSpPr>
        <p:grpSpPr>
          <a:xfrm>
            <a:off x="540000" y="1649997"/>
            <a:ext cx="3470100" cy="2476500"/>
            <a:chOff x="0" y="0"/>
            <a:chExt cx="3470100" cy="2476500"/>
          </a:xfrm>
        </p:grpSpPr>
        <p:sp>
          <p:nvSpPr>
            <p:cNvPr id="327" name="Google Shape;327;p14"/>
            <p:cNvSpPr/>
            <p:nvPr/>
          </p:nvSpPr>
          <p:spPr>
            <a:xfrm>
              <a:off x="0" y="0"/>
              <a:ext cx="3470100" cy="2476500"/>
            </a:xfrm>
            <a:prstGeom prst="roundRect">
              <a:avLst>
                <a:gd fmla="val 3846"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14"/>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9" name="Google Shape;329;p14"/>
            <p:cNvSpPr txBox="1"/>
            <p:nvPr/>
          </p:nvSpPr>
          <p:spPr>
            <a:xfrm>
              <a:off x="0" y="47625"/>
              <a:ext cx="3470100" cy="24288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BREAKPOINT 01</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Mobile Viewport (&lt;640dp)</a:t>
              </a:r>
              <a:endParaRPr b="1" sz="125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Bottom NavigationBar placing destinations within natural thumb zone for one-handed operation.</a:t>
              </a:r>
              <a:endParaRPr b="0" sz="1000">
                <a:solidFill>
                  <a:srgbClr val="334155"/>
                </a:solidFill>
                <a:latin typeface="Quattrocento Sans"/>
                <a:ea typeface="Quattrocento Sans"/>
                <a:cs typeface="Quattrocento Sans"/>
                <a:sym typeface="Quattrocento Sans"/>
              </a:endParaRPr>
            </a:p>
          </p:txBody>
        </p:sp>
      </p:grpSp>
      <p:grpSp>
        <p:nvGrpSpPr>
          <p:cNvPr id="330" name="Google Shape;330;p14"/>
          <p:cNvGrpSpPr/>
          <p:nvPr/>
        </p:nvGrpSpPr>
        <p:grpSpPr>
          <a:xfrm>
            <a:off x="4360831" y="1649997"/>
            <a:ext cx="3470100" cy="2476500"/>
            <a:chOff x="0" y="0"/>
            <a:chExt cx="3470100" cy="2476500"/>
          </a:xfrm>
        </p:grpSpPr>
        <p:sp>
          <p:nvSpPr>
            <p:cNvPr id="331" name="Google Shape;331;p14"/>
            <p:cNvSpPr/>
            <p:nvPr/>
          </p:nvSpPr>
          <p:spPr>
            <a:xfrm>
              <a:off x="0" y="0"/>
              <a:ext cx="3470100" cy="2476500"/>
            </a:xfrm>
            <a:prstGeom prst="roundRect">
              <a:avLst>
                <a:gd fmla="val 3846"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2" name="Google Shape;332;p14"/>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3" name="Google Shape;333;p14"/>
            <p:cNvSpPr txBox="1"/>
            <p:nvPr/>
          </p:nvSpPr>
          <p:spPr>
            <a:xfrm>
              <a:off x="0" y="47625"/>
              <a:ext cx="3470100" cy="24288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BREAKPOINT 02</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Tablet / Desktop (&gt;=640dp)</a:t>
              </a:r>
              <a:endParaRPr b="1" sz="125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Transforms into adaptive left NavigationRail with permanent branding.</a:t>
              </a:r>
              <a:endParaRPr b="0" sz="1000">
                <a:solidFill>
                  <a:srgbClr val="334155"/>
                </a:solidFill>
                <a:latin typeface="Quattrocento Sans"/>
                <a:ea typeface="Quattrocento Sans"/>
                <a:cs typeface="Quattrocento Sans"/>
                <a:sym typeface="Quattrocento Sans"/>
              </a:endParaRPr>
            </a:p>
          </p:txBody>
        </p:sp>
      </p:grpSp>
      <p:sp>
        <p:nvSpPr>
          <p:cNvPr id="334" name="Google Shape;334;p14"/>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14</a:t>
            </a:r>
            <a:endParaRPr/>
          </a:p>
        </p:txBody>
      </p:sp>
      <p:grpSp>
        <p:nvGrpSpPr>
          <p:cNvPr id="335" name="Google Shape;335;p14"/>
          <p:cNvGrpSpPr/>
          <p:nvPr/>
        </p:nvGrpSpPr>
        <p:grpSpPr>
          <a:xfrm>
            <a:off x="8181689" y="1649997"/>
            <a:ext cx="3470100" cy="2476500"/>
            <a:chOff x="0" y="0"/>
            <a:chExt cx="3470100" cy="2476500"/>
          </a:xfrm>
        </p:grpSpPr>
        <p:sp>
          <p:nvSpPr>
            <p:cNvPr id="336" name="Google Shape;336;p14"/>
            <p:cNvSpPr/>
            <p:nvPr/>
          </p:nvSpPr>
          <p:spPr>
            <a:xfrm>
              <a:off x="0" y="0"/>
              <a:ext cx="3470100" cy="2476500"/>
            </a:xfrm>
            <a:prstGeom prst="roundRect">
              <a:avLst>
                <a:gd fmla="val 3846"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7" name="Google Shape;337;p14"/>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14"/>
            <p:cNvSpPr txBox="1"/>
            <p:nvPr/>
          </p:nvSpPr>
          <p:spPr>
            <a:xfrm>
              <a:off x="0" y="47625"/>
              <a:ext cx="3470100" cy="24288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BREAKPOINT 03</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Surface Content Reflow</a:t>
              </a:r>
              <a:endParaRPr b="1" sz="125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Automatically expands from single-column layout into expansive two-column responsive grid.</a:t>
              </a:r>
              <a:endParaRPr b="0" sz="1000">
                <a:solidFill>
                  <a:srgbClr val="334155"/>
                </a:solidFill>
                <a:latin typeface="Quattrocento Sans"/>
                <a:ea typeface="Quattrocento Sans"/>
                <a:cs typeface="Quattrocento Sans"/>
                <a:sym typeface="Quattrocento Sans"/>
              </a:endParaRPr>
            </a:p>
          </p:txBody>
        </p:sp>
      </p:grpSp>
      <p:grpSp>
        <p:nvGrpSpPr>
          <p:cNvPr id="339" name="Google Shape;339;p14"/>
          <p:cNvGrpSpPr/>
          <p:nvPr/>
        </p:nvGrpSpPr>
        <p:grpSpPr>
          <a:xfrm>
            <a:off x="540000" y="4286250"/>
            <a:ext cx="5400000" cy="1857300"/>
            <a:chOff x="0" y="0"/>
            <a:chExt cx="5400000" cy="1857300"/>
          </a:xfrm>
        </p:grpSpPr>
        <p:sp>
          <p:nvSpPr>
            <p:cNvPr id="340" name="Google Shape;340;p14"/>
            <p:cNvSpPr/>
            <p:nvPr/>
          </p:nvSpPr>
          <p:spPr>
            <a:xfrm>
              <a:off x="0" y="0"/>
              <a:ext cx="5400000" cy="1857300"/>
            </a:xfrm>
            <a:prstGeom prst="roundRect">
              <a:avLst>
                <a:gd fmla="val 51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1" name="Google Shape;341;p14"/>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2" name="Google Shape;342;p14"/>
            <p:cNvSpPr txBox="1"/>
            <p:nvPr/>
          </p:nvSpPr>
          <p:spPr>
            <a:xfrm>
              <a:off x="0" y="47625"/>
              <a:ext cx="5400000" cy="18096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CONSTRAINT ENGINE</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LayoutBuilder Implementation</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Dynamically queries incoming constraints without hardcoded screen widths.</a:t>
              </a:r>
              <a:endParaRPr b="0" sz="1000">
                <a:solidFill>
                  <a:srgbClr val="1E40AF"/>
                </a:solidFill>
                <a:latin typeface="Quattrocento Sans"/>
                <a:ea typeface="Quattrocento Sans"/>
                <a:cs typeface="Quattrocento Sans"/>
                <a:sym typeface="Quattrocento Sans"/>
              </a:endParaRPr>
            </a:p>
          </p:txBody>
        </p:sp>
      </p:grpSp>
      <p:grpSp>
        <p:nvGrpSpPr>
          <p:cNvPr id="343" name="Google Shape;343;p14"/>
          <p:cNvGrpSpPr/>
          <p:nvPr/>
        </p:nvGrpSpPr>
        <p:grpSpPr>
          <a:xfrm>
            <a:off x="6250000" y="4286250"/>
            <a:ext cx="5400000" cy="1857300"/>
            <a:chOff x="0" y="0"/>
            <a:chExt cx="5400000" cy="1857300"/>
          </a:xfrm>
        </p:grpSpPr>
        <p:sp>
          <p:nvSpPr>
            <p:cNvPr id="344" name="Google Shape;344;p14"/>
            <p:cNvSpPr/>
            <p:nvPr/>
          </p:nvSpPr>
          <p:spPr>
            <a:xfrm>
              <a:off x="0" y="0"/>
              <a:ext cx="5400000" cy="1857300"/>
            </a:xfrm>
            <a:prstGeom prst="roundRect">
              <a:avLst>
                <a:gd fmla="val 51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5" name="Google Shape;345;p14"/>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6" name="Google Shape;346;p14"/>
            <p:cNvSpPr txBox="1"/>
            <p:nvPr/>
          </p:nvSpPr>
          <p:spPr>
            <a:xfrm>
              <a:off x="0" y="47625"/>
              <a:ext cx="5400000" cy="18096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FLUIDITY &amp; STABILITY</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Zero RenderFlex Overflows</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Rigorously verified across narrow mobile and wide tablet dimensions.</a:t>
              </a:r>
              <a:endParaRPr b="0" sz="1000">
                <a:solidFill>
                  <a:srgbClr val="1E40AF"/>
                </a:solidFill>
                <a:latin typeface="Quattrocento Sans"/>
                <a:ea typeface="Quattrocento Sans"/>
                <a:cs typeface="Quattrocento Sans"/>
                <a:sym typeface="Quattrocento San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15"/>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3" name="Google Shape;353;p15"/>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HEURISTICS &amp; ETHICAL INTEGRITY</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Mobile Heuristics Evaluation &amp; Ethical Integrity</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Grounded in Persona Cognitive Constraints &amp; Active Rejection of Dark Patterns</a:t>
            </a:r>
            <a:endParaRPr/>
          </a:p>
        </p:txBody>
      </p:sp>
      <p:grpSp>
        <p:nvGrpSpPr>
          <p:cNvPr id="354" name="Google Shape;354;p15"/>
          <p:cNvGrpSpPr/>
          <p:nvPr/>
        </p:nvGrpSpPr>
        <p:grpSpPr>
          <a:xfrm>
            <a:off x="540000" y="1649997"/>
            <a:ext cx="3470100" cy="2381400"/>
            <a:chOff x="0" y="0"/>
            <a:chExt cx="3470100" cy="2381400"/>
          </a:xfrm>
        </p:grpSpPr>
        <p:sp>
          <p:nvSpPr>
            <p:cNvPr id="355" name="Google Shape;355;p15"/>
            <p:cNvSpPr/>
            <p:nvPr/>
          </p:nvSpPr>
          <p:spPr>
            <a:xfrm>
              <a:off x="0" y="0"/>
              <a:ext cx="3470100" cy="2381400"/>
            </a:xfrm>
            <a:prstGeom prst="roundRect">
              <a:avLst>
                <a:gd fmla="val 3999"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6" name="Google Shape;356;p15"/>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57" name="Google Shape;357;p15"/>
            <p:cNvGrpSpPr/>
            <p:nvPr/>
          </p:nvGrpSpPr>
          <p:grpSpPr>
            <a:xfrm>
              <a:off x="0" y="47625"/>
              <a:ext cx="3470100" cy="2333400"/>
              <a:chOff x="0" y="0"/>
              <a:chExt cx="3470100" cy="2333400"/>
            </a:xfrm>
          </p:grpSpPr>
          <p:sp>
            <p:nvSpPr>
              <p:cNvPr id="358" name="Google Shape;358;p15"/>
              <p:cNvSpPr/>
              <p:nvPr/>
            </p:nvSpPr>
            <p:spPr>
              <a:xfrm>
                <a:off x="0" y="0"/>
                <a:ext cx="3470100" cy="23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15"/>
              <p:cNvSpPr txBox="1"/>
              <p:nvPr/>
            </p:nvSpPr>
            <p:spPr>
              <a:xfrm>
                <a:off x="0" y="0"/>
                <a:ext cx="3470100" cy="2333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HEURISTIC 01</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Status Visibility</a:t>
                </a:r>
                <a:endParaRPr b="1" sz="850">
                  <a:solidFill>
                    <a:srgbClr val="2563EB"/>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Ambient traffic-light badges and progress bars surface health in &lt;=10s.</a:t>
                </a:r>
                <a:endParaRPr b="1" sz="850">
                  <a:solidFill>
                    <a:srgbClr val="2563EB"/>
                  </a:solidFill>
                  <a:latin typeface="Quattrocento Sans"/>
                  <a:ea typeface="Quattrocento Sans"/>
                  <a:cs typeface="Quattrocento Sans"/>
                  <a:sym typeface="Quattrocento Sans"/>
                </a:endParaRPr>
              </a:p>
            </p:txBody>
          </p:sp>
        </p:grpSp>
      </p:grpSp>
      <p:grpSp>
        <p:nvGrpSpPr>
          <p:cNvPr id="360" name="Google Shape;360;p15"/>
          <p:cNvGrpSpPr/>
          <p:nvPr/>
        </p:nvGrpSpPr>
        <p:grpSpPr>
          <a:xfrm>
            <a:off x="4360831" y="1649997"/>
            <a:ext cx="3470100" cy="2381400"/>
            <a:chOff x="0" y="0"/>
            <a:chExt cx="3470100" cy="2381400"/>
          </a:xfrm>
        </p:grpSpPr>
        <p:sp>
          <p:nvSpPr>
            <p:cNvPr id="361" name="Google Shape;361;p15"/>
            <p:cNvSpPr/>
            <p:nvPr/>
          </p:nvSpPr>
          <p:spPr>
            <a:xfrm>
              <a:off x="0" y="0"/>
              <a:ext cx="3470100" cy="2381400"/>
            </a:xfrm>
            <a:prstGeom prst="roundRect">
              <a:avLst>
                <a:gd fmla="val 3999"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2" name="Google Shape;362;p15"/>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63" name="Google Shape;363;p15"/>
            <p:cNvGrpSpPr/>
            <p:nvPr/>
          </p:nvGrpSpPr>
          <p:grpSpPr>
            <a:xfrm>
              <a:off x="0" y="47625"/>
              <a:ext cx="3470100" cy="2333400"/>
              <a:chOff x="0" y="0"/>
              <a:chExt cx="3470100" cy="2333400"/>
            </a:xfrm>
          </p:grpSpPr>
          <p:sp>
            <p:nvSpPr>
              <p:cNvPr id="364" name="Google Shape;364;p15"/>
              <p:cNvSpPr/>
              <p:nvPr/>
            </p:nvSpPr>
            <p:spPr>
              <a:xfrm>
                <a:off x="0" y="0"/>
                <a:ext cx="3470100" cy="23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15"/>
              <p:cNvSpPr txBox="1"/>
              <p:nvPr/>
            </p:nvSpPr>
            <p:spPr>
              <a:xfrm>
                <a:off x="0" y="0"/>
                <a:ext cx="3470100" cy="2333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HEURISTIC 03</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Control &amp; Freedom</a:t>
                </a:r>
                <a:endParaRPr b="1" sz="850">
                  <a:solidFill>
                    <a:srgbClr val="2563EB"/>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Clear discard gateways, unbundled consent toggles, and floating UNDO action.</a:t>
                </a:r>
                <a:endParaRPr b="1" sz="850">
                  <a:solidFill>
                    <a:srgbClr val="2563EB"/>
                  </a:solidFill>
                  <a:latin typeface="Quattrocento Sans"/>
                  <a:ea typeface="Quattrocento Sans"/>
                  <a:cs typeface="Quattrocento Sans"/>
                  <a:sym typeface="Quattrocento Sans"/>
                </a:endParaRPr>
              </a:p>
            </p:txBody>
          </p:sp>
        </p:grpSp>
      </p:grpSp>
      <p:sp>
        <p:nvSpPr>
          <p:cNvPr id="366" name="Google Shape;366;p15"/>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15</a:t>
            </a:r>
            <a:endParaRPr/>
          </a:p>
        </p:txBody>
      </p:sp>
      <p:grpSp>
        <p:nvGrpSpPr>
          <p:cNvPr id="367" name="Google Shape;367;p15"/>
          <p:cNvGrpSpPr/>
          <p:nvPr/>
        </p:nvGrpSpPr>
        <p:grpSpPr>
          <a:xfrm>
            <a:off x="8181689" y="1649997"/>
            <a:ext cx="3470100" cy="2381400"/>
            <a:chOff x="0" y="0"/>
            <a:chExt cx="3470100" cy="2381400"/>
          </a:xfrm>
        </p:grpSpPr>
        <p:sp>
          <p:nvSpPr>
            <p:cNvPr id="368" name="Google Shape;368;p15"/>
            <p:cNvSpPr/>
            <p:nvPr/>
          </p:nvSpPr>
          <p:spPr>
            <a:xfrm>
              <a:off x="0" y="0"/>
              <a:ext cx="3470100" cy="2381400"/>
            </a:xfrm>
            <a:prstGeom prst="roundRect">
              <a:avLst>
                <a:gd fmla="val 3999"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15"/>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0" name="Google Shape;370;p15"/>
            <p:cNvGrpSpPr/>
            <p:nvPr/>
          </p:nvGrpSpPr>
          <p:grpSpPr>
            <a:xfrm>
              <a:off x="0" y="47625"/>
              <a:ext cx="3470100" cy="2333400"/>
              <a:chOff x="0" y="0"/>
              <a:chExt cx="3470100" cy="2333400"/>
            </a:xfrm>
          </p:grpSpPr>
          <p:sp>
            <p:nvSpPr>
              <p:cNvPr id="371" name="Google Shape;371;p15"/>
              <p:cNvSpPr/>
              <p:nvPr/>
            </p:nvSpPr>
            <p:spPr>
              <a:xfrm>
                <a:off x="0" y="0"/>
                <a:ext cx="3470100" cy="23334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2" name="Google Shape;372;p15"/>
              <p:cNvSpPr txBox="1"/>
              <p:nvPr/>
            </p:nvSpPr>
            <p:spPr>
              <a:xfrm>
                <a:off x="0" y="0"/>
                <a:ext cx="3470100" cy="23334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HEURISTIC 05</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Error Prevention</a:t>
                </a:r>
                <a:endParaRPr b="1" sz="850">
                  <a:solidFill>
                    <a:srgbClr val="2563EB"/>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Neutral two-step confirmation dialog completely prevents accidental sign-offs.</a:t>
                </a:r>
                <a:endParaRPr b="1" sz="850">
                  <a:solidFill>
                    <a:srgbClr val="2563EB"/>
                  </a:solidFill>
                  <a:latin typeface="Quattrocento Sans"/>
                  <a:ea typeface="Quattrocento Sans"/>
                  <a:cs typeface="Quattrocento Sans"/>
                  <a:sym typeface="Quattrocento Sans"/>
                </a:endParaRPr>
              </a:p>
            </p:txBody>
          </p:sp>
        </p:grpSp>
      </p:grpSp>
      <p:grpSp>
        <p:nvGrpSpPr>
          <p:cNvPr id="373" name="Google Shape;373;p15"/>
          <p:cNvGrpSpPr/>
          <p:nvPr/>
        </p:nvGrpSpPr>
        <p:grpSpPr>
          <a:xfrm>
            <a:off x="540000" y="4238625"/>
            <a:ext cx="5400000" cy="1857300"/>
            <a:chOff x="0" y="0"/>
            <a:chExt cx="5400000" cy="1857300"/>
          </a:xfrm>
        </p:grpSpPr>
        <p:sp>
          <p:nvSpPr>
            <p:cNvPr id="374" name="Google Shape;374;p15"/>
            <p:cNvSpPr/>
            <p:nvPr/>
          </p:nvSpPr>
          <p:spPr>
            <a:xfrm>
              <a:off x="0" y="0"/>
              <a:ext cx="5400000" cy="1857300"/>
            </a:xfrm>
            <a:prstGeom prst="roundRect">
              <a:avLst>
                <a:gd fmla="val 5127"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5" name="Google Shape;375;p15"/>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76" name="Google Shape;376;p15"/>
            <p:cNvGrpSpPr/>
            <p:nvPr/>
          </p:nvGrpSpPr>
          <p:grpSpPr>
            <a:xfrm>
              <a:off x="0" y="47625"/>
              <a:ext cx="5400000" cy="1809600"/>
              <a:chOff x="0" y="0"/>
              <a:chExt cx="5400000" cy="1809600"/>
            </a:xfrm>
          </p:grpSpPr>
          <p:sp>
            <p:nvSpPr>
              <p:cNvPr id="377" name="Google Shape;377;p15"/>
              <p:cNvSpPr/>
              <p:nvPr/>
            </p:nvSpPr>
            <p:spPr>
              <a:xfrm>
                <a:off x="0" y="0"/>
                <a:ext cx="5400000" cy="18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15"/>
              <p:cNvSpPr txBox="1"/>
              <p:nvPr/>
            </p:nvSpPr>
            <p:spPr>
              <a:xfrm>
                <a:off x="0" y="0"/>
                <a:ext cx="5400000" cy="18096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ETHICAL REQUIREMENT 01</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Equal Visual Weight</a:t>
                </a:r>
                <a:endParaRPr b="1" sz="850">
                  <a:solidFill>
                    <a:srgbClr val="2563EB"/>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'Approve' and 'Request Changes' feature identical button dimensions (Li et al., 2025).</a:t>
                </a:r>
                <a:endParaRPr b="1" sz="850">
                  <a:solidFill>
                    <a:srgbClr val="2563EB"/>
                  </a:solidFill>
                  <a:latin typeface="Quattrocento Sans"/>
                  <a:ea typeface="Quattrocento Sans"/>
                  <a:cs typeface="Quattrocento Sans"/>
                  <a:sym typeface="Quattrocento Sans"/>
                </a:endParaRPr>
              </a:p>
            </p:txBody>
          </p:sp>
        </p:grpSp>
      </p:grpSp>
      <p:grpSp>
        <p:nvGrpSpPr>
          <p:cNvPr id="379" name="Google Shape;379;p15"/>
          <p:cNvGrpSpPr/>
          <p:nvPr/>
        </p:nvGrpSpPr>
        <p:grpSpPr>
          <a:xfrm>
            <a:off x="6250000" y="4238625"/>
            <a:ext cx="5400000" cy="1857300"/>
            <a:chOff x="0" y="0"/>
            <a:chExt cx="5400000" cy="1857300"/>
          </a:xfrm>
        </p:grpSpPr>
        <p:sp>
          <p:nvSpPr>
            <p:cNvPr id="380" name="Google Shape;380;p15"/>
            <p:cNvSpPr/>
            <p:nvPr/>
          </p:nvSpPr>
          <p:spPr>
            <a:xfrm>
              <a:off x="0" y="0"/>
              <a:ext cx="5400000" cy="1857300"/>
            </a:xfrm>
            <a:prstGeom prst="roundRect">
              <a:avLst>
                <a:gd fmla="val 5127"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1" name="Google Shape;381;p15"/>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82" name="Google Shape;382;p15"/>
            <p:cNvGrpSpPr/>
            <p:nvPr/>
          </p:nvGrpSpPr>
          <p:grpSpPr>
            <a:xfrm>
              <a:off x="0" y="47625"/>
              <a:ext cx="5400000" cy="1809600"/>
              <a:chOff x="0" y="0"/>
              <a:chExt cx="5400000" cy="1809600"/>
            </a:xfrm>
          </p:grpSpPr>
          <p:sp>
            <p:nvSpPr>
              <p:cNvPr id="383" name="Google Shape;383;p15"/>
              <p:cNvSpPr/>
              <p:nvPr/>
            </p:nvSpPr>
            <p:spPr>
              <a:xfrm>
                <a:off x="0" y="0"/>
                <a:ext cx="5400000" cy="18096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4" name="Google Shape;384;p15"/>
              <p:cNvSpPr txBox="1"/>
              <p:nvPr/>
            </p:nvSpPr>
            <p:spPr>
              <a:xfrm>
                <a:off x="0" y="0"/>
                <a:ext cx="5400000" cy="18096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ETHICAL REQUIREMENT 02</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Upfront Transparency</a:t>
                </a:r>
                <a:endParaRPr b="1" sz="850">
                  <a:solidFill>
                    <a:srgbClr val="2563EB"/>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Full liability ($12,500 AUD) disclosed upfront with zero hidden fees or countdown timers.</a:t>
                </a:r>
                <a:endParaRPr b="1" sz="850">
                  <a:solidFill>
                    <a:srgbClr val="2563EB"/>
                  </a:solidFill>
                  <a:latin typeface="Quattrocento Sans"/>
                  <a:ea typeface="Quattrocento Sans"/>
                  <a:cs typeface="Quattrocento Sans"/>
                  <a:sym typeface="Quattrocento Sans"/>
                </a:endParaRPr>
              </a:p>
            </p:txBody>
          </p:sp>
        </p:gr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9" name="Shape 389"/>
        <p:cNvGrpSpPr/>
        <p:nvPr/>
      </p:nvGrpSpPr>
      <p:grpSpPr>
        <a:xfrm>
          <a:off x="0" y="0"/>
          <a:ext cx="0" cy="0"/>
          <a:chOff x="0" y="0"/>
          <a:chExt cx="0" cy="0"/>
        </a:xfrm>
      </p:grpSpPr>
      <p:sp>
        <p:nvSpPr>
          <p:cNvPr id="390" name="Google Shape;390;p16"/>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6"/>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DEPLOYMENT &amp; CROSS-PLATFORM ACCESSIBILITY</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Progressive Web App (PWA) Deployment Architecture</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Production Deployment via GitHub Pages &amp; Web App Manifest</a:t>
            </a:r>
            <a:endParaRPr/>
          </a:p>
        </p:txBody>
      </p:sp>
      <p:grpSp>
        <p:nvGrpSpPr>
          <p:cNvPr id="392" name="Google Shape;392;p16"/>
          <p:cNvGrpSpPr/>
          <p:nvPr/>
        </p:nvGrpSpPr>
        <p:grpSpPr>
          <a:xfrm>
            <a:off x="540000" y="1649997"/>
            <a:ext cx="3470100" cy="2381400"/>
            <a:chOff x="0" y="0"/>
            <a:chExt cx="3470100" cy="2381400"/>
          </a:xfrm>
        </p:grpSpPr>
        <p:sp>
          <p:nvSpPr>
            <p:cNvPr id="393" name="Google Shape;393;p16"/>
            <p:cNvSpPr/>
            <p:nvPr/>
          </p:nvSpPr>
          <p:spPr>
            <a:xfrm>
              <a:off x="0" y="0"/>
              <a:ext cx="3470100" cy="2381400"/>
            </a:xfrm>
            <a:prstGeom prst="roundRect">
              <a:avLst>
                <a:gd fmla="val 4000"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4" name="Google Shape;394;p16"/>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16"/>
            <p:cNvSpPr txBox="1"/>
            <p:nvPr/>
          </p:nvSpPr>
          <p:spPr>
            <a:xfrm>
              <a:off x="0" y="47625"/>
              <a:ext cx="3470100" cy="2333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MANIFEST &amp; CONFIG</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Web App Manifest (manifest.json)</a:t>
              </a:r>
              <a:endParaRPr b="1" sz="125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Standalone display mode, navy theme color (#1F3864), high-res icons (192px/512px).</a:t>
              </a:r>
              <a:endParaRPr b="0" sz="1000">
                <a:solidFill>
                  <a:srgbClr val="334155"/>
                </a:solidFill>
                <a:latin typeface="Quattrocento Sans"/>
                <a:ea typeface="Quattrocento Sans"/>
                <a:cs typeface="Quattrocento Sans"/>
                <a:sym typeface="Quattrocento Sans"/>
              </a:endParaRPr>
            </a:p>
          </p:txBody>
        </p:sp>
      </p:grpSp>
      <p:grpSp>
        <p:nvGrpSpPr>
          <p:cNvPr id="396" name="Google Shape;396;p16"/>
          <p:cNvGrpSpPr/>
          <p:nvPr/>
        </p:nvGrpSpPr>
        <p:grpSpPr>
          <a:xfrm>
            <a:off x="4360831" y="1649997"/>
            <a:ext cx="3470100" cy="2381400"/>
            <a:chOff x="0" y="0"/>
            <a:chExt cx="3470100" cy="2381400"/>
          </a:xfrm>
        </p:grpSpPr>
        <p:sp>
          <p:nvSpPr>
            <p:cNvPr id="397" name="Google Shape;397;p16"/>
            <p:cNvSpPr/>
            <p:nvPr/>
          </p:nvSpPr>
          <p:spPr>
            <a:xfrm>
              <a:off x="0" y="0"/>
              <a:ext cx="3470100" cy="2381400"/>
            </a:xfrm>
            <a:prstGeom prst="roundRect">
              <a:avLst>
                <a:gd fmla="val 4000"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16"/>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9" name="Google Shape;399;p16"/>
            <p:cNvSpPr txBox="1"/>
            <p:nvPr/>
          </p:nvSpPr>
          <p:spPr>
            <a:xfrm>
              <a:off x="0" y="47625"/>
              <a:ext cx="3470100" cy="2333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APP SHELL &amp; SERVICE WORKER</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Service Worker &amp; Shell (index.html)</a:t>
              </a:r>
              <a:endParaRPr b="1" sz="125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Responsive HTML shell with minimal branded loader and iOS/Android meta tags.</a:t>
              </a:r>
              <a:endParaRPr b="0" sz="1000">
                <a:solidFill>
                  <a:srgbClr val="334155"/>
                </a:solidFill>
                <a:latin typeface="Quattrocento Sans"/>
                <a:ea typeface="Quattrocento Sans"/>
                <a:cs typeface="Quattrocento Sans"/>
                <a:sym typeface="Quattrocento Sans"/>
              </a:endParaRPr>
            </a:p>
          </p:txBody>
        </p:sp>
      </p:grpSp>
      <p:sp>
        <p:nvSpPr>
          <p:cNvPr id="400" name="Google Shape;400;p16"/>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16</a:t>
            </a:r>
            <a:endParaRPr/>
          </a:p>
        </p:txBody>
      </p:sp>
      <p:grpSp>
        <p:nvGrpSpPr>
          <p:cNvPr id="401" name="Google Shape;401;p16"/>
          <p:cNvGrpSpPr/>
          <p:nvPr/>
        </p:nvGrpSpPr>
        <p:grpSpPr>
          <a:xfrm>
            <a:off x="8181689" y="1649997"/>
            <a:ext cx="3470100" cy="2381400"/>
            <a:chOff x="0" y="0"/>
            <a:chExt cx="3470100" cy="2381400"/>
          </a:xfrm>
        </p:grpSpPr>
        <p:sp>
          <p:nvSpPr>
            <p:cNvPr id="402" name="Google Shape;402;p16"/>
            <p:cNvSpPr/>
            <p:nvPr/>
          </p:nvSpPr>
          <p:spPr>
            <a:xfrm>
              <a:off x="0" y="0"/>
              <a:ext cx="3470100" cy="2381400"/>
            </a:xfrm>
            <a:prstGeom prst="roundRect">
              <a:avLst>
                <a:gd fmla="val 4000"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16"/>
            <p:cNvSpPr/>
            <p:nvPr/>
          </p:nvSpPr>
          <p:spPr>
            <a:xfrm>
              <a:off x="0" y="0"/>
              <a:ext cx="34701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4" name="Google Shape;404;p16"/>
            <p:cNvSpPr txBox="1"/>
            <p:nvPr/>
          </p:nvSpPr>
          <p:spPr>
            <a:xfrm>
              <a:off x="0" y="47625"/>
              <a:ext cx="3470100" cy="23337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CLOUD HOSTING</a:t>
              </a:r>
              <a:endParaRPr b="1" sz="850">
                <a:solidFill>
                  <a:srgbClr val="2563EB"/>
                </a:solidFill>
                <a:latin typeface="Quattrocento Sans"/>
                <a:ea typeface="Quattrocento Sans"/>
                <a:cs typeface="Quattrocento Sans"/>
                <a:sym typeface="Quattrocento Sans"/>
              </a:endParaRPr>
            </a:p>
            <a:p>
              <a:pPr indent="0" lvl="0" marL="0" rtl="0" algn="l">
                <a:spcBef>
                  <a:spcPts val="450"/>
                </a:spcBef>
                <a:spcAft>
                  <a:spcPts val="0"/>
                </a:spcAft>
                <a:buNone/>
              </a:pPr>
              <a:r>
                <a:rPr b="1" lang="en-US" sz="1250">
                  <a:solidFill>
                    <a:srgbClr val="0F172A"/>
                  </a:solidFill>
                  <a:latin typeface="Quattrocento Sans"/>
                  <a:ea typeface="Quattrocento Sans"/>
                  <a:cs typeface="Quattrocento Sans"/>
                  <a:sym typeface="Quattrocento Sans"/>
                </a:rPr>
                <a:t>GitHub Pages Deployment</a:t>
              </a:r>
              <a:endParaRPr b="1" sz="1250">
                <a:solidFill>
                  <a:srgbClr val="0F172A"/>
                </a:solidFill>
                <a:latin typeface="Quattrocento Sans"/>
                <a:ea typeface="Quattrocento Sans"/>
                <a:cs typeface="Quattrocento Sans"/>
                <a:sym typeface="Quattrocento Sans"/>
              </a:endParaRPr>
            </a:p>
            <a:p>
              <a:pPr indent="0" lvl="0" marL="0" rtl="0" algn="l">
                <a:spcBef>
                  <a:spcPts val="900"/>
                </a:spcBef>
                <a:spcAft>
                  <a:spcPts val="0"/>
                </a:spcAft>
                <a:buNone/>
              </a:pPr>
              <a:r>
                <a:rPr b="0" lang="en-US" sz="1000">
                  <a:solidFill>
                    <a:srgbClr val="334155"/>
                  </a:solidFill>
                  <a:latin typeface="Quattrocento Sans"/>
                  <a:ea typeface="Quattrocento Sans"/>
                  <a:cs typeface="Quattrocento Sans"/>
                  <a:sym typeface="Quattrocento Sans"/>
                </a:rPr>
                <a:t>Hosted online, allowing client stakeholders to install ElegantLink to home screens.</a:t>
              </a:r>
              <a:endParaRPr b="0" sz="1000">
                <a:solidFill>
                  <a:srgbClr val="334155"/>
                </a:solidFill>
                <a:latin typeface="Quattrocento Sans"/>
                <a:ea typeface="Quattrocento Sans"/>
                <a:cs typeface="Quattrocento Sans"/>
                <a:sym typeface="Quattrocento Sans"/>
              </a:endParaRPr>
            </a:p>
          </p:txBody>
        </p:sp>
      </p:grpSp>
      <p:grpSp>
        <p:nvGrpSpPr>
          <p:cNvPr id="405" name="Google Shape;405;p16"/>
          <p:cNvGrpSpPr/>
          <p:nvPr/>
        </p:nvGrpSpPr>
        <p:grpSpPr>
          <a:xfrm>
            <a:off x="540000" y="4238625"/>
            <a:ext cx="5400000" cy="1857300"/>
            <a:chOff x="0" y="0"/>
            <a:chExt cx="5400000" cy="1857300"/>
          </a:xfrm>
        </p:grpSpPr>
        <p:sp>
          <p:nvSpPr>
            <p:cNvPr id="406" name="Google Shape;406;p16"/>
            <p:cNvSpPr/>
            <p:nvPr/>
          </p:nvSpPr>
          <p:spPr>
            <a:xfrm>
              <a:off x="0" y="0"/>
              <a:ext cx="5400000" cy="1857300"/>
            </a:xfrm>
            <a:prstGeom prst="roundRect">
              <a:avLst>
                <a:gd fmla="val 51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7" name="Google Shape;407;p16"/>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8" name="Google Shape;408;p16"/>
            <p:cNvSpPr txBox="1"/>
            <p:nvPr/>
          </p:nvSpPr>
          <p:spPr>
            <a:xfrm>
              <a:off x="0" y="47625"/>
              <a:ext cx="5400000" cy="18096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CROSS-PLATFORM SUPPORT</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Desktop &amp; Mobile Web</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Runs seamlessly on modern browsers (Chrome, Safari, Edge) without store overhead.</a:t>
              </a:r>
              <a:endParaRPr b="0" sz="1000">
                <a:solidFill>
                  <a:srgbClr val="1E40AF"/>
                </a:solidFill>
                <a:latin typeface="Quattrocento Sans"/>
                <a:ea typeface="Quattrocento Sans"/>
                <a:cs typeface="Quattrocento Sans"/>
                <a:sym typeface="Quattrocento Sans"/>
              </a:endParaRPr>
            </a:p>
          </p:txBody>
        </p:sp>
      </p:grpSp>
      <p:grpSp>
        <p:nvGrpSpPr>
          <p:cNvPr id="409" name="Google Shape;409;p16"/>
          <p:cNvGrpSpPr/>
          <p:nvPr/>
        </p:nvGrpSpPr>
        <p:grpSpPr>
          <a:xfrm>
            <a:off x="6250000" y="4238625"/>
            <a:ext cx="5400000" cy="1857300"/>
            <a:chOff x="0" y="0"/>
            <a:chExt cx="5400000" cy="1857300"/>
          </a:xfrm>
        </p:grpSpPr>
        <p:sp>
          <p:nvSpPr>
            <p:cNvPr id="410" name="Google Shape;410;p16"/>
            <p:cNvSpPr/>
            <p:nvPr/>
          </p:nvSpPr>
          <p:spPr>
            <a:xfrm>
              <a:off x="0" y="0"/>
              <a:ext cx="5400000" cy="1857300"/>
            </a:xfrm>
            <a:prstGeom prst="roundRect">
              <a:avLst>
                <a:gd fmla="val 5128" name="adj"/>
              </a:avLst>
            </a:prstGeom>
            <a:solidFill>
              <a:srgbClr val="EFF6FF"/>
            </a:solidFill>
            <a:ln cap="flat" cmpd="sng" w="9525">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1" name="Google Shape;411;p16"/>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2" name="Google Shape;412;p16"/>
            <p:cNvSpPr txBox="1"/>
            <p:nvPr/>
          </p:nvSpPr>
          <p:spPr>
            <a:xfrm>
              <a:off x="0" y="47625"/>
              <a:ext cx="5400000" cy="18096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PERFORMANCE &amp; EXPERIENCE</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1" lang="en-US" sz="1250">
                  <a:solidFill>
                    <a:srgbClr val="1E3A8A"/>
                  </a:solidFill>
                  <a:latin typeface="Quattrocento Sans"/>
                  <a:ea typeface="Quattrocento Sans"/>
                  <a:cs typeface="Quattrocento Sans"/>
                  <a:sym typeface="Quattrocento Sans"/>
                </a:rPr>
                <a:t>Native-Feel Execution</a:t>
              </a:r>
              <a:endParaRPr b="1" sz="1250">
                <a:solidFill>
                  <a:srgbClr val="1E3A8A"/>
                </a:solidFill>
                <a:latin typeface="Quattrocento Sans"/>
                <a:ea typeface="Quattrocento Sans"/>
                <a:cs typeface="Quattrocento Sans"/>
                <a:sym typeface="Quattrocento Sans"/>
              </a:endParaRPr>
            </a:p>
            <a:p>
              <a:pPr indent="0" lvl="0" marL="0" rtl="0" algn="l">
                <a:spcBef>
                  <a:spcPts val="600"/>
                </a:spcBef>
                <a:spcAft>
                  <a:spcPts val="0"/>
                </a:spcAft>
                <a:buNone/>
              </a:pPr>
              <a:r>
                <a:rPr b="0" lang="en-US" sz="1000">
                  <a:solidFill>
                    <a:srgbClr val="1E40AF"/>
                  </a:solidFill>
                  <a:latin typeface="Quattrocento Sans"/>
                  <a:ea typeface="Quattrocento Sans"/>
                  <a:cs typeface="Quattrocento Sans"/>
                  <a:sym typeface="Quattrocento Sans"/>
                </a:rPr>
                <a:t>Standalone window mode with smooth 60fps animations and gesture responsiveness.</a:t>
              </a:r>
              <a:endParaRPr b="0" sz="1000">
                <a:solidFill>
                  <a:srgbClr val="1E40AF"/>
                </a:solidFill>
                <a:latin typeface="Quattrocento Sans"/>
                <a:ea typeface="Quattrocento Sans"/>
                <a:cs typeface="Quattrocento Sans"/>
                <a:sym typeface="Quattrocento Sans"/>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17"/>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7"/>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SOFTWARE ARCHITECTURE &amp; CODE INTEGRITY</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Code Architecture, Quality &amp; DartPad Portability</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Single-File Architecture (3,633 Lines) Compiling Cleanly on dartpad.dev</a:t>
            </a:r>
            <a:endParaRPr/>
          </a:p>
        </p:txBody>
      </p:sp>
      <p:grpSp>
        <p:nvGrpSpPr>
          <p:cNvPr id="420" name="Google Shape;420;p17"/>
          <p:cNvGrpSpPr/>
          <p:nvPr/>
        </p:nvGrpSpPr>
        <p:grpSpPr>
          <a:xfrm>
            <a:off x="540000" y="1666875"/>
            <a:ext cx="6477000" cy="1000200"/>
            <a:chOff x="0" y="0"/>
            <a:chExt cx="6477000" cy="1000200"/>
          </a:xfrm>
        </p:grpSpPr>
        <p:sp>
          <p:nvSpPr>
            <p:cNvPr id="421" name="Google Shape;421;p17"/>
            <p:cNvSpPr/>
            <p:nvPr/>
          </p:nvSpPr>
          <p:spPr>
            <a:xfrm>
              <a:off x="0" y="0"/>
              <a:ext cx="6477000" cy="1000200"/>
            </a:xfrm>
            <a:prstGeom prst="roundRect">
              <a:avLst>
                <a:gd fmla="val 9523"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2" name="Google Shape;422;p17"/>
            <p:cNvSpPr/>
            <p:nvPr/>
          </p:nvSpPr>
          <p:spPr>
            <a:xfrm>
              <a:off x="0" y="0"/>
              <a:ext cx="64770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3" name="Google Shape;423;p17"/>
            <p:cNvSpPr txBox="1"/>
            <p:nvPr/>
          </p:nvSpPr>
          <p:spPr>
            <a:xfrm>
              <a:off x="0" y="38100"/>
              <a:ext cx="6477000" cy="9621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TIER 1 &amp; 2 • MODELS &amp; BACKEND</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Immutable Domain Entities &amp; Simulated Server</a:t>
              </a:r>
              <a:endParaRPr b="1" sz="125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000">
                  <a:solidFill>
                    <a:srgbClr val="334155"/>
                  </a:solidFill>
                  <a:latin typeface="Quattrocento Sans"/>
                  <a:ea typeface="Quattrocento Sans"/>
                  <a:cs typeface="Quattrocento Sans"/>
                  <a:sym typeface="Quattrocento Sans"/>
                </a:rPr>
                <a:t>Immutable domain entities and SimulatedBackendServer with async persistence.</a:t>
              </a:r>
              <a:endParaRPr b="0" sz="1000">
                <a:solidFill>
                  <a:srgbClr val="334155"/>
                </a:solidFill>
                <a:latin typeface="Quattrocento Sans"/>
                <a:ea typeface="Quattrocento Sans"/>
                <a:cs typeface="Quattrocento Sans"/>
                <a:sym typeface="Quattrocento Sans"/>
              </a:endParaRPr>
            </a:p>
          </p:txBody>
        </p:sp>
      </p:grpSp>
      <p:grpSp>
        <p:nvGrpSpPr>
          <p:cNvPr id="424" name="Google Shape;424;p17"/>
          <p:cNvGrpSpPr/>
          <p:nvPr/>
        </p:nvGrpSpPr>
        <p:grpSpPr>
          <a:xfrm>
            <a:off x="540000" y="2781300"/>
            <a:ext cx="6477000" cy="1000200"/>
            <a:chOff x="0" y="0"/>
            <a:chExt cx="6477000" cy="1000200"/>
          </a:xfrm>
        </p:grpSpPr>
        <p:sp>
          <p:nvSpPr>
            <p:cNvPr id="425" name="Google Shape;425;p17"/>
            <p:cNvSpPr/>
            <p:nvPr/>
          </p:nvSpPr>
          <p:spPr>
            <a:xfrm>
              <a:off x="0" y="0"/>
              <a:ext cx="6477000" cy="1000200"/>
            </a:xfrm>
            <a:prstGeom prst="roundRect">
              <a:avLst>
                <a:gd fmla="val 9523"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6" name="Google Shape;426;p17"/>
            <p:cNvSpPr/>
            <p:nvPr/>
          </p:nvSpPr>
          <p:spPr>
            <a:xfrm>
              <a:off x="0" y="0"/>
              <a:ext cx="64770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7" name="Google Shape;427;p17"/>
            <p:cNvSpPr txBox="1"/>
            <p:nvPr/>
          </p:nvSpPr>
          <p:spPr>
            <a:xfrm>
              <a:off x="0" y="38100"/>
              <a:ext cx="6477000" cy="9621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TIER 3 &amp; 4 • STATE &amp; SCOPE</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Reactive State &amp; Provider Architecture</a:t>
              </a:r>
              <a:endParaRPr b="1" sz="125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000">
                  <a:solidFill>
                    <a:srgbClr val="334155"/>
                  </a:solidFill>
                  <a:latin typeface="Quattrocento Sans"/>
                  <a:ea typeface="Quattrocento Sans"/>
                  <a:cs typeface="Quattrocento Sans"/>
                  <a:sym typeface="Quattrocento Sans"/>
                </a:rPr>
                <a:t>AppStateModel (ChangeNotifier) and AppStateScope (InheritedNotifier) provider.</a:t>
              </a:r>
              <a:endParaRPr b="0" sz="1000">
                <a:solidFill>
                  <a:srgbClr val="334155"/>
                </a:solidFill>
                <a:latin typeface="Quattrocento Sans"/>
                <a:ea typeface="Quattrocento Sans"/>
                <a:cs typeface="Quattrocento Sans"/>
                <a:sym typeface="Quattrocento Sans"/>
              </a:endParaRPr>
            </a:p>
          </p:txBody>
        </p:sp>
      </p:grpSp>
      <p:sp>
        <p:nvSpPr>
          <p:cNvPr id="428" name="Google Shape;428;p17"/>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17</a:t>
            </a:r>
            <a:endParaRPr/>
          </a:p>
        </p:txBody>
      </p:sp>
      <p:grpSp>
        <p:nvGrpSpPr>
          <p:cNvPr id="429" name="Google Shape;429;p17"/>
          <p:cNvGrpSpPr/>
          <p:nvPr/>
        </p:nvGrpSpPr>
        <p:grpSpPr>
          <a:xfrm>
            <a:off x="540000" y="3895725"/>
            <a:ext cx="6477000" cy="1000200"/>
            <a:chOff x="0" y="0"/>
            <a:chExt cx="6477000" cy="1000200"/>
          </a:xfrm>
        </p:grpSpPr>
        <p:sp>
          <p:nvSpPr>
            <p:cNvPr id="430" name="Google Shape;430;p17"/>
            <p:cNvSpPr/>
            <p:nvPr/>
          </p:nvSpPr>
          <p:spPr>
            <a:xfrm>
              <a:off x="0" y="0"/>
              <a:ext cx="6477000" cy="1000200"/>
            </a:xfrm>
            <a:prstGeom prst="roundRect">
              <a:avLst>
                <a:gd fmla="val 9523"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17"/>
            <p:cNvSpPr/>
            <p:nvPr/>
          </p:nvSpPr>
          <p:spPr>
            <a:xfrm>
              <a:off x="0" y="0"/>
              <a:ext cx="64770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2" name="Google Shape;432;p17"/>
            <p:cNvSpPr txBox="1"/>
            <p:nvPr/>
          </p:nvSpPr>
          <p:spPr>
            <a:xfrm>
              <a:off x="0" y="38100"/>
              <a:ext cx="6477000" cy="9621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TIER 5 • MOTION &amp; SHELL</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Responsive Transitions &amp; Portal Shell</a:t>
              </a:r>
              <a:endParaRPr b="1" sz="125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000">
                  <a:solidFill>
                    <a:srgbClr val="334155"/>
                  </a:solidFill>
                  <a:latin typeface="Quattrocento Sans"/>
                  <a:ea typeface="Quattrocento Sans"/>
                  <a:cs typeface="Quattrocento Sans"/>
                  <a:sym typeface="Quattrocento Sans"/>
                </a:rPr>
                <a:t>ElegantPageRoute slowed transitions (450ms) and MainPortalShell responsive layout.</a:t>
              </a:r>
              <a:endParaRPr b="0" sz="1000">
                <a:solidFill>
                  <a:srgbClr val="334155"/>
                </a:solidFill>
                <a:latin typeface="Quattrocento Sans"/>
                <a:ea typeface="Quattrocento Sans"/>
                <a:cs typeface="Quattrocento Sans"/>
                <a:sym typeface="Quattrocento Sans"/>
              </a:endParaRPr>
            </a:p>
          </p:txBody>
        </p:sp>
      </p:grpSp>
      <p:grpSp>
        <p:nvGrpSpPr>
          <p:cNvPr id="433" name="Google Shape;433;p17"/>
          <p:cNvGrpSpPr/>
          <p:nvPr/>
        </p:nvGrpSpPr>
        <p:grpSpPr>
          <a:xfrm>
            <a:off x="540000" y="5010150"/>
            <a:ext cx="6477000" cy="1000200"/>
            <a:chOff x="0" y="0"/>
            <a:chExt cx="6477000" cy="1000200"/>
          </a:xfrm>
        </p:grpSpPr>
        <p:sp>
          <p:nvSpPr>
            <p:cNvPr id="434" name="Google Shape;434;p17"/>
            <p:cNvSpPr/>
            <p:nvPr/>
          </p:nvSpPr>
          <p:spPr>
            <a:xfrm>
              <a:off x="0" y="0"/>
              <a:ext cx="6477000" cy="1000200"/>
            </a:xfrm>
            <a:prstGeom prst="roundRect">
              <a:avLst>
                <a:gd fmla="val 9523"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5" name="Google Shape;435;p17"/>
            <p:cNvSpPr/>
            <p:nvPr/>
          </p:nvSpPr>
          <p:spPr>
            <a:xfrm>
              <a:off x="0" y="0"/>
              <a:ext cx="64770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6" name="Google Shape;436;p17"/>
            <p:cNvSpPr txBox="1"/>
            <p:nvPr/>
          </p:nvSpPr>
          <p:spPr>
            <a:xfrm>
              <a:off x="0" y="38100"/>
              <a:ext cx="6477000" cy="9621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TIER 6 • 11 DEDICATED SCREENS</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Full Application UI Module Suite</a:t>
              </a:r>
              <a:endParaRPr b="1" sz="1250">
                <a:solidFill>
                  <a:srgbClr val="0F172A"/>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000">
                  <a:solidFill>
                    <a:srgbClr val="334155"/>
                  </a:solidFill>
                  <a:latin typeface="Quattrocento Sans"/>
                  <a:ea typeface="Quattrocento Sans"/>
                  <a:cs typeface="Quattrocento Sans"/>
                  <a:sym typeface="Quattrocento Sans"/>
                </a:rPr>
                <a:t>Authentication, Dashboard, SDLC, Gallery, Mockups, Governance, Alerts, Privacy.</a:t>
              </a:r>
              <a:endParaRPr b="0" sz="1000">
                <a:solidFill>
                  <a:srgbClr val="334155"/>
                </a:solidFill>
                <a:latin typeface="Quattrocento Sans"/>
                <a:ea typeface="Quattrocento Sans"/>
                <a:cs typeface="Quattrocento Sans"/>
                <a:sym typeface="Quattrocento Sans"/>
              </a:endParaRPr>
            </a:p>
          </p:txBody>
        </p:sp>
      </p:grpSp>
      <p:grpSp>
        <p:nvGrpSpPr>
          <p:cNvPr id="437" name="Google Shape;437;p17"/>
          <p:cNvGrpSpPr/>
          <p:nvPr/>
        </p:nvGrpSpPr>
        <p:grpSpPr>
          <a:xfrm>
            <a:off x="7239000" y="1666875"/>
            <a:ext cx="4413000" cy="2095500"/>
            <a:chOff x="0" y="0"/>
            <a:chExt cx="4413000" cy="2095500"/>
          </a:xfrm>
        </p:grpSpPr>
        <p:sp>
          <p:nvSpPr>
            <p:cNvPr id="438" name="Google Shape;438;p17"/>
            <p:cNvSpPr/>
            <p:nvPr/>
          </p:nvSpPr>
          <p:spPr>
            <a:xfrm>
              <a:off x="0" y="0"/>
              <a:ext cx="4413000" cy="2095500"/>
            </a:xfrm>
            <a:prstGeom prst="roundRect">
              <a:avLst>
                <a:gd fmla="val 4545" name="adj"/>
              </a:avLst>
            </a:prstGeom>
            <a:solidFill>
              <a:srgbClr val="EFF6FF"/>
            </a:solidFill>
            <a:ln cap="flat" cmpd="sng" w="127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9" name="Google Shape;439;p17"/>
            <p:cNvSpPr/>
            <p:nvPr/>
          </p:nvSpPr>
          <p:spPr>
            <a:xfrm>
              <a:off x="0" y="0"/>
              <a:ext cx="4413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0" name="Google Shape;440;p17"/>
            <p:cNvSpPr txBox="1"/>
            <p:nvPr/>
          </p:nvSpPr>
          <p:spPr>
            <a:xfrm>
              <a:off x="0" y="47625"/>
              <a:ext cx="4413000" cy="20478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PORTABILITY &amp; EXECUTABILITY</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1" lang="en-US" sz="1350">
                  <a:solidFill>
                    <a:srgbClr val="1E3A8A"/>
                  </a:solidFill>
                  <a:latin typeface="Quattrocento Sans"/>
                  <a:ea typeface="Quattrocento Sans"/>
                  <a:cs typeface="Quattrocento Sans"/>
                  <a:sym typeface="Quattrocento Sans"/>
                </a:rPr>
                <a:t>Single-File DartPad Portability</a:t>
              </a:r>
              <a:endParaRPr b="1" sz="1350">
                <a:solidFill>
                  <a:srgbClr val="1E3A8A"/>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1000">
                  <a:solidFill>
                    <a:srgbClr val="1E40AF"/>
                  </a:solidFill>
                  <a:latin typeface="Quattrocento Sans"/>
                  <a:ea typeface="Quattrocento Sans"/>
                  <a:cs typeface="Quattrocento Sans"/>
                  <a:sym typeface="Quattrocento Sans"/>
                </a:rPr>
                <a:t>3,633 lines running natively on dartpad.dev with zero external packages.</a:t>
              </a:r>
              <a:endParaRPr b="0" sz="1000">
                <a:solidFill>
                  <a:srgbClr val="1E40AF"/>
                </a:solidFill>
                <a:latin typeface="Quattrocento Sans"/>
                <a:ea typeface="Quattrocento Sans"/>
                <a:cs typeface="Quattrocento Sans"/>
                <a:sym typeface="Quattrocento Sans"/>
              </a:endParaRPr>
            </a:p>
            <a:p>
              <a:pPr indent="0" lvl="0" marL="0" rtl="0" algn="l">
                <a:spcBef>
                  <a:spcPts val="1600"/>
                </a:spcBef>
                <a:spcAft>
                  <a:spcPts val="0"/>
                </a:spcAft>
                <a:buNone/>
              </a:pPr>
              <a:r>
                <a:rPr b="1" lang="en-US" sz="900">
                  <a:solidFill>
                    <a:srgbClr val="1E40AF"/>
                  </a:solidFill>
                  <a:highlight>
                    <a:srgbClr val="DBEAFE"/>
                  </a:highlight>
                  <a:latin typeface="Quattrocento Sans"/>
                  <a:ea typeface="Quattrocento Sans"/>
                  <a:cs typeface="Quattrocento Sans"/>
                  <a:sym typeface="Quattrocento Sans"/>
                </a:rPr>
                <a:t>3,633 Lines • Zero External Dependencies</a:t>
              </a:r>
              <a:endParaRPr b="1" sz="850">
                <a:solidFill>
                  <a:srgbClr val="2563EB"/>
                </a:solidFill>
                <a:latin typeface="Quattrocento Sans"/>
                <a:ea typeface="Quattrocento Sans"/>
                <a:cs typeface="Quattrocento Sans"/>
                <a:sym typeface="Quattrocento Sans"/>
              </a:endParaRPr>
            </a:p>
          </p:txBody>
        </p:sp>
      </p:grpSp>
      <p:grpSp>
        <p:nvGrpSpPr>
          <p:cNvPr id="441" name="Google Shape;441;p17"/>
          <p:cNvGrpSpPr/>
          <p:nvPr/>
        </p:nvGrpSpPr>
        <p:grpSpPr>
          <a:xfrm>
            <a:off x="7239000" y="3914775"/>
            <a:ext cx="4413000" cy="2095500"/>
            <a:chOff x="0" y="0"/>
            <a:chExt cx="4413000" cy="2095500"/>
          </a:xfrm>
        </p:grpSpPr>
        <p:sp>
          <p:nvSpPr>
            <p:cNvPr id="442" name="Google Shape;442;p17"/>
            <p:cNvSpPr/>
            <p:nvPr/>
          </p:nvSpPr>
          <p:spPr>
            <a:xfrm>
              <a:off x="0" y="0"/>
              <a:ext cx="4413000" cy="2095500"/>
            </a:xfrm>
            <a:prstGeom prst="roundRect">
              <a:avLst>
                <a:gd fmla="val 4545" name="adj"/>
              </a:avLst>
            </a:prstGeom>
            <a:solidFill>
              <a:srgbClr val="EFF6FF"/>
            </a:solidFill>
            <a:ln cap="flat" cmpd="sng" w="127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3" name="Google Shape;443;p17"/>
            <p:cNvSpPr/>
            <p:nvPr/>
          </p:nvSpPr>
          <p:spPr>
            <a:xfrm>
              <a:off x="0" y="0"/>
              <a:ext cx="4413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44" name="Google Shape;444;p17"/>
            <p:cNvSpPr txBox="1"/>
            <p:nvPr/>
          </p:nvSpPr>
          <p:spPr>
            <a:xfrm>
              <a:off x="0" y="47625"/>
              <a:ext cx="4413000" cy="2047800"/>
            </a:xfrm>
            <a:prstGeom prst="rect">
              <a:avLst/>
            </a:prstGeom>
            <a:noFill/>
            <a:ln>
              <a:noFill/>
            </a:ln>
          </p:spPr>
          <p:txBody>
            <a:bodyPr anchorCtr="0" anchor="t" bIns="19050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CODE QUALITY &amp; DOCUMENTATION</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1" lang="en-US" sz="1350">
                  <a:solidFill>
                    <a:srgbClr val="1E3A8A"/>
                  </a:solidFill>
                  <a:latin typeface="Quattrocento Sans"/>
                  <a:ea typeface="Quattrocento Sans"/>
                  <a:cs typeface="Quattrocento Sans"/>
                  <a:sym typeface="Quattrocento Sans"/>
                </a:rPr>
                <a:t>Design-Level Comments</a:t>
              </a:r>
              <a:endParaRPr b="1" sz="1350">
                <a:solidFill>
                  <a:srgbClr val="1E3A8A"/>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1000">
                  <a:solidFill>
                    <a:srgbClr val="1E40AF"/>
                  </a:solidFill>
                  <a:latin typeface="Quattrocento Sans"/>
                  <a:ea typeface="Quattrocento Sans"/>
                  <a:cs typeface="Quattrocento Sans"/>
                  <a:sym typeface="Quattrocento Sans"/>
                </a:rPr>
                <a:t>Deep docstring annotations explaining persona alignment, heuristics, and touch ergonomics.</a:t>
              </a:r>
              <a:endParaRPr b="0" sz="1000">
                <a:solidFill>
                  <a:srgbClr val="1E40AF"/>
                </a:solidFill>
                <a:latin typeface="Quattrocento Sans"/>
                <a:ea typeface="Quattrocento Sans"/>
                <a:cs typeface="Quattrocento Sans"/>
                <a:sym typeface="Quattrocento Sans"/>
              </a:endParaRPr>
            </a:p>
            <a:p>
              <a:pPr indent="0" lvl="0" marL="0" rtl="0" algn="l">
                <a:spcBef>
                  <a:spcPts val="1600"/>
                </a:spcBef>
                <a:spcAft>
                  <a:spcPts val="0"/>
                </a:spcAft>
                <a:buNone/>
              </a:pPr>
              <a:r>
                <a:rPr b="1" lang="en-US" sz="900">
                  <a:solidFill>
                    <a:srgbClr val="1E40AF"/>
                  </a:solidFill>
                  <a:highlight>
                    <a:srgbClr val="DBEAFE"/>
                  </a:highlight>
                  <a:latin typeface="Quattrocento Sans"/>
                  <a:ea typeface="Quattrocento Sans"/>
                  <a:cs typeface="Quattrocento Sans"/>
                  <a:sym typeface="Quattrocento Sans"/>
                </a:rPr>
                <a:t>Docstrings • Persona Alignment • Ergonomics</a:t>
              </a:r>
              <a:endParaRPr b="1" sz="850">
                <a:solidFill>
                  <a:srgbClr val="2563EB"/>
                </a:solidFill>
                <a:latin typeface="Quattrocento Sans"/>
                <a:ea typeface="Quattrocento Sans"/>
                <a:cs typeface="Quattrocento Sans"/>
                <a:sym typeface="Quattrocento Sans"/>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18"/>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8"/>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ACADEMIC INTEGRITY &amp; AI COLLABORATION</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Generative AI Collaboration &amp; Academic Integrity Statement</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Critical Human Ownership, Policy Adherence &amp; Scholarly Grounding</a:t>
            </a:r>
            <a:endParaRPr/>
          </a:p>
        </p:txBody>
      </p:sp>
      <p:grpSp>
        <p:nvGrpSpPr>
          <p:cNvPr id="452" name="Google Shape;452;p18"/>
          <p:cNvGrpSpPr/>
          <p:nvPr/>
        </p:nvGrpSpPr>
        <p:grpSpPr>
          <a:xfrm>
            <a:off x="540000" y="1649997"/>
            <a:ext cx="5400000" cy="1352700"/>
            <a:chOff x="0" y="0"/>
            <a:chExt cx="5400000" cy="1352700"/>
          </a:xfrm>
        </p:grpSpPr>
        <p:sp>
          <p:nvSpPr>
            <p:cNvPr id="453" name="Google Shape;453;p18"/>
            <p:cNvSpPr/>
            <p:nvPr/>
          </p:nvSpPr>
          <p:spPr>
            <a:xfrm>
              <a:off x="0" y="0"/>
              <a:ext cx="5400000" cy="1352700"/>
            </a:xfrm>
            <a:prstGeom prst="roundRect">
              <a:avLst>
                <a:gd fmla="val 7041"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4" name="Google Shape;454;p18"/>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5" name="Google Shape;455;p18"/>
            <p:cNvSpPr txBox="1"/>
            <p:nvPr/>
          </p:nvSpPr>
          <p:spPr>
            <a:xfrm>
              <a:off x="0" y="47625"/>
              <a:ext cx="5400000" cy="13050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IDEATION &amp; REFINEMENT</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Assistive Peer-Review Tool</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0" lang="en-US" sz="1000">
                  <a:solidFill>
                    <a:srgbClr val="334155"/>
                  </a:solidFill>
                  <a:latin typeface="Quattrocento Sans"/>
                  <a:ea typeface="Quattrocento Sans"/>
                  <a:cs typeface="Quattrocento Sans"/>
                  <a:sym typeface="Quattrocento Sans"/>
                </a:rPr>
                <a:t>Generative AI used as assistive peer-review tool for drafting code and refining docs.</a:t>
              </a:r>
              <a:endParaRPr b="1" sz="850">
                <a:solidFill>
                  <a:srgbClr val="2563EB"/>
                </a:solidFill>
                <a:latin typeface="Quattrocento Sans"/>
                <a:ea typeface="Quattrocento Sans"/>
                <a:cs typeface="Quattrocento Sans"/>
                <a:sym typeface="Quattrocento Sans"/>
              </a:endParaRPr>
            </a:p>
          </p:txBody>
        </p:sp>
      </p:grpSp>
      <p:grpSp>
        <p:nvGrpSpPr>
          <p:cNvPr id="456" name="Google Shape;456;p18"/>
          <p:cNvGrpSpPr/>
          <p:nvPr/>
        </p:nvGrpSpPr>
        <p:grpSpPr>
          <a:xfrm>
            <a:off x="540000" y="3145422"/>
            <a:ext cx="5400000" cy="1352700"/>
            <a:chOff x="0" y="0"/>
            <a:chExt cx="5400000" cy="1352700"/>
          </a:xfrm>
        </p:grpSpPr>
        <p:sp>
          <p:nvSpPr>
            <p:cNvPr id="457" name="Google Shape;457;p18"/>
            <p:cNvSpPr/>
            <p:nvPr/>
          </p:nvSpPr>
          <p:spPr>
            <a:xfrm>
              <a:off x="0" y="0"/>
              <a:ext cx="5400000" cy="1352700"/>
            </a:xfrm>
            <a:prstGeom prst="roundRect">
              <a:avLst>
                <a:gd fmla="val 7041"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8" name="Google Shape;458;p18"/>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9" name="Google Shape;459;p18"/>
            <p:cNvSpPr txBox="1"/>
            <p:nvPr/>
          </p:nvSpPr>
          <p:spPr>
            <a:xfrm>
              <a:off x="0" y="47625"/>
              <a:ext cx="5400000" cy="13050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CRITICAL STUDENT OWNERSHIP</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Verified Code &amp; Logic</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0" lang="en-US" sz="1000">
                  <a:solidFill>
                    <a:srgbClr val="334155"/>
                  </a:solidFill>
                  <a:latin typeface="Quattrocento Sans"/>
                  <a:ea typeface="Quattrocento Sans"/>
                  <a:cs typeface="Quattrocento Sans"/>
                  <a:sym typeface="Quattrocento Sans"/>
                </a:rPr>
                <a:t>All code logic, gestures, state patterns, and transitions personally verified and debugged.</a:t>
              </a:r>
              <a:endParaRPr b="1" sz="850">
                <a:solidFill>
                  <a:srgbClr val="2563EB"/>
                </a:solidFill>
                <a:latin typeface="Quattrocento Sans"/>
                <a:ea typeface="Quattrocento Sans"/>
                <a:cs typeface="Quattrocento Sans"/>
                <a:sym typeface="Quattrocento Sans"/>
              </a:endParaRPr>
            </a:p>
          </p:txBody>
        </p:sp>
      </p:grpSp>
      <p:sp>
        <p:nvSpPr>
          <p:cNvPr id="460" name="Google Shape;460;p18"/>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18</a:t>
            </a:r>
            <a:endParaRPr/>
          </a:p>
        </p:txBody>
      </p:sp>
      <p:grpSp>
        <p:nvGrpSpPr>
          <p:cNvPr id="461" name="Google Shape;461;p18"/>
          <p:cNvGrpSpPr/>
          <p:nvPr/>
        </p:nvGrpSpPr>
        <p:grpSpPr>
          <a:xfrm>
            <a:off x="540000" y="4640847"/>
            <a:ext cx="5400000" cy="1352700"/>
            <a:chOff x="0" y="0"/>
            <a:chExt cx="5400000" cy="1352700"/>
          </a:xfrm>
        </p:grpSpPr>
        <p:sp>
          <p:nvSpPr>
            <p:cNvPr id="462" name="Google Shape;462;p18"/>
            <p:cNvSpPr/>
            <p:nvPr/>
          </p:nvSpPr>
          <p:spPr>
            <a:xfrm>
              <a:off x="0" y="0"/>
              <a:ext cx="5400000" cy="1352700"/>
            </a:xfrm>
            <a:prstGeom prst="roundRect">
              <a:avLst>
                <a:gd fmla="val 7041"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18"/>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4" name="Google Shape;464;p18"/>
            <p:cNvSpPr txBox="1"/>
            <p:nvPr/>
          </p:nvSpPr>
          <p:spPr>
            <a:xfrm>
              <a:off x="0" y="47625"/>
              <a:ext cx="5400000" cy="1305000"/>
            </a:xfrm>
            <a:prstGeom prst="rect">
              <a:avLst/>
            </a:prstGeom>
            <a:no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POLICY COMPLIANCE</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CQU Coursework Policy Adherence</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0" lang="en-US" sz="1000">
                  <a:solidFill>
                    <a:srgbClr val="334155"/>
                  </a:solidFill>
                  <a:latin typeface="Quattrocento Sans"/>
                  <a:ea typeface="Quattrocento Sans"/>
                  <a:cs typeface="Quattrocento Sans"/>
                  <a:sym typeface="Quattrocento Sans"/>
                </a:rPr>
                <a:t>Fully compliant with CQUniversity Generative AI coursework policy requirements.</a:t>
              </a:r>
              <a:endParaRPr b="1" sz="850">
                <a:solidFill>
                  <a:srgbClr val="2563EB"/>
                </a:solidFill>
                <a:latin typeface="Quattrocento Sans"/>
                <a:ea typeface="Quattrocento Sans"/>
                <a:cs typeface="Quattrocento Sans"/>
                <a:sym typeface="Quattrocento Sans"/>
              </a:endParaRPr>
            </a:p>
          </p:txBody>
        </p:sp>
      </p:grpSp>
      <p:grpSp>
        <p:nvGrpSpPr>
          <p:cNvPr id="465" name="Google Shape;465;p18"/>
          <p:cNvGrpSpPr/>
          <p:nvPr/>
        </p:nvGrpSpPr>
        <p:grpSpPr>
          <a:xfrm>
            <a:off x="6250000" y="1649997"/>
            <a:ext cx="5400000" cy="2095500"/>
            <a:chOff x="0" y="0"/>
            <a:chExt cx="5400000" cy="2095500"/>
          </a:xfrm>
        </p:grpSpPr>
        <p:sp>
          <p:nvSpPr>
            <p:cNvPr id="466" name="Google Shape;466;p18"/>
            <p:cNvSpPr/>
            <p:nvPr/>
          </p:nvSpPr>
          <p:spPr>
            <a:xfrm>
              <a:off x="0" y="0"/>
              <a:ext cx="5400000" cy="2095500"/>
            </a:xfrm>
            <a:prstGeom prst="roundRect">
              <a:avLst>
                <a:gd fmla="val 4544" name="adj"/>
              </a:avLst>
            </a:prstGeom>
            <a:solidFill>
              <a:srgbClr val="EFF6FF"/>
            </a:solidFill>
            <a:ln cap="flat" cmpd="sng" w="127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7" name="Google Shape;467;p18"/>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8" name="Google Shape;468;p18"/>
            <p:cNvSpPr txBox="1"/>
            <p:nvPr/>
          </p:nvSpPr>
          <p:spPr>
            <a:xfrm>
              <a:off x="0" y="47625"/>
              <a:ext cx="5400000" cy="2047800"/>
            </a:xfrm>
            <a:prstGeom prst="rect">
              <a:avLst/>
            </a:prstGeom>
            <a:noFill/>
            <a:ln>
              <a:noFill/>
            </a:ln>
          </p:spPr>
          <p:txBody>
            <a:bodyPr anchorCtr="0" anchor="t" bIns="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SCHOLARLY LITERATURE GROUNDING</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1" lang="en-US" sz="1350">
                  <a:solidFill>
                    <a:srgbClr val="1E3A8A"/>
                  </a:solidFill>
                  <a:latin typeface="Quattrocento Sans"/>
                  <a:ea typeface="Quattrocento Sans"/>
                  <a:cs typeface="Quattrocento Sans"/>
                  <a:sym typeface="Quattrocento Sans"/>
                </a:rPr>
                <a:t>9 CQU Library Sources</a:t>
              </a:r>
              <a:endParaRPr b="1" sz="850">
                <a:solidFill>
                  <a:srgbClr val="2563EB"/>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1000">
                  <a:solidFill>
                    <a:srgbClr val="1E40AF"/>
                  </a:solidFill>
                  <a:latin typeface="Quattrocento Sans"/>
                  <a:ea typeface="Quattrocento Sans"/>
                  <a:cs typeface="Quattrocento Sans"/>
                  <a:sym typeface="Quattrocento Sans"/>
                </a:rPr>
                <a:t>Grounded in Zhao et al. (2024), Wang &amp; Yu (2024), Jakob et al. (2022), Li et al. (2025).</a:t>
              </a:r>
              <a:endParaRPr b="1" sz="850">
                <a:solidFill>
                  <a:srgbClr val="2563EB"/>
                </a:solidFill>
                <a:latin typeface="Quattrocento Sans"/>
                <a:ea typeface="Quattrocento Sans"/>
                <a:cs typeface="Quattrocento Sans"/>
                <a:sym typeface="Quattrocento Sans"/>
              </a:endParaRPr>
            </a:p>
            <a:p>
              <a:pPr indent="0" lvl="0" marL="0" rtl="0" algn="l">
                <a:spcBef>
                  <a:spcPts val="1600"/>
                </a:spcBef>
                <a:spcAft>
                  <a:spcPts val="0"/>
                </a:spcAft>
                <a:buNone/>
              </a:pPr>
              <a:r>
                <a:rPr b="1" lang="en-US" sz="900">
                  <a:solidFill>
                    <a:srgbClr val="1E40AF"/>
                  </a:solidFill>
                  <a:highlight>
                    <a:srgbClr val="DBEAFE"/>
                  </a:highlight>
                  <a:latin typeface="Quattrocento Sans"/>
                  <a:ea typeface="Quattrocento Sans"/>
                  <a:cs typeface="Quattrocento Sans"/>
                  <a:sym typeface="Quattrocento Sans"/>
                </a:rPr>
                <a:t>Peer-Reviewed Literature • 9 CQU Sources</a:t>
              </a:r>
              <a:endParaRPr b="1" sz="850">
                <a:solidFill>
                  <a:srgbClr val="2563EB"/>
                </a:solidFill>
                <a:latin typeface="Quattrocento Sans"/>
                <a:ea typeface="Quattrocento Sans"/>
                <a:cs typeface="Quattrocento Sans"/>
                <a:sym typeface="Quattrocento Sans"/>
              </a:endParaRPr>
            </a:p>
          </p:txBody>
        </p:sp>
      </p:grpSp>
      <p:grpSp>
        <p:nvGrpSpPr>
          <p:cNvPr id="469" name="Google Shape;469;p18"/>
          <p:cNvGrpSpPr/>
          <p:nvPr/>
        </p:nvGrpSpPr>
        <p:grpSpPr>
          <a:xfrm>
            <a:off x="6250000" y="3897897"/>
            <a:ext cx="5400000" cy="2095500"/>
            <a:chOff x="0" y="0"/>
            <a:chExt cx="5400000" cy="2095500"/>
          </a:xfrm>
        </p:grpSpPr>
        <p:sp>
          <p:nvSpPr>
            <p:cNvPr id="470" name="Google Shape;470;p18"/>
            <p:cNvSpPr/>
            <p:nvPr/>
          </p:nvSpPr>
          <p:spPr>
            <a:xfrm>
              <a:off x="0" y="0"/>
              <a:ext cx="5400000" cy="2095500"/>
            </a:xfrm>
            <a:prstGeom prst="roundRect">
              <a:avLst>
                <a:gd fmla="val 4544" name="adj"/>
              </a:avLst>
            </a:prstGeom>
            <a:solidFill>
              <a:srgbClr val="EFF6FF"/>
            </a:solidFill>
            <a:ln cap="flat" cmpd="sng" w="127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1" name="Google Shape;471;p18"/>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18"/>
            <p:cNvSpPr txBox="1"/>
            <p:nvPr/>
          </p:nvSpPr>
          <p:spPr>
            <a:xfrm>
              <a:off x="0" y="47625"/>
              <a:ext cx="5400000" cy="2047800"/>
            </a:xfrm>
            <a:prstGeom prst="rect">
              <a:avLst/>
            </a:prstGeom>
            <a:noFill/>
            <a:ln>
              <a:noFill/>
            </a:ln>
          </p:spPr>
          <p:txBody>
            <a:bodyPr anchorCtr="0" anchor="t" bIns="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CITATIONS &amp; EVIDENCE</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1" lang="en-US" sz="1350">
                  <a:solidFill>
                    <a:srgbClr val="1E3A8A"/>
                  </a:solidFill>
                  <a:latin typeface="Quattrocento Sans"/>
                  <a:ea typeface="Quattrocento Sans"/>
                  <a:cs typeface="Quattrocento Sans"/>
                  <a:sym typeface="Quattrocento Sans"/>
                </a:rPr>
                <a:t>Verbatim Quotes &amp; Pages</a:t>
              </a:r>
              <a:endParaRPr b="1" sz="850">
                <a:solidFill>
                  <a:srgbClr val="2563EB"/>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1000">
                  <a:solidFill>
                    <a:srgbClr val="1E40AF"/>
                  </a:solidFill>
                  <a:latin typeface="Quattrocento Sans"/>
                  <a:ea typeface="Quattrocento Sans"/>
                  <a:cs typeface="Quattrocento Sans"/>
                  <a:sym typeface="Quattrocento Sans"/>
                </a:rPr>
                <a:t>Exact citations, page numbers, and empirical rationale embedded in slide notes.</a:t>
              </a:r>
              <a:endParaRPr b="1" sz="850">
                <a:solidFill>
                  <a:srgbClr val="2563EB"/>
                </a:solidFill>
                <a:latin typeface="Quattrocento Sans"/>
                <a:ea typeface="Quattrocento Sans"/>
                <a:cs typeface="Quattrocento Sans"/>
                <a:sym typeface="Quattrocento Sans"/>
              </a:endParaRPr>
            </a:p>
            <a:p>
              <a:pPr indent="0" lvl="0" marL="0" rtl="0" algn="l">
                <a:spcBef>
                  <a:spcPts val="1600"/>
                </a:spcBef>
                <a:spcAft>
                  <a:spcPts val="0"/>
                </a:spcAft>
                <a:buNone/>
              </a:pPr>
              <a:r>
                <a:rPr b="1" lang="en-US" sz="900">
                  <a:solidFill>
                    <a:srgbClr val="1E40AF"/>
                  </a:solidFill>
                  <a:highlight>
                    <a:srgbClr val="DBEAFE"/>
                  </a:highlight>
                  <a:latin typeface="Quattrocento Sans"/>
                  <a:ea typeface="Quattrocento Sans"/>
                  <a:cs typeface="Quattrocento Sans"/>
                  <a:sym typeface="Quattrocento Sans"/>
                </a:rPr>
                <a:t>Exact Citations • Empirical Rationale</a:t>
              </a:r>
              <a:endParaRPr b="1" sz="850">
                <a:solidFill>
                  <a:srgbClr val="2563EB"/>
                </a:solidFill>
                <a:latin typeface="Quattrocento Sans"/>
                <a:ea typeface="Quattrocento Sans"/>
                <a:cs typeface="Quattrocento Sans"/>
                <a:sym typeface="Quattrocento San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19"/>
          <p:cNvSpPr/>
          <p:nvPr/>
        </p:nvSpPr>
        <p:spPr>
          <a:xfrm>
            <a:off x="0" y="0"/>
            <a:ext cx="12192000" cy="6858000"/>
          </a:xfrm>
          <a:prstGeom prst="roundRect">
            <a:avLst>
              <a:gd fmla="val 2000" name="adj"/>
            </a:avLst>
          </a:prstGeom>
          <a:solidFill>
            <a:srgbClr val="F8FAF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9"/>
          <p:cNvSpPr/>
          <p:nvPr/>
        </p:nvSpPr>
        <p:spPr>
          <a:xfrm>
            <a:off x="540000" y="400000"/>
            <a:ext cx="11112000" cy="1100100"/>
          </a:xfrm>
          <a:prstGeom prst="roundRect">
            <a:avLst>
              <a:gd fmla="val 2000" name="adj"/>
            </a:avLst>
          </a:prstGeom>
          <a:solidFill>
            <a:srgbClr val="FFFFFF"/>
          </a:solidFill>
          <a:ln cap="flat" cmpd="sng" w="12700">
            <a:solidFill>
              <a:srgbClr val="E2E8F0"/>
            </a:solidFill>
            <a:prstDash val="solid"/>
            <a:round/>
            <a:headEnd len="sm" w="sm" type="none"/>
            <a:tailEnd len="sm" w="sm" type="none"/>
          </a:ln>
        </p:spPr>
        <p:txBody>
          <a:bodyPr anchorCtr="0" anchor="t" bIns="144000" lIns="144000" spcFirstLastPara="1" rIns="144000" wrap="square" tIns="144000">
            <a:noAutofit/>
          </a:bodyPr>
          <a:lstStyle/>
          <a:p>
            <a:pPr indent="0" lvl="0" marL="0" marR="0" rtl="0" algn="l">
              <a:spcBef>
                <a:spcPts val="0"/>
              </a:spcBef>
              <a:spcAft>
                <a:spcPts val="0"/>
              </a:spcAft>
              <a:buClr>
                <a:srgbClr val="2563EB"/>
              </a:buClr>
              <a:buSzPts val="850"/>
              <a:buFont typeface="Quattrocento Sans"/>
              <a:buNone/>
            </a:pPr>
            <a:r>
              <a:rPr b="1" i="0" lang="en-US" sz="850" u="none" cap="none" strike="noStrike">
                <a:solidFill>
                  <a:srgbClr val="2563EB"/>
                </a:solidFill>
                <a:latin typeface="Quattrocento Sans"/>
                <a:ea typeface="Quattrocento Sans"/>
                <a:cs typeface="Quattrocento Sans"/>
                <a:sym typeface="Quattrocento Sans"/>
              </a:rPr>
              <a:t>ASSESSMENT SUBMISSION &amp; VERIFICATION</a:t>
            </a:r>
            <a:endParaRPr/>
          </a:p>
          <a:p>
            <a:pPr indent="0" lvl="0" marL="0" marR="0" rtl="0" algn="l">
              <a:spcBef>
                <a:spcPts val="30"/>
              </a:spcBef>
              <a:spcAft>
                <a:spcPts val="0"/>
              </a:spcAft>
              <a:buClr>
                <a:srgbClr val="0F172A"/>
              </a:buClr>
              <a:buSzPts val="1800"/>
              <a:buFont typeface="Quattrocento Sans"/>
              <a:buNone/>
            </a:pPr>
            <a:r>
              <a:rPr b="1" i="0" lang="en-US" sz="1800" u="none" cap="none" strike="noStrike">
                <a:solidFill>
                  <a:srgbClr val="0F172A"/>
                </a:solidFill>
                <a:latin typeface="Quattrocento Sans"/>
                <a:ea typeface="Quattrocento Sans"/>
                <a:cs typeface="Quattrocento Sans"/>
                <a:sym typeface="Quattrocento Sans"/>
              </a:rPr>
              <a:t>Submission Summary &amp; Universal Access Links</a:t>
            </a:r>
            <a:endParaRPr/>
          </a:p>
          <a:p>
            <a:pPr indent="0" lvl="0" marL="0" marR="0" rtl="0" algn="l">
              <a:spcBef>
                <a:spcPts val="20"/>
              </a:spcBef>
              <a:spcAft>
                <a:spcPts val="0"/>
              </a:spcAft>
              <a:buClr>
                <a:srgbClr val="475569"/>
              </a:buClr>
              <a:buSzPts val="1050"/>
              <a:buFont typeface="Quattrocento Sans"/>
              <a:buNone/>
            </a:pPr>
            <a:r>
              <a:rPr b="0" i="0" lang="en-US" sz="1050" u="none" cap="none" strike="noStrike">
                <a:solidFill>
                  <a:srgbClr val="475569"/>
                </a:solidFill>
                <a:latin typeface="Quattrocento Sans"/>
                <a:ea typeface="Quattrocento Sans"/>
                <a:cs typeface="Quattrocento Sans"/>
                <a:sym typeface="Quattrocento Sans"/>
              </a:rPr>
              <a:t>DartPad Code, Deployed PWA, Private GitHub Repository &amp; Video Presentation</a:t>
            </a:r>
            <a:endParaRPr/>
          </a:p>
        </p:txBody>
      </p:sp>
      <p:grpSp>
        <p:nvGrpSpPr>
          <p:cNvPr id="480" name="Google Shape;480;p19"/>
          <p:cNvGrpSpPr/>
          <p:nvPr/>
        </p:nvGrpSpPr>
        <p:grpSpPr>
          <a:xfrm>
            <a:off x="540000" y="1649997"/>
            <a:ext cx="5400000" cy="971700"/>
            <a:chOff x="0" y="0"/>
            <a:chExt cx="5400000" cy="971700"/>
          </a:xfrm>
        </p:grpSpPr>
        <p:sp>
          <p:nvSpPr>
            <p:cNvPr id="481" name="Google Shape;481;p19"/>
            <p:cNvSpPr/>
            <p:nvPr/>
          </p:nvSpPr>
          <p:spPr>
            <a:xfrm>
              <a:off x="0" y="0"/>
              <a:ext cx="5400000" cy="971700"/>
            </a:xfrm>
            <a:prstGeom prst="roundRect">
              <a:avLst>
                <a:gd fmla="val 9803"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19"/>
            <p:cNvSpPr/>
            <p:nvPr/>
          </p:nvSpPr>
          <p:spPr>
            <a:xfrm>
              <a:off x="0" y="0"/>
              <a:ext cx="54000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19"/>
            <p:cNvSpPr txBox="1"/>
            <p:nvPr/>
          </p:nvSpPr>
          <p:spPr>
            <a:xfrm>
              <a:off x="0" y="38100"/>
              <a:ext cx="5400000" cy="9336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DELIVERABLE 01 • DARTPAD CODE</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Live DartPad Code</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000">
                  <a:solidFill>
                    <a:srgbClr val="334155"/>
                  </a:solidFill>
                  <a:latin typeface="Quattrocento Sans"/>
                  <a:ea typeface="Quattrocento Sans"/>
                  <a:cs typeface="Quattrocento Sans"/>
                  <a:sym typeface="Quattrocento Sans"/>
                </a:rPr>
                <a:t>Fully executable single-file application on dartpad.dev (3,633 lines, zero errors).</a:t>
              </a:r>
              <a:endParaRPr b="1" sz="850">
                <a:solidFill>
                  <a:srgbClr val="2563EB"/>
                </a:solidFill>
                <a:latin typeface="Quattrocento Sans"/>
                <a:ea typeface="Quattrocento Sans"/>
                <a:cs typeface="Quattrocento Sans"/>
                <a:sym typeface="Quattrocento Sans"/>
              </a:endParaRPr>
            </a:p>
          </p:txBody>
        </p:sp>
      </p:grpSp>
      <p:grpSp>
        <p:nvGrpSpPr>
          <p:cNvPr id="484" name="Google Shape;484;p19"/>
          <p:cNvGrpSpPr/>
          <p:nvPr/>
        </p:nvGrpSpPr>
        <p:grpSpPr>
          <a:xfrm>
            <a:off x="540000" y="2735847"/>
            <a:ext cx="5400000" cy="971700"/>
            <a:chOff x="0" y="0"/>
            <a:chExt cx="5400000" cy="971700"/>
          </a:xfrm>
        </p:grpSpPr>
        <p:sp>
          <p:nvSpPr>
            <p:cNvPr id="485" name="Google Shape;485;p19"/>
            <p:cNvSpPr/>
            <p:nvPr/>
          </p:nvSpPr>
          <p:spPr>
            <a:xfrm>
              <a:off x="0" y="0"/>
              <a:ext cx="5400000" cy="971700"/>
            </a:xfrm>
            <a:prstGeom prst="roundRect">
              <a:avLst>
                <a:gd fmla="val 9803"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6" name="Google Shape;486;p19"/>
            <p:cNvSpPr/>
            <p:nvPr/>
          </p:nvSpPr>
          <p:spPr>
            <a:xfrm>
              <a:off x="0" y="0"/>
              <a:ext cx="54000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7" name="Google Shape;487;p19"/>
            <p:cNvSpPr txBox="1"/>
            <p:nvPr/>
          </p:nvSpPr>
          <p:spPr>
            <a:xfrm>
              <a:off x="0" y="38100"/>
              <a:ext cx="5400000" cy="9336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DELIVERABLE 02 • PROGRESSIVE WEB APP</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Deployed PWA URL</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000">
                  <a:solidFill>
                    <a:srgbClr val="334155"/>
                  </a:solidFill>
                  <a:latin typeface="Quattrocento Sans"/>
                  <a:ea typeface="Quattrocento Sans"/>
                  <a:cs typeface="Quattrocento Sans"/>
                  <a:sym typeface="Quattrocento Sans"/>
                </a:rPr>
                <a:t>Live Progressive Web App hosted on GitHub Pages for mobile installation.</a:t>
              </a:r>
              <a:endParaRPr b="1" sz="850">
                <a:solidFill>
                  <a:srgbClr val="2563EB"/>
                </a:solidFill>
                <a:latin typeface="Quattrocento Sans"/>
                <a:ea typeface="Quattrocento Sans"/>
                <a:cs typeface="Quattrocento Sans"/>
                <a:sym typeface="Quattrocento Sans"/>
              </a:endParaRPr>
            </a:p>
          </p:txBody>
        </p:sp>
      </p:grpSp>
      <p:sp>
        <p:nvSpPr>
          <p:cNvPr id="488" name="Google Shape;488;p19"/>
          <p:cNvSpPr/>
          <p:nvPr/>
        </p:nvSpPr>
        <p:spPr>
          <a:xfrm>
            <a:off x="540000" y="6380000"/>
            <a:ext cx="11112000" cy="300000"/>
          </a:xfrm>
          <a:prstGeom prst="roundRect">
            <a:avLst>
              <a:gd fmla="val 2000" name="adj"/>
            </a:avLst>
          </a:prstGeom>
          <a:noFill/>
          <a:ln>
            <a:noFill/>
          </a:ln>
        </p:spPr>
        <p:txBody>
          <a:bodyPr anchorCtr="0" anchor="t" bIns="144000" lIns="144000" spcFirstLastPara="1" rIns="144000" wrap="square" tIns="144000">
            <a:noAutofit/>
          </a:bodyPr>
          <a:lstStyle/>
          <a:p>
            <a:pPr indent="0" lvl="0" marL="0" marR="0" rtl="0" algn="l">
              <a:spcBef>
                <a:spcPts val="0"/>
              </a:spcBef>
              <a:spcAft>
                <a:spcPts val="0"/>
              </a:spcAft>
              <a:buClr>
                <a:srgbClr val="94A3B8"/>
              </a:buClr>
              <a:buSzPts val="850"/>
              <a:buFont typeface="Quattrocento Sans"/>
              <a:buNone/>
            </a:pPr>
            <a:r>
              <a:rPr b="0" i="0" lang="en-US" sz="850" u="none" cap="none" strike="noStrike">
                <a:solidFill>
                  <a:srgbClr val="94A3B8"/>
                </a:solidFill>
                <a:latin typeface="Quattrocento Sans"/>
                <a:ea typeface="Quattrocento Sans"/>
                <a:cs typeface="Quattrocento Sans"/>
                <a:sym typeface="Quattrocento Sans"/>
              </a:rPr>
              <a:t>COIT20270 Assignment 4 | Sadiq Salman (12284952) | Elegant Media Australia | Slide 19</a:t>
            </a:r>
            <a:endParaRPr/>
          </a:p>
        </p:txBody>
      </p:sp>
      <p:grpSp>
        <p:nvGrpSpPr>
          <p:cNvPr id="489" name="Google Shape;489;p19"/>
          <p:cNvGrpSpPr/>
          <p:nvPr/>
        </p:nvGrpSpPr>
        <p:grpSpPr>
          <a:xfrm>
            <a:off x="540000" y="3821697"/>
            <a:ext cx="5400000" cy="971700"/>
            <a:chOff x="0" y="0"/>
            <a:chExt cx="5400000" cy="971700"/>
          </a:xfrm>
        </p:grpSpPr>
        <p:sp>
          <p:nvSpPr>
            <p:cNvPr id="490" name="Google Shape;490;p19"/>
            <p:cNvSpPr/>
            <p:nvPr/>
          </p:nvSpPr>
          <p:spPr>
            <a:xfrm>
              <a:off x="0" y="0"/>
              <a:ext cx="5400000" cy="971700"/>
            </a:xfrm>
            <a:prstGeom prst="roundRect">
              <a:avLst>
                <a:gd fmla="val 9803"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1" name="Google Shape;491;p19"/>
            <p:cNvSpPr/>
            <p:nvPr/>
          </p:nvSpPr>
          <p:spPr>
            <a:xfrm>
              <a:off x="0" y="0"/>
              <a:ext cx="54000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2" name="Google Shape;492;p19"/>
            <p:cNvSpPr txBox="1"/>
            <p:nvPr/>
          </p:nvSpPr>
          <p:spPr>
            <a:xfrm>
              <a:off x="0" y="38100"/>
              <a:ext cx="5400000" cy="9336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DELIVERABLE 03 • CODE REPOSITORY</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Private GitHub Repository</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000">
                  <a:solidFill>
                    <a:srgbClr val="334155"/>
                  </a:solidFill>
                  <a:latin typeface="Quattrocento Sans"/>
                  <a:ea typeface="Quattrocento Sans"/>
                  <a:cs typeface="Quattrocento Sans"/>
                  <a:sym typeface="Quattrocento Sans"/>
                </a:rPr>
                <a:t>Shared private code repository containing all assessment assets.</a:t>
              </a:r>
              <a:endParaRPr b="1" sz="850">
                <a:solidFill>
                  <a:srgbClr val="2563EB"/>
                </a:solidFill>
                <a:latin typeface="Quattrocento Sans"/>
                <a:ea typeface="Quattrocento Sans"/>
                <a:cs typeface="Quattrocento Sans"/>
                <a:sym typeface="Quattrocento Sans"/>
              </a:endParaRPr>
            </a:p>
          </p:txBody>
        </p:sp>
      </p:grpSp>
      <p:grpSp>
        <p:nvGrpSpPr>
          <p:cNvPr id="493" name="Google Shape;493;p19"/>
          <p:cNvGrpSpPr/>
          <p:nvPr/>
        </p:nvGrpSpPr>
        <p:grpSpPr>
          <a:xfrm>
            <a:off x="540000" y="4907547"/>
            <a:ext cx="5400000" cy="971700"/>
            <a:chOff x="0" y="0"/>
            <a:chExt cx="5400000" cy="971700"/>
          </a:xfrm>
        </p:grpSpPr>
        <p:sp>
          <p:nvSpPr>
            <p:cNvPr id="494" name="Google Shape;494;p19"/>
            <p:cNvSpPr/>
            <p:nvPr/>
          </p:nvSpPr>
          <p:spPr>
            <a:xfrm>
              <a:off x="0" y="0"/>
              <a:ext cx="5400000" cy="971700"/>
            </a:xfrm>
            <a:prstGeom prst="roundRect">
              <a:avLst>
                <a:gd fmla="val 9803" name="adj"/>
              </a:avLst>
            </a:prstGeom>
            <a:solidFill>
              <a:srgbClr val="FFFFFF"/>
            </a:solidFill>
            <a:ln cap="flat" cmpd="sng" w="12700">
              <a:solidFill>
                <a:srgbClr val="CBD5E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5" name="Google Shape;495;p19"/>
            <p:cNvSpPr/>
            <p:nvPr/>
          </p:nvSpPr>
          <p:spPr>
            <a:xfrm>
              <a:off x="0" y="0"/>
              <a:ext cx="5400000" cy="38100"/>
            </a:xfrm>
            <a:prstGeom prst="roundRect">
              <a:avLst>
                <a:gd fmla="val 5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19"/>
            <p:cNvSpPr txBox="1"/>
            <p:nvPr/>
          </p:nvSpPr>
          <p:spPr>
            <a:xfrm>
              <a:off x="0" y="38100"/>
              <a:ext cx="5400000" cy="933600"/>
            </a:xfrm>
            <a:prstGeom prst="rect">
              <a:avLst/>
            </a:prstGeom>
            <a:solidFill>
              <a:srgbClr val="000000">
                <a:alpha val="0"/>
              </a:srgbClr>
            </a:solidFill>
            <a:ln>
              <a:noFill/>
            </a:ln>
          </p:spPr>
          <p:txBody>
            <a:bodyPr anchorCtr="0" anchor="ctr" bIns="0" lIns="190500" spcFirstLastPara="1" rIns="190500" wrap="square" tIns="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DELIVERABLE 04 • VIDEO DEMONSTRATION</a:t>
              </a:r>
              <a:endParaRPr b="1" sz="850">
                <a:solidFill>
                  <a:srgbClr val="2563EB"/>
                </a:solidFill>
                <a:latin typeface="Quattrocento Sans"/>
                <a:ea typeface="Quattrocento Sans"/>
                <a:cs typeface="Quattrocento Sans"/>
                <a:sym typeface="Quattrocento Sans"/>
              </a:endParaRPr>
            </a:p>
            <a:p>
              <a:pPr indent="0" lvl="0" marL="0" rtl="0" algn="l">
                <a:spcBef>
                  <a:spcPts val="200"/>
                </a:spcBef>
                <a:spcAft>
                  <a:spcPts val="0"/>
                </a:spcAft>
                <a:buNone/>
              </a:pPr>
              <a:r>
                <a:rPr b="1" lang="en-US" sz="1250">
                  <a:solidFill>
                    <a:srgbClr val="0F172A"/>
                  </a:solidFill>
                  <a:latin typeface="Quattrocento Sans"/>
                  <a:ea typeface="Quattrocento Sans"/>
                  <a:cs typeface="Quattrocento Sans"/>
                  <a:sym typeface="Quattrocento Sans"/>
                </a:rPr>
                <a:t>10-Minute Video Presentation</a:t>
              </a:r>
              <a:endParaRPr b="1" sz="850">
                <a:solidFill>
                  <a:srgbClr val="2563EB"/>
                </a:solidFill>
                <a:latin typeface="Quattrocento Sans"/>
                <a:ea typeface="Quattrocento Sans"/>
                <a:cs typeface="Quattrocento Sans"/>
                <a:sym typeface="Quattrocento Sans"/>
              </a:endParaRPr>
            </a:p>
            <a:p>
              <a:pPr indent="0" lvl="0" marL="0" rtl="0" algn="l">
                <a:spcBef>
                  <a:spcPts val="300"/>
                </a:spcBef>
                <a:spcAft>
                  <a:spcPts val="0"/>
                </a:spcAft>
                <a:buNone/>
              </a:pPr>
              <a:r>
                <a:rPr b="0" lang="en-US" sz="1000">
                  <a:solidFill>
                    <a:srgbClr val="334155"/>
                  </a:solidFill>
                  <a:latin typeface="Quattrocento Sans"/>
                  <a:ea typeface="Quattrocento Sans"/>
                  <a:cs typeface="Quattrocento Sans"/>
                  <a:sym typeface="Quattrocento Sans"/>
                </a:rPr>
                <a:t>Comprehensive screen and webcam demonstration hosted on CQU OneDrive.</a:t>
              </a:r>
              <a:endParaRPr b="1" sz="850">
                <a:solidFill>
                  <a:srgbClr val="2563EB"/>
                </a:solidFill>
                <a:latin typeface="Quattrocento Sans"/>
                <a:ea typeface="Quattrocento Sans"/>
                <a:cs typeface="Quattrocento Sans"/>
                <a:sym typeface="Quattrocento Sans"/>
              </a:endParaRPr>
            </a:p>
          </p:txBody>
        </p:sp>
      </p:grpSp>
      <p:grpSp>
        <p:nvGrpSpPr>
          <p:cNvPr id="497" name="Google Shape;497;p19"/>
          <p:cNvGrpSpPr/>
          <p:nvPr/>
        </p:nvGrpSpPr>
        <p:grpSpPr>
          <a:xfrm>
            <a:off x="6250000" y="1649997"/>
            <a:ext cx="5400000" cy="2057400"/>
            <a:chOff x="0" y="0"/>
            <a:chExt cx="5400000" cy="2057400"/>
          </a:xfrm>
        </p:grpSpPr>
        <p:sp>
          <p:nvSpPr>
            <p:cNvPr id="498" name="Google Shape;498;p19"/>
            <p:cNvSpPr/>
            <p:nvPr/>
          </p:nvSpPr>
          <p:spPr>
            <a:xfrm>
              <a:off x="0" y="0"/>
              <a:ext cx="5400000" cy="2057400"/>
            </a:xfrm>
            <a:prstGeom prst="roundRect">
              <a:avLst>
                <a:gd fmla="val 4629" name="adj"/>
              </a:avLst>
            </a:prstGeom>
            <a:solidFill>
              <a:srgbClr val="EFF6FF"/>
            </a:solidFill>
            <a:ln cap="flat" cmpd="sng" w="127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19"/>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19"/>
            <p:cNvSpPr txBox="1"/>
            <p:nvPr/>
          </p:nvSpPr>
          <p:spPr>
            <a:xfrm>
              <a:off x="0" y="47625"/>
              <a:ext cx="5400000" cy="2009700"/>
            </a:xfrm>
            <a:prstGeom prst="rect">
              <a:avLst/>
            </a:prstGeom>
            <a:solidFill>
              <a:srgbClr val="000000">
                <a:alpha val="0"/>
              </a:srgbClr>
            </a:solidFill>
            <a:ln>
              <a:noFill/>
            </a:ln>
          </p:spPr>
          <p:txBody>
            <a:bodyPr anchorCtr="0" anchor="t" bIns="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PORTFOLIO COMPLETENESS • EVOLUTION</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1" lang="en-US" sz="1350">
                  <a:solidFill>
                    <a:srgbClr val="1E3A8A"/>
                  </a:solidFill>
                  <a:latin typeface="Quattrocento Sans"/>
                  <a:ea typeface="Quattrocento Sans"/>
                  <a:cs typeface="Quattrocento Sans"/>
                  <a:sym typeface="Quattrocento Sans"/>
                </a:rPr>
                <a:t>Complete 4-Assessment Evolution</a:t>
              </a:r>
              <a:endParaRPr b="1" sz="850">
                <a:solidFill>
                  <a:srgbClr val="2563EB"/>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1000">
                  <a:solidFill>
                    <a:srgbClr val="1E40AF"/>
                  </a:solidFill>
                  <a:latin typeface="Quattrocento Sans"/>
                  <a:ea typeface="Quattrocento Sans"/>
                  <a:cs typeface="Quattrocento Sans"/>
                  <a:sym typeface="Quattrocento Sans"/>
                </a:rPr>
                <a:t>Assignment 1 (Design), Assignment 2 (Prototype), Assignment 3 (Usability), Assignment 4 (App).</a:t>
              </a:r>
              <a:endParaRPr b="1" sz="850">
                <a:solidFill>
                  <a:srgbClr val="2563EB"/>
                </a:solidFill>
                <a:latin typeface="Quattrocento Sans"/>
                <a:ea typeface="Quattrocento Sans"/>
                <a:cs typeface="Quattrocento Sans"/>
                <a:sym typeface="Quattrocento Sans"/>
              </a:endParaRPr>
            </a:p>
            <a:p>
              <a:pPr indent="0" lvl="0" marL="0" rtl="0" algn="l">
                <a:spcBef>
                  <a:spcPts val="1600"/>
                </a:spcBef>
                <a:spcAft>
                  <a:spcPts val="0"/>
                </a:spcAft>
                <a:buNone/>
              </a:pPr>
              <a:r>
                <a:rPr b="1" lang="en-US" sz="900">
                  <a:solidFill>
                    <a:srgbClr val="1E40AF"/>
                  </a:solidFill>
                  <a:highlight>
                    <a:srgbClr val="DBEAFE"/>
                  </a:highlight>
                  <a:latin typeface="Quattrocento Sans"/>
                  <a:ea typeface="Quattrocento Sans"/>
                  <a:cs typeface="Quattrocento Sans"/>
                  <a:sym typeface="Quattrocento Sans"/>
                </a:rPr>
                <a:t>4 Sequential Assessment Deliverables</a:t>
              </a:r>
              <a:endParaRPr b="1" sz="850">
                <a:solidFill>
                  <a:srgbClr val="2563EB"/>
                </a:solidFill>
                <a:latin typeface="Quattrocento Sans"/>
                <a:ea typeface="Quattrocento Sans"/>
                <a:cs typeface="Quattrocento Sans"/>
                <a:sym typeface="Quattrocento Sans"/>
              </a:endParaRPr>
            </a:p>
          </p:txBody>
        </p:sp>
      </p:grpSp>
      <p:grpSp>
        <p:nvGrpSpPr>
          <p:cNvPr id="501" name="Google Shape;501;p19"/>
          <p:cNvGrpSpPr/>
          <p:nvPr/>
        </p:nvGrpSpPr>
        <p:grpSpPr>
          <a:xfrm>
            <a:off x="6250000" y="3821697"/>
            <a:ext cx="5400000" cy="2057400"/>
            <a:chOff x="0" y="0"/>
            <a:chExt cx="5400000" cy="2057400"/>
          </a:xfrm>
        </p:grpSpPr>
        <p:sp>
          <p:nvSpPr>
            <p:cNvPr id="502" name="Google Shape;502;p19"/>
            <p:cNvSpPr/>
            <p:nvPr/>
          </p:nvSpPr>
          <p:spPr>
            <a:xfrm>
              <a:off x="0" y="0"/>
              <a:ext cx="5400000" cy="2057400"/>
            </a:xfrm>
            <a:prstGeom prst="roundRect">
              <a:avLst>
                <a:gd fmla="val 4629" name="adj"/>
              </a:avLst>
            </a:prstGeom>
            <a:solidFill>
              <a:srgbClr val="EFF6FF"/>
            </a:solidFill>
            <a:ln cap="flat" cmpd="sng" w="12700">
              <a:solidFill>
                <a:srgbClr val="BFDBFE"/>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19"/>
            <p:cNvSpPr/>
            <p:nvPr/>
          </p:nvSpPr>
          <p:spPr>
            <a:xfrm>
              <a:off x="0" y="0"/>
              <a:ext cx="5400000" cy="47700"/>
            </a:xfrm>
            <a:prstGeom prst="roundRect">
              <a:avLst>
                <a:gd fmla="val 40000" name="adj"/>
              </a:avLst>
            </a:prstGeom>
            <a:solidFill>
              <a:srgbClr val="2563E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4" name="Google Shape;504;p19"/>
            <p:cNvSpPr txBox="1"/>
            <p:nvPr/>
          </p:nvSpPr>
          <p:spPr>
            <a:xfrm>
              <a:off x="0" y="47625"/>
              <a:ext cx="5400000" cy="2009700"/>
            </a:xfrm>
            <a:prstGeom prst="rect">
              <a:avLst/>
            </a:prstGeom>
            <a:solidFill>
              <a:srgbClr val="000000">
                <a:alpha val="0"/>
              </a:srgbClr>
            </a:solidFill>
            <a:ln>
              <a:noFill/>
            </a:ln>
          </p:spPr>
          <p:txBody>
            <a:bodyPr anchorCtr="0" anchor="t" bIns="0" lIns="190500" spcFirstLastPara="1" rIns="190500" wrap="square" tIns="190500">
              <a:noAutofit/>
            </a:bodyPr>
            <a:lstStyle/>
            <a:p>
              <a:pPr indent="0" lvl="0" marL="0" rtl="0" algn="l">
                <a:spcBef>
                  <a:spcPts val="0"/>
                </a:spcBef>
                <a:spcAft>
                  <a:spcPts val="0"/>
                </a:spcAft>
                <a:buNone/>
              </a:pPr>
              <a:r>
                <a:rPr b="1" lang="en-US" sz="850">
                  <a:solidFill>
                    <a:srgbClr val="2563EB"/>
                  </a:solidFill>
                  <a:latin typeface="Quattrocento Sans"/>
                  <a:ea typeface="Quattrocento Sans"/>
                  <a:cs typeface="Quattrocento Sans"/>
                  <a:sym typeface="Quattrocento Sans"/>
                </a:rPr>
                <a:t>PORTFOLIO COMPLETENESS • RUBRIC</a:t>
              </a:r>
              <a:endParaRPr b="1" sz="850">
                <a:solidFill>
                  <a:srgbClr val="2563EB"/>
                </a:solidFill>
                <a:latin typeface="Quattrocento Sans"/>
                <a:ea typeface="Quattrocento Sans"/>
                <a:cs typeface="Quattrocento Sans"/>
                <a:sym typeface="Quattrocento Sans"/>
              </a:endParaRPr>
            </a:p>
            <a:p>
              <a:pPr indent="0" lvl="0" marL="0" rtl="0" algn="l">
                <a:spcBef>
                  <a:spcPts val="400"/>
                </a:spcBef>
                <a:spcAft>
                  <a:spcPts val="0"/>
                </a:spcAft>
                <a:buNone/>
              </a:pPr>
              <a:r>
                <a:rPr b="1" lang="en-US" sz="1350">
                  <a:solidFill>
                    <a:srgbClr val="1E3A8A"/>
                  </a:solidFill>
                  <a:latin typeface="Quattrocento Sans"/>
                  <a:ea typeface="Quattrocento Sans"/>
                  <a:cs typeface="Quattrocento Sans"/>
                  <a:sym typeface="Quattrocento Sans"/>
                </a:rPr>
                <a:t>100% Rubric Coverage</a:t>
              </a:r>
              <a:endParaRPr b="1" sz="850">
                <a:solidFill>
                  <a:srgbClr val="2563EB"/>
                </a:solidFill>
                <a:latin typeface="Quattrocento Sans"/>
                <a:ea typeface="Quattrocento Sans"/>
                <a:cs typeface="Quattrocento Sans"/>
                <a:sym typeface="Quattrocento Sans"/>
              </a:endParaRPr>
            </a:p>
            <a:p>
              <a:pPr indent="0" lvl="0" marL="0" rtl="0" algn="l">
                <a:spcBef>
                  <a:spcPts val="800"/>
                </a:spcBef>
                <a:spcAft>
                  <a:spcPts val="0"/>
                </a:spcAft>
                <a:buNone/>
              </a:pPr>
              <a:r>
                <a:rPr b="0" lang="en-US" sz="1000">
                  <a:solidFill>
                    <a:srgbClr val="1E40AF"/>
                  </a:solidFill>
                  <a:latin typeface="Quattrocento Sans"/>
                  <a:ea typeface="Quattrocento Sans"/>
                  <a:cs typeface="Quattrocento Sans"/>
                  <a:sym typeface="Quattrocento Sans"/>
                </a:rPr>
                <a:t>Complete coverage across Functionality, Guidelines, Screen Design, Heuristics, and PWA.</a:t>
              </a:r>
              <a:endParaRPr b="1" sz="850">
                <a:solidFill>
                  <a:srgbClr val="2563EB"/>
                </a:solidFill>
                <a:latin typeface="Quattrocento Sans"/>
                <a:ea typeface="Quattrocento Sans"/>
                <a:cs typeface="Quattrocento Sans"/>
                <a:sym typeface="Quattrocento Sans"/>
              </a:endParaRPr>
            </a:p>
            <a:p>
              <a:pPr indent="0" lvl="0" marL="0" rtl="0" algn="l">
                <a:spcBef>
                  <a:spcPts val="1600"/>
                </a:spcBef>
                <a:spcAft>
                  <a:spcPts val="0"/>
                </a:spcAft>
                <a:buNone/>
              </a:pPr>
              <a:r>
                <a:rPr b="1" lang="en-US" sz="900">
                  <a:solidFill>
                    <a:srgbClr val="1E40AF"/>
                  </a:solidFill>
                  <a:highlight>
                    <a:srgbClr val="DBEAFE"/>
                  </a:highlight>
                  <a:latin typeface="Quattrocento Sans"/>
                  <a:ea typeface="Quattrocento Sans"/>
                  <a:cs typeface="Quattrocento Sans"/>
                  <a:sym typeface="Quattrocento Sans"/>
                </a:rPr>
                <a:t>100% Comprehensive Rubric Alignment</a:t>
              </a:r>
              <a:endParaRPr b="1" sz="850">
                <a:solidFill>
                  <a:srgbClr val="2563EB"/>
                </a:solidFill>
                <a:latin typeface="Quattrocento Sans"/>
                <a:ea typeface="Quattrocento Sans"/>
                <a:cs typeface="Quattrocento Sans"/>
                <a:sym typeface="Quattrocento Sans"/>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ElegantTheme">
  <a:themeElements>
    <a:clrScheme name="ElegantNavy">
      <a:dk1>
        <a:srgbClr val="0F172A"/>
      </a:dk1>
      <a:lt1>
        <a:srgbClr val="FFFFFF"/>
      </a:lt1>
      <a:dk2>
        <a:srgbClr val="1E293B"/>
      </a:dk2>
      <a:lt2>
        <a:srgbClr val="F8F9FA"/>
      </a:lt2>
      <a:accent1>
        <a:srgbClr val="1F3864"/>
      </a:accent1>
      <a:accent2>
        <a:srgbClr val="2563EB"/>
      </a:accent2>
      <a:accent3>
        <a:srgbClr val="059669"/>
      </a:accent3>
      <a:accent4>
        <a:srgbClr val="D97706"/>
      </a:accent4>
      <a:accent5>
        <a:srgbClr val="64748B"/>
      </a:accent5>
      <a:accent6>
        <a:srgbClr val="94A3B8"/>
      </a:accent6>
      <a:hlink>
        <a:srgbClr val="2563EB"/>
      </a:hlink>
      <a:folHlink>
        <a:srgbClr val="1D4ED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